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74" r:id="rId3"/>
    <p:sldId id="278" r:id="rId4"/>
    <p:sldId id="279" r:id="rId5"/>
    <p:sldId id="280" r:id="rId6"/>
    <p:sldId id="258" r:id="rId7"/>
    <p:sldId id="257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94"/>
  </p:normalViewPr>
  <p:slideViewPr>
    <p:cSldViewPr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4944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5A73-FF53-06F4-08FC-6AF31A01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47C23-F809-B7F3-AEF3-6CB52992B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1B4FF-BE20-45E7-FB7F-CB36CB25F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5CD56-EB6C-455B-F285-DD70D6E61D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0347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1B80-F280-9046-D6D7-86F95C985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26908-DCF3-3D3F-8767-13421C74F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0FAEE-B60F-858E-C6D0-D44EFBF60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DA768-DBEB-7B85-59A3-78E0BCFD38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5159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19DA-7DF6-4D0E-D17B-0F9A9AF1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367BF-6CA8-E50B-5A1C-6AFF1B6B7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51F01-88D3-FD5E-0390-7CED65AD7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03ED6-BD70-2E73-1526-5C0D73630C2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7524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CE2BFE9-E284-B34B-9DD9-9734E072A10D}" type="datetime1">
              <a:t>2026/7/27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9A5C36-DE89-754B-AADC-BE098732BA55}" type="datetime1">
              <a:t>2026/7/27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C92F05-C132-444E-8CB1-83285020EE6B}" type="datetime1">
              <a:t>2026/7/27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1EA035-3CCE-DA49-8248-4DECF1480FAD}" type="datetime1">
              <a:t>2026/7/27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738968-DCED-034C-A9F9-63C7B612155B}" type="datetime1">
              <a:t>2026/7/27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274FFC6-ADAB-5E41-86AC-7F6081FE7CAC}" type="datetime1">
              <a:t>2026/7/27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EC856D-977A-F642-9AEB-80D2F107EFF4}" type="datetime1">
              <a:t>2026/7/27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34B7F-BC74-F14F-8BF9-586EC96745A0}" type="datetime1">
              <a:t>2026/7/27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2A7302-2114-A74D-8389-8181128E4BC3}" type="datetime1">
              <a:t>2026/7/27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28223-6D33-DE4C-9F51-4A38614FD791}" type="datetime1">
              <a:t>2026/7/27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D0E2A-2758-4248-AC6A-4E927F9F5533}" type="datetime1">
              <a:t>2026/7/27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FE1A1A-A846-1244-B210-CC29CD60D5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t>2026/7/27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/>
          </a:bodyPr>
          <a:lstStyle/>
          <a:p>
            <a:r>
              <a:t>计算机编程实践#9</a:t>
            </a:r>
          </a:p>
          <a:p>
            <a:r>
              <a:t>Skill System 与答辩说明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t>杜冬冬</a:t>
            </a:r>
          </a:p>
          <a:p>
            <a:r>
              <a:t>2026小学期</a:t>
            </a:r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zh-CN" altLang="en-US" dirty="0"/>
              <a:t>答辩时间表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2</a:t>
            </a:fld>
            <a:endParaRPr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6012" y="1419560"/>
            <a:ext cx="3888431" cy="455750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最新版具体见</a:t>
            </a:r>
            <a:r>
              <a:rPr lang="en-US" altLang="zh-CN" dirty="0"/>
              <a:t> OC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如果需要调整</a:t>
            </a:r>
            <a:r>
              <a:rPr lang="zh-CN" altLang="en-US" dirty="0"/>
              <a:t>，请先找好你意向的时间段的同学进行沟通，并且和助教说，你和</a:t>
            </a:r>
            <a:r>
              <a:rPr lang="en-US" altLang="zh-CN" dirty="0"/>
              <a:t> XX</a:t>
            </a:r>
            <a:r>
              <a:rPr lang="zh-CN" altLang="en-US" dirty="0"/>
              <a:t>同学交换，由助教来完成交换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交换截止到周二晚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E4F7B2-EB08-02B4-61BC-015C7BCA4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9" y="1268760"/>
            <a:ext cx="7772400" cy="48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7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1E07-808D-F1C3-D6C1-AE8C75D3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9C3F-DBC0-6506-9513-CF58A946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zh-CN" altLang="en-US" dirty="0"/>
              <a:t>答辩额外说明（具体内容</a:t>
            </a:r>
            <a:r>
              <a:rPr lang="en-US" altLang="zh-CN" dirty="0"/>
              <a:t> OC </a:t>
            </a:r>
            <a:r>
              <a:rPr lang="zh-CN" altLang="en-US" dirty="0"/>
              <a:t>上面已经发布了公告）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AC018-103C-6F14-2DCD-36D294BBD5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3</a:t>
            </a:fld>
            <a:endParaRPr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B846421-A908-3D52-10FF-57E26AA5D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答辩主要包括两部分：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结合项目代码进行提问与检查；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现场运行综合测试 </a:t>
            </a:r>
            <a:r>
              <a:rPr lang="en" altLang="zh-CN" dirty="0"/>
              <a:t>Case</a:t>
            </a:r>
            <a:r>
              <a:rPr lang="zh-CN" altLang="en" dirty="0"/>
              <a:t>。</a:t>
            </a:r>
          </a:p>
          <a:p>
            <a:endParaRPr lang="zh-CN" altLang="en" dirty="0"/>
          </a:p>
          <a:p>
            <a:r>
              <a:rPr lang="zh-CN" altLang="en-US" dirty="0"/>
              <a:t>验收和提问范围覆盖 </a:t>
            </a:r>
            <a:r>
              <a:rPr lang="en" altLang="zh-CN" dirty="0"/>
              <a:t>Project </a:t>
            </a:r>
            <a:r>
              <a:rPr lang="zh-CN" altLang="en-US" dirty="0"/>
              <a:t>文档的全部内容。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请同学提前熟悉各部分要求，理解自己的代码实现、系统流程和模块之间的关系。</a:t>
            </a:r>
          </a:p>
          <a:p>
            <a:endParaRPr lang="zh-CN" altLang="en-US" dirty="0"/>
          </a:p>
          <a:p>
            <a:r>
              <a:rPr lang="zh-CN" altLang="en-US" dirty="0"/>
              <a:t>答辩前请确认：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项目能够正常启动和运行；</a:t>
            </a:r>
          </a:p>
          <a:p>
            <a:r>
              <a:rPr lang="en-US" altLang="zh-CN" dirty="0"/>
              <a:t>2. </a:t>
            </a:r>
            <a:r>
              <a:rPr lang="en" altLang="zh-CN" dirty="0"/>
              <a:t>CLI </a:t>
            </a:r>
            <a:r>
              <a:rPr lang="zh-CN" altLang="en-US" dirty="0"/>
              <a:t>与图形化入口可正常使用；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相关依赖、模型配置和运行环境已准备好；</a:t>
            </a:r>
          </a:p>
          <a:p>
            <a:r>
              <a:rPr lang="en-US" altLang="zh-CN" dirty="0"/>
              <a:t>4. </a:t>
            </a:r>
            <a:r>
              <a:rPr lang="en" altLang="zh-CN" dirty="0"/>
              <a:t>Project </a:t>
            </a:r>
            <a:r>
              <a:rPr lang="zh-CN" altLang="en-US" dirty="0"/>
              <a:t>文档要求的功能均可现场演示；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能够根据现场要求运行 </a:t>
            </a:r>
            <a:r>
              <a:rPr lang="en" altLang="zh-CN" dirty="0"/>
              <a:t>Case</a:t>
            </a:r>
            <a:r>
              <a:rPr lang="zh-CN" altLang="en" dirty="0"/>
              <a:t>、</a:t>
            </a:r>
            <a:r>
              <a:rPr lang="zh-CN" altLang="en-US" dirty="0"/>
              <a:t>查看结果并定位相关代码。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D7CD8A-8A96-EEAC-DE0A-56103099E019}"/>
              </a:ext>
            </a:extLst>
          </p:cNvPr>
          <p:cNvSpPr txBox="1"/>
          <p:nvPr/>
        </p:nvSpPr>
        <p:spPr>
          <a:xfrm>
            <a:off x="5231904" y="1149722"/>
            <a:ext cx="1509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无需准备 </a:t>
            </a:r>
            <a:r>
              <a:rPr kumimoji="1" lang="en" altLang="zh-CN" b="1" dirty="0">
                <a:solidFill>
                  <a:srgbClr val="C00000"/>
                </a:solidFill>
              </a:rPr>
              <a:t>PPT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2C934E-174F-9619-3DC3-5928BBF2ABDF}"/>
              </a:ext>
            </a:extLst>
          </p:cNvPr>
          <p:cNvSpPr txBox="1"/>
          <p:nvPr/>
        </p:nvSpPr>
        <p:spPr>
          <a:xfrm>
            <a:off x="6856558" y="1149722"/>
            <a:ext cx="4943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"Talk is cheap. Show me the code." - Linus Torvalds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15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6C9C-59C5-9D33-23C0-F6F825C7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60D6-8251-03F2-2F4A-A2860CA1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en-US" dirty="0" err="1"/>
              <a:t>项目提交要求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A6C36-DE98-0C22-D934-52A2617C13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4</a:t>
            </a:fld>
            <a:endParaRPr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FEFF2A9-C9B9-3D64-264F-02D159561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1. </a:t>
            </a:r>
            <a:r>
              <a:rPr lang="zh-CN" altLang="en-US" dirty="0"/>
              <a:t>请在</a:t>
            </a:r>
            <a:r>
              <a:rPr lang="zh-CN" altLang="en-US" dirty="0">
                <a:solidFill>
                  <a:srgbClr val="C00000"/>
                </a:solidFill>
              </a:rPr>
              <a:t>本周五（</a:t>
            </a:r>
            <a:r>
              <a:rPr lang="en-US" altLang="zh-CN" dirty="0">
                <a:solidFill>
                  <a:srgbClr val="C00000"/>
                </a:solidFill>
              </a:rPr>
              <a:t>7.31</a:t>
            </a:r>
            <a:r>
              <a:rPr lang="zh-CN" altLang="en-US" dirty="0">
                <a:solidFill>
                  <a:srgbClr val="C00000"/>
                </a:solidFill>
              </a:rPr>
              <a:t>）晚上</a:t>
            </a:r>
            <a:r>
              <a:rPr lang="en-US" altLang="zh-CN" dirty="0">
                <a:solidFill>
                  <a:srgbClr val="C00000"/>
                </a:solidFill>
              </a:rPr>
              <a:t>24 </a:t>
            </a:r>
            <a:r>
              <a:rPr lang="zh-CN" altLang="en-US" dirty="0">
                <a:solidFill>
                  <a:srgbClr val="C00000"/>
                </a:solidFill>
              </a:rPr>
              <a:t>点之前</a:t>
            </a:r>
            <a:r>
              <a:rPr lang="zh-CN" altLang="en-US" dirty="0"/>
              <a:t>，提交</a:t>
            </a:r>
            <a:r>
              <a:rPr lang="zh-CN" altLang="en-US" dirty="0">
                <a:solidFill>
                  <a:srgbClr val="C00000"/>
                </a:solidFill>
              </a:rPr>
              <a:t>源代码的压缩包</a:t>
            </a:r>
            <a:r>
              <a:rPr lang="zh-CN" altLang="en-US" dirty="0"/>
              <a:t>，并且简单说明运行环境和方法（比如</a:t>
            </a:r>
            <a:r>
              <a:rPr lang="en" altLang="zh-CN" dirty="0"/>
              <a:t>Windows/Mac</a:t>
            </a:r>
            <a:r>
              <a:rPr lang="zh-CN" altLang="en" dirty="0"/>
              <a:t>、</a:t>
            </a:r>
            <a:r>
              <a:rPr lang="zh-CN" altLang="en-US" dirty="0"/>
              <a:t>开发的语言等，可以通过</a:t>
            </a:r>
            <a:r>
              <a:rPr lang="en" altLang="zh-CN" dirty="0" err="1"/>
              <a:t>README.md</a:t>
            </a:r>
            <a:r>
              <a:rPr lang="en" altLang="zh-CN" dirty="0"/>
              <a:t> </a:t>
            </a:r>
            <a:r>
              <a:rPr lang="zh-CN" altLang="en-US" dirty="0"/>
              <a:t>的方式来进行说明）</a:t>
            </a:r>
            <a:r>
              <a:rPr lang="en" altLang="zh-CN" b="0" i="0" dirty="0">
                <a:solidFill>
                  <a:srgbClr val="2D3B45"/>
                </a:solidFill>
                <a:effectLst/>
                <a:latin typeface="Lato Extended"/>
              </a:rPr>
              <a:t> </a:t>
            </a:r>
            <a:r>
              <a:rPr lang="zh-CN" altLang="en" b="0" i="0" dirty="0">
                <a:solidFill>
                  <a:srgbClr val="C00000"/>
                </a:solidFill>
                <a:effectLst/>
                <a:latin typeface="Lato Extended"/>
              </a:rPr>
              <a:t>提交到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Lato Extended"/>
              </a:rPr>
              <a:t>：作业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Lato Extended"/>
              </a:rPr>
              <a:t>-</a:t>
            </a:r>
            <a:r>
              <a:rPr lang="en" altLang="zh-CN" b="0" i="0" dirty="0" err="1">
                <a:solidFill>
                  <a:srgbClr val="C00000"/>
                </a:solidFill>
                <a:effectLst/>
                <a:latin typeface="Lato Extended"/>
              </a:rPr>
              <a:t>SJTUClaw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en-US" altLang="zh-CN" dirty="0"/>
              <a:t>2. </a:t>
            </a:r>
            <a:r>
              <a:rPr lang="zh-CN" altLang="en-US" dirty="0"/>
              <a:t>请在</a:t>
            </a:r>
            <a:r>
              <a:rPr lang="zh-CN" altLang="en-US" dirty="0">
                <a:solidFill>
                  <a:srgbClr val="C00000"/>
                </a:solidFill>
              </a:rPr>
              <a:t>下周五（</a:t>
            </a:r>
            <a:r>
              <a:rPr lang="en-US" altLang="zh-CN" dirty="0">
                <a:solidFill>
                  <a:srgbClr val="C00000"/>
                </a:solidFill>
              </a:rPr>
              <a:t>8.7</a:t>
            </a:r>
            <a:r>
              <a:rPr lang="zh-CN" altLang="en-US" dirty="0">
                <a:solidFill>
                  <a:srgbClr val="C00000"/>
                </a:solidFill>
              </a:rPr>
              <a:t>）晚上</a:t>
            </a:r>
            <a:r>
              <a:rPr lang="en-US" altLang="zh-CN" dirty="0">
                <a:solidFill>
                  <a:srgbClr val="C00000"/>
                </a:solidFill>
              </a:rPr>
              <a:t>24 </a:t>
            </a:r>
            <a:r>
              <a:rPr lang="zh-CN" altLang="en-US" dirty="0">
                <a:solidFill>
                  <a:srgbClr val="C00000"/>
                </a:solidFill>
              </a:rPr>
              <a:t>点之前</a:t>
            </a:r>
            <a:r>
              <a:rPr lang="zh-CN" altLang="en-US" dirty="0"/>
              <a:t>，提交一份</a:t>
            </a:r>
            <a:r>
              <a:rPr lang="zh-CN" altLang="en-US" dirty="0">
                <a:solidFill>
                  <a:srgbClr val="C00000"/>
                </a:solidFill>
              </a:rPr>
              <a:t>文档</a:t>
            </a:r>
            <a:r>
              <a:rPr lang="zh-CN" altLang="en-US" dirty="0"/>
              <a:t>（可以附带录屏、项目页面截图等，如果附带录屏请控制时间和文件大小），来体现项目中同学们认为自己处理得比较好的，但是</a:t>
            </a:r>
            <a:r>
              <a:rPr lang="zh-CN" altLang="en-US" dirty="0">
                <a:solidFill>
                  <a:srgbClr val="C00000"/>
                </a:solidFill>
              </a:rPr>
              <a:t>答辩过程中可能未能很好地展示的内容</a:t>
            </a:r>
            <a:r>
              <a:rPr lang="zh-CN" altLang="en-US" dirty="0"/>
              <a:t>。这些内容可以是：</a:t>
            </a:r>
            <a:r>
              <a:rPr lang="en" altLang="zh-CN" dirty="0"/>
              <a:t>UI </a:t>
            </a:r>
            <a:r>
              <a:rPr lang="zh-CN" altLang="en-US" dirty="0"/>
              <a:t>交互界面上自己的设计、有意思的能力（比如端到端完成一个复杂的 </a:t>
            </a:r>
            <a:r>
              <a:rPr lang="en" altLang="zh-CN" dirty="0"/>
              <a:t>PPT</a:t>
            </a:r>
            <a:r>
              <a:rPr lang="zh-CN" altLang="en" dirty="0"/>
              <a:t>、</a:t>
            </a:r>
            <a:r>
              <a:rPr lang="zh-CN" altLang="en-US" dirty="0"/>
              <a:t>完成一个复杂的项目开发）等等，均可。注意：不管是文档、还是项目展示录屏，均以清晰简洁为宜（过长的文档，尤其是 </a:t>
            </a:r>
            <a:r>
              <a:rPr lang="en" altLang="zh-CN" dirty="0"/>
              <a:t>AI </a:t>
            </a:r>
            <a:r>
              <a:rPr lang="zh-CN" altLang="en-US" dirty="0"/>
              <a:t>生成的过程的文档，对于人来阅读是个很高的负担）。</a:t>
            </a:r>
            <a:r>
              <a:rPr lang="zh-CN" altLang="en" b="0" i="0" dirty="0">
                <a:solidFill>
                  <a:srgbClr val="C00000"/>
                </a:solidFill>
                <a:effectLst/>
                <a:latin typeface="Lato Extended"/>
              </a:rPr>
              <a:t>提交到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Lato Extended"/>
              </a:rPr>
              <a:t>：作业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Lato Extended"/>
              </a:rPr>
              <a:t>-</a:t>
            </a:r>
            <a:r>
              <a:rPr lang="en" altLang="zh-CN" b="0" i="0" dirty="0" err="1">
                <a:solidFill>
                  <a:srgbClr val="C00000"/>
                </a:solidFill>
                <a:effectLst/>
                <a:latin typeface="Lato Extended"/>
              </a:rPr>
              <a:t>SJTUClaw</a:t>
            </a:r>
            <a:r>
              <a:rPr lang="zh-CN" altLang="en-US" dirty="0">
                <a:solidFill>
                  <a:srgbClr val="C00000"/>
                </a:solidFill>
                <a:latin typeface="Lato Extended"/>
              </a:rPr>
              <a:t>结题</a:t>
            </a:r>
            <a:r>
              <a:rPr lang="zh-CN" altLang="en" b="0" i="0" dirty="0">
                <a:solidFill>
                  <a:srgbClr val="C00000"/>
                </a:solidFill>
                <a:effectLst/>
                <a:latin typeface="Lato Extended"/>
              </a:rPr>
              <a:t>文档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796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D677-C1BE-5101-EC6A-02D71340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EDCA-7DF1-11EE-BB70-AEABAA1C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en-US" dirty="0" err="1"/>
              <a:t>其他小学期末的注意事项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6583A-FD13-B2C1-9DFA-285F17EAC0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5</a:t>
            </a:fld>
            <a:endParaRPr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DB5BC5D-C098-4A0D-B9F6-E4C8C6EB8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Lab </a:t>
            </a:r>
            <a:r>
              <a:rPr lang="zh-CN" altLang="en-US" dirty="0"/>
              <a:t>分数确认：请大家确认自己在</a:t>
            </a:r>
            <a:r>
              <a:rPr lang="en-US" altLang="zh-CN" dirty="0"/>
              <a:t> OC </a:t>
            </a:r>
            <a:r>
              <a:rPr lang="zh-CN" altLang="en-US" dirty="0"/>
              <a:t>的</a:t>
            </a:r>
            <a:r>
              <a:rPr lang="en-US" altLang="zh-CN" dirty="0"/>
              <a:t> 3 </a:t>
            </a:r>
            <a:r>
              <a:rPr lang="zh-CN" altLang="en-US" dirty="0"/>
              <a:t>个</a:t>
            </a:r>
            <a:r>
              <a:rPr lang="en-US" altLang="zh-CN" dirty="0"/>
              <a:t>Lab </a:t>
            </a:r>
            <a:r>
              <a:rPr lang="zh-CN" altLang="en-US" dirty="0"/>
              <a:t>成绩分数是正确的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签到情况确认：请大家确认自己小学期的几次签到的签到情况，</a:t>
            </a:r>
            <a:r>
              <a:rPr lang="zh-CN" altLang="en-US" dirty="0">
                <a:solidFill>
                  <a:srgbClr val="C00000"/>
                </a:solidFill>
              </a:rPr>
              <a:t>如果请假，那么对应的签到情况也应该是“已签到”</a:t>
            </a:r>
            <a:r>
              <a:rPr lang="zh-CN" altLang="en-US" dirty="0"/>
              <a:t>，如果不是，请联系助教或老师，修改签到状态，后续签到评分将直接根据数据来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确认截止时间均为</a:t>
            </a:r>
            <a:r>
              <a:rPr lang="zh-CN" altLang="en-US" dirty="0">
                <a:solidFill>
                  <a:srgbClr val="C00000"/>
                </a:solidFill>
              </a:rPr>
              <a:t>本周五（</a:t>
            </a:r>
            <a:r>
              <a:rPr lang="en-US" altLang="zh-CN" dirty="0">
                <a:solidFill>
                  <a:srgbClr val="C00000"/>
                </a:solidFill>
              </a:rPr>
              <a:t>7.31</a:t>
            </a:r>
            <a:r>
              <a:rPr lang="zh-CN" altLang="en-US" dirty="0">
                <a:solidFill>
                  <a:srgbClr val="C00000"/>
                </a:solidFill>
              </a:rPr>
              <a:t>）晚上</a:t>
            </a:r>
            <a:r>
              <a:rPr lang="en-US" altLang="zh-CN" dirty="0">
                <a:solidFill>
                  <a:srgbClr val="C00000"/>
                </a:solidFill>
              </a:rPr>
              <a:t>24 </a:t>
            </a:r>
            <a:r>
              <a:rPr lang="zh-CN" altLang="en-US" dirty="0">
                <a:solidFill>
                  <a:srgbClr val="C00000"/>
                </a:solidFill>
              </a:rPr>
              <a:t>点之前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7BD869-309C-6FB1-027B-89812A4C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008" y="3427177"/>
            <a:ext cx="36449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B48A-CBD3-6ECE-1CB7-0C33D94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SJTUClaw 篇：Skill System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AD4CE-2802-80E9-E4F9-46F903002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把一类任务的方法，做成可发现、可调用、可审计的能力包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53464-7E12-9E53-F72D-CB49282EA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999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Skill</a:t>
            </a:r>
            <a:r>
              <a:rPr lang="zh-CN" altLang="en-US" dirty="0"/>
              <a:t>：让我们的智能可复用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7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• session / memory / context：让模型看见正确的信息</a:t>
            </a:r>
          </a:p>
          <a:p>
            <a:r>
              <a:t>• tools / Gateway / Scheduler / workspace：让系统能观察、触发和执行</a:t>
            </a:r>
          </a:p>
          <a:p>
            <a:r>
              <a:t>• Skill：把一类任务的方法、输入、输出和边界整理成可复用能力</a:t>
            </a:r>
          </a:p>
          <a:p>
            <a:endParaRPr/>
          </a:p>
          <a:p>
            <a:r>
              <a:t>Skill 不是“多写一个 prompt”，而是 runtime 的能力包装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Skill 是一套可复用的方法书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8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• Skill 是本地目录中的说明与资源</a:t>
            </a:r>
          </a:p>
          <a:p>
            <a:r>
              <a:t>• 它告诉系统：什么时候用、需要什么输入、应该怎么做、输出什么</a:t>
            </a:r>
          </a:p>
          <a:p>
            <a:r>
              <a:t>• 它可以被发现、加载、记录和复用</a:t>
            </a:r>
          </a:p>
          <a:p>
            <a:endParaRPr/>
          </a:p>
          <a:p>
            <a:r>
              <a:t>memory 是长期事实，tool 是动作，skill 是完成一类任务的方法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CA9E-010D-38CA-358B-02A138F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Skill、Tool、Memory、Session 各自负责什么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78145-D92D-9AD4-83DD-806DF4BADD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/>
              <a:t>9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C5BFA70-A3DB-FCE8-7B07-3982B1E2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t>Skill 不是新的工具，而是组织工具和上下文的方法。</a:t>
            </a:r>
          </a:p>
        </p:txBody>
      </p:sp>
      <p:graphicFrame>
        <p:nvGraphicFramePr>
          <p:cNvPr id="15" name="表格 3"/>
          <p:cNvGraphicFramePr/>
          <p:nvPr/>
        </p:nvGraphicFramePr>
        <p:xfrm>
          <a:off x="1127448" y="2514600"/>
          <a:ext cx="9562602" cy="1828800"/>
        </p:xfrm>
        <a:graphic>
          <a:graphicData uri="http://schemas.openxmlformats.org/drawingml/2006/table">
            <a:tbl>
              <a:tblPr/>
              <a:tblGrid>
                <a:gridCol w="318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800" b="1"/>
                        <a:t>对象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回答的问题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内容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能做什么动作？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read_file / run_shell / 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长期记住什么？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用户偏好、项目事实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这次发生了什么？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消息、结果、审批记录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Skill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这类任务怎么做？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流程、输入、输出、边界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15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zh-CN" altLang="en-US" dirty="0"/>
              <a:t>回顾下：</a:t>
            </a:r>
            <a:r>
              <a:rPr lang="en-US" altLang="zh-CN" dirty="0"/>
              <a:t>Skill </a:t>
            </a:r>
            <a:r>
              <a:rPr lang="zh-CN" altLang="en-US" dirty="0"/>
              <a:t>的结构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10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skills/</a:t>
            </a:r>
          </a:p>
          <a:p>
            <a:r>
              <a:t>  presentation-outline/</a:t>
            </a:r>
          </a:p>
          <a:p>
            <a:r>
              <a:t>    SKILL.md</a:t>
            </a:r>
          </a:p>
          <a:p>
            <a:r>
              <a:t>    templates/</a:t>
            </a:r>
          </a:p>
          <a:p>
            <a:r>
              <a:t>    examples/</a:t>
            </a:r>
          </a:p>
          <a:p>
            <a:endParaRPr/>
          </a:p>
          <a:p>
            <a:pPr>
              <a:buNone/>
            </a:pPr>
            <a:r>
              <a:t>只把包含 SKILL.md 的子目录当作 skill；其他文件不自动加载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 err="1"/>
              <a:t>SKILL.md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11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通常需要包括</a:t>
            </a:r>
            <a:r>
              <a:rPr dirty="0"/>
              <a:t>：</a:t>
            </a:r>
          </a:p>
          <a:p>
            <a:r>
              <a:rPr dirty="0"/>
              <a:t>• </a:t>
            </a:r>
            <a:r>
              <a:rPr dirty="0" err="1"/>
              <a:t>这个</a:t>
            </a:r>
            <a:r>
              <a:rPr dirty="0"/>
              <a:t> skill </a:t>
            </a:r>
            <a:r>
              <a:rPr dirty="0" err="1"/>
              <a:t>能做什么</a:t>
            </a:r>
            <a:endParaRPr dirty="0"/>
          </a:p>
          <a:p>
            <a:r>
              <a:rPr dirty="0"/>
              <a:t>• </a:t>
            </a:r>
            <a:r>
              <a:rPr dirty="0" err="1"/>
              <a:t>什么时候应该使用</a:t>
            </a:r>
            <a:endParaRPr dirty="0"/>
          </a:p>
          <a:p>
            <a:r>
              <a:rPr dirty="0"/>
              <a:t>• </a:t>
            </a:r>
            <a:r>
              <a:rPr dirty="0" err="1"/>
              <a:t>需要哪些输入</a:t>
            </a:r>
            <a:endParaRPr dirty="0"/>
          </a:p>
          <a:p>
            <a:r>
              <a:rPr dirty="0"/>
              <a:t>• </a:t>
            </a:r>
            <a:r>
              <a:rPr dirty="0" err="1"/>
              <a:t>输出应该是什么格式</a:t>
            </a:r>
            <a:endParaRPr dirty="0"/>
          </a:p>
          <a:p>
            <a:r>
              <a:rPr dirty="0"/>
              <a:t>• </a:t>
            </a:r>
            <a:r>
              <a:rPr dirty="0" err="1"/>
              <a:t>工作流程和注意事项</a:t>
            </a:r>
            <a:endParaRPr dirty="0"/>
          </a:p>
          <a:p>
            <a:pPr>
              <a:buNone/>
            </a:pPr>
            <a:r>
              <a:rPr dirty="0"/>
              <a:t>• </a:t>
            </a:r>
            <a:r>
              <a:rPr dirty="0" err="1"/>
              <a:t>可选模板、资源和边界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en-US" altLang="zh-CN" dirty="0"/>
              <a:t>Skill</a:t>
            </a:r>
            <a:r>
              <a:rPr lang="zh-CN" altLang="en-US" dirty="0"/>
              <a:t> </a:t>
            </a:r>
            <a:r>
              <a:rPr dirty="0"/>
              <a:t>Registry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/>
              <a:t>12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for child in </a:t>
            </a:r>
            <a:r>
              <a:rPr dirty="0" err="1"/>
              <a:t>skills.iterdir</a:t>
            </a:r>
            <a:r>
              <a:rPr dirty="0"/>
              <a:t>():</a:t>
            </a:r>
          </a:p>
          <a:p>
            <a:r>
              <a:rPr dirty="0"/>
              <a:t>    if </a:t>
            </a:r>
            <a:r>
              <a:rPr dirty="0" err="1"/>
              <a:t>child.is_dir</a:t>
            </a:r>
            <a:r>
              <a:rPr dirty="0"/>
              <a:t>() and (child / "</a:t>
            </a:r>
            <a:r>
              <a:rPr dirty="0" err="1"/>
              <a:t>SKILL.md</a:t>
            </a:r>
            <a:r>
              <a:rPr dirty="0"/>
              <a:t>").exists():</a:t>
            </a:r>
          </a:p>
          <a:p>
            <a:r>
              <a:rPr dirty="0"/>
              <a:t>        read description</a:t>
            </a:r>
          </a:p>
          <a:p>
            <a:r>
              <a:rPr dirty="0"/>
              <a:t>        register(name, description, path)</a:t>
            </a:r>
          </a:p>
          <a:p>
            <a:endParaRPr dirty="0"/>
          </a:p>
          <a:p>
            <a:r>
              <a:rPr dirty="0" err="1"/>
              <a:t>不要把任意</a:t>
            </a:r>
            <a:r>
              <a:rPr dirty="0"/>
              <a:t> Markdown </a:t>
            </a:r>
            <a:r>
              <a:rPr dirty="0" err="1"/>
              <a:t>或</a:t>
            </a:r>
            <a:r>
              <a:rPr dirty="0"/>
              <a:t> prompt </a:t>
            </a:r>
            <a:r>
              <a:rPr dirty="0" err="1"/>
              <a:t>文件都当成</a:t>
            </a:r>
            <a:r>
              <a:rPr dirty="0"/>
              <a:t> skill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Registry</a:t>
            </a:r>
            <a:r>
              <a:rPr lang="zh-CN" altLang="en-US" dirty="0"/>
              <a:t>对外暴露的接口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/>
              <a:t>13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scan()：</a:t>
            </a:r>
            <a:r>
              <a:rPr dirty="0" err="1"/>
              <a:t>发现</a:t>
            </a:r>
            <a:r>
              <a:rPr dirty="0"/>
              <a:t> skills </a:t>
            </a:r>
            <a:r>
              <a:rPr dirty="0" err="1"/>
              <a:t>目录</a:t>
            </a:r>
            <a:endParaRPr dirty="0"/>
          </a:p>
          <a:p>
            <a:r>
              <a:rPr dirty="0" err="1"/>
              <a:t>list_skills</a:t>
            </a:r>
            <a:r>
              <a:rPr dirty="0"/>
              <a:t>()：</a:t>
            </a:r>
            <a:r>
              <a:rPr dirty="0" err="1"/>
              <a:t>返回轻量索引</a:t>
            </a:r>
            <a:endParaRPr dirty="0"/>
          </a:p>
          <a:p>
            <a:r>
              <a:rPr dirty="0"/>
              <a:t>load(name)：</a:t>
            </a:r>
            <a:r>
              <a:rPr dirty="0" err="1"/>
              <a:t>读取对应</a:t>
            </a:r>
            <a:r>
              <a:rPr dirty="0"/>
              <a:t> </a:t>
            </a:r>
            <a:r>
              <a:rPr dirty="0" err="1"/>
              <a:t>SKILL.md</a:t>
            </a:r>
            <a:r>
              <a:rPr dirty="0"/>
              <a:t> </a:t>
            </a:r>
            <a:r>
              <a:rPr dirty="0" err="1"/>
              <a:t>和资源</a:t>
            </a:r>
            <a:endParaRPr dirty="0"/>
          </a:p>
          <a:p>
            <a:endParaRPr dirty="0"/>
          </a:p>
          <a:p>
            <a:r>
              <a:rPr dirty="0" err="1"/>
              <a:t>SkillMeta</a:t>
            </a:r>
            <a:r>
              <a:rPr dirty="0"/>
              <a:t> </a:t>
            </a:r>
            <a:r>
              <a:rPr dirty="0" err="1"/>
              <a:t>至少包含</a:t>
            </a:r>
            <a:r>
              <a:rPr dirty="0"/>
              <a:t>：</a:t>
            </a:r>
          </a:p>
          <a:p>
            <a:r>
              <a:rPr dirty="0"/>
              <a:t>name / description / path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zh-CN" altLang="en-US" dirty="0"/>
              <a:t>用法角度：</a:t>
            </a:r>
            <a:r>
              <a:rPr dirty="0" err="1"/>
              <a:t>用户可以显式调用</a:t>
            </a:r>
            <a:r>
              <a:rPr dirty="0"/>
              <a:t>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14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dirty="0"/>
              <a:t>CLI </a:t>
            </a:r>
            <a:r>
              <a:rPr dirty="0" err="1"/>
              <a:t>可以展示</a:t>
            </a:r>
            <a:r>
              <a:rPr dirty="0"/>
              <a:t>：</a:t>
            </a:r>
          </a:p>
          <a:p>
            <a:r>
              <a:rPr dirty="0"/>
              <a:t>/skill list</a:t>
            </a:r>
          </a:p>
          <a:p>
            <a:r>
              <a:rPr dirty="0"/>
              <a:t>/skill show presentation-outline</a:t>
            </a:r>
          </a:p>
          <a:p>
            <a:r>
              <a:rPr dirty="0"/>
              <a:t>/skill</a:t>
            </a:r>
            <a:r>
              <a:rPr lang="zh-CN" altLang="en-US" dirty="0"/>
              <a:t> </a:t>
            </a:r>
            <a:r>
              <a:rPr lang="en" altLang="zh-CN" dirty="0"/>
              <a:t> &lt;skill-name&gt; &lt;task&gt;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显式调用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skill</a:t>
            </a:r>
            <a:endParaRPr lang="en-US" altLang="zh-CN" dirty="0">
              <a:solidFill>
                <a:srgbClr val="333333"/>
              </a:solidFill>
              <a:latin typeface="-apple-system"/>
            </a:endParaRPr>
          </a:p>
          <a:p>
            <a:pPr marL="0" indent="0" algn="l">
              <a:spcBef>
                <a:spcPts val="1200"/>
              </a:spcBef>
              <a:spcAft>
                <a:spcPts val="1200"/>
              </a:spcAft>
            </a:pP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/skill usage: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查看当前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session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skill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使用记录。</a:t>
            </a:r>
            <a:endParaRPr lang="en-US" altLang="zh-CN" dirty="0"/>
          </a:p>
          <a:p>
            <a:endParaRPr dirty="0"/>
          </a:p>
          <a:p>
            <a:r>
              <a:rPr dirty="0" err="1"/>
              <a:t>显式调用的特点：用户知道选了哪个</a:t>
            </a:r>
            <a:r>
              <a:rPr dirty="0"/>
              <a:t> </a:t>
            </a:r>
            <a:r>
              <a:rPr dirty="0" err="1"/>
              <a:t>skill，runtime</a:t>
            </a:r>
            <a:r>
              <a:rPr dirty="0"/>
              <a:t> </a:t>
            </a:r>
            <a:r>
              <a:rPr dirty="0" err="1"/>
              <a:t>直接加载对应</a:t>
            </a:r>
            <a:r>
              <a:rPr dirty="0"/>
              <a:t> </a:t>
            </a:r>
            <a:r>
              <a:rPr dirty="0" err="1"/>
              <a:t>SKILL.md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 err="1"/>
              <a:t>模型也可以自主选择</a:t>
            </a:r>
            <a:r>
              <a:rPr dirty="0"/>
              <a:t> Skill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rPr/>
              <a:t>15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t>用户说：请根据课程材料生成 10 分钟答辩大纲</a:t>
            </a:r>
          </a:p>
          <a:p>
            <a:endParaRPr/>
          </a:p>
          <a:p>
            <a:r>
              <a:t>• context builder 把轻量 skill index 放进上下文</a:t>
            </a:r>
          </a:p>
          <a:p>
            <a:r>
              <a:t>• 模型判断任务与 skill 是否匹配</a:t>
            </a:r>
          </a:p>
          <a:p>
            <a:r>
              <a:t>• 选择前向用户说明：将使用哪个 skill、为什么</a:t>
            </a:r>
          </a:p>
          <a:p>
            <a:r>
              <a:t>• reason 写入 session，方便追踪和答辩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Skil</a:t>
            </a:r>
            <a:r>
              <a:rPr lang="en-US" altLang="zh-CN" dirty="0"/>
              <a:t>l</a:t>
            </a:r>
            <a:r>
              <a:rPr lang="zh-CN" altLang="en-US" dirty="0"/>
              <a:t> 引入之后的 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Loop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rPr/>
              <a:t>16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 fontScale="92500" lnSpcReduction="10000"/>
          </a:bodyPr>
          <a:lstStyle/>
          <a:p>
            <a:r>
              <a:rPr dirty="0" err="1"/>
              <a:t>用户请求生成答辩大纲</a:t>
            </a:r>
            <a:endParaRPr dirty="0"/>
          </a:p>
          <a:p>
            <a:r>
              <a:rPr dirty="0"/>
              <a:t>↓</a:t>
            </a:r>
          </a:p>
          <a:p>
            <a:r>
              <a:rPr dirty="0">
                <a:solidFill>
                  <a:srgbClr val="C00000"/>
                </a:solidFill>
              </a:rPr>
              <a:t>registry </a:t>
            </a:r>
            <a:r>
              <a:rPr dirty="0" err="1">
                <a:solidFill>
                  <a:srgbClr val="C00000"/>
                </a:solidFill>
              </a:rPr>
              <a:t>发现</a:t>
            </a:r>
            <a:r>
              <a:rPr dirty="0">
                <a:solidFill>
                  <a:srgbClr val="C00000"/>
                </a:solidFill>
              </a:rPr>
              <a:t> presentation-outline</a:t>
            </a:r>
          </a:p>
          <a:p>
            <a:r>
              <a:rPr dirty="0"/>
              <a:t>↓</a:t>
            </a:r>
          </a:p>
          <a:p>
            <a:r>
              <a:rPr dirty="0" err="1">
                <a:solidFill>
                  <a:srgbClr val="C00000"/>
                </a:solidFill>
              </a:rPr>
              <a:t>加载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 err="1">
                <a:solidFill>
                  <a:srgbClr val="C00000"/>
                </a:solidFill>
              </a:rPr>
              <a:t>SKILL.md，加入</a:t>
            </a:r>
            <a:r>
              <a:rPr dirty="0">
                <a:solidFill>
                  <a:srgbClr val="C00000"/>
                </a:solidFill>
              </a:rPr>
              <a:t> context builder</a:t>
            </a:r>
          </a:p>
          <a:p>
            <a:r>
              <a:rPr dirty="0"/>
              <a:t>↓</a:t>
            </a:r>
          </a:p>
          <a:p>
            <a:pPr>
              <a:buNone/>
            </a:pPr>
            <a:r>
              <a:rPr dirty="0" err="1"/>
              <a:t>模型生成大纲和保存意图</a:t>
            </a:r>
            <a:endParaRPr dirty="0"/>
          </a:p>
          <a:p>
            <a:pPr>
              <a:buNone/>
            </a:pPr>
            <a:r>
              <a:rPr dirty="0"/>
              <a:t>↓</a:t>
            </a:r>
          </a:p>
          <a:p>
            <a:pPr>
              <a:buNone/>
            </a:pPr>
            <a:r>
              <a:rPr dirty="0"/>
              <a:t>workspace update tool </a:t>
            </a:r>
            <a:r>
              <a:rPr dirty="0" err="1"/>
              <a:t>创建</a:t>
            </a:r>
            <a:r>
              <a:rPr dirty="0"/>
              <a:t> approval</a:t>
            </a:r>
          </a:p>
          <a:p>
            <a:pPr>
              <a:buNone/>
            </a:pPr>
            <a:r>
              <a:rPr dirty="0"/>
              <a:t>↓</a:t>
            </a:r>
          </a:p>
          <a:p>
            <a:pPr>
              <a:buNone/>
            </a:pPr>
            <a:r>
              <a:rPr dirty="0" err="1"/>
              <a:t>用户批准后保存，结果写回</a:t>
            </a:r>
            <a:r>
              <a:rPr dirty="0"/>
              <a:t> session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dirty="0"/>
              <a:t>Skill usage</a:t>
            </a:r>
            <a:r>
              <a:rPr lang="zh-CN" altLang="en-US" dirty="0"/>
              <a:t> </a:t>
            </a:r>
            <a:r>
              <a:rPr lang="en-US" altLang="zh-CN" dirty="0"/>
              <a:t>record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rPr/>
              <a:t>17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 err="1"/>
              <a:t>一条</a:t>
            </a:r>
            <a:r>
              <a:rPr dirty="0"/>
              <a:t> usage record </a:t>
            </a:r>
            <a:r>
              <a:rPr dirty="0" err="1"/>
              <a:t>至少包含</a:t>
            </a:r>
            <a:r>
              <a:rPr dirty="0"/>
              <a:t>：</a:t>
            </a:r>
          </a:p>
          <a:p>
            <a:r>
              <a:rPr dirty="0"/>
              <a:t>skill name</a:t>
            </a:r>
          </a:p>
          <a:p>
            <a:r>
              <a:rPr dirty="0" err="1"/>
              <a:t>mode：explicit</a:t>
            </a:r>
            <a:r>
              <a:rPr dirty="0"/>
              <a:t> / auto</a:t>
            </a:r>
          </a:p>
          <a:p>
            <a:r>
              <a:rPr dirty="0" err="1"/>
              <a:t>sessionId</a:t>
            </a:r>
            <a:endParaRPr dirty="0"/>
          </a:p>
          <a:p>
            <a:r>
              <a:rPr dirty="0"/>
              <a:t>time</a:t>
            </a:r>
          </a:p>
          <a:p>
            <a:r>
              <a:rPr dirty="0" err="1"/>
              <a:t>reason：如果是</a:t>
            </a:r>
            <a:r>
              <a:rPr dirty="0"/>
              <a:t> </a:t>
            </a:r>
            <a:r>
              <a:rPr dirty="0" err="1"/>
              <a:t>auto，为什么选它</a:t>
            </a:r>
            <a:endParaRPr dirty="0"/>
          </a:p>
          <a:p>
            <a:pPr>
              <a:buNone/>
            </a:pPr>
            <a:endParaRPr dirty="0"/>
          </a:p>
          <a:p>
            <a:pPr>
              <a:buNone/>
            </a:pPr>
            <a:r>
              <a:rPr dirty="0"/>
              <a:t>/skill usage </a:t>
            </a:r>
            <a:r>
              <a:rPr dirty="0" err="1"/>
              <a:t>应能查看当前</a:t>
            </a:r>
            <a:r>
              <a:rPr dirty="0"/>
              <a:t> session </a:t>
            </a:r>
            <a:r>
              <a:rPr dirty="0" err="1"/>
              <a:t>的使用记录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rPr lang="en-US" dirty="0" err="1"/>
              <a:t>需要实现的</a:t>
            </a:r>
            <a:r>
              <a:rPr lang="en-US" dirty="0"/>
              <a:t> skill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rPr/>
              <a:t>18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en" altLang="zh-CN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course-report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：</a:t>
            </a:r>
            <a:r>
              <a:rPr lang="zh-CN" altLang="en-US" dirty="0"/>
              <a:t>课程小论文 课程学习总结 课程实验报告</a:t>
            </a:r>
            <a:endParaRPr lang="en-US" altLang="zh-CN" dirty="0"/>
          </a:p>
          <a:p>
            <a:endParaRPr lang="en-US" dirty="0"/>
          </a:p>
          <a:p>
            <a:pPr algn="l">
              <a:spcAft>
                <a:spcPts val="120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另外两个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skill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可以自行设计，也可以选择：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material-summary: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汇总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workspace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中的学习材料、课堂笔记或调研资料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presentation-outline: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根据主题和材料生成课堂展示大纲、讲稿提纲或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PPT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页面结构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4899"/>
          </a:bodyPr>
          <a:lstStyle/>
          <a:p>
            <a:r>
              <a:t>Skill 不能绕过 workspace 和 approval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rPr/>
              <a:t>19</a:t>
            </a:fld>
            <a:endParaRPr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dirty="0"/>
              <a:t>• skill </a:t>
            </a:r>
            <a:r>
              <a:rPr dirty="0" err="1"/>
              <a:t>内容进入</a:t>
            </a:r>
            <a:r>
              <a:rPr dirty="0"/>
              <a:t> context </a:t>
            </a:r>
            <a:r>
              <a:rPr dirty="0" err="1"/>
              <a:t>builder，参与同一套</a:t>
            </a:r>
            <a:r>
              <a:rPr dirty="0"/>
              <a:t> agent loop</a:t>
            </a:r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保存文件必须调用</a:t>
            </a:r>
            <a:r>
              <a:rPr dirty="0"/>
              <a:t> workspace update tool</a:t>
            </a:r>
          </a:p>
          <a:p>
            <a:r>
              <a:rPr dirty="0"/>
              <a:t>• </a:t>
            </a:r>
            <a:r>
              <a:rPr dirty="0" err="1"/>
              <a:t>写文件前必须创建</a:t>
            </a:r>
            <a:r>
              <a:rPr dirty="0"/>
              <a:t> approval</a:t>
            </a:r>
          </a:p>
          <a:p>
            <a:r>
              <a:rPr dirty="0"/>
              <a:t>• </a:t>
            </a:r>
            <a:r>
              <a:rPr dirty="0" err="1"/>
              <a:t>结果、skill</a:t>
            </a:r>
            <a:r>
              <a:rPr dirty="0"/>
              <a:t> </a:t>
            </a:r>
            <a:r>
              <a:rPr dirty="0" err="1"/>
              <a:t>选择和使用记录写回</a:t>
            </a:r>
            <a:r>
              <a:rPr dirty="0"/>
              <a:t> session / trace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请继续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的开发任务，并且开始准备周三的答辩～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如果已经完成了所有的开发工作和答辩准备工作，可以整理最终的结题报告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1071</Words>
  <Application>Microsoft Macintosh PowerPoint</Application>
  <DocSecurity>0</DocSecurity>
  <PresentationFormat>宽屏</PresentationFormat>
  <Paragraphs>161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-apple-system</vt:lpstr>
      <vt:lpstr>Microsoft YaHei</vt:lpstr>
      <vt:lpstr>Lato Extended</vt:lpstr>
      <vt:lpstr>Arial</vt:lpstr>
      <vt:lpstr>Calibri</vt:lpstr>
      <vt:lpstr>Menlo</vt:lpstr>
      <vt:lpstr>Office Theme</vt:lpstr>
      <vt:lpstr>计算机编程实践#9 Skill System 与答辩说明</vt:lpstr>
      <vt:lpstr>答辩时间表</vt:lpstr>
      <vt:lpstr>答辩额外说明（具体内容 OC 上面已经发布了公告）</vt:lpstr>
      <vt:lpstr>项目提交要求</vt:lpstr>
      <vt:lpstr>其他小学期末的注意事项</vt:lpstr>
      <vt:lpstr>SJTUClaw 篇：Skill System</vt:lpstr>
      <vt:lpstr>Skill：让我们的智能可复用</vt:lpstr>
      <vt:lpstr>Skill 是一套可复用的方法书</vt:lpstr>
      <vt:lpstr>Skill、Tool、Memory、Session 各自负责什么</vt:lpstr>
      <vt:lpstr>回顾下：Skill 的结构</vt:lpstr>
      <vt:lpstr>SKILL.md</vt:lpstr>
      <vt:lpstr>Skill Registry</vt:lpstr>
      <vt:lpstr>Registry对外暴露的接口</vt:lpstr>
      <vt:lpstr>用法角度：用户可以显式调用 Skill</vt:lpstr>
      <vt:lpstr>模型也可以自主选择 Skill</vt:lpstr>
      <vt:lpstr>Skill 引入之后的 Agent Loop</vt:lpstr>
      <vt:lpstr>Skill usage record</vt:lpstr>
      <vt:lpstr>需要实现的 skill</vt:lpstr>
      <vt:lpstr>Skill 不能绕过 workspace 和 approval</vt:lpstr>
      <vt:lpstr>请继续SJTUClaw 的开发任务，并且开始准备周三的答辩～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Dong Du</cp:lastModifiedBy>
  <cp:revision>22</cp:revision>
  <dcterms:created xsi:type="dcterms:W3CDTF">2026-07-27T02:05:19Z</dcterms:created>
  <dcterms:modified xsi:type="dcterms:W3CDTF">2026-07-27T03:20:33Z</dcterms:modified>
</cp:coreProperties>
</file>