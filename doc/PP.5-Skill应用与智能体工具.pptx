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6" r:id="rId2"/>
    <p:sldId id="2147483644" r:id="rId3"/>
    <p:sldId id="283" r:id="rId4"/>
    <p:sldId id="287" r:id="rId5"/>
    <p:sldId id="300" r:id="rId6"/>
    <p:sldId id="264" r:id="rId7"/>
    <p:sldId id="265" r:id="rId8"/>
    <p:sldId id="266" r:id="rId9"/>
    <p:sldId id="271" r:id="rId10"/>
    <p:sldId id="272" r:id="rId11"/>
    <p:sldId id="267" r:id="rId12"/>
    <p:sldId id="2147483645" r:id="rId13"/>
    <p:sldId id="2147483646" r:id="rId14"/>
    <p:sldId id="2147483647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8" r:id="rId23"/>
    <p:sldId id="269" r:id="rId24"/>
    <p:sldId id="270" r:id="rId25"/>
    <p:sldId id="274" r:id="rId26"/>
    <p:sldId id="276" r:id="rId27"/>
    <p:sldId id="275" r:id="rId28"/>
    <p:sldId id="277" r:id="rId29"/>
    <p:sldId id="278" r:id="rId30"/>
    <p:sldId id="279" r:id="rId31"/>
    <p:sldId id="280" r:id="rId32"/>
    <p:sldId id="281" r:id="rId33"/>
    <p:sldId id="282" r:id="rId34"/>
    <p:sldId id="284" r:id="rId35"/>
    <p:sldId id="285" r:id="rId36"/>
    <p:sldId id="286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273" r:id="rId5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489"/>
    <p:restoredTop sz="88099"/>
  </p:normalViewPr>
  <p:slideViewPr>
    <p:cSldViewPr snapToObjects="1" showGuides="1">
      <p:cViewPr>
        <p:scale>
          <a:sx n="92" d="100"/>
          <a:sy n="92" d="100"/>
        </p:scale>
        <p:origin x="496" y="3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93" d="100"/>
          <a:sy n="93" d="100"/>
        </p:scale>
        <p:origin x="37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80A4E0-C67A-6842-A063-4188E143D8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7E8CA-64C1-604E-B679-AE92A4602E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1E017-357D-4744-8D4B-04CA59826C34}" type="datetimeFigureOut">
              <a:rPr lang="en-CN" smtClean="0"/>
              <a:t>7/13/26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BE6F5-546E-CB46-A99D-1F0682A0A8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8A5B9-2BE3-1E4C-BD6C-27A1391C6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29CC4-8916-F84A-A92E-A3769754F19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7825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BEA6A-5BB7-4947-8A67-D55A874F4F16}" type="datetimeFigureOut">
              <a:rPr lang="en-CN" smtClean="0"/>
              <a:t>7/13/26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F54FA-28E9-114E-B0A7-6C255474D5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825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28514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06097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AB9E2-D22E-3A43-18A6-36E0B7A20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773A84-BEAB-E53B-CF7D-A85B5B22C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8050C-5D25-D807-6077-C51C1E826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726AB6-CA16-3D89-777A-95B3A4FDC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57049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3107D-F832-0FD9-B9C1-B48A9467C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060D6E-B7B4-5241-4F55-242C2E083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5EB986-4124-3B8D-6D0F-26D564FD4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31CEDA-38AC-4E67-BD7D-6403A3DAD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85636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A56AE-6547-58D4-932E-F4E435023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9E1B78-9DA3-2B06-96AE-4E9A7A8C1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21641E-1E74-49C9-6FC9-1B0315C11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AADDA2-D8C8-410C-8DDD-1AC008FEF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95098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00170-DCD7-758E-E508-4D3BD0695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AF73B0-E837-27B9-12D1-33A7420D0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7168B7-FB6B-C4E7-53A1-2EA437F2C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45BE80-E9D9-7C0E-D6FB-3F8364BDA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31500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C505F-D9F6-8302-80DF-00DBA8AE4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712CB9-9527-B9B4-06DE-5F6BE2947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86E913-0793-F4E9-5D81-C87964F87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4CE5A8-CD04-5B58-92D6-ABF337044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85459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2303-6C5C-DEB3-B4E5-BE0E84B97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0620D2-6211-D2FC-CB0B-A49A7BE2C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66F365-CD95-9DEF-6413-FD218883B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CE5F74-5AFA-5846-C3A0-DB238AEDF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62757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7192B-E846-17B5-9514-0860DD68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1EED0B-AF96-0053-95A5-B9E89E47E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5D0FD4-E127-C736-DF91-D821BE265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5853BE-ACCA-6A70-0F7F-DED796010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65224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681B6-F771-7DD2-C3DB-5E1E820A1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4BC9D7-56B6-7AD4-2156-4B7644139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11FA96-C01E-5B0B-1D49-7AE6140D7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7D0D8F-F7D3-98B0-8467-722E1737A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2278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2AF13-B2DE-089C-3625-3273F314F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ED1603-106A-2DE7-B970-D71E0A34B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4D933C-BAC3-47C5-57E2-AF23E1B72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D20DBD-A715-8BE0-B49D-7B900CD6E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567036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9D758-54FB-070D-C446-F4FA0B666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63E6DF-C032-231B-2A31-97BA7B2DC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EFE81A-B231-C269-C462-5FFA483F9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CFCC2B-566C-E1D7-62AD-C30C7BCAC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131611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5501E-F1D7-54E7-B52D-33AB2E2B3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142A78-16EC-7883-B76A-A4F20BB0C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3DE306-95F4-2A56-55FE-1C54A0B69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68DE6-CA19-C9E5-B648-EDBBD05F8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307157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5E15A-1751-6B1B-A8CA-C60F2AA17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B802C2-8EFA-8728-E2D8-CB8918EF0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6DFB7C-BE6D-DEBA-0404-7BD73D006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D0871C-7BE8-B25D-D98E-317284A5D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17976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08A3B-94AC-63CD-C474-0844C71BB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761FE0-E506-DA40-A279-B8A9785BC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54F249-49D1-81F9-7E9D-0ACE6A77B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2C11BC-D545-717C-3E7C-DF321E8A5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628925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1F5F2-AF4A-0922-1CB2-44BE790A9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CECCB1-FF8B-A75F-8A07-DF732928E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2FC5B4-FFBD-E248-A27F-E92CBBF2C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929933-7A0F-3CD1-A8E5-DEF2E905F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179878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CE185-393F-54D0-E88F-03AA0806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53DD12-77C2-4122-4BCE-AA897B214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F56FE-7D78-401A-808A-858A83ECB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D2B809-B4B4-FE08-060D-04F308B10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49693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634E5-8C34-0606-BCD5-5AB75CF4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1DD42B-2F7C-ED51-6FDB-961D6B5EE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267ABC-F234-DC46-74A8-883BC03A1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50D17D-F600-C823-96EC-A818276DA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30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77632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96C38-5DE3-3664-8D5E-543B0771D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F359B5-656B-3471-2763-9C7CAA610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597124-DCF7-D228-26D9-307F65B20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41D358-3058-0F89-997A-EB92C35108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31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391513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F02D3-DD38-81C9-1E2F-8584CB949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DEFE02-C191-CD49-68F8-0CC1045F8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20B99B-7BCC-7C20-2817-4FEB76D74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15D532-1634-4C73-06A3-F4EBEAAC5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33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565283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2068-3302-4A4A-137E-886194901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715577-83A1-C507-ACC5-779E01AF4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7B13F6-E819-7956-019F-F6B5E1596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23681C-1CFE-2F68-0921-00E65B5DD9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34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602103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AE0CD-B52D-74F3-9745-B4942F8F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B0C80D-10E5-7D88-EAD2-46C73196D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2F18AE-DB4C-3DC8-9B1B-7F05FFC70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8C18E9-F448-1066-684D-62BDF61CD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35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384186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E6BF4-1D9D-3252-A2F3-DFC65DE38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0D26BE-35C1-586C-7BB2-F80A41038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F51B17-5769-1EE3-A46D-417DFFF0A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D4F1B2-8C50-D2B2-8DBC-6F120BFC5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36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53693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311C6-9D0A-5E84-2246-5D3BC4629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63CE5E-E480-B975-3D61-6D40605C8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C35266-648F-C743-92E6-1B3D845AD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BF66E8-73E6-947A-24BA-2AE9C0D12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37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471255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517A1-91F7-FA49-6765-DA8BFC5B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D7BE26-6464-59A6-135E-BC2F9C8C4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5A25D9-B109-EC34-B928-FF0C4FA10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A9E6C0-54A2-F25A-73C8-DA97DF899D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38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759661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76B5A-25AC-FE56-EAB5-304F0FB5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3DCB03-B566-7CFA-1D73-80377B055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076AC5-6907-00A9-96FA-65FE74AC8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C15895-3BDD-B431-CFBD-ABE12C793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39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858605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5767D-EEFC-12F7-0DC1-B3113CC66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903C36-2094-6D05-CD89-09934D88F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C5EDA5-FE5A-B183-98BC-5B1726851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4114FC-36FA-9309-BAA7-7F7685D28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40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251614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DAEA1-96C5-F6A0-6456-6347FDD06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72C0FF-41A2-9159-34EB-7DE9900D1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36D43B-C0B8-6C46-03DF-80C7C246D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2D3AAC-02B9-4D87-34C9-2CDF6A5EC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41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787789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0302-1604-A65B-0CC9-EFA7CDF0D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D6E0AA-E62F-8E79-6C7A-716BBBE06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6673DA-3229-4530-37D9-6AD95EF23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C2BBBF-7262-E5CF-714D-3D8150C03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42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62832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70119-A644-B7CA-E3C8-E35D6C496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515EB9-812D-F3A4-9A63-94B1E2833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191D63-0BB1-BBF8-342C-CDF6DDE16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12142E-4B94-1D82-6508-1CEA91262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43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314848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E22D8-986A-ED7F-26D5-EF134CF83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114E84-A50D-F6F4-0DA3-528D77FF5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D82A37-D75F-8FB9-8840-AAF9581D9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DD73A5-327B-B97E-5666-BD3CC88E1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44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780293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94A1-A8BB-6B8C-0785-CECAF2819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D0F501-BA97-49FF-9ECE-62E32F7E4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0682E7-B2DB-FE39-919D-C826DBB62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EB4A2D-E367-5FC7-D392-EC48AE747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45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376286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A1D42-0CF7-B922-1246-AA0BEB9F6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A6E98C-151E-BD92-E8CA-EA1B098E5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A2E45D-6EE9-8085-1A64-E6DD2633B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ECEA72-C65A-57F1-43FC-F890E4AE9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46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505114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A9E58-CC4D-F3AA-4DB6-4CB0DE0D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212FE3-1AAF-C40A-EA35-37BAF3637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53FA20-257B-6BB5-C15D-FA012CAB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073F4E-A404-CC97-F62F-69388FEAA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47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530664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BB326-EBCC-52BE-138B-F5CCC2FB8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B3C261-BE9C-9366-DF89-FD79278EE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4C5A48-D4F2-CC6E-B7D7-14D3C98E1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90923A-805B-276E-77BA-07321BCC8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48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9145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9E8F3-BABA-DA4B-98F4-B69497EC1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122363"/>
            <a:ext cx="1094521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926C3-432C-544D-B73E-7686141AE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3933056"/>
            <a:ext cx="10945216" cy="132474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2211E-626E-E649-BCEC-0C344377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BFE9-E284-B34B-9DD9-9734E072A10D}" type="datetime1">
              <a:rPr lang="en-US" smtClean="0"/>
              <a:t>7/13/26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CD07C-E71B-EE4E-A04D-513B4FDC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89468-3554-7E45-9EC0-72A9DA9D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877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C705-C275-294F-88E4-9FB87207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265A9-208F-B747-8249-EF637072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637818" cy="496855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3A073-1A46-2C48-AA4B-6B0CC619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5C36-DE89-754B-AADC-BE098732BA55}" type="datetime1">
              <a:rPr lang="en-US" smtClean="0"/>
              <a:t>7/13/26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9E507-59F5-8A41-B56B-0E2687B0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8107E-D461-1C49-AF2F-D9273FD1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908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513C-7AC8-7541-BCC2-5C66F995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597B0-B86C-984E-9652-A57A69708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BD942-5636-774E-9AE5-8136B8B4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92F05-C132-444E-8CB1-83285020EE6B}" type="datetime1">
              <a:rPr lang="en-US" smtClean="0"/>
              <a:t>7/13/26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AB1F5-1745-B641-8A3E-8C77C997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1740-E141-994F-960E-30E141D3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477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2C74-6A75-C345-8D45-8399B42E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84567-0E36-8C49-9950-371CE9271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7091" y="1268760"/>
            <a:ext cx="5742709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E884A-AA9A-BE49-9BD4-6BBBB45F0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68760"/>
            <a:ext cx="5742708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B4A51-01A4-3C48-9EF1-CAD20440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A035-3CCE-DA49-8248-4DECF1480FAD}" type="datetime1">
              <a:rPr lang="en-US" smtClean="0"/>
              <a:t>7/13/26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CDCA8-4C0B-2B4F-9CDC-ACA218BDB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0FABC-1CE5-A841-95A8-DC4B7638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017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DA5A-7B1C-D842-8A6E-984ADE32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3FD6F-1409-9F43-BEE8-8F9EFC917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C4E4F-B343-6443-A79A-CB96201DE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092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01090-F89E-AA4B-9D16-F48FB5E06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6B3EB-D7F0-C44F-89A3-064941260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73A94-E684-2649-A535-833C9909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8968-DCED-034C-A9F9-63C7B612155B}" type="datetime1">
              <a:rPr lang="en-US" smtClean="0"/>
              <a:t>7/13/26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0C9F79-6BC1-C54D-BBE7-D3713DCC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490904-0654-2849-9A8C-F33DBEE4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048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7F1A-C959-D645-9CB7-7339FD8B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F0EF2-B047-1843-9607-4AF6018B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C6-ADAB-5E41-86AC-7F6081FE7CAC}" type="datetime1">
              <a:rPr lang="en-US" smtClean="0"/>
              <a:t>7/13/26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D6C8D-169C-E24E-B2DA-7E28FB0B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FC934-724A-D84B-9F74-7DAEAF31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310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904D3-4AF6-314E-9FEA-CF71A3D6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856D-977A-F642-9AEB-80D2F107EFF4}" type="datetime1">
              <a:rPr lang="en-US" smtClean="0"/>
              <a:t>7/13/26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48081-E7A8-134A-8DE9-3268CD36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17B03-016A-BB4E-B72A-7FEB2502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4185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4E59-A309-134D-A7DA-234DDB7C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1448-1A70-954A-B1B3-716EB4063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ACCF5-86A9-6846-80E5-9F5210865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88A50-D7AF-F540-9B78-27732CB9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4B7F-BC74-F14F-8BF9-586EC96745A0}" type="datetime1">
              <a:rPr lang="en-US" smtClean="0"/>
              <a:t>7/13/26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25F00-82C3-474A-BB00-672C82BB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8D448-780A-DC49-8C78-27A053B1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077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A7F5-0229-024C-A91C-660C9220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6B5FD-870A-B046-9BE3-57F89CB1F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FCD14-9FC1-4043-B048-B049BE1EE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2996A-2C74-AA45-8AB4-0C7955B5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7302-2114-A74D-8389-8181128E4BC3}" type="datetime1">
              <a:rPr lang="en-US" smtClean="0"/>
              <a:t>7/13/26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AA01E-2B14-4B4A-A421-3492F245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5C4E4-99EA-E14D-AAEA-DCD6ECF5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635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FB2D-E296-704F-8176-9D763DB8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D5061-4135-AD4C-A724-15D16C394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0BFD8-AE5F-F840-911B-311B24DD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8223-6D33-DE4C-9F51-4A38614FD791}" type="datetime1">
              <a:rPr lang="en-US" smtClean="0"/>
              <a:t>7/13/26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4ED0-1654-3A4E-AEC7-9A8CAB79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6FF2-B775-AE48-854B-A8FC4BD5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354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990A8-A8D2-3949-8444-FC2A73CED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1292E-E172-D94F-B9FD-164675C70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3F332-4AC7-7541-80F3-77180C55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0E2A-2758-4248-AC6A-4E927F9F5533}" type="datetime1">
              <a:rPr lang="en-US" smtClean="0"/>
              <a:t>7/13/26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09EB2-2AD6-404A-B9A9-546937A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4627-5052-DD45-806F-F1F199EE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4840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64C47F-F176-F546-BC0D-68EB7227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8" cy="646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D7DD0-DC4B-B84D-A6B0-3F2FDED38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091" y="1268760"/>
            <a:ext cx="11637818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17A9E-FDF2-F640-9AAD-992969746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7091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8F2AF-5968-3346-AE5F-9E0849B6F0B3}" type="datetime1">
              <a:rPr lang="en-US" smtClean="0"/>
              <a:t>7/13/26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0713F-EA27-5D49-950B-4667F409F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5151B-CA49-B145-971E-747B50551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029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itanwings/colleague-skil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therealXiaomanChu/ex-skil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trae.ai/ide/skills?_lang=zh" TargetMode="Externa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s://github.com/op7418/humanizer-zh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2030-8EE3-BF4F-A363-640032AE4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484784"/>
            <a:ext cx="10945216" cy="2487938"/>
          </a:xfrm>
        </p:spPr>
        <p:txBody>
          <a:bodyPr>
            <a:normAutofit/>
          </a:bodyPr>
          <a:lstStyle/>
          <a:p>
            <a:r>
              <a:rPr lang="zh-CN" altLang="en-US" dirty="0"/>
              <a:t>计算机编程实践</a:t>
            </a:r>
            <a:r>
              <a:rPr lang="en-US" altLang="zh-CN" dirty="0"/>
              <a:t>#5</a:t>
            </a:r>
            <a:br>
              <a:rPr lang="en-US" altLang="zh-CN" dirty="0"/>
            </a:br>
            <a:r>
              <a:rPr lang="en-US" altLang="zh-CN" dirty="0"/>
              <a:t>Skill</a:t>
            </a:r>
            <a:r>
              <a:rPr lang="zh-CN" altLang="en-US" dirty="0"/>
              <a:t>应用与智能体工具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C9327-07CA-D843-AB2E-801FC5C73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4509120"/>
            <a:ext cx="10945216" cy="1008112"/>
          </a:xfrm>
        </p:spPr>
        <p:txBody>
          <a:bodyPr>
            <a:normAutofit/>
          </a:bodyPr>
          <a:lstStyle/>
          <a:p>
            <a:r>
              <a:rPr lang="zh-CN" altLang="en-US" dirty="0"/>
              <a:t>杜冬冬</a:t>
            </a:r>
            <a:endParaRPr lang="en-US" altLang="zh-CN" dirty="0"/>
          </a:p>
          <a:p>
            <a:r>
              <a:rPr lang="en-US" altLang="zh-CN" dirty="0"/>
              <a:t>2026</a:t>
            </a:r>
            <a:r>
              <a:rPr lang="zh-CN" altLang="en-US" dirty="0"/>
              <a:t>小学期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3089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187BF-7360-4AE1-B5AA-5AF77ACD3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6AA2E-F03B-F239-4C59-CF247328B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Outline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0E9C4-A1CC-C6AE-B5F2-35915A574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zh-CN" altLang="en-US" dirty="0"/>
              <a:t>编程技巧篇：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中的</a:t>
            </a:r>
            <a:r>
              <a:rPr lang="en-US" altLang="zh-CN" dirty="0"/>
              <a:t> skill</a:t>
            </a:r>
            <a:r>
              <a:rPr lang="zh-CN" altLang="en-US" dirty="0"/>
              <a:t> 如何使用？</a:t>
            </a:r>
            <a:endParaRPr lang="en-US" altLang="zh-CN" dirty="0"/>
          </a:p>
          <a:p>
            <a:pPr lvl="1"/>
            <a:r>
              <a:rPr lang="zh-CN" altLang="en-US" dirty="0"/>
              <a:t>注意：</a:t>
            </a:r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在最后一部分也要求大家实现</a:t>
            </a:r>
            <a:r>
              <a:rPr lang="en-US" altLang="zh-CN" dirty="0"/>
              <a:t> skill </a:t>
            </a:r>
            <a:r>
              <a:rPr lang="zh-CN" altLang="en-US" dirty="0"/>
              <a:t>系统，但是在此之前，希望大家先在自己的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中，尝试去用一下</a:t>
            </a:r>
            <a:r>
              <a:rPr lang="en-US" altLang="zh-CN" dirty="0"/>
              <a:t> skill</a:t>
            </a:r>
          </a:p>
          <a:p>
            <a:pPr lvl="1"/>
            <a:r>
              <a:rPr lang="zh-CN" altLang="en-US" dirty="0"/>
              <a:t>并且感受</a:t>
            </a:r>
            <a:r>
              <a:rPr lang="en-US" altLang="zh-CN" dirty="0"/>
              <a:t> skill </a:t>
            </a:r>
            <a:r>
              <a:rPr lang="zh-CN" altLang="en-US" dirty="0"/>
              <a:t>对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</a:t>
            </a:r>
            <a:r>
              <a:rPr lang="zh-CN" altLang="en-US" dirty="0"/>
              <a:t>（也是一个</a:t>
            </a:r>
            <a:r>
              <a:rPr lang="en-US" altLang="zh-CN" dirty="0"/>
              <a:t> agent</a:t>
            </a:r>
            <a:r>
              <a:rPr lang="zh-CN" altLang="en-US" dirty="0"/>
              <a:t>）的帮助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SJTUClaw</a:t>
            </a:r>
            <a:r>
              <a:rPr lang="zh-CN" altLang="en-US" dirty="0"/>
              <a:t>项目篇：智能体工具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AB8FF-060E-B73B-9CAF-A6E162274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31366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D95EA-FE99-2287-DCBB-DBA332201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编程技巧篇：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中的</a:t>
            </a:r>
            <a:r>
              <a:rPr lang="en-US" altLang="zh-CN" dirty="0"/>
              <a:t> skill</a:t>
            </a:r>
            <a:r>
              <a:rPr lang="zh-CN" altLang="en-US" dirty="0"/>
              <a:t> 如何使用？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DB1B16-4BD5-B723-4CEE-35702992E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5E610C-C0CF-F819-C612-763D69BAB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48376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C9973-2BE5-3D73-4984-CCAF8BF0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B154-C69D-41A6-ED68-5F2958BA0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疯狂的</a:t>
            </a:r>
            <a:r>
              <a:rPr lang="en-US" altLang="zh-CN" dirty="0"/>
              <a:t> Skill</a:t>
            </a:r>
            <a:r>
              <a:rPr lang="zh-CN" altLang="en-US" dirty="0"/>
              <a:t>：同事离职了，但是还在干活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50A31-EBF6-B782-91ED-3A5A1C619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en-US" altLang="zh-CN" dirty="0"/>
              <a:t>2026</a:t>
            </a:r>
            <a:r>
              <a:rPr lang="zh-CN" altLang="en-US" dirty="0"/>
              <a:t>年上半年，</a:t>
            </a:r>
            <a:r>
              <a:rPr lang="en-US" altLang="zh-CN" dirty="0"/>
              <a:t>skill </a:t>
            </a:r>
            <a:r>
              <a:rPr lang="zh-CN" altLang="en-US" dirty="0"/>
              <a:t>开始爆火，但是不是技术层面</a:t>
            </a:r>
            <a:r>
              <a:rPr lang="en-US" altLang="zh-CN" dirty="0"/>
              <a:t>……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08299-4FCF-BD93-EE38-E688CDFD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</a:t>
            </a:fld>
            <a:endParaRPr lang="en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E613A7-2998-7BFC-2BBE-5436D6677110}"/>
              </a:ext>
            </a:extLst>
          </p:cNvPr>
          <p:cNvSpPr txBox="1"/>
          <p:nvPr/>
        </p:nvSpPr>
        <p:spPr>
          <a:xfrm>
            <a:off x="0" y="6492874"/>
            <a:ext cx="29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图源：小红书上的</a:t>
            </a:r>
            <a:r>
              <a:rPr kumimoji="1" lang="en-US" altLang="zh-CN" dirty="0"/>
              <a:t> X </a:t>
            </a:r>
            <a:r>
              <a:rPr kumimoji="1" lang="zh-CN" altLang="en-US" dirty="0"/>
              <a:t>的截图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4FA33DE-F1F6-380E-CC04-11C6853FE8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03" b="9549"/>
          <a:stretch/>
        </p:blipFill>
        <p:spPr>
          <a:xfrm>
            <a:off x="8046844" y="1"/>
            <a:ext cx="4026508" cy="6858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E76A6AE-BC07-5399-FD87-13E702B573B9}"/>
              </a:ext>
            </a:extLst>
          </p:cNvPr>
          <p:cNvSpPr txBox="1"/>
          <p:nvPr/>
        </p:nvSpPr>
        <p:spPr>
          <a:xfrm>
            <a:off x="3710439" y="4077072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被毕业的同事其实没有消失？</a:t>
            </a:r>
          </a:p>
        </p:txBody>
      </p:sp>
    </p:spTree>
    <p:extLst>
      <p:ext uri="{BB962C8B-B14F-4D97-AF65-F5344CB8AC3E}">
        <p14:creationId xmlns:p14="http://schemas.microsoft.com/office/powerpoint/2010/main" val="2861631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4FDF6-B4D2-5261-D5B8-6367D1F8C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8FB1A-A2C0-78A5-8C64-0011CA6A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疯狂的</a:t>
            </a:r>
            <a:r>
              <a:rPr lang="en-US" altLang="zh-CN" dirty="0"/>
              <a:t> Skill</a:t>
            </a:r>
            <a:r>
              <a:rPr lang="zh-CN" altLang="en-US" dirty="0"/>
              <a:t>：同事离职了，但是还在干活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CF19F-FBF0-07F1-3869-F39F4322F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en-US" altLang="zh-CN" dirty="0"/>
              <a:t>2026</a:t>
            </a:r>
            <a:r>
              <a:rPr lang="zh-CN" altLang="en-US" dirty="0"/>
              <a:t>年上半年，</a:t>
            </a:r>
            <a:r>
              <a:rPr lang="en-US" altLang="zh-CN" dirty="0"/>
              <a:t>skill </a:t>
            </a:r>
            <a:r>
              <a:rPr lang="zh-CN" altLang="en-US" dirty="0"/>
              <a:t>开始爆火，但是不是技术层面</a:t>
            </a:r>
            <a:r>
              <a:rPr lang="en-US" altLang="zh-CN" dirty="0"/>
              <a:t>……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9C968-D5DD-C105-88B3-836C63F67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5</a:t>
            </a:fld>
            <a:endParaRPr lang="en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8E515B-11E0-A479-DDEE-2ABA4C2D2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26" y="1916832"/>
            <a:ext cx="5303912" cy="347700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31A73EE-D6F1-80E2-4CF5-635C5B2637B1}"/>
              </a:ext>
            </a:extLst>
          </p:cNvPr>
          <p:cNvSpPr txBox="1"/>
          <p:nvPr/>
        </p:nvSpPr>
        <p:spPr>
          <a:xfrm>
            <a:off x="0" y="649287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图源：水印，内容参考自同源头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152B13F-0ED4-4602-BB6E-B4F78D6C11A6}"/>
              </a:ext>
            </a:extLst>
          </p:cNvPr>
          <p:cNvSpPr txBox="1"/>
          <p:nvPr/>
        </p:nvSpPr>
        <p:spPr>
          <a:xfrm>
            <a:off x="751423" y="5410402"/>
            <a:ext cx="44353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" altLang="zh-CN" dirty="0">
                <a:hlinkClick r:id="rId3"/>
              </a:rPr>
              <a:t>https://github.com/titanwings/colleague-skill</a:t>
            </a:r>
            <a:endParaRPr kumimoji="1" lang="en" altLang="zh-CN" dirty="0"/>
          </a:p>
          <a:p>
            <a:pPr algn="ctr"/>
            <a:r>
              <a:rPr kumimoji="1" lang="en-US" altLang="zh-CN" dirty="0"/>
              <a:t>20.2</a:t>
            </a:r>
            <a:r>
              <a:rPr kumimoji="1" lang="en" altLang="zh-CN" dirty="0"/>
              <a:t>K</a:t>
            </a:r>
            <a:r>
              <a:rPr kumimoji="1" lang="zh-CN" altLang="en-US" dirty="0"/>
              <a:t> </a:t>
            </a:r>
            <a:r>
              <a:rPr kumimoji="1" lang="en-US" altLang="zh-CN" dirty="0"/>
              <a:t>⭐️</a:t>
            </a:r>
            <a:r>
              <a:rPr kumimoji="1" lang="zh-CN" altLang="en-US" dirty="0"/>
              <a:t> （</a:t>
            </a:r>
            <a:r>
              <a:rPr kumimoji="1" lang="en-US" altLang="zh-CN" dirty="0"/>
              <a:t>2026-07-11</a:t>
            </a:r>
            <a:r>
              <a:rPr kumimoji="1" lang="zh-CN" altLang="en-US" dirty="0"/>
              <a:t>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56C698C-D342-BDB9-8147-021042D3C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938" y="1610494"/>
            <a:ext cx="3436360" cy="511098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DFED688-3F61-C1CA-46DE-689F375644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9053" y="3144676"/>
            <a:ext cx="7772400" cy="70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96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07989-88B8-BCB0-E5DC-704F0CE4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DB6AF-1BF7-AEB0-5689-6E0AD4A9A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疯狂的</a:t>
            </a:r>
            <a:r>
              <a:rPr lang="en-US" altLang="zh-CN" dirty="0"/>
              <a:t> Skill</a:t>
            </a:r>
            <a:r>
              <a:rPr lang="zh-CN" altLang="en-US" dirty="0"/>
              <a:t>：同事离职了，但是还在干活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12AA2-7CE6-BCA5-5A85-E3A302807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9010" y="1140312"/>
            <a:ext cx="4628190" cy="5352562"/>
          </a:xfrm>
        </p:spPr>
        <p:txBody>
          <a:bodyPr/>
          <a:lstStyle/>
          <a:p>
            <a:r>
              <a:rPr lang="zh-CN" altLang="en-US" dirty="0"/>
              <a:t>复活吧，我的爱人</a:t>
            </a:r>
            <a:endParaRPr lang="en-US" altLang="zh-CN" dirty="0"/>
          </a:p>
          <a:p>
            <a:pPr algn="l">
              <a:spcBef>
                <a:spcPts val="1500"/>
              </a:spcBef>
              <a:spcAft>
                <a:spcPts val="1500"/>
              </a:spcAft>
            </a:pPr>
            <a:r>
              <a:rPr lang="zh-CN" altLang="en-US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这个</a:t>
            </a:r>
            <a:r>
              <a:rPr lang="en" altLang="zh-CN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skill</a:t>
            </a:r>
            <a:r>
              <a:rPr lang="zh-CN" altLang="en-US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是干嘛的呢，简单说就是蒸馏人格</a:t>
            </a:r>
          </a:p>
          <a:p>
            <a:pPr algn="l">
              <a:spcBef>
                <a:spcPts val="1500"/>
              </a:spcBef>
              <a:spcAft>
                <a:spcPts val="1500"/>
              </a:spcAft>
            </a:pPr>
            <a:r>
              <a:rPr lang="zh-CN" altLang="en-US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提供俩人的美好（？）记忆，就能让</a:t>
            </a:r>
            <a:r>
              <a:rPr lang="en" altLang="zh-CN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AI</a:t>
            </a:r>
            <a:r>
              <a:rPr lang="zh-CN" altLang="en-US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魂穿前任，用</a:t>
            </a:r>
            <a:r>
              <a:rPr lang="en" altLang="zh-CN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ta</a:t>
            </a:r>
            <a:r>
              <a:rPr lang="zh-CN" altLang="en-US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的口头禅说话，用</a:t>
            </a:r>
            <a:r>
              <a:rPr lang="en" altLang="zh-CN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ta</a:t>
            </a:r>
            <a:r>
              <a:rPr lang="zh-CN" altLang="en-US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的方式聊天</a:t>
            </a:r>
          </a:p>
          <a:p>
            <a:pPr lvl="1"/>
            <a:endParaRPr lang="en-US" altLang="zh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A795D-7DDD-3F93-EA51-5388CF1F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6</a:t>
            </a:fld>
            <a:endParaRPr lang="en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BDC4FA-49F4-01B2-45D9-7A11EFB0A675}"/>
              </a:ext>
            </a:extLst>
          </p:cNvPr>
          <p:cNvSpPr txBox="1"/>
          <p:nvPr/>
        </p:nvSpPr>
        <p:spPr>
          <a:xfrm>
            <a:off x="0" y="649287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图源：水印，内容参考自同源头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BDC888-7777-AA78-87B1-342E5B2226E0}"/>
              </a:ext>
            </a:extLst>
          </p:cNvPr>
          <p:cNvSpPr txBox="1"/>
          <p:nvPr/>
        </p:nvSpPr>
        <p:spPr>
          <a:xfrm>
            <a:off x="654986" y="5410402"/>
            <a:ext cx="462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" altLang="zh-CN" dirty="0">
                <a:hlinkClick r:id="rId2"/>
              </a:rPr>
              <a:t>https://github.com/therealXiaomanChu/ex-skill</a:t>
            </a:r>
            <a:endParaRPr kumimoji="1" lang="en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F40E85E-EA5B-FD95-4E86-80A2D8C52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89" y="1789393"/>
            <a:ext cx="6858000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73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A9027-76FF-B99F-2416-625287472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4422F-2C76-6D4C-B764-503F33EB4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疯狂的</a:t>
            </a:r>
            <a:r>
              <a:rPr lang="en-US" altLang="zh-CN" dirty="0"/>
              <a:t> Skill</a:t>
            </a:r>
            <a:r>
              <a:rPr lang="zh-CN" altLang="en-US" dirty="0"/>
              <a:t>：前任</a:t>
            </a:r>
            <a:r>
              <a:rPr lang="en-US" altLang="zh-CN" dirty="0"/>
              <a:t>.skill </a:t>
            </a:r>
            <a:r>
              <a:rPr lang="zh-CN" altLang="en-US" dirty="0"/>
              <a:t>的使用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8E8C9-3C1F-B318-026F-94FEF4332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7</a:t>
            </a:fld>
            <a:endParaRPr lang="en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F9823C7-BC89-96CC-DC6B-2D2959ACB98D}"/>
              </a:ext>
            </a:extLst>
          </p:cNvPr>
          <p:cNvSpPr txBox="1"/>
          <p:nvPr/>
        </p:nvSpPr>
        <p:spPr>
          <a:xfrm>
            <a:off x="0" y="649287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图源：水印，内容参考自同源头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5D90C7-4C7D-A022-015D-D236F3606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49853"/>
            <a:ext cx="4771074" cy="564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4F04829-9AB7-7B21-56AF-2E2494A1E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64" y="1015540"/>
            <a:ext cx="6858000" cy="5029200"/>
          </a:xfrm>
          <a:prstGeom prst="rect">
            <a:avLst/>
          </a:prstGeom>
        </p:spPr>
      </p:pic>
      <p:sp>
        <p:nvSpPr>
          <p:cNvPr id="3" name="圆角矩形 2">
            <a:extLst>
              <a:ext uri="{FF2B5EF4-FFF2-40B4-BE49-F238E27FC236}">
                <a16:creationId xmlns:a16="http://schemas.microsoft.com/office/drawing/2014/main" id="{402DD680-5B80-5ED0-07CE-A7AD05B1AAEE}"/>
              </a:ext>
            </a:extLst>
          </p:cNvPr>
          <p:cNvSpPr/>
          <p:nvPr/>
        </p:nvSpPr>
        <p:spPr>
          <a:xfrm>
            <a:off x="47328" y="2060848"/>
            <a:ext cx="1512168" cy="28803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66EBF3A-78E9-57FF-D2BC-99CCC1866E2B}"/>
              </a:ext>
            </a:extLst>
          </p:cNvPr>
          <p:cNvSpPr/>
          <p:nvPr/>
        </p:nvSpPr>
        <p:spPr>
          <a:xfrm>
            <a:off x="24270" y="4365104"/>
            <a:ext cx="2759361" cy="187220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870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086DC-C137-49E6-7B0B-BA98005C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E99C2-7B65-B235-6CD4-74396D024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疯狂的</a:t>
            </a:r>
            <a:r>
              <a:rPr lang="en-US" altLang="zh-CN" dirty="0"/>
              <a:t> Skill</a:t>
            </a:r>
            <a:r>
              <a:rPr lang="zh-CN" altLang="en-US" dirty="0"/>
              <a:t>：前任</a:t>
            </a:r>
            <a:r>
              <a:rPr lang="en-US" altLang="zh-CN" dirty="0"/>
              <a:t>.skill </a:t>
            </a:r>
            <a:r>
              <a:rPr lang="zh-CN" altLang="en-US" dirty="0"/>
              <a:t>的使用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55A88-7864-18CE-BF93-B0AED5D06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8</a:t>
            </a:fld>
            <a:endParaRPr lang="en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006077-60C8-3453-60E8-701C281DBF90}"/>
              </a:ext>
            </a:extLst>
          </p:cNvPr>
          <p:cNvSpPr txBox="1"/>
          <p:nvPr/>
        </p:nvSpPr>
        <p:spPr>
          <a:xfrm>
            <a:off x="0" y="649287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图源：水印，内容参考自同源头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D16B4C-9B4F-1104-91F7-4E02E20C5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46" y="1247246"/>
            <a:ext cx="6858000" cy="487680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3EA2C56-4186-D714-C004-620E09064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3307" y="1234339"/>
            <a:ext cx="4587694" cy="2683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圆角矩形 3">
            <a:extLst>
              <a:ext uri="{FF2B5EF4-FFF2-40B4-BE49-F238E27FC236}">
                <a16:creationId xmlns:a16="http://schemas.microsoft.com/office/drawing/2014/main" id="{0617E2CA-0C7D-5688-303E-5631B3FEBC76}"/>
              </a:ext>
            </a:extLst>
          </p:cNvPr>
          <p:cNvSpPr/>
          <p:nvPr/>
        </p:nvSpPr>
        <p:spPr>
          <a:xfrm>
            <a:off x="311972" y="5736266"/>
            <a:ext cx="3839812" cy="41053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3395AAC-89D3-7BF5-940A-1D7A992F7974}"/>
              </a:ext>
            </a:extLst>
          </p:cNvPr>
          <p:cNvCxnSpPr>
            <a:cxnSpLocks/>
          </p:cNvCxnSpPr>
          <p:nvPr/>
        </p:nvCxnSpPr>
        <p:spPr>
          <a:xfrm flipV="1">
            <a:off x="4223792" y="1556792"/>
            <a:ext cx="3109515" cy="4546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076" name="Picture 4">
            <a:extLst>
              <a:ext uri="{FF2B5EF4-FFF2-40B4-BE49-F238E27FC236}">
                <a16:creationId xmlns:a16="http://schemas.microsoft.com/office/drawing/2014/main" id="{FB1BEBEA-7707-D85B-9361-29A87460F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5556" y="4725144"/>
            <a:ext cx="5606444" cy="1147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4E085182-3D47-949B-7D2C-81563C83C676}"/>
              </a:ext>
            </a:extLst>
          </p:cNvPr>
          <p:cNvCxnSpPr>
            <a:cxnSpLocks/>
          </p:cNvCxnSpPr>
          <p:nvPr/>
        </p:nvCxnSpPr>
        <p:spPr>
          <a:xfrm flipV="1">
            <a:off x="3359696" y="5085184"/>
            <a:ext cx="7488832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75594A4B-33C3-C72D-30E9-5EB346C02407}"/>
              </a:ext>
            </a:extLst>
          </p:cNvPr>
          <p:cNvSpPr/>
          <p:nvPr/>
        </p:nvSpPr>
        <p:spPr>
          <a:xfrm>
            <a:off x="301846" y="5337670"/>
            <a:ext cx="3047724" cy="16553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280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0F22D-9368-400F-0853-C38DACB52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0820F-E9B1-5360-7501-467ACD26B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疯狂的</a:t>
            </a:r>
            <a:r>
              <a:rPr lang="en-US" altLang="zh-CN" dirty="0"/>
              <a:t> Skill</a:t>
            </a:r>
            <a:r>
              <a:rPr lang="zh-CN" altLang="en-US" dirty="0"/>
              <a:t>：前任</a:t>
            </a:r>
            <a:r>
              <a:rPr lang="en-US" altLang="zh-CN" dirty="0"/>
              <a:t>.skill </a:t>
            </a:r>
            <a:r>
              <a:rPr lang="zh-CN" altLang="en-US" dirty="0"/>
              <a:t>的使用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88381-6B23-947B-157B-8EF359CDD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9</a:t>
            </a:fld>
            <a:endParaRPr lang="en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29AA6-475B-534D-C302-3743EE5371EC}"/>
              </a:ext>
            </a:extLst>
          </p:cNvPr>
          <p:cNvSpPr txBox="1"/>
          <p:nvPr/>
        </p:nvSpPr>
        <p:spPr>
          <a:xfrm>
            <a:off x="0" y="6166656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图源：水印，内容参考自同源头</a:t>
            </a:r>
            <a:endParaRPr kumimoji="1" lang="en-US" altLang="zh-CN" dirty="0"/>
          </a:p>
          <a:p>
            <a:r>
              <a:rPr kumimoji="1" lang="zh-CN" altLang="en-US" dirty="0"/>
              <a:t>*： 该内容来自图片水印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AC6AC85E-1861-9EB9-4CF0-03F06CBAC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如果你的</a:t>
            </a:r>
            <a:r>
              <a:rPr lang="en-US" altLang="zh-CN" dirty="0"/>
              <a:t> Ex </a:t>
            </a:r>
            <a:r>
              <a:rPr lang="zh-CN" altLang="en-US" dirty="0"/>
              <a:t>不止一位？</a:t>
            </a:r>
            <a:endParaRPr lang="en-US" altLang="zh-CN" dirty="0"/>
          </a:p>
          <a:p>
            <a:r>
              <a:rPr lang="zh-CN" altLang="en-US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不用纠结！引入我们的数据结构，队列，让前任、前前任、前前前任全都过来列队就行（</a:t>
            </a:r>
            <a:r>
              <a:rPr lang="en" altLang="zh-CN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doge</a:t>
            </a:r>
            <a:r>
              <a:rPr lang="zh-CN" altLang="en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）</a:t>
            </a:r>
            <a:r>
              <a:rPr lang="zh-CN" altLang="en-US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</a:t>
            </a:r>
          </a:p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AC1799C-37E4-9D22-8255-56D1EF660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349" y="2667087"/>
            <a:ext cx="6108307" cy="362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42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F79E4-F58C-94B0-1DEE-52738C43A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6B43-702F-CFB3-D8C8-94AF3FD5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疯狂的</a:t>
            </a:r>
            <a:r>
              <a:rPr lang="en-US" altLang="zh-CN" dirty="0"/>
              <a:t> Skill</a:t>
            </a:r>
            <a:r>
              <a:rPr lang="zh-CN" altLang="en-US" dirty="0"/>
              <a:t>：甚至不一定是周围的人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C6C96-2D45-43EB-A296-AC1AE1349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10</a:t>
            </a:fld>
            <a:endParaRPr lang="en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CA8974-EEB5-C1FE-0F77-231F78C122D8}"/>
              </a:ext>
            </a:extLst>
          </p:cNvPr>
          <p:cNvSpPr txBox="1"/>
          <p:nvPr/>
        </p:nvSpPr>
        <p:spPr>
          <a:xfrm>
            <a:off x="0" y="649287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图源：水印，内容参考自同源头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AE62BD2F-2BC1-C336-E84D-0E14E1000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女娲</a:t>
            </a:r>
            <a:r>
              <a:rPr lang="en-US" altLang="zh-CN" dirty="0"/>
              <a:t>.skill</a:t>
            </a:r>
            <a:r>
              <a:rPr lang="zh-CN" altLang="en-US" dirty="0"/>
              <a:t>：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Mona Sans VF"/>
              </a:rPr>
              <a:t>你想蒸馏的下一个员工，何必是同事。</a:t>
            </a:r>
            <a:endParaRPr lang="zh-CN" altLang="en-US" dirty="0"/>
          </a:p>
        </p:txBody>
      </p:sp>
      <p:pic>
        <p:nvPicPr>
          <p:cNvPr id="5122" name="Picture 2" descr="nuwa-skill Hero Animation">
            <a:extLst>
              <a:ext uri="{FF2B5EF4-FFF2-40B4-BE49-F238E27FC236}">
                <a16:creationId xmlns:a16="http://schemas.microsoft.com/office/drawing/2014/main" id="{420B09D5-71B9-4B30-0695-C1D12A8DE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4104136"/>
            <a:ext cx="4458642" cy="250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1FBE509-80A0-8079-5D1F-9E654690EE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057"/>
          <a:stretch/>
        </p:blipFill>
        <p:spPr>
          <a:xfrm>
            <a:off x="623392" y="1700188"/>
            <a:ext cx="4653262" cy="244827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279F6DF-650F-8491-6A91-A4BF5609F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952" y="1777657"/>
            <a:ext cx="5481294" cy="403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8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6159E-9799-E186-35E0-B75B5E55C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2055A-72FB-E33C-C84F-6D8BB306B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严肃点，什么是 </a:t>
            </a:r>
            <a:r>
              <a:rPr lang="en" altLang="zh-CN" dirty="0"/>
              <a:t>Agent Skill</a:t>
            </a:r>
            <a:r>
              <a:rPr lang="zh-CN" altLang="en-US" dirty="0"/>
              <a:t>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9EA1E-9517-6FF7-B85D-9AA446AD7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en" altLang="zh-CN" dirty="0"/>
              <a:t>Skill </a:t>
            </a:r>
            <a:r>
              <a:rPr lang="zh-CN" altLang="en-US" dirty="0"/>
              <a:t>是一种轻量、开放的能力扩展格式，用来把专门知识和工作流程交给 </a:t>
            </a:r>
            <a:r>
              <a:rPr lang="en" altLang="zh-CN" dirty="0"/>
              <a:t>AI Agent</a:t>
            </a:r>
            <a:r>
              <a:rPr lang="zh-CN" altLang="en" dirty="0"/>
              <a:t>。</a:t>
            </a:r>
          </a:p>
          <a:p>
            <a:r>
              <a:rPr lang="zh-CN" altLang="en-US" dirty="0"/>
              <a:t>一个 </a:t>
            </a:r>
            <a:r>
              <a:rPr lang="en" altLang="zh-CN" dirty="0"/>
              <a:t>Skill </a:t>
            </a:r>
            <a:r>
              <a:rPr lang="zh-CN" altLang="en-US" dirty="0"/>
              <a:t>的最小形态是一个目录，其中包含 </a:t>
            </a:r>
            <a:r>
              <a:rPr lang="en-US" altLang="zh-CN" dirty="0"/>
              <a:t>`</a:t>
            </a:r>
            <a:r>
              <a:rPr lang="en" altLang="zh-CN" dirty="0" err="1"/>
              <a:t>SKILL.md</a:t>
            </a:r>
            <a:r>
              <a:rPr lang="en" altLang="zh-CN" dirty="0"/>
              <a:t>`</a:t>
            </a:r>
            <a:r>
              <a:rPr lang="zh-CN" altLang="en" dirty="0"/>
              <a:t>：</a:t>
            </a:r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4FF9B-E0F0-D27F-51BC-BF9C196D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11</a:t>
            </a:fld>
            <a:endParaRPr lang="en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8947D6A-71EB-A02F-D2D0-615FB4273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2" y="2852936"/>
            <a:ext cx="6930770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66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EBA1E-040D-1F87-8C98-1316ACE62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CFBE-DE75-70E6-1E71-2C4E9675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严肃点，什么是 </a:t>
            </a:r>
            <a:r>
              <a:rPr lang="en" altLang="zh-CN" dirty="0"/>
              <a:t>Agent Skill</a:t>
            </a:r>
            <a:r>
              <a:rPr lang="zh-CN" altLang="en-US" dirty="0"/>
              <a:t>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4F5BD-BFF4-22CB-FDA5-443C268B1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zh-CN" altLang="en-US" dirty="0"/>
              <a:t>一个简单的</a:t>
            </a:r>
            <a:r>
              <a:rPr lang="en-US" altLang="zh-CN" dirty="0"/>
              <a:t> Skill</a:t>
            </a:r>
            <a:r>
              <a:rPr lang="zh-CN" altLang="en-US" dirty="0"/>
              <a:t>，只有单个</a:t>
            </a:r>
            <a:r>
              <a:rPr lang="en-US" altLang="zh-CN" dirty="0"/>
              <a:t> </a:t>
            </a:r>
            <a:r>
              <a:rPr lang="en-US" altLang="zh-CN" dirty="0" err="1"/>
              <a:t>Skill.md</a:t>
            </a:r>
            <a:r>
              <a:rPr lang="en-US" altLang="zh-CN" dirty="0"/>
              <a:t> </a:t>
            </a:r>
            <a:r>
              <a:rPr lang="zh-CN" altLang="en-US" dirty="0"/>
              <a:t>文件</a:t>
            </a:r>
            <a:endParaRPr lang="en-US" altLang="zh-CN" dirty="0"/>
          </a:p>
          <a:p>
            <a:r>
              <a:rPr lang="zh-CN" altLang="en-US" dirty="0"/>
              <a:t>课程笔记的审查者（</a:t>
            </a:r>
            <a:r>
              <a:rPr lang="en-US" altLang="zh-CN" dirty="0"/>
              <a:t>course-note-reviewer)</a:t>
            </a:r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D8640-8EFD-8813-EEC8-C4D62AE1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12</a:t>
            </a:fld>
            <a:endParaRPr lang="en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459A1C-B571-97B4-5B92-FC5DF951E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2" y="2545926"/>
            <a:ext cx="11653781" cy="381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4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03D5D-40A8-BB5E-B351-7631D860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F21DA-C50A-7E58-8990-8A64F892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严肃点，什么是 </a:t>
            </a:r>
            <a:r>
              <a:rPr lang="en" altLang="zh-CN" dirty="0"/>
              <a:t>Agent Skill</a:t>
            </a:r>
            <a:r>
              <a:rPr lang="zh-CN" altLang="en-US" dirty="0"/>
              <a:t>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99BCA-1A38-080B-94AC-DA2842387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>
            <a:normAutofit/>
          </a:bodyPr>
          <a:lstStyle/>
          <a:p>
            <a:r>
              <a:rPr lang="zh-CN" altLang="en-US" dirty="0"/>
              <a:t>用户角度的</a:t>
            </a:r>
            <a:r>
              <a:rPr lang="en-US" altLang="zh-CN" dirty="0"/>
              <a:t> skill </a:t>
            </a:r>
            <a:r>
              <a:rPr lang="zh-CN" altLang="en-US" dirty="0"/>
              <a:t>理解：给 </a:t>
            </a:r>
            <a:r>
              <a:rPr lang="en" altLang="zh-CN" dirty="0"/>
              <a:t>Agent </a:t>
            </a:r>
            <a:r>
              <a:rPr lang="zh-CN" altLang="en-US" dirty="0"/>
              <a:t>的可安装工作手册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它可能只包含说明，也可能带模板、参考资料和脚本。它告诉 </a:t>
            </a:r>
            <a:r>
              <a:rPr lang="en" altLang="zh-CN" dirty="0"/>
              <a:t>Agent</a:t>
            </a:r>
            <a:r>
              <a:rPr lang="zh-CN" altLang="en" dirty="0"/>
              <a:t>：</a:t>
            </a:r>
          </a:p>
          <a:p>
            <a:pPr lvl="1"/>
            <a:r>
              <a:rPr lang="zh-CN" altLang="en-US" sz="2800" dirty="0"/>
              <a:t>什么时候应该使用这套能力</a:t>
            </a:r>
          </a:p>
          <a:p>
            <a:pPr lvl="1"/>
            <a:r>
              <a:rPr lang="zh-CN" altLang="en-US" sz="2800" dirty="0"/>
              <a:t>执行任务时按什么顺序做</a:t>
            </a:r>
          </a:p>
          <a:p>
            <a:pPr lvl="1"/>
            <a:r>
              <a:rPr lang="zh-CN" altLang="en-US" sz="2800" dirty="0"/>
              <a:t>必须遵守什么规则</a:t>
            </a:r>
          </a:p>
          <a:p>
            <a:pPr lvl="1"/>
            <a:r>
              <a:rPr lang="zh-CN" altLang="en-US" sz="2800" dirty="0"/>
              <a:t>应该调用哪些工具或参考哪些资料</a:t>
            </a:r>
          </a:p>
          <a:p>
            <a:pPr lvl="1"/>
            <a:r>
              <a:rPr lang="zh-CN" altLang="en-US" sz="2800" dirty="0"/>
              <a:t>最终输出长什么样</a:t>
            </a:r>
          </a:p>
          <a:p>
            <a:pPr lvl="1"/>
            <a:r>
              <a:rPr lang="zh-CN" altLang="en-US" sz="2800" dirty="0"/>
              <a:t>遇到哪些情况应该停下来问用户</a:t>
            </a:r>
          </a:p>
          <a:p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07769-F0F5-C8C0-4FC4-ED462FBF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02444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621B2-62C1-7890-B140-0CD2B95F4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6D813-E650-9339-5F32-8681DA4E9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Skill </a:t>
            </a:r>
            <a:r>
              <a:rPr lang="zh-CN" altLang="en-US" dirty="0"/>
              <a:t>和我们熟悉的</a:t>
            </a:r>
            <a:r>
              <a:rPr lang="en-US" altLang="zh-CN" dirty="0"/>
              <a:t> Prompt </a:t>
            </a:r>
            <a:r>
              <a:rPr lang="zh-CN" altLang="en-US" dirty="0"/>
              <a:t>有什么区别？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150EE-C6AF-D1B1-30F1-824143C23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1064552"/>
          </a:xfrm>
        </p:spPr>
        <p:txBody>
          <a:bodyPr>
            <a:normAutofit/>
          </a:bodyPr>
          <a:lstStyle/>
          <a:p>
            <a:r>
              <a:rPr lang="zh-CN" altLang="en-US" dirty="0"/>
              <a:t>主要是生命周期，</a:t>
            </a:r>
            <a:r>
              <a:rPr lang="en-US" altLang="zh-CN" dirty="0"/>
              <a:t>skill</a:t>
            </a:r>
            <a:r>
              <a:rPr lang="zh-CN" altLang="en-US" dirty="0"/>
              <a:t>可以跨会话、跨项目去使用，而</a:t>
            </a:r>
            <a:r>
              <a:rPr lang="en-US" altLang="zh-CN" dirty="0"/>
              <a:t> Prompt </a:t>
            </a:r>
            <a:r>
              <a:rPr lang="zh-CN" altLang="en-US" dirty="0"/>
              <a:t>往往是当前会话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28C27-C7C9-DBCB-662F-335CB0B1E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14</a:t>
            </a:fld>
            <a:endParaRPr lang="en-CN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41642FB-F563-7C8B-6E1C-F6345C629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89814"/>
              </p:ext>
            </p:extLst>
          </p:nvPr>
        </p:nvGraphicFramePr>
        <p:xfrm>
          <a:off x="1595500" y="2495322"/>
          <a:ext cx="9001000" cy="29337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1375153">
                  <a:extLst>
                    <a:ext uri="{9D8B030D-6E8A-4147-A177-3AD203B41FA5}">
                      <a16:colId xmlns:a16="http://schemas.microsoft.com/office/drawing/2014/main" val="1153634527"/>
                    </a:ext>
                  </a:extLst>
                </a:gridCol>
                <a:gridCol w="3017335">
                  <a:extLst>
                    <a:ext uri="{9D8B030D-6E8A-4147-A177-3AD203B41FA5}">
                      <a16:colId xmlns:a16="http://schemas.microsoft.com/office/drawing/2014/main" val="1928787621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4233788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effectLst/>
                        </a:rPr>
                        <a:t>维度</a:t>
                      </a:r>
                    </a:p>
                  </a:txBody>
                  <a:tcPr marL="123825" marR="123825" marT="57150" marB="571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2000" b="1" dirty="0">
                          <a:effectLst/>
                        </a:rPr>
                        <a:t>Prompt</a:t>
                      </a:r>
                    </a:p>
                  </a:txBody>
                  <a:tcPr marL="123825" marR="123825" marT="57150" marB="571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2000" b="1" dirty="0">
                          <a:effectLst/>
                        </a:rPr>
                        <a:t>Skill</a:t>
                      </a:r>
                    </a:p>
                  </a:txBody>
                  <a:tcPr marL="123825" marR="123825" marT="57150" marB="571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731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effectLst/>
                        </a:rPr>
                        <a:t>使用范围</a:t>
                      </a:r>
                    </a:p>
                  </a:txBody>
                  <a:tcPr marL="123825" marR="123825" marT="57150" marB="5715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当前对话或当前请求</a:t>
                      </a:r>
                    </a:p>
                  </a:txBody>
                  <a:tcPr marL="123825" marR="12382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可跨对话、跨项目复用</a:t>
                      </a:r>
                    </a:p>
                  </a:txBody>
                  <a:tcPr marL="123825" marR="12382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435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effectLst/>
                        </a:rPr>
                        <a:t>发现方式</a:t>
                      </a:r>
                    </a:p>
                  </a:txBody>
                  <a:tcPr marL="123825" marR="123825" marT="57150" marB="5715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用户每次输入</a:t>
                      </a:r>
                    </a:p>
                  </a:txBody>
                  <a:tcPr marL="123825" marR="12382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2000">
                          <a:effectLst/>
                        </a:rPr>
                        <a:t>Agent </a:t>
                      </a:r>
                      <a:r>
                        <a:rPr lang="zh-CN" altLang="en-US" sz="2000">
                          <a:effectLst/>
                        </a:rPr>
                        <a:t>扫描名称和描述</a:t>
                      </a:r>
                    </a:p>
                  </a:txBody>
                  <a:tcPr marL="123825" marR="12382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19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effectLst/>
                        </a:rPr>
                        <a:t>内容结构</a:t>
                      </a:r>
                    </a:p>
                  </a:txBody>
                  <a:tcPr marL="123825" marR="123825" marT="57150" marB="5715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通常是一段文本</a:t>
                      </a:r>
                    </a:p>
                  </a:txBody>
                  <a:tcPr marL="123825" marR="12382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2000" dirty="0" err="1">
                          <a:effectLst/>
                        </a:rPr>
                        <a:t>SKILL.md</a:t>
                      </a:r>
                      <a:r>
                        <a:rPr lang="en" sz="2000" dirty="0">
                          <a:effectLst/>
                        </a:rPr>
                        <a:t> + scripts/references/assets</a:t>
                      </a:r>
                    </a:p>
                  </a:txBody>
                  <a:tcPr marL="123825" marR="12382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319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effectLst/>
                        </a:rPr>
                        <a:t>版本管理</a:t>
                      </a:r>
                    </a:p>
                  </a:txBody>
                  <a:tcPr marL="123825" marR="123825" marT="57150" marB="5715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容易散落在聊天记录</a:t>
                      </a:r>
                    </a:p>
                  </a:txBody>
                  <a:tcPr marL="123825" marR="12382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effectLst/>
                        </a:rPr>
                        <a:t>可以进入 </a:t>
                      </a:r>
                      <a:r>
                        <a:rPr lang="en" sz="2000">
                          <a:effectLst/>
                        </a:rPr>
                        <a:t>Git、</a:t>
                      </a:r>
                      <a:r>
                        <a:rPr lang="zh-CN" altLang="en-US" sz="2000">
                          <a:effectLst/>
                        </a:rPr>
                        <a:t>更新和回滚</a:t>
                      </a:r>
                    </a:p>
                  </a:txBody>
                  <a:tcPr marL="123825" marR="12382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966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effectLst/>
                        </a:rPr>
                        <a:t>触发方式</a:t>
                      </a:r>
                    </a:p>
                  </a:txBody>
                  <a:tcPr marL="123825" marR="123825" marT="57150" marB="5715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用户直接发送</a:t>
                      </a:r>
                    </a:p>
                  </a:txBody>
                  <a:tcPr marL="123825" marR="12382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显式调用或按描述自动匹配</a:t>
                      </a:r>
                    </a:p>
                  </a:txBody>
                  <a:tcPr marL="123825" marR="12382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262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effectLst/>
                        </a:rPr>
                        <a:t>适合内容</a:t>
                      </a:r>
                    </a:p>
                  </a:txBody>
                  <a:tcPr marL="123825" marR="123825" marT="57150" marB="5715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一次性要求</a:t>
                      </a:r>
                    </a:p>
                  </a:txBody>
                  <a:tcPr marL="123825" marR="12382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effectLst/>
                        </a:rPr>
                        <a:t>稳定、多步骤、重复使用的方法</a:t>
                      </a:r>
                    </a:p>
                  </a:txBody>
                  <a:tcPr marL="123825" marR="12382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766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445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28E80-9510-F40B-0751-83C357682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64502-A0DB-D692-4F87-098934AA9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Skill </a:t>
            </a:r>
            <a:r>
              <a:rPr lang="zh-CN" altLang="en-US" dirty="0"/>
              <a:t>能够很好地被应用的关键机制：渐进式披露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1E509-0F00-0FC2-521E-3CAB29A48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1"/>
            <a:ext cx="11575228" cy="5427865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如果安装了 </a:t>
            </a:r>
            <a:r>
              <a:rPr lang="en-US" altLang="zh-CN" dirty="0"/>
              <a:t>100 </a:t>
            </a:r>
            <a:r>
              <a:rPr lang="zh-CN" altLang="en-US" dirty="0"/>
              <a:t>个 </a:t>
            </a:r>
            <a:r>
              <a:rPr lang="en" altLang="zh-CN" dirty="0"/>
              <a:t>Skill</a:t>
            </a:r>
            <a:r>
              <a:rPr lang="zh-CN" altLang="en" dirty="0"/>
              <a:t>，</a:t>
            </a:r>
            <a:r>
              <a:rPr lang="zh-CN" altLang="en-US" dirty="0"/>
              <a:t>难道每次请求都要把 </a:t>
            </a:r>
            <a:r>
              <a:rPr lang="en-US" altLang="zh-CN" dirty="0"/>
              <a:t>100 </a:t>
            </a:r>
            <a:r>
              <a:rPr lang="zh-CN" altLang="en-US" dirty="0"/>
              <a:t>份 </a:t>
            </a:r>
            <a:r>
              <a:rPr lang="en-US" altLang="zh-CN" dirty="0"/>
              <a:t>`</a:t>
            </a:r>
            <a:r>
              <a:rPr lang="en" altLang="zh-CN" dirty="0" err="1"/>
              <a:t>SKILL.md</a:t>
            </a:r>
            <a:r>
              <a:rPr lang="en" altLang="zh-CN" dirty="0"/>
              <a:t>` </a:t>
            </a:r>
            <a:r>
              <a:rPr lang="zh-CN" altLang="en-US" dirty="0"/>
              <a:t>全塞给模型吗？</a:t>
            </a:r>
            <a:endParaRPr lang="en-US" altLang="zh-CN" dirty="0"/>
          </a:p>
          <a:p>
            <a:pPr lvl="1"/>
            <a:r>
              <a:rPr lang="zh-CN" altLang="en-US" dirty="0"/>
              <a:t>大家已经在做</a:t>
            </a:r>
            <a:r>
              <a:rPr lang="en-US" altLang="zh-CN" dirty="0"/>
              <a:t> Agent </a:t>
            </a:r>
            <a:r>
              <a:rPr lang="zh-CN" altLang="en-US" dirty="0"/>
              <a:t>系统的设计和开发工作了，肯定有上下文窗口的概念</a:t>
            </a:r>
            <a:endParaRPr lang="en-US" altLang="zh-CN" dirty="0"/>
          </a:p>
          <a:p>
            <a:pPr lvl="1"/>
            <a:r>
              <a:rPr lang="zh-CN" altLang="en-US" dirty="0"/>
              <a:t>全塞给模型意味着很大的上下文窗口的占用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当前</a:t>
            </a:r>
            <a:r>
              <a:rPr lang="en-US" altLang="zh-CN" dirty="0"/>
              <a:t> Agent </a:t>
            </a:r>
            <a:r>
              <a:rPr lang="zh-CN" altLang="en-US" dirty="0"/>
              <a:t>在使用</a:t>
            </a:r>
            <a:r>
              <a:rPr lang="en-US" altLang="zh-CN" dirty="0"/>
              <a:t> Skill </a:t>
            </a:r>
            <a:r>
              <a:rPr lang="zh-CN" altLang="en-US" dirty="0"/>
              <a:t>时，往往是渐进式地分级去获取</a:t>
            </a:r>
            <a:endParaRPr lang="en-US" altLang="zh-CN" dirty="0"/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第一层 </a:t>
            </a:r>
            <a:r>
              <a:rPr lang="en-US" altLang="zh-CN" dirty="0"/>
              <a:t>Discovery</a:t>
            </a:r>
          </a:p>
          <a:p>
            <a:pPr lvl="2"/>
            <a:r>
              <a:rPr lang="zh-CN" altLang="en-US" dirty="0"/>
              <a:t>启动时只让 </a:t>
            </a:r>
            <a:r>
              <a:rPr lang="en-US" altLang="zh-CN" dirty="0"/>
              <a:t>Agent </a:t>
            </a:r>
            <a:r>
              <a:rPr lang="zh-CN" altLang="en-US" dirty="0"/>
              <a:t>看见 </a:t>
            </a:r>
            <a:r>
              <a:rPr lang="en-US" altLang="zh-CN" dirty="0"/>
              <a:t>Skill </a:t>
            </a:r>
            <a:r>
              <a:rPr lang="zh-CN" altLang="en-US" dirty="0"/>
              <a:t>的 </a:t>
            </a:r>
            <a:r>
              <a:rPr lang="en-US" altLang="zh-CN" dirty="0"/>
              <a:t>name </a:t>
            </a:r>
            <a:r>
              <a:rPr lang="zh-CN" altLang="en-US" dirty="0"/>
              <a:t>和 </a:t>
            </a:r>
            <a:r>
              <a:rPr lang="en-US" altLang="zh-CN" dirty="0"/>
              <a:t>description</a:t>
            </a:r>
            <a:r>
              <a:rPr lang="zh-CN" altLang="en-US" dirty="0"/>
              <a:t>。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第二层 </a:t>
            </a:r>
            <a:r>
              <a:rPr lang="en-US" altLang="zh-CN" dirty="0"/>
              <a:t>Activation</a:t>
            </a:r>
          </a:p>
          <a:p>
            <a:pPr lvl="2"/>
            <a:r>
              <a:rPr lang="zh-CN" altLang="en-US" dirty="0"/>
              <a:t>任务匹配某个 </a:t>
            </a:r>
            <a:r>
              <a:rPr lang="en-US" altLang="zh-CN" dirty="0"/>
              <a:t>Skill </a:t>
            </a:r>
            <a:r>
              <a:rPr lang="zh-CN" altLang="en-US" dirty="0"/>
              <a:t>时，再读取完整 </a:t>
            </a:r>
            <a:r>
              <a:rPr lang="en-US" altLang="zh-CN" dirty="0" err="1"/>
              <a:t>SKILL.md</a:t>
            </a:r>
            <a:r>
              <a:rPr lang="zh-CN" altLang="en-US" dirty="0"/>
              <a:t>。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第三层 </a:t>
            </a:r>
            <a:r>
              <a:rPr lang="en-US" altLang="zh-CN" dirty="0"/>
              <a:t>Execution</a:t>
            </a:r>
          </a:p>
          <a:p>
            <a:pPr lvl="2"/>
            <a:r>
              <a:rPr lang="zh-CN" altLang="en-US" dirty="0"/>
              <a:t>真正需要时才读取 </a:t>
            </a:r>
            <a:r>
              <a:rPr lang="en-US" altLang="zh-CN" dirty="0"/>
              <a:t>references/assets</a:t>
            </a:r>
            <a:r>
              <a:rPr lang="zh-CN" altLang="en-US" dirty="0"/>
              <a:t>，或运行 </a:t>
            </a:r>
            <a:r>
              <a:rPr lang="en-US" altLang="zh-CN" dirty="0"/>
              <a:t>scripts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3FA8A-B9E5-6265-3C05-A6CCF388A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3949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A6B9D-9BE3-6EAB-C56F-0CC24FE7E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F07A-9F97-3407-9227-6B6A9F4CA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Skill </a:t>
            </a:r>
            <a:r>
              <a:rPr lang="zh-CN" altLang="en-US" dirty="0"/>
              <a:t>能够很好地被应用的关键机制：渐进式披露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601A6-D685-CE32-F61B-C96042BD6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1"/>
            <a:ext cx="11575228" cy="5427865"/>
          </a:xfrm>
        </p:spPr>
        <p:txBody>
          <a:bodyPr>
            <a:normAutofit/>
          </a:bodyPr>
          <a:lstStyle/>
          <a:p>
            <a:r>
              <a:rPr lang="en-US" altLang="zh-CN" dirty="0"/>
              <a:t>Skill </a:t>
            </a:r>
            <a:r>
              <a:rPr lang="zh-CN" altLang="en-US" dirty="0"/>
              <a:t>的</a:t>
            </a:r>
            <a:r>
              <a:rPr lang="en-US" altLang="zh-CN" dirty="0"/>
              <a:t> description </a:t>
            </a:r>
            <a:r>
              <a:rPr lang="zh-CN" altLang="en-US" dirty="0"/>
              <a:t>非常重要，是帮助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来找到合适</a:t>
            </a:r>
            <a:r>
              <a:rPr lang="en-US" altLang="zh-CN" dirty="0"/>
              <a:t> skill </a:t>
            </a:r>
            <a:r>
              <a:rPr lang="zh-CN" altLang="en-US" dirty="0"/>
              <a:t>的关键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差的 </a:t>
            </a:r>
            <a:r>
              <a:rPr lang="en" altLang="zh-CN" dirty="0"/>
              <a:t>description</a:t>
            </a:r>
            <a:r>
              <a:rPr lang="zh-CN" altLang="en" dirty="0"/>
              <a:t>：</a:t>
            </a:r>
          </a:p>
          <a:p>
            <a:pPr lvl="1"/>
            <a:r>
              <a:rPr lang="zh-CN" altLang="en-US" dirty="0"/>
              <a:t>一个很好用的课程 </a:t>
            </a:r>
            <a:r>
              <a:rPr lang="en" altLang="zh-CN" dirty="0"/>
              <a:t>Skill</a:t>
            </a:r>
            <a:r>
              <a:rPr lang="zh-CN" altLang="en" dirty="0"/>
              <a:t>。</a:t>
            </a:r>
          </a:p>
          <a:p>
            <a:pPr marL="0" indent="0">
              <a:buNone/>
            </a:pPr>
            <a:endParaRPr lang="en" altLang="zh-CN" dirty="0"/>
          </a:p>
          <a:p>
            <a:r>
              <a:rPr lang="zh-CN" altLang="en-US" dirty="0"/>
              <a:t>好的 </a:t>
            </a:r>
            <a:r>
              <a:rPr lang="en" altLang="zh-CN" dirty="0"/>
              <a:t>description</a:t>
            </a:r>
            <a:r>
              <a:rPr lang="zh-CN" altLang="en" dirty="0"/>
              <a:t>：</a:t>
            </a:r>
          </a:p>
          <a:p>
            <a:pPr lvl="1"/>
            <a:r>
              <a:rPr lang="en" altLang="zh-CN" dirty="0"/>
              <a:t>Review and improve undergraduate course notes. Use when the user asks to check lesson coherence, missing prerequisites, examples, exercises, or self-study friendliness. Do not use for source-code review.</a:t>
            </a:r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2D57B-4243-33A6-0DCA-1CB182D2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750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8C3A2-56DF-AA82-09CC-252475445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2D16-6B92-19E3-69EC-ACDD16F28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案例实践：在</a:t>
            </a:r>
            <a:r>
              <a:rPr lang="en-US" altLang="zh-CN" dirty="0"/>
              <a:t> Trae</a:t>
            </a:r>
            <a:r>
              <a:rPr lang="zh-CN" altLang="en-US" dirty="0"/>
              <a:t> </a:t>
            </a:r>
            <a:r>
              <a:rPr lang="en-US" altLang="zh-CN" dirty="0"/>
              <a:t>CN </a:t>
            </a:r>
            <a:r>
              <a:rPr lang="zh-CN" altLang="en-US" dirty="0"/>
              <a:t>中使用</a:t>
            </a:r>
            <a:r>
              <a:rPr lang="en-US" altLang="zh-CN" dirty="0"/>
              <a:t> Skill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9EFC6-712C-C604-456B-1600A26F8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1"/>
            <a:ext cx="11575228" cy="5427865"/>
          </a:xfrm>
        </p:spPr>
        <p:txBody>
          <a:bodyPr>
            <a:normAutofit/>
          </a:bodyPr>
          <a:lstStyle/>
          <a:p>
            <a:r>
              <a:rPr lang="en-US" altLang="zh-CN" dirty="0"/>
              <a:t>Trae</a:t>
            </a:r>
            <a:r>
              <a:rPr lang="zh-CN" altLang="en-US" dirty="0"/>
              <a:t>将</a:t>
            </a:r>
            <a:r>
              <a:rPr lang="en-US" altLang="zh-CN" dirty="0"/>
              <a:t> Skill </a:t>
            </a:r>
            <a:r>
              <a:rPr lang="zh-CN" altLang="en-US" dirty="0"/>
              <a:t>分为全局和项目级的</a:t>
            </a:r>
            <a:endParaRPr lang="en-US" altLang="zh-CN" dirty="0"/>
          </a:p>
          <a:p>
            <a:pPr lvl="1"/>
            <a:r>
              <a:rPr lang="zh-CN" altLang="en-US" dirty="0"/>
              <a:t>全局 </a:t>
            </a:r>
            <a:r>
              <a:rPr lang="en" altLang="zh-CN" dirty="0"/>
              <a:t>Skill</a:t>
            </a:r>
            <a:r>
              <a:rPr lang="zh-CN" altLang="en" dirty="0"/>
              <a:t>：</a:t>
            </a:r>
            <a:r>
              <a:rPr lang="zh-CN" altLang="en-US" dirty="0"/>
              <a:t>多个项目都能使用，例如个人代码审查习惯、写作风格。</a:t>
            </a:r>
          </a:p>
          <a:p>
            <a:pPr lvl="1"/>
            <a:r>
              <a:rPr lang="zh-CN" altLang="en-US" dirty="0"/>
              <a:t>项目 </a:t>
            </a:r>
            <a:r>
              <a:rPr lang="en" altLang="zh-CN" dirty="0"/>
              <a:t>Skill</a:t>
            </a:r>
            <a:r>
              <a:rPr lang="zh-CN" altLang="en" dirty="0"/>
              <a:t>：</a:t>
            </a:r>
            <a:r>
              <a:rPr lang="zh-CN" altLang="en-US" dirty="0"/>
              <a:t>只服务当前仓库，例如 </a:t>
            </a:r>
            <a:r>
              <a:rPr lang="en" altLang="zh-CN" dirty="0" err="1"/>
              <a:t>SJTUClaw</a:t>
            </a:r>
            <a:r>
              <a:rPr lang="en" altLang="zh-CN" dirty="0"/>
              <a:t> </a:t>
            </a:r>
            <a:r>
              <a:rPr lang="zh-CN" altLang="en-US" dirty="0"/>
              <a:t>的课程文档审查流程。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98619-AA64-6972-9DA6-A4BDD6EE8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17</a:t>
            </a:fld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6D50EA-CD28-1D00-FAB2-F70858CF887B}"/>
              </a:ext>
            </a:extLst>
          </p:cNvPr>
          <p:cNvSpPr txBox="1"/>
          <p:nvPr/>
        </p:nvSpPr>
        <p:spPr>
          <a:xfrm>
            <a:off x="30725" y="6356350"/>
            <a:ext cx="4998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文档参考：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docs.trae.ai</a:t>
            </a:r>
            <a:r>
              <a:rPr kumimoji="1" lang="en" altLang="zh-CN" dirty="0"/>
              <a:t>/ide/</a:t>
            </a:r>
            <a:r>
              <a:rPr kumimoji="1" lang="en" altLang="zh-CN" dirty="0" err="1"/>
              <a:t>skills?_lang</a:t>
            </a:r>
            <a:r>
              <a:rPr kumimoji="1" lang="en" altLang="zh-CN" dirty="0"/>
              <a:t>=</a:t>
            </a:r>
            <a:r>
              <a:rPr kumimoji="1" lang="en" altLang="zh-CN" dirty="0" err="1"/>
              <a:t>zh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8829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A0C6A-2C0B-861F-5FC5-420D1A792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F65B3-94A3-7623-68A9-238733064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案例实践：在</a:t>
            </a:r>
            <a:r>
              <a:rPr lang="en-US" altLang="zh-CN" dirty="0"/>
              <a:t> Trae</a:t>
            </a:r>
            <a:r>
              <a:rPr lang="zh-CN" altLang="en-US" dirty="0"/>
              <a:t> </a:t>
            </a:r>
            <a:r>
              <a:rPr lang="en-US" altLang="zh-CN" dirty="0"/>
              <a:t>CN </a:t>
            </a:r>
            <a:r>
              <a:rPr lang="zh-CN" altLang="en-US" dirty="0"/>
              <a:t>中使用</a:t>
            </a:r>
            <a:r>
              <a:rPr lang="en-US" altLang="zh-CN" dirty="0"/>
              <a:t> Skill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BB50A-A418-A18F-0DC5-1BDE1BB1F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1"/>
            <a:ext cx="11575228" cy="5427865"/>
          </a:xfrm>
        </p:spPr>
        <p:txBody>
          <a:bodyPr>
            <a:normAutofit/>
          </a:bodyPr>
          <a:lstStyle/>
          <a:p>
            <a:r>
              <a:rPr lang="en-US" altLang="zh-CN" dirty="0"/>
              <a:t>Trae</a:t>
            </a:r>
            <a:r>
              <a:rPr lang="zh-CN" altLang="en-US" dirty="0"/>
              <a:t>将</a:t>
            </a:r>
            <a:r>
              <a:rPr lang="en-US" altLang="zh-CN" dirty="0"/>
              <a:t> Skill </a:t>
            </a:r>
            <a:r>
              <a:rPr lang="zh-CN" altLang="en-US" dirty="0"/>
              <a:t>分为全局和项目级的</a:t>
            </a:r>
            <a:endParaRPr lang="en-US" altLang="zh-CN" dirty="0"/>
          </a:p>
          <a:p>
            <a:pPr lvl="1"/>
            <a:r>
              <a:rPr lang="zh-CN" altLang="en-US" dirty="0"/>
              <a:t>全局 </a:t>
            </a:r>
            <a:r>
              <a:rPr lang="en" altLang="zh-CN" dirty="0"/>
              <a:t>Skill</a:t>
            </a:r>
            <a:r>
              <a:rPr lang="zh-CN" altLang="en" dirty="0"/>
              <a:t>：</a:t>
            </a:r>
            <a:r>
              <a:rPr lang="zh-CN" altLang="en-US" dirty="0"/>
              <a:t>多个项目都能使用，例如个人代码审查习惯、写作风格。</a:t>
            </a:r>
          </a:p>
          <a:p>
            <a:pPr lvl="1"/>
            <a:r>
              <a:rPr lang="zh-CN" altLang="en-US" dirty="0"/>
              <a:t>项目 </a:t>
            </a:r>
            <a:r>
              <a:rPr lang="en" altLang="zh-CN" dirty="0"/>
              <a:t>Skill</a:t>
            </a:r>
            <a:r>
              <a:rPr lang="zh-CN" altLang="en" dirty="0"/>
              <a:t>：</a:t>
            </a:r>
            <a:r>
              <a:rPr lang="zh-CN" altLang="en-US" dirty="0"/>
              <a:t>只服务当前仓库，例如 </a:t>
            </a:r>
            <a:r>
              <a:rPr lang="en" altLang="zh-CN" dirty="0" err="1"/>
              <a:t>SJTUClaw</a:t>
            </a:r>
            <a:r>
              <a:rPr lang="en" altLang="zh-CN" dirty="0"/>
              <a:t> </a:t>
            </a:r>
            <a:r>
              <a:rPr lang="zh-CN" altLang="en-US" dirty="0"/>
              <a:t>的课程文档审查流程。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A9B92-6E7F-D51D-24B1-B39658D3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18</a:t>
            </a:fld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0E531E-8936-05D8-4C5A-E15F314DC095}"/>
              </a:ext>
            </a:extLst>
          </p:cNvPr>
          <p:cNvSpPr txBox="1"/>
          <p:nvPr/>
        </p:nvSpPr>
        <p:spPr>
          <a:xfrm>
            <a:off x="30725" y="6356350"/>
            <a:ext cx="4998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文档参考：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docs.trae.ai</a:t>
            </a:r>
            <a:r>
              <a:rPr kumimoji="1" lang="en" altLang="zh-CN" dirty="0"/>
              <a:t>/ide/</a:t>
            </a:r>
            <a:r>
              <a:rPr kumimoji="1" lang="en" altLang="zh-CN" dirty="0" err="1"/>
              <a:t>skills?_lang</a:t>
            </a:r>
            <a:r>
              <a:rPr kumimoji="1" lang="en" altLang="zh-CN" dirty="0"/>
              <a:t>=</a:t>
            </a:r>
            <a:r>
              <a:rPr kumimoji="1" lang="en" altLang="zh-CN" dirty="0" err="1"/>
              <a:t>zh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14408E-5FAD-7E9E-B634-8AD11C06C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9" y="321195"/>
            <a:ext cx="6465553" cy="6465553"/>
          </a:xfrm>
          <a:prstGeom prst="rect">
            <a:avLst/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9DA7A194-01EC-5409-F949-18986E26065D}"/>
              </a:ext>
            </a:extLst>
          </p:cNvPr>
          <p:cNvSpPr/>
          <p:nvPr/>
        </p:nvSpPr>
        <p:spPr>
          <a:xfrm>
            <a:off x="6384032" y="289823"/>
            <a:ext cx="288032" cy="4028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25B7699-695E-7F98-55EA-92CA87028E95}"/>
              </a:ext>
            </a:extLst>
          </p:cNvPr>
          <p:cNvSpPr/>
          <p:nvPr/>
        </p:nvSpPr>
        <p:spPr>
          <a:xfrm>
            <a:off x="1195716" y="498049"/>
            <a:ext cx="651812" cy="4028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8CEB7E8-56B1-B706-36B6-75E7B05B0ED7}"/>
              </a:ext>
            </a:extLst>
          </p:cNvPr>
          <p:cNvSpPr/>
          <p:nvPr/>
        </p:nvSpPr>
        <p:spPr>
          <a:xfrm>
            <a:off x="330700" y="3722503"/>
            <a:ext cx="865016" cy="26347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D96D210A-2701-7572-D537-38C657C96A8C}"/>
              </a:ext>
            </a:extLst>
          </p:cNvPr>
          <p:cNvSpPr/>
          <p:nvPr/>
        </p:nvSpPr>
        <p:spPr>
          <a:xfrm>
            <a:off x="1415020" y="2276872"/>
            <a:ext cx="2952788" cy="230425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6BDBF56-E78D-65C9-E62D-6D1AAEA2E544}"/>
              </a:ext>
            </a:extLst>
          </p:cNvPr>
          <p:cNvSpPr/>
          <p:nvPr/>
        </p:nvSpPr>
        <p:spPr>
          <a:xfrm>
            <a:off x="1521622" y="3193888"/>
            <a:ext cx="829962" cy="369332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FF00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9D45041-DBFB-91A1-F966-1B092A687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5413" y="2492896"/>
            <a:ext cx="3304308" cy="4616104"/>
          </a:xfrm>
          <a:prstGeom prst="rect">
            <a:avLst/>
          </a:prstGeom>
        </p:spPr>
      </p:pic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32DC0EE6-313F-8750-FFE4-141BB1B1177C}"/>
              </a:ext>
            </a:extLst>
          </p:cNvPr>
          <p:cNvCxnSpPr/>
          <p:nvPr/>
        </p:nvCxnSpPr>
        <p:spPr>
          <a:xfrm flipH="1">
            <a:off x="1847528" y="498049"/>
            <a:ext cx="4536504" cy="1946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0BCF902-6270-C559-74FE-5EEB94E9BC29}"/>
              </a:ext>
            </a:extLst>
          </p:cNvPr>
          <p:cNvCxnSpPr>
            <a:cxnSpLocks/>
          </p:cNvCxnSpPr>
          <p:nvPr/>
        </p:nvCxnSpPr>
        <p:spPr>
          <a:xfrm flipH="1">
            <a:off x="551384" y="913928"/>
            <a:ext cx="853695" cy="28085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16072344-62EC-052A-1B78-9C9D57C7A262}"/>
              </a:ext>
            </a:extLst>
          </p:cNvPr>
          <p:cNvCxnSpPr>
            <a:cxnSpLocks/>
          </p:cNvCxnSpPr>
          <p:nvPr/>
        </p:nvCxnSpPr>
        <p:spPr>
          <a:xfrm flipV="1">
            <a:off x="905667" y="2708920"/>
            <a:ext cx="499412" cy="10135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C383037B-234C-842C-8833-F12CF5031565}"/>
              </a:ext>
            </a:extLst>
          </p:cNvPr>
          <p:cNvCxnSpPr>
            <a:cxnSpLocks/>
          </p:cNvCxnSpPr>
          <p:nvPr/>
        </p:nvCxnSpPr>
        <p:spPr>
          <a:xfrm>
            <a:off x="1644491" y="3429000"/>
            <a:ext cx="6179703" cy="2935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56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A8B3-8C80-77AA-82AC-842972836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CDDA0-F422-17C9-BE49-D7591A7EE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案例实践：在</a:t>
            </a:r>
            <a:r>
              <a:rPr lang="en-US" altLang="zh-CN" dirty="0"/>
              <a:t> Trae</a:t>
            </a:r>
            <a:r>
              <a:rPr lang="zh-CN" altLang="en-US" dirty="0"/>
              <a:t> </a:t>
            </a:r>
            <a:r>
              <a:rPr lang="en-US" altLang="zh-CN" dirty="0"/>
              <a:t>CN </a:t>
            </a:r>
            <a:r>
              <a:rPr lang="zh-CN" altLang="en-US" dirty="0"/>
              <a:t>中使用</a:t>
            </a:r>
            <a:r>
              <a:rPr lang="en-US" altLang="zh-CN" dirty="0"/>
              <a:t> Skill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56887-9B96-7DCB-31F0-6523A68C1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1"/>
            <a:ext cx="11575228" cy="5427865"/>
          </a:xfrm>
        </p:spPr>
        <p:txBody>
          <a:bodyPr>
            <a:normAutofit/>
          </a:bodyPr>
          <a:lstStyle/>
          <a:p>
            <a:r>
              <a:rPr lang="zh-CN" altLang="en-US" dirty="0"/>
              <a:t>让我们尝试新建一个项目级的</a:t>
            </a:r>
            <a:r>
              <a:rPr lang="en-US" altLang="zh-CN" dirty="0"/>
              <a:t> Skill</a:t>
            </a:r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9D31D-59E3-54F6-3C93-513017D3A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19</a:t>
            </a:fld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B8F3C5-F4E3-6CF4-0D9D-75056E3952A9}"/>
              </a:ext>
            </a:extLst>
          </p:cNvPr>
          <p:cNvSpPr txBox="1"/>
          <p:nvPr/>
        </p:nvSpPr>
        <p:spPr>
          <a:xfrm>
            <a:off x="30725" y="6356350"/>
            <a:ext cx="4998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文档参考：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docs.trae.ai</a:t>
            </a:r>
            <a:r>
              <a:rPr kumimoji="1" lang="en" altLang="zh-CN" dirty="0"/>
              <a:t>/ide/</a:t>
            </a:r>
            <a:r>
              <a:rPr kumimoji="1" lang="en" altLang="zh-CN" dirty="0" err="1"/>
              <a:t>skills?_lang</a:t>
            </a:r>
            <a:r>
              <a:rPr kumimoji="1" lang="en" altLang="zh-CN" dirty="0"/>
              <a:t>=</a:t>
            </a:r>
            <a:r>
              <a:rPr kumimoji="1" lang="en" altLang="zh-CN" dirty="0" err="1"/>
              <a:t>zh</a:t>
            </a:r>
            <a:endParaRPr kumimoji="1"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4D51310-925B-94F7-BA79-8C7402BE8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43" y="2101630"/>
            <a:ext cx="3944640" cy="329340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7B0D52E-A991-9B57-F5CD-F03CE39AA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104" y="715067"/>
            <a:ext cx="4235834" cy="5427865"/>
          </a:xfrm>
          <a:prstGeom prst="rect">
            <a:avLst/>
          </a:prstGeom>
        </p:spPr>
      </p:pic>
      <p:sp>
        <p:nvSpPr>
          <p:cNvPr id="5" name="圆角矩形 4">
            <a:extLst>
              <a:ext uri="{FF2B5EF4-FFF2-40B4-BE49-F238E27FC236}">
                <a16:creationId xmlns:a16="http://schemas.microsoft.com/office/drawing/2014/main" id="{79C3D46B-C3ED-890A-E8AF-16BBF59B4F44}"/>
              </a:ext>
            </a:extLst>
          </p:cNvPr>
          <p:cNvSpPr/>
          <p:nvPr/>
        </p:nvSpPr>
        <p:spPr>
          <a:xfrm>
            <a:off x="3568543" y="3026126"/>
            <a:ext cx="933839" cy="4028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0949DF2-1F14-424A-D9A8-830C21D2F6E3}"/>
              </a:ext>
            </a:extLst>
          </p:cNvPr>
          <p:cNvSpPr/>
          <p:nvPr/>
        </p:nvSpPr>
        <p:spPr>
          <a:xfrm>
            <a:off x="3415060" y="3695461"/>
            <a:ext cx="933839" cy="4028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4009E2FB-FD17-F297-BD02-72B146EC293A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3881980" y="3428999"/>
            <a:ext cx="125788" cy="2664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29FE17D8-8EA9-4E42-9F24-53669CED6890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348899" y="849854"/>
            <a:ext cx="2683205" cy="30470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70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F8DB4-0F2E-D444-B455-D542FD811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F5E8F-82FB-894B-7316-3D8876A9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案例实践：在</a:t>
            </a:r>
            <a:r>
              <a:rPr lang="en-US" altLang="zh-CN" dirty="0"/>
              <a:t> Trae</a:t>
            </a:r>
            <a:r>
              <a:rPr lang="zh-CN" altLang="en-US" dirty="0"/>
              <a:t> </a:t>
            </a:r>
            <a:r>
              <a:rPr lang="en-US" altLang="zh-CN" dirty="0"/>
              <a:t>CN </a:t>
            </a:r>
            <a:r>
              <a:rPr lang="zh-CN" altLang="en-US" dirty="0"/>
              <a:t>中使用</a:t>
            </a:r>
            <a:r>
              <a:rPr lang="en-US" altLang="zh-CN" dirty="0"/>
              <a:t> Skill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E69A3-0B60-B1DB-48F2-CDE508AFA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1"/>
            <a:ext cx="11575228" cy="5427865"/>
          </a:xfrm>
        </p:spPr>
        <p:txBody>
          <a:bodyPr>
            <a:normAutofit/>
          </a:bodyPr>
          <a:lstStyle/>
          <a:p>
            <a:r>
              <a:rPr lang="zh-CN" altLang="en-US" dirty="0"/>
              <a:t>让我们尝试新建一个项目级的</a:t>
            </a:r>
            <a:r>
              <a:rPr lang="en-US" altLang="zh-CN" dirty="0"/>
              <a:t> Skill</a:t>
            </a:r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A46D8-3A35-0EA6-7AA3-4BD22793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20</a:t>
            </a:fld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ABFCB2-878F-B58E-3641-B2C080F50EED}"/>
              </a:ext>
            </a:extLst>
          </p:cNvPr>
          <p:cNvSpPr txBox="1"/>
          <p:nvPr/>
        </p:nvSpPr>
        <p:spPr>
          <a:xfrm>
            <a:off x="-19162" y="6172986"/>
            <a:ext cx="6859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文档参考：</a:t>
            </a:r>
            <a:r>
              <a:rPr kumimoji="1" lang="en" altLang="zh-CN" dirty="0">
                <a:hlinkClick r:id="rId3"/>
              </a:rPr>
              <a:t>https://docs.trae.ai/ide/skills?_lang=zh</a:t>
            </a:r>
            <a:endParaRPr kumimoji="1" lang="en" altLang="zh-CN" dirty="0"/>
          </a:p>
          <a:p>
            <a:r>
              <a:rPr kumimoji="1" lang="en" altLang="zh-CN" dirty="0"/>
              <a:t>Humanizer</a:t>
            </a:r>
            <a:r>
              <a:rPr kumimoji="1" lang="en-US" altLang="zh-CN" dirty="0"/>
              <a:t>-</a:t>
            </a:r>
            <a:r>
              <a:rPr kumimoji="1" lang="en-US" altLang="zh-CN" dirty="0" err="1"/>
              <a:t>zh</a:t>
            </a:r>
            <a:r>
              <a:rPr kumimoji="1" lang="en-US" altLang="zh-CN" dirty="0"/>
              <a:t> </a:t>
            </a:r>
            <a:r>
              <a:rPr kumimoji="1" lang="zh-CN" altLang="en-US" dirty="0"/>
              <a:t>的原始项目：</a:t>
            </a:r>
            <a:r>
              <a:rPr kumimoji="1" lang="en" altLang="zh-CN" dirty="0">
                <a:hlinkClick r:id="rId4"/>
              </a:rPr>
              <a:t>https://github.com/op7418/humanizer-zh</a:t>
            </a:r>
            <a:r>
              <a:rPr kumimoji="1" lang="zh-CN" altLang="en-US" dirty="0"/>
              <a:t> 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A2C13DC-75D9-6D2D-F2BD-CDA51F11BF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782" y="1764505"/>
            <a:ext cx="3356746" cy="43013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F264CA3-AFB9-A26B-AF74-D9AD41B459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7924" y="580001"/>
            <a:ext cx="4998676" cy="59881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F1EFC94-B380-2F28-4663-8C361BE8829C}"/>
              </a:ext>
            </a:extLst>
          </p:cNvPr>
          <p:cNvSpPr txBox="1"/>
          <p:nvPr/>
        </p:nvSpPr>
        <p:spPr>
          <a:xfrm>
            <a:off x="3740905" y="1936576"/>
            <a:ext cx="2790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我们准备了一个</a:t>
            </a:r>
            <a:r>
              <a:rPr kumimoji="1" lang="en-US" altLang="zh-CN" dirty="0"/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humanizer-</a:t>
            </a:r>
            <a:r>
              <a:rPr kumimoji="1" lang="en-US" altLang="zh-CN" b="1" dirty="0" err="1">
                <a:solidFill>
                  <a:srgbClr val="C00000"/>
                </a:solidFill>
              </a:rPr>
              <a:t>zh</a:t>
            </a:r>
            <a:r>
              <a:rPr kumimoji="1" lang="en-US" altLang="zh-CN" b="1" dirty="0">
                <a:solidFill>
                  <a:srgbClr val="C00000"/>
                </a:solidFill>
              </a:rPr>
              <a:t>-</a:t>
            </a:r>
            <a:r>
              <a:rPr kumimoji="1" lang="en-US" altLang="zh-CN" b="1" dirty="0" err="1">
                <a:solidFill>
                  <a:srgbClr val="C00000"/>
                </a:solidFill>
              </a:rPr>
              <a:t>Skill.md</a:t>
            </a:r>
            <a:r>
              <a:rPr kumimoji="1" lang="en-US" altLang="zh-CN" b="1" dirty="0">
                <a:solidFill>
                  <a:srgbClr val="C00000"/>
                </a:solidFill>
              </a:rPr>
              <a:t> </a:t>
            </a:r>
            <a:r>
              <a:rPr kumimoji="1" lang="zh-CN" altLang="en-US" dirty="0"/>
              <a:t>的文件在</a:t>
            </a:r>
            <a:r>
              <a:rPr kumimoji="1" lang="en-US" altLang="zh-CN" dirty="0"/>
              <a:t> OC </a:t>
            </a:r>
            <a:r>
              <a:rPr kumimoji="1" lang="zh-CN" altLang="en-US" dirty="0"/>
              <a:t>上面，大家可以尝试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08DB08A-EBF2-C022-5F6C-B6F8C1792A8B}"/>
              </a:ext>
            </a:extLst>
          </p:cNvPr>
          <p:cNvGrpSpPr/>
          <p:nvPr/>
        </p:nvGrpSpPr>
        <p:grpSpPr>
          <a:xfrm>
            <a:off x="1703512" y="3324776"/>
            <a:ext cx="4263593" cy="2597069"/>
            <a:chOff x="1703512" y="3324776"/>
            <a:chExt cx="4263593" cy="259706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E5DDB0B-A1FB-FC31-2C58-1E644F8D7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03512" y="3324776"/>
              <a:ext cx="4263593" cy="2597069"/>
            </a:xfrm>
            <a:prstGeom prst="rect">
              <a:avLst/>
            </a:prstGeom>
          </p:spPr>
        </p:pic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D473B025-7821-6A8D-4C6E-9452922C03E0}"/>
                </a:ext>
              </a:extLst>
            </p:cNvPr>
            <p:cNvSpPr/>
            <p:nvPr/>
          </p:nvSpPr>
          <p:spPr>
            <a:xfrm>
              <a:off x="1847528" y="3684498"/>
              <a:ext cx="2176134" cy="402873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066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30895-7055-4A1C-7E2D-AB8A16EF1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D607A-938E-2524-DBD1-45C2EE773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案例实践：在</a:t>
            </a:r>
            <a:r>
              <a:rPr lang="en-US" altLang="zh-CN" dirty="0"/>
              <a:t> Trae</a:t>
            </a:r>
            <a:r>
              <a:rPr lang="zh-CN" altLang="en-US" dirty="0"/>
              <a:t> </a:t>
            </a:r>
            <a:r>
              <a:rPr lang="en-US" altLang="zh-CN" dirty="0"/>
              <a:t>CN </a:t>
            </a:r>
            <a:r>
              <a:rPr lang="zh-CN" altLang="en-US" dirty="0"/>
              <a:t>中使用</a:t>
            </a:r>
            <a:r>
              <a:rPr lang="en-US" altLang="zh-CN" dirty="0"/>
              <a:t> Skill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4F086-EC16-C273-AA05-61F79FC5A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1"/>
            <a:ext cx="11575228" cy="5427865"/>
          </a:xfrm>
        </p:spPr>
        <p:txBody>
          <a:bodyPr>
            <a:normAutofit/>
          </a:bodyPr>
          <a:lstStyle/>
          <a:p>
            <a:r>
              <a:rPr lang="zh-CN" altLang="en-US" dirty="0"/>
              <a:t>让我们尝试新建一个项目级的</a:t>
            </a:r>
            <a:r>
              <a:rPr lang="en-US" altLang="zh-CN" dirty="0"/>
              <a:t> Skill</a:t>
            </a:r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1822-83CE-D22C-7497-59AF1E94B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21</a:t>
            </a:fld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582DC8-82F5-03ED-586C-B65C188627D0}"/>
              </a:ext>
            </a:extLst>
          </p:cNvPr>
          <p:cNvSpPr txBox="1"/>
          <p:nvPr/>
        </p:nvSpPr>
        <p:spPr>
          <a:xfrm>
            <a:off x="30725" y="6356350"/>
            <a:ext cx="4998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文档参考：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docs.trae.ai</a:t>
            </a:r>
            <a:r>
              <a:rPr kumimoji="1" lang="en" altLang="zh-CN" dirty="0"/>
              <a:t>/ide/</a:t>
            </a:r>
            <a:r>
              <a:rPr kumimoji="1" lang="en" altLang="zh-CN" dirty="0" err="1"/>
              <a:t>skills?_lang</a:t>
            </a:r>
            <a:r>
              <a:rPr kumimoji="1" lang="en" altLang="zh-CN" dirty="0"/>
              <a:t>=</a:t>
            </a:r>
            <a:r>
              <a:rPr kumimoji="1" lang="en" altLang="zh-CN" dirty="0" err="1"/>
              <a:t>zh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18FB6D6-71DB-4818-ADC7-FB4E4CE5C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72" y="1935568"/>
            <a:ext cx="4858750" cy="413650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AE4AA85-2BFD-02C4-2C72-F69F2FA3E630}"/>
              </a:ext>
            </a:extLst>
          </p:cNvPr>
          <p:cNvSpPr/>
          <p:nvPr/>
        </p:nvSpPr>
        <p:spPr>
          <a:xfrm>
            <a:off x="1487488" y="4734080"/>
            <a:ext cx="3541913" cy="1215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1C94079-1001-A2BD-A2D0-3DCBC5549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672" y="4620655"/>
            <a:ext cx="3387853" cy="155308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4BCC7CA-CBCC-E079-240E-E25BE55CD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120" y="500392"/>
            <a:ext cx="3831725" cy="337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67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40222-13C7-5E8D-E4D2-1F7C385A6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A502-57F9-D635-6AE5-665691116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案例实践：在</a:t>
            </a:r>
            <a:r>
              <a:rPr lang="en-US" altLang="zh-CN" dirty="0"/>
              <a:t> Trae</a:t>
            </a:r>
            <a:r>
              <a:rPr lang="zh-CN" altLang="en-US" dirty="0"/>
              <a:t> </a:t>
            </a:r>
            <a:r>
              <a:rPr lang="en-US" altLang="zh-CN" dirty="0"/>
              <a:t>CN </a:t>
            </a:r>
            <a:r>
              <a:rPr lang="zh-CN" altLang="en-US" dirty="0"/>
              <a:t>中使用</a:t>
            </a:r>
            <a:r>
              <a:rPr lang="en-US" altLang="zh-CN" dirty="0"/>
              <a:t> Skill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3A5AB-32FC-211F-0BD3-EF88AD80C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1"/>
            <a:ext cx="11575228" cy="5427865"/>
          </a:xfrm>
        </p:spPr>
        <p:txBody>
          <a:bodyPr>
            <a:normAutofit/>
          </a:bodyPr>
          <a:lstStyle/>
          <a:p>
            <a:r>
              <a:rPr lang="zh-CN" altLang="en-US" dirty="0"/>
              <a:t>让我们尝试新建一个项目级的</a:t>
            </a:r>
            <a:r>
              <a:rPr lang="en-US" altLang="zh-CN" dirty="0"/>
              <a:t> Skill</a:t>
            </a:r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DF6D8-D31E-E64C-ABD1-49C09B9DC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22</a:t>
            </a:fld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1A17B4-6F78-9945-BB81-D08EF3476B50}"/>
              </a:ext>
            </a:extLst>
          </p:cNvPr>
          <p:cNvSpPr txBox="1"/>
          <p:nvPr/>
        </p:nvSpPr>
        <p:spPr>
          <a:xfrm>
            <a:off x="30725" y="6356350"/>
            <a:ext cx="4998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文档参考：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docs.trae.ai</a:t>
            </a:r>
            <a:r>
              <a:rPr kumimoji="1" lang="en" altLang="zh-CN" dirty="0"/>
              <a:t>/ide/</a:t>
            </a:r>
            <a:r>
              <a:rPr kumimoji="1" lang="en" altLang="zh-CN" dirty="0" err="1"/>
              <a:t>skills?_lang</a:t>
            </a:r>
            <a:r>
              <a:rPr kumimoji="1" lang="en" altLang="zh-CN" dirty="0"/>
              <a:t>=</a:t>
            </a:r>
            <a:r>
              <a:rPr kumimoji="1" lang="en" altLang="zh-CN" dirty="0" err="1"/>
              <a:t>zh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E927F0-CBF8-AEC7-DB2B-0C8090661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02" y="0"/>
            <a:ext cx="4550735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01EE604-2CCA-B5FD-4FC5-747B3895C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369" y="35157"/>
            <a:ext cx="4104456" cy="372241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3D529BF-9EA3-7607-EF04-28D29EA8F437}"/>
              </a:ext>
            </a:extLst>
          </p:cNvPr>
          <p:cNvSpPr txBox="1"/>
          <p:nvPr/>
        </p:nvSpPr>
        <p:spPr>
          <a:xfrm>
            <a:off x="4887784" y="4066750"/>
            <a:ext cx="66850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原文</a:t>
            </a:r>
            <a:r>
              <a:rPr kumimoji="1" lang="zh-CN" altLang="en-US" dirty="0"/>
              <a:t>：坐落在风景如画的杭州市中心，这家咖啡馆拥有丰富的文化底蕴和令人叹为观止的装饰。它作为城市咖啡文化的焦点，为顾客提供无缝、直观和充满活力的体验。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BFB108B-E138-EA49-FFC4-2481DF946102}"/>
              </a:ext>
            </a:extLst>
          </p:cNvPr>
          <p:cNvSpPr txBox="1"/>
          <p:nvPr/>
        </p:nvSpPr>
        <p:spPr>
          <a:xfrm>
            <a:off x="4904260" y="5317463"/>
            <a:ext cx="66850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修改后</a:t>
            </a:r>
            <a:r>
              <a:rPr kumimoji="1" lang="zh-CN" altLang="en-US" dirty="0"/>
              <a:t>：这家咖啡馆在杭州市中心，装修很有意思，墙上挂着本地艺术家的画作。周末常有小型音乐会，不少人会特意来这里看书或工作。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81F7C789-8776-EB00-B5C5-887098DD00A3}"/>
              </a:ext>
            </a:extLst>
          </p:cNvPr>
          <p:cNvSpPr/>
          <p:nvPr/>
        </p:nvSpPr>
        <p:spPr>
          <a:xfrm>
            <a:off x="30725" y="714577"/>
            <a:ext cx="1672787" cy="4028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85B4BA-C43F-505B-6788-874A2A9F544E}"/>
              </a:ext>
            </a:extLst>
          </p:cNvPr>
          <p:cNvSpPr txBox="1"/>
          <p:nvPr/>
        </p:nvSpPr>
        <p:spPr>
          <a:xfrm>
            <a:off x="726664" y="262315"/>
            <a:ext cx="3817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会有系统提示词，调用</a:t>
            </a:r>
            <a:r>
              <a:rPr kumimoji="1" lang="en-US" altLang="zh-CN" dirty="0">
                <a:solidFill>
                  <a:srgbClr val="FF0000"/>
                </a:solidFill>
              </a:rPr>
              <a:t> humanizer-</a:t>
            </a:r>
            <a:r>
              <a:rPr kumimoji="1" lang="en-US" altLang="zh-CN" dirty="0" err="1">
                <a:solidFill>
                  <a:srgbClr val="FF0000"/>
                </a:solidFill>
              </a:rPr>
              <a:t>zh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88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89DAB-C86E-9C07-A0CA-76E74B349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251BD-E1C8-C729-7ABC-8E6BBDDAA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案例实践：在</a:t>
            </a:r>
            <a:r>
              <a:rPr lang="en-US" altLang="zh-CN" dirty="0"/>
              <a:t> Trae</a:t>
            </a:r>
            <a:r>
              <a:rPr lang="zh-CN" altLang="en-US" dirty="0"/>
              <a:t> </a:t>
            </a:r>
            <a:r>
              <a:rPr lang="en-US" altLang="zh-CN" dirty="0"/>
              <a:t>CN </a:t>
            </a:r>
            <a:r>
              <a:rPr lang="zh-CN" altLang="en-US" dirty="0"/>
              <a:t>中使用</a:t>
            </a:r>
            <a:r>
              <a:rPr lang="en-US" altLang="zh-CN" dirty="0"/>
              <a:t> Skill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1EA21-1945-237F-59EB-AF76ACF12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1"/>
            <a:ext cx="11575228" cy="5427865"/>
          </a:xfrm>
        </p:spPr>
        <p:txBody>
          <a:bodyPr>
            <a:normAutofit/>
          </a:bodyPr>
          <a:lstStyle/>
          <a:p>
            <a:r>
              <a:rPr lang="zh-CN" altLang="en-US" dirty="0"/>
              <a:t>让我们尝试新建一个项目级的</a:t>
            </a:r>
            <a:r>
              <a:rPr lang="en-US" altLang="zh-CN" dirty="0"/>
              <a:t> Skill</a:t>
            </a:r>
          </a:p>
          <a:p>
            <a:r>
              <a:rPr lang="zh-CN" altLang="en-US" dirty="0"/>
              <a:t>除了上传一个</a:t>
            </a:r>
            <a:r>
              <a:rPr lang="en-US" altLang="zh-CN" dirty="0"/>
              <a:t> </a:t>
            </a:r>
            <a:r>
              <a:rPr lang="en-US" altLang="zh-CN" dirty="0" err="1"/>
              <a:t>skill.md</a:t>
            </a:r>
            <a:r>
              <a:rPr lang="en-US" altLang="zh-CN" dirty="0"/>
              <a:t> </a:t>
            </a:r>
            <a:r>
              <a:rPr lang="zh-CN" altLang="en-US" dirty="0"/>
              <a:t>的文件，还有哪些方式？</a:t>
            </a:r>
            <a:endParaRPr lang="en-US" altLang="zh-CN" dirty="0"/>
          </a:p>
          <a:p>
            <a:pPr lvl="1"/>
            <a:r>
              <a:rPr lang="zh-CN" altLang="en-US" dirty="0"/>
              <a:t>直接在填表的方式来完成一个</a:t>
            </a:r>
            <a:r>
              <a:rPr lang="en-US" altLang="zh-CN" dirty="0"/>
              <a:t> Skill </a:t>
            </a:r>
            <a:r>
              <a:rPr lang="zh-CN" altLang="en-US" dirty="0"/>
              <a:t>的内容描写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24170-DA5A-05DB-EC43-699DD9ADA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23</a:t>
            </a:fld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980B0C-D509-BA44-87A0-BB215C6B6744}"/>
              </a:ext>
            </a:extLst>
          </p:cNvPr>
          <p:cNvSpPr txBox="1"/>
          <p:nvPr/>
        </p:nvSpPr>
        <p:spPr>
          <a:xfrm>
            <a:off x="30725" y="6356350"/>
            <a:ext cx="4998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文档参考：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docs.trae.ai</a:t>
            </a:r>
            <a:r>
              <a:rPr kumimoji="1" lang="en" altLang="zh-CN" dirty="0"/>
              <a:t>/ide/</a:t>
            </a:r>
            <a:r>
              <a:rPr kumimoji="1" lang="en" altLang="zh-CN" dirty="0" err="1"/>
              <a:t>skills?_lang</a:t>
            </a:r>
            <a:r>
              <a:rPr kumimoji="1" lang="en" altLang="zh-CN" dirty="0"/>
              <a:t>=</a:t>
            </a:r>
            <a:r>
              <a:rPr kumimoji="1" lang="en" altLang="zh-CN" dirty="0" err="1"/>
              <a:t>zh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17FD5E2-FAD3-787C-F398-F86B50BD4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4232" y="2078955"/>
            <a:ext cx="3456384" cy="4429065"/>
          </a:xfrm>
          <a:prstGeom prst="rect">
            <a:avLst/>
          </a:prstGeom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4F54313E-E6FF-996F-21AB-1782D04C4D57}"/>
              </a:ext>
            </a:extLst>
          </p:cNvPr>
          <p:cNvSpPr/>
          <p:nvPr/>
        </p:nvSpPr>
        <p:spPr>
          <a:xfrm>
            <a:off x="8184232" y="3429000"/>
            <a:ext cx="3384376" cy="273630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7582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DDA30-316E-F2B7-0449-585CE767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E4CEF-8F24-F1C6-721A-C95557A87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案例实践：在</a:t>
            </a:r>
            <a:r>
              <a:rPr lang="en-US" altLang="zh-CN" dirty="0"/>
              <a:t> Trae</a:t>
            </a:r>
            <a:r>
              <a:rPr lang="zh-CN" altLang="en-US" dirty="0"/>
              <a:t> </a:t>
            </a:r>
            <a:r>
              <a:rPr lang="en-US" altLang="zh-CN" dirty="0"/>
              <a:t>CN </a:t>
            </a:r>
            <a:r>
              <a:rPr lang="zh-CN" altLang="en-US" dirty="0"/>
              <a:t>中使用</a:t>
            </a:r>
            <a:r>
              <a:rPr lang="en-US" altLang="zh-CN" dirty="0"/>
              <a:t> Skill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C3903-2530-7AA9-0467-7243FD256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1"/>
            <a:ext cx="11575228" cy="5427865"/>
          </a:xfrm>
        </p:spPr>
        <p:txBody>
          <a:bodyPr>
            <a:normAutofit/>
          </a:bodyPr>
          <a:lstStyle/>
          <a:p>
            <a:r>
              <a:rPr lang="zh-CN" altLang="en-US" dirty="0"/>
              <a:t>让我们尝试新建一个项目级的</a:t>
            </a:r>
            <a:r>
              <a:rPr lang="en-US" altLang="zh-CN" dirty="0"/>
              <a:t> Skill</a:t>
            </a:r>
          </a:p>
          <a:p>
            <a:r>
              <a:rPr lang="zh-CN" altLang="en-US" dirty="0"/>
              <a:t>除了上传一个</a:t>
            </a:r>
            <a:r>
              <a:rPr lang="en-US" altLang="zh-CN" dirty="0"/>
              <a:t> </a:t>
            </a:r>
            <a:r>
              <a:rPr lang="en-US" altLang="zh-CN" dirty="0" err="1"/>
              <a:t>skill.md</a:t>
            </a:r>
            <a:r>
              <a:rPr lang="en-US" altLang="zh-CN" dirty="0"/>
              <a:t> </a:t>
            </a:r>
            <a:r>
              <a:rPr lang="zh-CN" altLang="en-US" dirty="0"/>
              <a:t>的文件，还有哪些方式？</a:t>
            </a:r>
            <a:endParaRPr lang="en-US" altLang="zh-CN" dirty="0"/>
          </a:p>
          <a:p>
            <a:pPr lvl="1"/>
            <a:r>
              <a:rPr lang="zh-CN" altLang="en-US" dirty="0"/>
              <a:t>直接在填表的方式来完成一个</a:t>
            </a:r>
            <a:r>
              <a:rPr lang="en-US" altLang="zh-CN" dirty="0"/>
              <a:t> Skill </a:t>
            </a:r>
            <a:r>
              <a:rPr lang="zh-CN" altLang="en-US" dirty="0"/>
              <a:t>的内容描写</a:t>
            </a:r>
            <a:endParaRPr lang="en-US" altLang="zh-CN" dirty="0"/>
          </a:p>
          <a:p>
            <a:pPr lvl="1"/>
            <a:r>
              <a:rPr lang="zh-CN" altLang="en-US" dirty="0"/>
              <a:t>更简单一点，比如我们可以从网上下载一个</a:t>
            </a:r>
            <a:r>
              <a:rPr lang="en-US" altLang="zh-CN" dirty="0"/>
              <a:t> Skill </a:t>
            </a:r>
            <a:r>
              <a:rPr lang="zh-CN" altLang="en-US" dirty="0"/>
              <a:t>的项目到本地，然后直接</a:t>
            </a:r>
            <a:r>
              <a:rPr lang="zh-CN" altLang="en-US" b="1" dirty="0">
                <a:solidFill>
                  <a:srgbClr val="FF0000"/>
                </a:solidFill>
              </a:rPr>
              <a:t>让</a:t>
            </a:r>
            <a:r>
              <a:rPr lang="en-US" altLang="zh-CN" b="1" dirty="0">
                <a:solidFill>
                  <a:srgbClr val="FF0000"/>
                </a:solidFill>
              </a:rPr>
              <a:t> AI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IDE </a:t>
            </a:r>
            <a:r>
              <a:rPr lang="zh-CN" altLang="en-US" b="1" dirty="0">
                <a:solidFill>
                  <a:srgbClr val="FF0000"/>
                </a:solidFill>
              </a:rPr>
              <a:t>把本地的某个目录作为</a:t>
            </a:r>
            <a:r>
              <a:rPr lang="en-US" altLang="zh-CN" b="1" dirty="0">
                <a:solidFill>
                  <a:srgbClr val="FF0000"/>
                </a:solidFill>
              </a:rPr>
              <a:t> Skill </a:t>
            </a:r>
            <a:r>
              <a:rPr lang="zh-CN" altLang="en-US" b="1" dirty="0">
                <a:solidFill>
                  <a:srgbClr val="FF0000"/>
                </a:solidFill>
              </a:rPr>
              <a:t>加载到当前项目里面来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087F8-D14A-428D-9E96-FC888BA4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24</a:t>
            </a:fld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F18AC2-60A1-ADBD-7F81-925E273C5C00}"/>
              </a:ext>
            </a:extLst>
          </p:cNvPr>
          <p:cNvSpPr txBox="1"/>
          <p:nvPr/>
        </p:nvSpPr>
        <p:spPr>
          <a:xfrm>
            <a:off x="30725" y="6356350"/>
            <a:ext cx="4998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文档参考：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docs.trae.ai</a:t>
            </a:r>
            <a:r>
              <a:rPr kumimoji="1" lang="en" altLang="zh-CN" dirty="0"/>
              <a:t>/ide/</a:t>
            </a:r>
            <a:r>
              <a:rPr kumimoji="1" lang="en" altLang="zh-CN" dirty="0" err="1"/>
              <a:t>skills?_lang</a:t>
            </a:r>
            <a:r>
              <a:rPr kumimoji="1" lang="en" altLang="zh-CN" dirty="0"/>
              <a:t>=</a:t>
            </a:r>
            <a:r>
              <a:rPr kumimoji="1" lang="en" altLang="zh-CN" dirty="0" err="1"/>
              <a:t>zh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AEEC68-4427-E800-B8C4-8F298C62C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3337545"/>
            <a:ext cx="6458058" cy="272834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70FAED8-7281-3091-5A27-D44D0FA02F75}"/>
              </a:ext>
            </a:extLst>
          </p:cNvPr>
          <p:cNvSpPr txBox="1"/>
          <p:nvPr/>
        </p:nvSpPr>
        <p:spPr>
          <a:xfrm>
            <a:off x="7146673" y="4077072"/>
            <a:ext cx="3960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类似这样的</a:t>
            </a:r>
            <a:r>
              <a:rPr kumimoji="1" lang="en-US" altLang="zh-CN" dirty="0"/>
              <a:t> Prompt </a:t>
            </a:r>
            <a:r>
              <a:rPr kumimoji="1" lang="zh-CN" altLang="en-US" dirty="0"/>
              <a:t>就可以，相信你的</a:t>
            </a:r>
            <a:r>
              <a:rPr kumimoji="1" lang="en-US" altLang="zh-CN" dirty="0"/>
              <a:t>AI</a:t>
            </a:r>
            <a:r>
              <a:rPr kumimoji="1" lang="zh-CN" altLang="en-US" dirty="0"/>
              <a:t> </a:t>
            </a:r>
            <a:r>
              <a:rPr kumimoji="1" lang="en-US" altLang="zh-CN" dirty="0"/>
              <a:t>IDE</a:t>
            </a:r>
            <a:r>
              <a:rPr kumimoji="1" lang="zh-CN" altLang="en-US" dirty="0"/>
              <a:t>，这种小操作，对他来说太简单了</a:t>
            </a:r>
          </a:p>
        </p:txBody>
      </p:sp>
    </p:spTree>
    <p:extLst>
      <p:ext uri="{BB962C8B-B14F-4D97-AF65-F5344CB8AC3E}">
        <p14:creationId xmlns:p14="http://schemas.microsoft.com/office/powerpoint/2010/main" val="99831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2D93C-E1D1-40E0-D0C1-3BB03AAD5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1CB41-215D-638A-46D4-DB3E607E2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案例实践：在</a:t>
            </a:r>
            <a:r>
              <a:rPr lang="en-US" altLang="zh-CN" dirty="0"/>
              <a:t> Trae</a:t>
            </a:r>
            <a:r>
              <a:rPr lang="zh-CN" altLang="en-US" dirty="0"/>
              <a:t> </a:t>
            </a:r>
            <a:r>
              <a:rPr lang="en-US" altLang="zh-CN" dirty="0"/>
              <a:t>CN </a:t>
            </a:r>
            <a:r>
              <a:rPr lang="zh-CN" altLang="en-US" dirty="0"/>
              <a:t>中使用</a:t>
            </a:r>
            <a:r>
              <a:rPr lang="en-US" altLang="zh-CN" dirty="0"/>
              <a:t> Skill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CA95E-76EA-4319-FAB1-6F699E61A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1"/>
            <a:ext cx="11575228" cy="5427865"/>
          </a:xfrm>
        </p:spPr>
        <p:txBody>
          <a:bodyPr>
            <a:normAutofit/>
          </a:bodyPr>
          <a:lstStyle/>
          <a:p>
            <a:r>
              <a:rPr lang="zh-CN" altLang="en-US" dirty="0"/>
              <a:t>类似地，如果我们要自己设计和创建一个独属于我们自己的</a:t>
            </a:r>
            <a:r>
              <a:rPr lang="en-US" altLang="zh-CN" dirty="0"/>
              <a:t> Skill</a:t>
            </a:r>
          </a:p>
          <a:p>
            <a:pPr lvl="1"/>
            <a:r>
              <a:rPr lang="zh-CN" altLang="en-US" dirty="0"/>
              <a:t>比如，把我自己的写代码的方法固化成一个</a:t>
            </a:r>
            <a:r>
              <a:rPr lang="en-US" altLang="zh-CN" dirty="0"/>
              <a:t> skill</a:t>
            </a:r>
          </a:p>
          <a:p>
            <a:pPr lvl="1"/>
            <a:r>
              <a:rPr lang="zh-CN" altLang="en-US" dirty="0"/>
              <a:t>或者，把写课程文档的能力固化成</a:t>
            </a:r>
            <a:r>
              <a:rPr lang="en-US" altLang="zh-CN" dirty="0"/>
              <a:t> Skill</a:t>
            </a:r>
          </a:p>
          <a:p>
            <a:pPr lvl="1"/>
            <a:r>
              <a:rPr lang="zh-CN" altLang="en-US" dirty="0"/>
              <a:t>除了像现有的</a:t>
            </a:r>
            <a:r>
              <a:rPr lang="en-US" altLang="zh-CN" dirty="0"/>
              <a:t>Skill </a:t>
            </a:r>
            <a:r>
              <a:rPr lang="zh-CN" altLang="en-US" dirty="0"/>
              <a:t>一样按照</a:t>
            </a:r>
            <a:r>
              <a:rPr lang="en-US" altLang="zh-CN" dirty="0"/>
              <a:t> </a:t>
            </a:r>
            <a:r>
              <a:rPr lang="en-US" altLang="zh-CN" dirty="0" err="1"/>
              <a:t>Skill.md</a:t>
            </a:r>
            <a:r>
              <a:rPr lang="en-US" altLang="zh-CN" dirty="0"/>
              <a:t> </a:t>
            </a:r>
            <a:r>
              <a:rPr lang="zh-CN" altLang="en-US" dirty="0"/>
              <a:t>等方式来撰写，更直接的方式，</a:t>
            </a:r>
            <a:r>
              <a:rPr lang="zh-CN" altLang="en-US" b="1" dirty="0">
                <a:solidFill>
                  <a:srgbClr val="C00000"/>
                </a:solidFill>
              </a:rPr>
              <a:t>是直接通过和</a:t>
            </a:r>
            <a:r>
              <a:rPr lang="en-US" altLang="zh-CN" b="1" dirty="0">
                <a:solidFill>
                  <a:srgbClr val="C00000"/>
                </a:solidFill>
              </a:rPr>
              <a:t> AI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IDE </a:t>
            </a:r>
            <a:r>
              <a:rPr lang="zh-CN" altLang="en-US" b="1" dirty="0">
                <a:solidFill>
                  <a:srgbClr val="C00000"/>
                </a:solidFill>
              </a:rPr>
              <a:t>对话来创建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81A55-054A-D7C2-AB1B-7E6BDDB4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25</a:t>
            </a:fld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5AB6BC-98AE-1519-C7BB-25DD18BC5D9F}"/>
              </a:ext>
            </a:extLst>
          </p:cNvPr>
          <p:cNvSpPr txBox="1"/>
          <p:nvPr/>
        </p:nvSpPr>
        <p:spPr>
          <a:xfrm>
            <a:off x="30725" y="6356350"/>
            <a:ext cx="4998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文档参考：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docs.trae.ai</a:t>
            </a:r>
            <a:r>
              <a:rPr kumimoji="1" lang="en" altLang="zh-CN" dirty="0"/>
              <a:t>/ide/</a:t>
            </a:r>
            <a:r>
              <a:rPr kumimoji="1" lang="en" altLang="zh-CN" dirty="0" err="1"/>
              <a:t>skills?_lang</a:t>
            </a:r>
            <a:r>
              <a:rPr kumimoji="1" lang="en" altLang="zh-CN" dirty="0"/>
              <a:t>=</a:t>
            </a:r>
            <a:r>
              <a:rPr kumimoji="1" lang="en" altLang="zh-CN" dirty="0" err="1"/>
              <a:t>zh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214B020-C0F7-4680-E669-AB6F174D0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36" y="3533289"/>
            <a:ext cx="5448300" cy="21844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90022DC-EF8A-F997-2D7A-772C89575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104" y="301731"/>
            <a:ext cx="4882804" cy="612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72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51D18-90D8-ED4F-B46C-70CF6196C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EEA90-B16C-3248-1B44-EC893D56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案例实践：在</a:t>
            </a:r>
            <a:r>
              <a:rPr lang="en-US" altLang="zh-CN" dirty="0"/>
              <a:t> Trae</a:t>
            </a:r>
            <a:r>
              <a:rPr lang="zh-CN" altLang="en-US" dirty="0"/>
              <a:t> </a:t>
            </a:r>
            <a:r>
              <a:rPr lang="en-US" altLang="zh-CN" dirty="0"/>
              <a:t>CN </a:t>
            </a:r>
            <a:r>
              <a:rPr lang="zh-CN" altLang="en-US" dirty="0"/>
              <a:t>中使用</a:t>
            </a:r>
            <a:r>
              <a:rPr lang="en-US" altLang="zh-CN" dirty="0"/>
              <a:t> Skill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E62F2-D9F8-054E-5441-8CC396640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1"/>
            <a:ext cx="11575228" cy="5427865"/>
          </a:xfrm>
        </p:spPr>
        <p:txBody>
          <a:bodyPr>
            <a:normAutofit/>
          </a:bodyPr>
          <a:lstStyle/>
          <a:p>
            <a:r>
              <a:rPr lang="zh-CN" altLang="en-US" dirty="0"/>
              <a:t>类似地，如果我们要自己设计和创建一个独属于我们自己的</a:t>
            </a:r>
            <a:r>
              <a:rPr lang="en-US" altLang="zh-CN" dirty="0"/>
              <a:t> Skill</a:t>
            </a:r>
          </a:p>
          <a:p>
            <a:pPr lvl="1"/>
            <a:r>
              <a:rPr lang="zh-CN" altLang="en-US" dirty="0"/>
              <a:t>比如，把我自己的写代码的方法固化成一个</a:t>
            </a:r>
            <a:r>
              <a:rPr lang="en-US" altLang="zh-CN" dirty="0"/>
              <a:t> skill</a:t>
            </a:r>
          </a:p>
          <a:p>
            <a:pPr lvl="1"/>
            <a:r>
              <a:rPr lang="zh-CN" altLang="en-US" dirty="0"/>
              <a:t>或者，把写课程文档的能力固化成</a:t>
            </a:r>
            <a:r>
              <a:rPr lang="en-US" altLang="zh-CN" dirty="0"/>
              <a:t> Skill</a:t>
            </a:r>
          </a:p>
          <a:p>
            <a:pPr lvl="1"/>
            <a:r>
              <a:rPr lang="zh-CN" altLang="en-US" dirty="0"/>
              <a:t>除了像现有的</a:t>
            </a:r>
            <a:r>
              <a:rPr lang="en-US" altLang="zh-CN" dirty="0"/>
              <a:t>Skill </a:t>
            </a:r>
            <a:r>
              <a:rPr lang="zh-CN" altLang="en-US" dirty="0"/>
              <a:t>一样按照</a:t>
            </a:r>
            <a:r>
              <a:rPr lang="en-US" altLang="zh-CN" dirty="0"/>
              <a:t> </a:t>
            </a:r>
            <a:r>
              <a:rPr lang="en-US" altLang="zh-CN" dirty="0" err="1"/>
              <a:t>Skill.md</a:t>
            </a:r>
            <a:r>
              <a:rPr lang="en-US" altLang="zh-CN" dirty="0"/>
              <a:t> </a:t>
            </a:r>
            <a:r>
              <a:rPr lang="zh-CN" altLang="en-US" dirty="0"/>
              <a:t>等方式来撰写，更直接的方式，</a:t>
            </a:r>
            <a:r>
              <a:rPr lang="zh-CN" altLang="en-US" b="1" dirty="0">
                <a:solidFill>
                  <a:srgbClr val="C00000"/>
                </a:solidFill>
              </a:rPr>
              <a:t>是直接通过和</a:t>
            </a:r>
            <a:r>
              <a:rPr lang="en-US" altLang="zh-CN" b="1" dirty="0">
                <a:solidFill>
                  <a:srgbClr val="C00000"/>
                </a:solidFill>
              </a:rPr>
              <a:t> AI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IDE </a:t>
            </a:r>
            <a:r>
              <a:rPr lang="zh-CN" altLang="en-US" b="1" dirty="0">
                <a:solidFill>
                  <a:srgbClr val="C00000"/>
                </a:solidFill>
              </a:rPr>
              <a:t>对话来创建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8EF6D-27E2-5840-1E53-BC4C2CE85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26</a:t>
            </a:fld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7028E6-F1E6-F8D7-4B2D-E8C11B6B3CE9}"/>
              </a:ext>
            </a:extLst>
          </p:cNvPr>
          <p:cNvSpPr txBox="1"/>
          <p:nvPr/>
        </p:nvSpPr>
        <p:spPr>
          <a:xfrm>
            <a:off x="30725" y="6356350"/>
            <a:ext cx="4998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文档参考：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docs.trae.ai</a:t>
            </a:r>
            <a:r>
              <a:rPr kumimoji="1" lang="en" altLang="zh-CN" dirty="0"/>
              <a:t>/ide/</a:t>
            </a:r>
            <a:r>
              <a:rPr kumimoji="1" lang="en" altLang="zh-CN" dirty="0" err="1"/>
              <a:t>skills?_lang</a:t>
            </a:r>
            <a:r>
              <a:rPr kumimoji="1" lang="en" altLang="zh-CN" dirty="0"/>
              <a:t>=</a:t>
            </a:r>
            <a:r>
              <a:rPr kumimoji="1" lang="en" altLang="zh-CN" dirty="0" err="1"/>
              <a:t>zh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BDF69C7-2602-014C-7735-E941E78F2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744" y="-124387"/>
            <a:ext cx="66985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075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BDB7D-895D-A400-84D6-3870CED4D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55DD5-26DA-7FB7-231F-489AB8E88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案例实践：在</a:t>
            </a:r>
            <a:r>
              <a:rPr lang="en-US" altLang="zh-CN" dirty="0"/>
              <a:t> Trae</a:t>
            </a:r>
            <a:r>
              <a:rPr lang="zh-CN" altLang="en-US" dirty="0"/>
              <a:t> </a:t>
            </a:r>
            <a:r>
              <a:rPr lang="en-US" altLang="zh-CN" dirty="0"/>
              <a:t>CN </a:t>
            </a:r>
            <a:r>
              <a:rPr lang="zh-CN" altLang="en-US" dirty="0"/>
              <a:t>中使用</a:t>
            </a:r>
            <a:r>
              <a:rPr lang="en-US" altLang="zh-CN" dirty="0"/>
              <a:t> Skill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42CFD-A8A8-24FA-CA8B-16318AF5C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1"/>
            <a:ext cx="11575228" cy="5427865"/>
          </a:xfrm>
        </p:spPr>
        <p:txBody>
          <a:bodyPr>
            <a:normAutofit/>
          </a:bodyPr>
          <a:lstStyle/>
          <a:p>
            <a:r>
              <a:rPr lang="zh-CN" altLang="en-US" dirty="0"/>
              <a:t>类似地，如果我们要自己设计和创建一个独属于我们自己的</a:t>
            </a:r>
            <a:r>
              <a:rPr lang="en-US" altLang="zh-CN" dirty="0"/>
              <a:t> Skill</a:t>
            </a:r>
          </a:p>
          <a:p>
            <a:pPr lvl="1"/>
            <a:r>
              <a:rPr lang="zh-CN" altLang="en-US" dirty="0"/>
              <a:t>比如，把我自己的写代码的方法固化成一个</a:t>
            </a:r>
            <a:r>
              <a:rPr lang="en-US" altLang="zh-CN" dirty="0"/>
              <a:t> skill</a:t>
            </a:r>
          </a:p>
          <a:p>
            <a:pPr lvl="1"/>
            <a:r>
              <a:rPr lang="zh-CN" altLang="en-US" dirty="0"/>
              <a:t>或者，把写课程文档的能力固化成</a:t>
            </a:r>
            <a:r>
              <a:rPr lang="en-US" altLang="zh-CN" dirty="0"/>
              <a:t> Skill</a:t>
            </a:r>
          </a:p>
          <a:p>
            <a:pPr lvl="1"/>
            <a:r>
              <a:rPr lang="zh-CN" altLang="en-US" dirty="0"/>
              <a:t>除了像现有的</a:t>
            </a:r>
            <a:r>
              <a:rPr lang="en-US" altLang="zh-CN" dirty="0"/>
              <a:t>Skill </a:t>
            </a:r>
            <a:r>
              <a:rPr lang="zh-CN" altLang="en-US" dirty="0"/>
              <a:t>一样按照</a:t>
            </a:r>
            <a:r>
              <a:rPr lang="en-US" altLang="zh-CN" dirty="0"/>
              <a:t> </a:t>
            </a:r>
            <a:r>
              <a:rPr lang="en-US" altLang="zh-CN" dirty="0" err="1"/>
              <a:t>Skill.md</a:t>
            </a:r>
            <a:r>
              <a:rPr lang="en-US" altLang="zh-CN" dirty="0"/>
              <a:t> </a:t>
            </a:r>
            <a:r>
              <a:rPr lang="zh-CN" altLang="en-US" dirty="0"/>
              <a:t>等方式来撰写，更直接的方式，</a:t>
            </a:r>
            <a:r>
              <a:rPr lang="zh-CN" altLang="en-US" b="1" dirty="0">
                <a:solidFill>
                  <a:srgbClr val="C00000"/>
                </a:solidFill>
              </a:rPr>
              <a:t>是直接通过和</a:t>
            </a:r>
            <a:r>
              <a:rPr lang="en-US" altLang="zh-CN" b="1" dirty="0">
                <a:solidFill>
                  <a:srgbClr val="C00000"/>
                </a:solidFill>
              </a:rPr>
              <a:t> AI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IDE </a:t>
            </a:r>
            <a:r>
              <a:rPr lang="zh-CN" altLang="en-US" b="1" dirty="0">
                <a:solidFill>
                  <a:srgbClr val="C00000"/>
                </a:solidFill>
              </a:rPr>
              <a:t>对话来创建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2"/>
            <a:r>
              <a:rPr lang="zh-CN" altLang="en-US" dirty="0"/>
              <a:t>一般来说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会准备一个</a:t>
            </a:r>
            <a:r>
              <a:rPr lang="en-US" altLang="zh-CN" dirty="0"/>
              <a:t> Skill </a:t>
            </a:r>
            <a:r>
              <a:rPr lang="zh-CN" altLang="en-US" dirty="0"/>
              <a:t>的初版，这个时候，大家可以进入对应的</a:t>
            </a:r>
            <a:r>
              <a:rPr lang="en-US" altLang="zh-CN" dirty="0"/>
              <a:t> skill </a:t>
            </a:r>
            <a:r>
              <a:rPr lang="zh-CN" altLang="en-US" dirty="0"/>
              <a:t>目录，去</a:t>
            </a:r>
            <a:r>
              <a:rPr lang="zh-CN" altLang="en-US" b="1" dirty="0"/>
              <a:t>按照自己的需求来编辑自己的</a:t>
            </a:r>
            <a:r>
              <a:rPr lang="en-US" altLang="zh-CN" b="1" dirty="0"/>
              <a:t> skill</a:t>
            </a:r>
          </a:p>
          <a:p>
            <a:pPr lvl="2"/>
            <a:r>
              <a:rPr lang="en-US" altLang="zh-CN" b="1" dirty="0">
                <a:solidFill>
                  <a:srgbClr val="C00000"/>
                </a:solidFill>
              </a:rPr>
              <a:t> </a:t>
            </a:r>
            <a:r>
              <a:rPr lang="zh-CN" altLang="en-US" b="1" dirty="0">
                <a:solidFill>
                  <a:srgbClr val="C00000"/>
                </a:solidFill>
              </a:rPr>
              <a:t>小</a:t>
            </a:r>
            <a:r>
              <a:rPr lang="en-US" altLang="zh-CN" b="1" dirty="0">
                <a:solidFill>
                  <a:srgbClr val="C00000"/>
                </a:solidFill>
              </a:rPr>
              <a:t> tips</a:t>
            </a:r>
            <a:r>
              <a:rPr lang="zh-CN" altLang="en-US" b="1" dirty="0">
                <a:solidFill>
                  <a:srgbClr val="C00000"/>
                </a:solidFill>
              </a:rPr>
              <a:t>：</a:t>
            </a:r>
            <a:r>
              <a:rPr lang="zh-CN" altLang="en-US" dirty="0"/>
              <a:t>但凡大家周围真的对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用得好的，肯定有一系列自己的</a:t>
            </a:r>
            <a:r>
              <a:rPr lang="en-US" altLang="zh-CN" dirty="0"/>
              <a:t> skill </a:t>
            </a:r>
            <a:r>
              <a:rPr lang="zh-CN" altLang="en-US" dirty="0"/>
              <a:t>或者是私藏的</a:t>
            </a:r>
            <a:r>
              <a:rPr lang="en-US" altLang="zh-CN" dirty="0"/>
              <a:t> skill</a:t>
            </a:r>
            <a:r>
              <a:rPr lang="zh-CN" altLang="en-US" dirty="0"/>
              <a:t>，这些</a:t>
            </a:r>
            <a:r>
              <a:rPr lang="en-US" altLang="zh-CN" dirty="0"/>
              <a:t> skill </a:t>
            </a:r>
            <a:r>
              <a:rPr lang="zh-CN" altLang="en-US" dirty="0"/>
              <a:t>是拉开“会用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</a:t>
            </a:r>
            <a:r>
              <a:rPr lang="zh-CN" altLang="en-US" dirty="0"/>
              <a:t>”和“用得好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</a:t>
            </a:r>
            <a:r>
              <a:rPr lang="zh-CN" altLang="en-US" dirty="0"/>
              <a:t>”的一个很关键的门槛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8E84B-7197-B5A0-0F17-B672A793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27</a:t>
            </a:fld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6301E4-F6DC-786E-E28C-B013E70C1A79}"/>
              </a:ext>
            </a:extLst>
          </p:cNvPr>
          <p:cNvSpPr txBox="1"/>
          <p:nvPr/>
        </p:nvSpPr>
        <p:spPr>
          <a:xfrm>
            <a:off x="30725" y="6356350"/>
            <a:ext cx="4998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文档参考：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docs.trae.ai</a:t>
            </a:r>
            <a:r>
              <a:rPr kumimoji="1" lang="en" altLang="zh-CN" dirty="0"/>
              <a:t>/ide/</a:t>
            </a:r>
            <a:r>
              <a:rPr kumimoji="1" lang="en" altLang="zh-CN" dirty="0" err="1"/>
              <a:t>skills?_lang</a:t>
            </a:r>
            <a:r>
              <a:rPr kumimoji="1" lang="en" altLang="zh-CN" dirty="0"/>
              <a:t>=</a:t>
            </a:r>
            <a:r>
              <a:rPr kumimoji="1" lang="en" altLang="zh-CN" dirty="0" err="1"/>
              <a:t>zh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2614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1C3C0-8DBE-CD5E-5100-667A8C2A4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9653-3786-CDA1-5232-2860470A6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案例实践：</a:t>
            </a:r>
            <a:r>
              <a:rPr lang="en-US" altLang="zh-CN" dirty="0" err="1"/>
              <a:t>Zcode</a:t>
            </a:r>
            <a:r>
              <a:rPr lang="en-US" altLang="zh-CN" dirty="0"/>
              <a:t> </a:t>
            </a:r>
            <a:r>
              <a:rPr lang="zh-CN" altLang="en-US" dirty="0"/>
              <a:t>中使用</a:t>
            </a:r>
            <a:r>
              <a:rPr lang="en-US" altLang="zh-CN" dirty="0"/>
              <a:t> Skill</a:t>
            </a:r>
            <a:endParaRPr lang="en-CN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E3E5420-7B8F-FE71-6427-D380C41FE7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0100" y="833890"/>
            <a:ext cx="8430499" cy="542766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6907A-7A57-4743-8420-7B1347D23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28</a:t>
            </a:fld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BDE2B3-31BF-ABF3-702C-F7F8F78263ED}"/>
              </a:ext>
            </a:extLst>
          </p:cNvPr>
          <p:cNvSpPr txBox="1"/>
          <p:nvPr/>
        </p:nvSpPr>
        <p:spPr>
          <a:xfrm>
            <a:off x="9321" y="6488668"/>
            <a:ext cx="4238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文档参考：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zcode.z.ai</a:t>
            </a:r>
            <a:r>
              <a:rPr kumimoji="1" lang="en" altLang="zh-CN" dirty="0"/>
              <a:t>/</a:t>
            </a:r>
            <a:r>
              <a:rPr kumimoji="1" lang="en" altLang="zh-CN" dirty="0" err="1"/>
              <a:t>cn</a:t>
            </a:r>
            <a:r>
              <a:rPr kumimoji="1" lang="en" altLang="zh-CN" dirty="0"/>
              <a:t>/docs/skill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E682BEE-D28E-366C-1D2C-93093E7646BC}"/>
              </a:ext>
            </a:extLst>
          </p:cNvPr>
          <p:cNvSpPr/>
          <p:nvPr/>
        </p:nvSpPr>
        <p:spPr>
          <a:xfrm>
            <a:off x="7032104" y="1268760"/>
            <a:ext cx="792088" cy="4320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BA85A62E-52E0-DB36-2299-A81895585194}"/>
              </a:ext>
            </a:extLst>
          </p:cNvPr>
          <p:cNvSpPr/>
          <p:nvPr/>
        </p:nvSpPr>
        <p:spPr>
          <a:xfrm>
            <a:off x="180100" y="2132856"/>
            <a:ext cx="1739436" cy="3600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34DF30E-A60B-B5AE-B7AF-3422866F811F}"/>
              </a:ext>
            </a:extLst>
          </p:cNvPr>
          <p:cNvSpPr/>
          <p:nvPr/>
        </p:nvSpPr>
        <p:spPr>
          <a:xfrm>
            <a:off x="2132008" y="1953786"/>
            <a:ext cx="6268247" cy="40703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0326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AADD6-66B6-AEA8-2CB2-8D235905D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02535-AE51-3201-507E-54C7EBAB2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案例实践：</a:t>
            </a:r>
            <a:r>
              <a:rPr lang="en-US" altLang="zh-CN" dirty="0" err="1"/>
              <a:t>Zcode</a:t>
            </a:r>
            <a:r>
              <a:rPr lang="en-US" altLang="zh-CN" dirty="0"/>
              <a:t> </a:t>
            </a:r>
            <a:r>
              <a:rPr lang="zh-CN" altLang="en-US" dirty="0"/>
              <a:t>中使用</a:t>
            </a:r>
            <a:r>
              <a:rPr lang="en-US" altLang="zh-CN" dirty="0"/>
              <a:t> Skill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D3089-8035-0175-BE88-2ED81E49D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29</a:t>
            </a:fld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DB6AE74-29B7-3F77-29D5-E17124CDFDCE}"/>
              </a:ext>
            </a:extLst>
          </p:cNvPr>
          <p:cNvSpPr txBox="1"/>
          <p:nvPr/>
        </p:nvSpPr>
        <p:spPr>
          <a:xfrm>
            <a:off x="9321" y="6488668"/>
            <a:ext cx="4238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文档参考：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zcode.z.ai</a:t>
            </a:r>
            <a:r>
              <a:rPr kumimoji="1" lang="en" altLang="zh-CN" dirty="0"/>
              <a:t>/</a:t>
            </a:r>
            <a:r>
              <a:rPr kumimoji="1" lang="en" altLang="zh-CN" dirty="0" err="1"/>
              <a:t>cn</a:t>
            </a:r>
            <a:r>
              <a:rPr kumimoji="1" lang="en" altLang="zh-CN" dirty="0"/>
              <a:t>/docs/skill</a:t>
            </a:r>
            <a:endParaRPr kumimoji="1" lang="zh-CN" altLang="en-US" dirty="0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2F821BEA-3BF5-CAE6-51C0-974848078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4954813" cy="4968552"/>
          </a:xfrm>
        </p:spPr>
        <p:txBody>
          <a:bodyPr/>
          <a:lstStyle/>
          <a:p>
            <a:r>
              <a:rPr lang="en-US" altLang="zh-CN" dirty="0" err="1"/>
              <a:t>Zcode</a:t>
            </a:r>
            <a:r>
              <a:rPr lang="en-US" altLang="zh-CN" dirty="0"/>
              <a:t> </a:t>
            </a:r>
            <a:r>
              <a:rPr lang="zh-CN" altLang="en-US" dirty="0"/>
              <a:t>还能直接导入其他的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的</a:t>
            </a:r>
            <a:r>
              <a:rPr lang="en-US" altLang="zh-CN" dirty="0"/>
              <a:t> skill</a:t>
            </a:r>
          </a:p>
          <a:p>
            <a:pPr lvl="1"/>
            <a:r>
              <a:rPr lang="en-US" altLang="zh-CN" dirty="0"/>
              <a:t> </a:t>
            </a:r>
            <a:r>
              <a:rPr lang="zh-CN" altLang="en-US" dirty="0"/>
              <a:t>比如</a:t>
            </a:r>
            <a:r>
              <a:rPr lang="en-US" altLang="zh-CN" dirty="0"/>
              <a:t> Codex </a:t>
            </a:r>
            <a:r>
              <a:rPr lang="zh-CN" altLang="en-US" dirty="0"/>
              <a:t>和</a:t>
            </a:r>
            <a:r>
              <a:rPr lang="en-US" altLang="zh-CN" dirty="0"/>
              <a:t> Trae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C28FCE0-2A6E-5B76-B06C-D3EB4FA6A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843" y="764704"/>
            <a:ext cx="6409563" cy="623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585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9DF32-B63E-9BBF-BAB8-D1AC7B3F5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60983-B4AD-AAFE-12B5-B38B0275D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案例实践：</a:t>
            </a:r>
            <a:r>
              <a:rPr lang="en-US" altLang="zh-CN" dirty="0" err="1"/>
              <a:t>Zcode</a:t>
            </a:r>
            <a:r>
              <a:rPr lang="en-US" altLang="zh-CN" dirty="0"/>
              <a:t> </a:t>
            </a:r>
            <a:r>
              <a:rPr lang="zh-CN" altLang="en-US" dirty="0"/>
              <a:t>中使用</a:t>
            </a:r>
            <a:r>
              <a:rPr lang="en-US" altLang="zh-CN" dirty="0"/>
              <a:t> Skill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16CE2-9B92-758B-4F50-DE208C621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30</a:t>
            </a:fld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A8E673F-EAF1-B0C6-FA14-E06D19BC3C43}"/>
              </a:ext>
            </a:extLst>
          </p:cNvPr>
          <p:cNvSpPr txBox="1"/>
          <p:nvPr/>
        </p:nvSpPr>
        <p:spPr>
          <a:xfrm>
            <a:off x="9321" y="6488668"/>
            <a:ext cx="4238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文档参考：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zcode.z.ai</a:t>
            </a:r>
            <a:r>
              <a:rPr kumimoji="1" lang="en" altLang="zh-CN" dirty="0"/>
              <a:t>/</a:t>
            </a:r>
            <a:r>
              <a:rPr kumimoji="1" lang="en" altLang="zh-CN" dirty="0" err="1"/>
              <a:t>cn</a:t>
            </a:r>
            <a:r>
              <a:rPr kumimoji="1" lang="en" altLang="zh-CN" dirty="0"/>
              <a:t>/docs/skill</a:t>
            </a:r>
            <a:endParaRPr kumimoji="1" lang="zh-CN" altLang="en-US" dirty="0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6AE4910F-C93E-F050-21B1-3AF52F6B8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4954813" cy="4968552"/>
          </a:xfrm>
        </p:spPr>
        <p:txBody>
          <a:bodyPr/>
          <a:lstStyle/>
          <a:p>
            <a:r>
              <a:rPr lang="zh-CN" altLang="en-US" dirty="0"/>
              <a:t>用法和</a:t>
            </a:r>
            <a:r>
              <a:rPr lang="en-US" altLang="zh-CN" dirty="0"/>
              <a:t> Trae </a:t>
            </a:r>
            <a:r>
              <a:rPr lang="zh-CN" altLang="en-US" dirty="0"/>
              <a:t>中非常像，用</a:t>
            </a:r>
            <a:r>
              <a:rPr lang="en-US" altLang="zh-CN" dirty="0"/>
              <a:t>/</a:t>
            </a:r>
            <a:r>
              <a:rPr lang="zh-CN" altLang="en-US" dirty="0"/>
              <a:t> 来触发</a:t>
            </a:r>
            <a:r>
              <a:rPr lang="en-US" altLang="zh-CN" dirty="0"/>
              <a:t> skill </a:t>
            </a:r>
            <a:r>
              <a:rPr lang="zh-CN" altLang="en-US" dirty="0"/>
              <a:t>的选择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D81803-008A-B36D-54E2-F1AC72AE5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744" y="2063045"/>
            <a:ext cx="7772400" cy="4145946"/>
          </a:xfrm>
          <a:prstGeom prst="rect">
            <a:avLst/>
          </a:prstGeom>
        </p:spPr>
      </p:pic>
      <p:sp>
        <p:nvSpPr>
          <p:cNvPr id="5" name="圆角矩形 4">
            <a:extLst>
              <a:ext uri="{FF2B5EF4-FFF2-40B4-BE49-F238E27FC236}">
                <a16:creationId xmlns:a16="http://schemas.microsoft.com/office/drawing/2014/main" id="{B3BAEAA6-5172-126B-8D63-6B7B8038E8FC}"/>
              </a:ext>
            </a:extLst>
          </p:cNvPr>
          <p:cNvSpPr/>
          <p:nvPr/>
        </p:nvSpPr>
        <p:spPr>
          <a:xfrm>
            <a:off x="3863752" y="2852936"/>
            <a:ext cx="4392488" cy="28803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86060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8EB0-3D69-838C-656E-1E31D2D8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5890A-08D3-C426-27E6-1D29165E1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应该去哪里找到好的</a:t>
            </a:r>
            <a:r>
              <a:rPr lang="en-US" altLang="zh-CN" dirty="0"/>
              <a:t> Skill</a:t>
            </a:r>
            <a:r>
              <a:rPr lang="zh-CN" altLang="en-US" dirty="0"/>
              <a:t>？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B4397-6F18-A5B4-0E61-D7C7529A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31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412F6629-9337-BA11-F317-87AA4CAAE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可以关注一些比较好的工程师、团队等开源的</a:t>
            </a:r>
            <a:r>
              <a:rPr lang="en-US" altLang="zh-CN" dirty="0"/>
              <a:t> Skill</a:t>
            </a:r>
            <a:r>
              <a:rPr lang="zh-CN" altLang="en-US" dirty="0"/>
              <a:t>（一般在</a:t>
            </a:r>
            <a:r>
              <a:rPr lang="en-US" altLang="zh-CN" dirty="0"/>
              <a:t> </a:t>
            </a:r>
            <a:r>
              <a:rPr lang="en-US" altLang="zh-CN" dirty="0" err="1"/>
              <a:t>github</a:t>
            </a:r>
            <a:r>
              <a:rPr lang="en-US" altLang="zh-CN" dirty="0"/>
              <a:t> </a:t>
            </a:r>
            <a:r>
              <a:rPr lang="zh-CN" altLang="en-US" dirty="0"/>
              <a:t>上）</a:t>
            </a:r>
            <a:endParaRPr lang="en-US" altLang="zh-CN" dirty="0"/>
          </a:p>
          <a:p>
            <a:pPr lvl="1"/>
            <a:r>
              <a:rPr lang="zh-CN" altLang="en-US" dirty="0"/>
              <a:t>比如</a:t>
            </a:r>
            <a:r>
              <a:rPr lang="en-US" altLang="zh-CN" dirty="0"/>
              <a:t> OpenAI</a:t>
            </a:r>
            <a:r>
              <a:rPr lang="zh-CN" altLang="en-US" dirty="0"/>
              <a:t>、</a:t>
            </a:r>
            <a:r>
              <a:rPr lang="en-US" altLang="zh-CN" dirty="0"/>
              <a:t>Claude</a:t>
            </a:r>
            <a:r>
              <a:rPr lang="zh-CN" altLang="en-US" dirty="0"/>
              <a:t> </a:t>
            </a:r>
            <a:r>
              <a:rPr lang="en-US" altLang="zh-CN" dirty="0"/>
              <a:t>Code</a:t>
            </a:r>
            <a:r>
              <a:rPr lang="zh-CN" altLang="en-US" dirty="0"/>
              <a:t>、</a:t>
            </a:r>
            <a:r>
              <a:rPr lang="en-US" altLang="zh-CN" dirty="0"/>
              <a:t>NV </a:t>
            </a:r>
            <a:r>
              <a:rPr lang="zh-CN" altLang="en-US" dirty="0"/>
              <a:t>等等</a:t>
            </a:r>
            <a:endParaRPr lang="en-US" altLang="zh-CN" dirty="0"/>
          </a:p>
          <a:p>
            <a:r>
              <a:rPr lang="zh-CN" altLang="en-US" dirty="0"/>
              <a:t>小红书等社交媒体（</a:t>
            </a:r>
            <a:r>
              <a:rPr lang="en-US" altLang="zh-CN" dirty="0"/>
              <a:t>Red</a:t>
            </a:r>
            <a:r>
              <a:rPr lang="zh-CN" altLang="en-US" dirty="0"/>
              <a:t> </a:t>
            </a:r>
            <a:r>
              <a:rPr lang="en-US" altLang="zh-CN" dirty="0"/>
              <a:t>Skill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一些</a:t>
            </a:r>
            <a:r>
              <a:rPr lang="en-US" altLang="zh-CN" dirty="0"/>
              <a:t> Skill </a:t>
            </a:r>
            <a:r>
              <a:rPr lang="zh-CN" altLang="en-US" dirty="0"/>
              <a:t>平台</a:t>
            </a:r>
            <a:endParaRPr lang="en-US" altLang="zh-CN" dirty="0"/>
          </a:p>
          <a:p>
            <a:pPr lvl="1"/>
            <a:r>
              <a:rPr lang="en-US" altLang="zh-CN" dirty="0"/>
              <a:t> Skill</a:t>
            </a:r>
            <a:r>
              <a:rPr lang="zh-CN" altLang="en-US" dirty="0"/>
              <a:t> </a:t>
            </a:r>
            <a:r>
              <a:rPr lang="en-US" altLang="zh-CN" dirty="0"/>
              <a:t>hub</a:t>
            </a:r>
            <a:r>
              <a:rPr lang="zh-CN" altLang="en-US" dirty="0"/>
              <a:t>、</a:t>
            </a:r>
            <a:r>
              <a:rPr lang="en-US" altLang="zh-CN" dirty="0" err="1"/>
              <a:t>skills.sh</a:t>
            </a:r>
            <a:r>
              <a:rPr lang="en-US" altLang="zh-CN" dirty="0"/>
              <a:t> </a:t>
            </a:r>
            <a:r>
              <a:rPr lang="zh-CN" altLang="en-US" dirty="0"/>
              <a:t>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其实到后面，最适合自己的</a:t>
            </a:r>
            <a:r>
              <a:rPr lang="en-US" altLang="zh-CN" dirty="0"/>
              <a:t> Skill </a:t>
            </a:r>
            <a:r>
              <a:rPr lang="zh-CN" altLang="en-US" dirty="0"/>
              <a:t>一定是自己改过或者定制化过的</a:t>
            </a:r>
            <a:endParaRPr lang="en-US" altLang="zh-CN" dirty="0"/>
          </a:p>
          <a:p>
            <a:pPr lvl="1"/>
            <a:r>
              <a:rPr lang="zh-CN" altLang="en-US" dirty="0"/>
              <a:t>作为新时代的工程师，当你有空的时候，可以试着在现有的工作流基础上，去定制化一下自己的</a:t>
            </a:r>
            <a:r>
              <a:rPr lang="en-US" altLang="zh-CN" dirty="0"/>
              <a:t> skill</a:t>
            </a:r>
            <a:r>
              <a:rPr lang="zh-CN" altLang="en-US" dirty="0"/>
              <a:t>（这就和古法时代程序员们特别爱挑定制键盘一样）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A2D16B5-1F61-C959-DC5E-A96D1FA32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879" y="2639125"/>
            <a:ext cx="6161321" cy="222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601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9E842-53EE-9295-9F13-88292CB11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25D95-B04E-9CFE-EC9B-A8F764D7E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智能体工具（</a:t>
            </a:r>
            <a:r>
              <a:rPr kumimoji="1" lang="en-US" altLang="zh-CN" dirty="0"/>
              <a:t>Tool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3E9A7C-5B0A-EEBE-C33A-FEDC53337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D57ABB-316C-B81C-144D-79A9AEC62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2288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0A944-05FC-D9A6-E274-B64FA9456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当前状态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33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如果之前课程对应的大作业步骤大家都顺利完成</a:t>
            </a:r>
            <a:endParaRPr lang="en-US" altLang="zh-CN" dirty="0"/>
          </a:p>
          <a:p>
            <a:r>
              <a:rPr lang="zh-CN" altLang="en-US" dirty="0"/>
              <a:t>那么，我们已经有了一个本地的</a:t>
            </a:r>
            <a:r>
              <a:rPr lang="en-US" altLang="zh-CN" dirty="0"/>
              <a:t> Agent</a:t>
            </a:r>
            <a:r>
              <a:rPr lang="zh-CN" altLang="en-US" dirty="0"/>
              <a:t>，能够通过</a:t>
            </a:r>
            <a:r>
              <a:rPr lang="en-US" altLang="zh-CN" dirty="0"/>
              <a:t> Agent </a:t>
            </a:r>
            <a:r>
              <a:rPr lang="zh-CN" altLang="en-US" dirty="0"/>
              <a:t>和</a:t>
            </a:r>
            <a:r>
              <a:rPr lang="en-US" altLang="zh-CN" dirty="0"/>
              <a:t> LLM </a:t>
            </a:r>
            <a:r>
              <a:rPr lang="zh-CN" altLang="en-US" dirty="0"/>
              <a:t>对话</a:t>
            </a:r>
            <a:endParaRPr lang="en-US" altLang="zh-CN" dirty="0"/>
          </a:p>
          <a:p>
            <a:r>
              <a:rPr lang="zh-CN" altLang="en-US" dirty="0"/>
              <a:t>并且对话是连续的，</a:t>
            </a:r>
            <a:r>
              <a:rPr lang="en-US" altLang="zh-CN" dirty="0"/>
              <a:t>Agent </a:t>
            </a:r>
            <a:r>
              <a:rPr lang="zh-CN" altLang="en-US" dirty="0"/>
              <a:t>有用户设定的</a:t>
            </a:r>
            <a:r>
              <a:rPr lang="en-US" altLang="zh-CN" dirty="0"/>
              <a:t> SOUL</a:t>
            </a:r>
            <a:r>
              <a:rPr lang="zh-CN" altLang="en-US" dirty="0"/>
              <a:t>，还能保留记忆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4DF2DD-10BB-8877-5216-26DC68D3B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315" y="4234167"/>
            <a:ext cx="3878089" cy="200314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A27CECA-9610-EBFD-3EC2-CF35D249FF29}"/>
              </a:ext>
            </a:extLst>
          </p:cNvPr>
          <p:cNvSpPr txBox="1"/>
          <p:nvPr/>
        </p:nvSpPr>
        <p:spPr>
          <a:xfrm>
            <a:off x="2251053" y="3753036"/>
            <a:ext cx="6366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这是一个示例的我们设计的</a:t>
            </a:r>
            <a:r>
              <a:rPr kumimoji="1" lang="en-US" altLang="zh-CN" dirty="0"/>
              <a:t> Agent</a:t>
            </a:r>
            <a:r>
              <a:rPr kumimoji="1" lang="zh-CN" altLang="en-US" dirty="0"/>
              <a:t>每轮会和</a:t>
            </a:r>
            <a:r>
              <a:rPr kumimoji="1" lang="en-US" altLang="zh-CN" dirty="0"/>
              <a:t> LLM </a:t>
            </a:r>
            <a:r>
              <a:rPr kumimoji="1" lang="zh-CN" altLang="en-US" dirty="0"/>
              <a:t>交互的上下文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41228-F96B-CDD0-9E0D-B6B32A500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0191E-7406-FC6F-E2D5-73ADF2F04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怎么样让我们的</a:t>
            </a:r>
            <a:r>
              <a:rPr lang="en-US" altLang="zh-CN" dirty="0"/>
              <a:t> Agent </a:t>
            </a:r>
            <a:r>
              <a:rPr lang="zh-CN" altLang="en-US" dirty="0"/>
              <a:t>更有用一点？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EF43E-6CF0-D9D5-B02D-B3A4978A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34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0D01FE8F-26CC-25D6-6975-7B191BD2F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用户的请求</a:t>
            </a:r>
            <a:r>
              <a:rPr lang="en-US" altLang="zh-CN" dirty="0"/>
              <a:t>#1</a:t>
            </a:r>
            <a:r>
              <a:rPr lang="zh-CN" altLang="en-US" dirty="0"/>
              <a:t>：当前项目目录下有哪些文件？ </a:t>
            </a:r>
            <a:endParaRPr lang="en-US" altLang="zh-CN" dirty="0"/>
          </a:p>
          <a:p>
            <a:r>
              <a:rPr lang="zh-CN" altLang="en-US" dirty="0"/>
              <a:t>用户的请求</a:t>
            </a:r>
            <a:r>
              <a:rPr lang="en-US" altLang="zh-CN" dirty="0"/>
              <a:t>#2</a:t>
            </a:r>
            <a:r>
              <a:rPr lang="zh-CN" altLang="en-US" dirty="0"/>
              <a:t>：帮我分析下当前这个项目是个什么项目。</a:t>
            </a:r>
            <a:endParaRPr lang="en-US" altLang="zh-CN" dirty="0"/>
          </a:p>
          <a:p>
            <a:r>
              <a:rPr lang="en-US" altLang="zh-CN" dirty="0"/>
              <a:t>-&gt;</a:t>
            </a:r>
            <a:r>
              <a:rPr lang="zh-CN" altLang="en-US" dirty="0"/>
              <a:t> 我们当前的</a:t>
            </a:r>
            <a:r>
              <a:rPr lang="en-US" altLang="zh-CN" dirty="0"/>
              <a:t>Agent</a:t>
            </a:r>
            <a:r>
              <a:rPr lang="zh-CN" altLang="en-US" dirty="0"/>
              <a:t>还完成不了这两个任务</a:t>
            </a:r>
            <a:endParaRPr lang="en-US" altLang="zh-CN" dirty="0"/>
          </a:p>
          <a:p>
            <a:r>
              <a:rPr lang="zh-CN" altLang="en-US" dirty="0"/>
              <a:t>为什么？</a:t>
            </a:r>
            <a:endParaRPr lang="en-US" altLang="zh-CN" dirty="0"/>
          </a:p>
          <a:p>
            <a:pPr lvl="1"/>
            <a:r>
              <a:rPr lang="zh-CN" altLang="en-US" dirty="0"/>
              <a:t>模型是个纯粹的脑子，模型是没办法飞跃到我们的电脑上，看有什么文件的</a:t>
            </a:r>
            <a:endParaRPr lang="en-US" altLang="zh-CN" dirty="0"/>
          </a:p>
          <a:p>
            <a:pPr lvl="1"/>
            <a:r>
              <a:rPr lang="zh-CN" altLang="en-US" dirty="0"/>
              <a:t>模型的回答和反馈，都是基于我们给模型提供的信息来做出的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FFF52A-0689-3ED4-7995-80BE8F01F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4653073"/>
            <a:ext cx="3878089" cy="200314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B8FA9C1-4667-4843-F472-2DDFFE61538E}"/>
              </a:ext>
            </a:extLst>
          </p:cNvPr>
          <p:cNvSpPr txBox="1"/>
          <p:nvPr/>
        </p:nvSpPr>
        <p:spPr>
          <a:xfrm>
            <a:off x="31085" y="4328967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这样的信息能够支持模型判断当前本地的文件吗？</a:t>
            </a:r>
          </a:p>
        </p:txBody>
      </p:sp>
      <p:pic>
        <p:nvPicPr>
          <p:cNvPr id="6146" name="Picture 2" descr="缸中之脑的Bug - 知乎">
            <a:extLst>
              <a:ext uri="{FF2B5EF4-FFF2-40B4-BE49-F238E27FC236}">
                <a16:creationId xmlns:a16="http://schemas.microsoft.com/office/drawing/2014/main" id="{D3BEDC9B-6B2C-5B87-02DE-CFCD7CE5BE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6" b="12201"/>
          <a:stretch/>
        </p:blipFill>
        <p:spPr bwMode="auto">
          <a:xfrm>
            <a:off x="6127344" y="4254955"/>
            <a:ext cx="2260014" cy="240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934063B-A1B7-B628-898B-11E787B53338}"/>
              </a:ext>
            </a:extLst>
          </p:cNvPr>
          <p:cNvSpPr txBox="1"/>
          <p:nvPr/>
        </p:nvSpPr>
        <p:spPr>
          <a:xfrm>
            <a:off x="8539903" y="4364503"/>
            <a:ext cx="2850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模型就仿佛一个缸中之脑，难以对外部环境做出探索</a:t>
            </a:r>
          </a:p>
        </p:txBody>
      </p:sp>
    </p:spTree>
    <p:extLst>
      <p:ext uri="{BB962C8B-B14F-4D97-AF65-F5344CB8AC3E}">
        <p14:creationId xmlns:p14="http://schemas.microsoft.com/office/powerpoint/2010/main" val="217737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3A6B2-EB1E-0800-F8D0-86B49A71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0310A-BAB7-96A5-6CDC-2AD88C3AC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智能体工具（</a:t>
            </a:r>
            <a:r>
              <a:rPr lang="en-US" altLang="zh-CN" dirty="0"/>
              <a:t>Tool</a:t>
            </a:r>
            <a:r>
              <a:rPr lang="zh-CN" altLang="en-US" dirty="0"/>
              <a:t>）：给模型加上感知外界的躯干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15CC5-9B33-1362-E268-4E5BFCF9A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35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4CBDEC8D-8DD6-282B-056A-506567CB5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什么是工具（</a:t>
            </a:r>
            <a:r>
              <a:rPr lang="en-US" altLang="zh-CN" dirty="0"/>
              <a:t>Tool</a:t>
            </a:r>
            <a:r>
              <a:rPr lang="zh-CN" altLang="en-US" dirty="0"/>
              <a:t>）？</a:t>
            </a:r>
            <a:endParaRPr lang="en-US" altLang="zh-CN" dirty="0"/>
          </a:p>
          <a:p>
            <a:pPr lvl="1"/>
            <a:r>
              <a:rPr lang="en" altLang="zh-CN" dirty="0"/>
              <a:t>Tool </a:t>
            </a:r>
            <a:r>
              <a:rPr lang="zh-CN" altLang="en-US" dirty="0"/>
              <a:t>是</a:t>
            </a:r>
            <a:r>
              <a:rPr lang="zh-CN" altLang="en" dirty="0">
                <a:solidFill>
                  <a:srgbClr val="C00000"/>
                </a:solidFill>
              </a:rPr>
              <a:t>智能体</a:t>
            </a:r>
            <a:r>
              <a:rPr lang="zh-CN" altLang="en-US" dirty="0">
                <a:solidFill>
                  <a:srgbClr val="C00000"/>
                </a:solidFill>
              </a:rPr>
              <a:t>系统</a:t>
            </a:r>
            <a:r>
              <a:rPr lang="zh-CN" altLang="en-US" dirty="0"/>
              <a:t>提供给</a:t>
            </a:r>
            <a:r>
              <a:rPr lang="zh-CN" altLang="en-US" dirty="0">
                <a:solidFill>
                  <a:srgbClr val="C00000"/>
                </a:solidFill>
              </a:rPr>
              <a:t>模型</a:t>
            </a:r>
            <a:r>
              <a:rPr lang="zh-CN" altLang="en-US" dirty="0"/>
              <a:t>的一组可调用能力</a:t>
            </a:r>
            <a:endParaRPr lang="en-US" altLang="zh-CN" dirty="0"/>
          </a:p>
          <a:p>
            <a:pPr lvl="1"/>
            <a:r>
              <a:rPr lang="zh-CN" altLang="en-US" dirty="0"/>
              <a:t>比如，如果</a:t>
            </a:r>
            <a:r>
              <a:rPr lang="en-US" altLang="zh-CN" dirty="0"/>
              <a:t>Agent </a:t>
            </a:r>
            <a:r>
              <a:rPr lang="zh-CN" altLang="en-US" dirty="0"/>
              <a:t>中有一个工具：</a:t>
            </a:r>
            <a:r>
              <a:rPr lang="en-US" altLang="zh-CN" dirty="0" err="1"/>
              <a:t>read_dir</a:t>
            </a:r>
            <a:r>
              <a:rPr lang="zh-CN" altLang="en-US" dirty="0"/>
              <a:t>（读取特定目录下的所有文件）</a:t>
            </a:r>
            <a:endParaRPr lang="en-US" altLang="zh-CN" dirty="0"/>
          </a:p>
          <a:p>
            <a:pPr lvl="1"/>
            <a:r>
              <a:rPr lang="zh-CN" altLang="en-US" dirty="0"/>
              <a:t>那么，当</a:t>
            </a:r>
            <a:r>
              <a:rPr lang="en-US" altLang="zh-CN" dirty="0"/>
              <a:t> LLM </a:t>
            </a:r>
            <a:r>
              <a:rPr lang="zh-CN" altLang="en-US" dirty="0"/>
              <a:t>需要读取当前目录下的文件时，会给</a:t>
            </a:r>
            <a:r>
              <a:rPr lang="en-US" altLang="zh-CN" dirty="0"/>
              <a:t> Agent </a:t>
            </a:r>
            <a:r>
              <a:rPr lang="zh-CN" altLang="en-US" dirty="0"/>
              <a:t>发送一个工具调用请求：</a:t>
            </a:r>
            <a:r>
              <a:rPr lang="en-US" altLang="zh-CN" dirty="0" err="1"/>
              <a:t>read_dir</a:t>
            </a:r>
            <a:r>
              <a:rPr lang="en-US" altLang="zh-CN" dirty="0"/>
              <a:t> ./</a:t>
            </a:r>
          </a:p>
          <a:p>
            <a:pPr lvl="1"/>
            <a:r>
              <a:rPr lang="zh-CN" altLang="en-US" dirty="0"/>
              <a:t>这个请求会之前的</a:t>
            </a:r>
            <a:r>
              <a:rPr lang="en-US" altLang="zh-CN" dirty="0"/>
              <a:t> response </a:t>
            </a:r>
            <a:r>
              <a:rPr lang="zh-CN" altLang="en-US" dirty="0"/>
              <a:t>直接返回给用户不同，会被</a:t>
            </a:r>
            <a:r>
              <a:rPr lang="en-US" altLang="zh-CN" dirty="0"/>
              <a:t> Agent </a:t>
            </a:r>
            <a:r>
              <a:rPr lang="zh-CN" altLang="en-US" dirty="0"/>
              <a:t>拦截，</a:t>
            </a:r>
            <a:r>
              <a:rPr lang="en-US" altLang="zh-CN" dirty="0"/>
              <a:t>Agent </a:t>
            </a:r>
            <a:r>
              <a:rPr lang="zh-CN" altLang="en-US" dirty="0"/>
              <a:t>需要直接执行这个工具，并且将工具获取到的结果返回给</a:t>
            </a:r>
            <a:r>
              <a:rPr lang="en-US" altLang="zh-CN" dirty="0"/>
              <a:t> LLM</a:t>
            </a:r>
          </a:p>
          <a:p>
            <a:pPr lvl="1"/>
            <a:r>
              <a:rPr lang="en-US" altLang="zh-CN" dirty="0"/>
              <a:t>LLM </a:t>
            </a:r>
            <a:r>
              <a:rPr lang="zh-CN" altLang="en-US" dirty="0"/>
              <a:t>从而能够得知，当前目录下有哪些文件，从而继续给出判断和回复（比如直接给出结果，或者进一步让</a:t>
            </a:r>
            <a:r>
              <a:rPr lang="en-US" altLang="zh-CN" dirty="0"/>
              <a:t> Agent </a:t>
            </a:r>
            <a:r>
              <a:rPr lang="zh-CN" altLang="en-US" dirty="0"/>
              <a:t>执行其他工具）</a:t>
            </a:r>
            <a:endParaRPr lang="en-US" altLang="zh-CN" dirty="0"/>
          </a:p>
          <a:p>
            <a:r>
              <a:rPr lang="zh-CN" altLang="en-US" dirty="0"/>
              <a:t>类比一下，</a:t>
            </a:r>
            <a:r>
              <a:rPr lang="en-US" altLang="zh-CN" dirty="0"/>
              <a:t>LLM </a:t>
            </a:r>
            <a:r>
              <a:rPr lang="zh-CN" altLang="en-US" dirty="0"/>
              <a:t>让</a:t>
            </a:r>
            <a:r>
              <a:rPr lang="en-US" altLang="zh-CN" dirty="0"/>
              <a:t> Agent </a:t>
            </a:r>
            <a:r>
              <a:rPr lang="zh-CN" altLang="en-US" dirty="0"/>
              <a:t>去执行某个工具，就会我们的大脑让我们睁开眼睛，闭上眼睛，抬起手等是类似的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05696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54B03-DBAA-884E-2347-AA6B1CE97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AFF6-15A0-EA6C-1BDE-1BD5D656E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智能体工具（</a:t>
            </a:r>
            <a:r>
              <a:rPr lang="en-US" altLang="zh-CN" dirty="0"/>
              <a:t>Tool</a:t>
            </a:r>
            <a:r>
              <a:rPr lang="zh-CN" altLang="en-US" dirty="0"/>
              <a:t>）：给模型加上感知外界的躯干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771EA-36E2-CCED-9BD8-1A4A97B6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36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04B21AFA-5733-64B7-D8A9-455AB9A76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当前的智能体工具调用，本质上其实形成了一个</a:t>
            </a:r>
            <a:r>
              <a:rPr lang="en-US" altLang="zh-CN" dirty="0"/>
              <a:t> </a:t>
            </a:r>
            <a:r>
              <a:rPr lang="en-US" altLang="zh-CN" dirty="0" err="1"/>
              <a:t>ReAct</a:t>
            </a:r>
            <a:r>
              <a:rPr lang="en-US" altLang="zh-CN" dirty="0"/>
              <a:t> </a:t>
            </a:r>
            <a:r>
              <a:rPr lang="zh-CN" altLang="en-US" dirty="0"/>
              <a:t>的回路</a:t>
            </a:r>
            <a:endParaRPr lang="en-US" altLang="zh-CN" dirty="0"/>
          </a:p>
          <a:p>
            <a:r>
              <a:rPr lang="en-US" altLang="zh-CN" dirty="0" err="1"/>
              <a:t>ReAct</a:t>
            </a:r>
            <a:r>
              <a:rPr lang="zh-CN" altLang="en-US" dirty="0"/>
              <a:t>：推理（</a:t>
            </a:r>
            <a:r>
              <a:rPr lang="en-US" altLang="zh-CN" dirty="0"/>
              <a:t>reason</a:t>
            </a:r>
            <a:r>
              <a:rPr lang="zh-CN" altLang="en-US" dirty="0"/>
              <a:t>）</a:t>
            </a:r>
            <a:r>
              <a:rPr lang="en-US" altLang="zh-CN" dirty="0"/>
              <a:t>+</a:t>
            </a:r>
            <a:r>
              <a:rPr lang="zh-CN" altLang="en-US" dirty="0"/>
              <a:t>行动（</a:t>
            </a:r>
            <a:r>
              <a:rPr lang="en-US" altLang="zh-CN" dirty="0"/>
              <a:t>Act</a:t>
            </a:r>
            <a:r>
              <a:rPr lang="zh-CN" altLang="en-US" dirty="0"/>
              <a:t>），模型通过工具来采取行动，并且获取行动的结果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56EC9C-328E-6739-6215-0732C657C8E0}"/>
              </a:ext>
            </a:extLst>
          </p:cNvPr>
          <p:cNvSpPr txBox="1"/>
          <p:nvPr/>
        </p:nvSpPr>
        <p:spPr>
          <a:xfrm>
            <a:off x="629149" y="6006386"/>
            <a:ext cx="8807219" cy="8341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519"/>
              </a:lnSpc>
              <a:spcAft>
                <a:spcPts val="1080"/>
              </a:spcAft>
            </a:pPr>
            <a:r>
              <a:rPr lang="en" altLang="zh-CN" sz="1440" dirty="0">
                <a:solidFill>
                  <a:srgbClr val="000000"/>
                </a:solidFill>
                <a:latin typeface="Lucida Grande" panose="020B0600040502020204" pitchFamily="34" charset="0"/>
              </a:rPr>
              <a:t>*</a:t>
            </a:r>
            <a:r>
              <a:rPr lang="en" altLang="zh-CN" sz="1440" dirty="0" err="1">
                <a:solidFill>
                  <a:srgbClr val="000000"/>
                </a:solidFill>
                <a:latin typeface="Lucida Grande" panose="020B0600040502020204" pitchFamily="34" charset="0"/>
              </a:rPr>
              <a:t>ReAct</a:t>
            </a:r>
            <a:r>
              <a:rPr lang="en" altLang="zh-CN" sz="1440" dirty="0">
                <a:solidFill>
                  <a:srgbClr val="000000"/>
                </a:solidFill>
                <a:latin typeface="Lucida Grande" panose="020B0600040502020204" pitchFamily="34" charset="0"/>
              </a:rPr>
              <a:t>: Synergizing Reasoning and Acting in Language Models, ICLR 2022</a:t>
            </a:r>
          </a:p>
          <a:p>
            <a:pPr>
              <a:lnSpc>
                <a:spcPts val="2519"/>
              </a:lnSpc>
              <a:spcAft>
                <a:spcPts val="1080"/>
              </a:spcAft>
            </a:pPr>
            <a:r>
              <a:rPr lang="en" altLang="zh-CN" sz="1440" dirty="0">
                <a:solidFill>
                  <a:srgbClr val="000000"/>
                </a:solidFill>
                <a:latin typeface="Lucida Grande" panose="020B0600040502020204" pitchFamily="34" charset="0"/>
              </a:rPr>
              <a:t>* https://</a:t>
            </a:r>
            <a:r>
              <a:rPr lang="en" altLang="zh-CN" sz="1440" dirty="0" err="1">
                <a:solidFill>
                  <a:srgbClr val="000000"/>
                </a:solidFill>
                <a:latin typeface="Lucida Grande" panose="020B0600040502020204" pitchFamily="34" charset="0"/>
              </a:rPr>
              <a:t>research.google</a:t>
            </a:r>
            <a:r>
              <a:rPr lang="en" altLang="zh-CN" sz="1440" dirty="0">
                <a:solidFill>
                  <a:srgbClr val="000000"/>
                </a:solidFill>
                <a:latin typeface="Lucida Grande" panose="020B0600040502020204" pitchFamily="34" charset="0"/>
              </a:rPr>
              <a:t>/blog/react-synergizing-reasoning-and-acting-in-language-models/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0CAF12-B117-AFEE-A8C8-C0A9C0AB4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33" y="2961229"/>
            <a:ext cx="2246650" cy="21681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F2B6692-5E6F-59A8-C703-8857AACAF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8242" y="2847096"/>
            <a:ext cx="2246650" cy="239642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CE226F6-A41A-7876-BCCE-8CA92DCB77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984" y="2849855"/>
            <a:ext cx="4068565" cy="2390910"/>
          </a:xfrm>
          <a:prstGeom prst="rect">
            <a:avLst/>
          </a:prstGeom>
        </p:spPr>
      </p:pic>
      <p:sp>
        <p:nvSpPr>
          <p:cNvPr id="8" name="加号 7">
            <a:extLst>
              <a:ext uri="{FF2B5EF4-FFF2-40B4-BE49-F238E27FC236}">
                <a16:creationId xmlns:a16="http://schemas.microsoft.com/office/drawing/2014/main" id="{27485B1B-115A-6C85-B80E-34E9BFFF1F87}"/>
              </a:ext>
            </a:extLst>
          </p:cNvPr>
          <p:cNvSpPr/>
          <p:nvPr/>
        </p:nvSpPr>
        <p:spPr>
          <a:xfrm>
            <a:off x="3195324" y="3395425"/>
            <a:ext cx="1049328" cy="86409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sp>
        <p:nvSpPr>
          <p:cNvPr id="9" name="等于 8">
            <a:extLst>
              <a:ext uri="{FF2B5EF4-FFF2-40B4-BE49-F238E27FC236}">
                <a16:creationId xmlns:a16="http://schemas.microsoft.com/office/drawing/2014/main" id="{9B6FC345-1105-DAEE-83A0-24608987AF17}"/>
              </a:ext>
            </a:extLst>
          </p:cNvPr>
          <p:cNvSpPr/>
          <p:nvPr/>
        </p:nvSpPr>
        <p:spPr>
          <a:xfrm>
            <a:off x="6404893" y="3568244"/>
            <a:ext cx="604091" cy="518458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>
              <a:solidFill>
                <a:schemeClr val="tx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D3EF949-4CE0-27D8-5F8D-12DD66BFBD59}"/>
              </a:ext>
            </a:extLst>
          </p:cNvPr>
          <p:cNvSpPr txBox="1"/>
          <p:nvPr/>
        </p:nvSpPr>
        <p:spPr>
          <a:xfrm>
            <a:off x="1353649" y="5264158"/>
            <a:ext cx="184858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160" dirty="0"/>
              <a:t>无法通过交互</a:t>
            </a:r>
            <a:br>
              <a:rPr kumimoji="1" lang="en-US" altLang="zh-CN" sz="2160" dirty="0"/>
            </a:br>
            <a:r>
              <a:rPr kumimoji="1" lang="zh-CN" altLang="en-US" sz="2160" dirty="0"/>
              <a:t>获得反馈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8A7DF7-E7E7-4FAD-B5A9-64E9F2471671}"/>
              </a:ext>
            </a:extLst>
          </p:cNvPr>
          <p:cNvSpPr txBox="1"/>
          <p:nvPr/>
        </p:nvSpPr>
        <p:spPr>
          <a:xfrm>
            <a:off x="4548757" y="5247050"/>
            <a:ext cx="184858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160" dirty="0"/>
              <a:t>无法动态推理</a:t>
            </a:r>
            <a:br>
              <a:rPr kumimoji="1" lang="en-US" altLang="zh-CN" sz="2160" dirty="0"/>
            </a:br>
            <a:r>
              <a:rPr kumimoji="1" lang="zh-CN" altLang="en-US" sz="2160" dirty="0"/>
              <a:t>调整行动规划</a:t>
            </a:r>
          </a:p>
        </p:txBody>
      </p:sp>
    </p:spTree>
    <p:extLst>
      <p:ext uri="{BB962C8B-B14F-4D97-AF65-F5344CB8AC3E}">
        <p14:creationId xmlns:p14="http://schemas.microsoft.com/office/powerpoint/2010/main" val="20063990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04DBE-22DA-1BDD-76F3-314E60406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5238B-4FB5-0DF0-09D4-FFD3BDCA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智能体工具（</a:t>
            </a:r>
            <a:r>
              <a:rPr lang="en-US" altLang="zh-CN" dirty="0"/>
              <a:t>Tool</a:t>
            </a:r>
            <a:r>
              <a:rPr lang="zh-CN" altLang="en-US" dirty="0"/>
              <a:t>）：给模型加上感知外界的躯干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0C679-0BC4-582F-7E40-93FEA298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37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4E020E4D-9559-0A14-F63F-EC8BD0AA3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当前的智能体工具调用，本质上其实形成了一个</a:t>
            </a:r>
            <a:r>
              <a:rPr lang="en-US" altLang="zh-CN" dirty="0"/>
              <a:t> </a:t>
            </a:r>
            <a:r>
              <a:rPr lang="en-US" altLang="zh-CN" dirty="0" err="1"/>
              <a:t>ReAct</a:t>
            </a:r>
            <a:r>
              <a:rPr lang="en-US" altLang="zh-CN" dirty="0"/>
              <a:t> </a:t>
            </a:r>
            <a:r>
              <a:rPr lang="zh-CN" altLang="en-US" dirty="0"/>
              <a:t>的回路</a:t>
            </a:r>
            <a:endParaRPr lang="en-US" altLang="zh-CN" dirty="0"/>
          </a:p>
          <a:p>
            <a:r>
              <a:rPr lang="en-US" altLang="zh-CN" dirty="0" err="1"/>
              <a:t>ReAct</a:t>
            </a:r>
            <a:r>
              <a:rPr lang="zh-CN" altLang="en-US" dirty="0"/>
              <a:t>：推理（</a:t>
            </a:r>
            <a:r>
              <a:rPr lang="en-US" altLang="zh-CN" dirty="0"/>
              <a:t>reason</a:t>
            </a:r>
            <a:r>
              <a:rPr lang="zh-CN" altLang="en-US" dirty="0"/>
              <a:t>）</a:t>
            </a:r>
            <a:r>
              <a:rPr lang="en-US" altLang="zh-CN" dirty="0"/>
              <a:t>+</a:t>
            </a:r>
            <a:r>
              <a:rPr lang="zh-CN" altLang="en-US" dirty="0"/>
              <a:t>行动（</a:t>
            </a:r>
            <a:r>
              <a:rPr lang="en-US" altLang="zh-CN" dirty="0"/>
              <a:t>Act</a:t>
            </a:r>
            <a:r>
              <a:rPr lang="zh-CN" altLang="en-US" dirty="0"/>
              <a:t>），模型通过工具来采取行动，并且获取行动的结果</a:t>
            </a:r>
            <a:endParaRPr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0A69646-FF43-AD5E-0964-37B12A142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4077072"/>
            <a:ext cx="3528392" cy="202781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D31794B-88A1-6536-A702-AD1BF03E7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7888" y="3669358"/>
            <a:ext cx="3796181" cy="286955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2A085E2-45E6-0F6E-88D3-89AFD823F957}"/>
              </a:ext>
            </a:extLst>
          </p:cNvPr>
          <p:cNvSpPr txBox="1"/>
          <p:nvPr/>
        </p:nvSpPr>
        <p:spPr>
          <a:xfrm>
            <a:off x="320037" y="3233770"/>
            <a:ext cx="29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没有</a:t>
            </a:r>
            <a:r>
              <a:rPr kumimoji="1" lang="en-US" altLang="zh-CN" dirty="0"/>
              <a:t> Tool </a:t>
            </a:r>
            <a:r>
              <a:rPr kumimoji="1" lang="zh-CN" altLang="en-US" dirty="0"/>
              <a:t>的</a:t>
            </a:r>
            <a:r>
              <a:rPr kumimoji="1" lang="en-US" altLang="zh-CN" dirty="0"/>
              <a:t> Agent </a:t>
            </a:r>
            <a:r>
              <a:rPr kumimoji="1" lang="zh-CN" altLang="en-US" dirty="0"/>
              <a:t>执行流程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B09F29E-AB47-A348-E2D2-E7F0702E70BC}"/>
              </a:ext>
            </a:extLst>
          </p:cNvPr>
          <p:cNvSpPr txBox="1"/>
          <p:nvPr/>
        </p:nvSpPr>
        <p:spPr>
          <a:xfrm>
            <a:off x="4761596" y="3233770"/>
            <a:ext cx="2668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有</a:t>
            </a:r>
            <a:r>
              <a:rPr kumimoji="1" lang="en-US" altLang="zh-CN" dirty="0"/>
              <a:t>Tool </a:t>
            </a:r>
            <a:r>
              <a:rPr kumimoji="1" lang="zh-CN" altLang="en-US" dirty="0"/>
              <a:t>的</a:t>
            </a:r>
            <a:r>
              <a:rPr kumimoji="1" lang="en-US" altLang="zh-CN" dirty="0"/>
              <a:t> Agent </a:t>
            </a:r>
            <a:r>
              <a:rPr kumimoji="1" lang="zh-CN" altLang="en-US" dirty="0"/>
              <a:t>执行流程</a:t>
            </a:r>
          </a:p>
        </p:txBody>
      </p:sp>
    </p:spTree>
    <p:extLst>
      <p:ext uri="{BB962C8B-B14F-4D97-AF65-F5344CB8AC3E}">
        <p14:creationId xmlns:p14="http://schemas.microsoft.com/office/powerpoint/2010/main" val="42590014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61EFE-CBA7-E1B8-DAB6-F8BF20A7B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CED0D-A00D-098B-F36E-5E7E2E61D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智能体工具（</a:t>
            </a:r>
            <a:r>
              <a:rPr lang="en-US" altLang="zh-CN" dirty="0"/>
              <a:t>Tool</a:t>
            </a:r>
            <a:r>
              <a:rPr lang="zh-CN" altLang="en-US" dirty="0"/>
              <a:t>）：给模型加上感知外界的躯干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8F382-94F5-DE02-2CF8-82164497D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38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0389D1DD-6B06-C20B-19D1-EE2515149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 </a:t>
            </a:r>
            <a:r>
              <a:rPr lang="en-US" altLang="zh-CN" dirty="0"/>
              <a:t>Agent </a:t>
            </a:r>
            <a:r>
              <a:rPr lang="zh-CN" altLang="en-US" dirty="0"/>
              <a:t>和</a:t>
            </a:r>
            <a:r>
              <a:rPr lang="en-US" altLang="zh-CN" dirty="0"/>
              <a:t> LLM </a:t>
            </a:r>
            <a:r>
              <a:rPr lang="zh-CN" altLang="en-US" dirty="0"/>
              <a:t>在</a:t>
            </a:r>
            <a:r>
              <a:rPr lang="en-US" altLang="zh-CN" dirty="0"/>
              <a:t> Tool </a:t>
            </a:r>
            <a:r>
              <a:rPr lang="zh-CN" altLang="en-US" dirty="0"/>
              <a:t>上存在明确的分工</a:t>
            </a:r>
            <a:endParaRPr lang="en-US" altLang="zh-CN" dirty="0"/>
          </a:p>
          <a:p>
            <a:r>
              <a:rPr lang="en-US" altLang="zh-CN" dirty="0"/>
              <a:t> Agent </a:t>
            </a:r>
            <a:r>
              <a:rPr lang="zh-CN" altLang="en-US" dirty="0"/>
              <a:t>提供</a:t>
            </a:r>
            <a:r>
              <a:rPr lang="en-US" altLang="zh-CN" dirty="0"/>
              <a:t> Tool </a:t>
            </a:r>
            <a:r>
              <a:rPr lang="zh-CN" altLang="en-US" dirty="0"/>
              <a:t>的能力，而</a:t>
            </a:r>
            <a:r>
              <a:rPr lang="en-US" altLang="zh-CN" dirty="0"/>
              <a:t> LLM </a:t>
            </a:r>
            <a:r>
              <a:rPr lang="zh-CN" altLang="en-US" dirty="0"/>
              <a:t>负责选择要发起的</a:t>
            </a:r>
            <a:r>
              <a:rPr lang="en-US" altLang="zh-CN" dirty="0"/>
              <a:t> Tool </a:t>
            </a:r>
            <a:r>
              <a:rPr lang="zh-CN" altLang="en-US" dirty="0"/>
              <a:t>和参数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F8FA01-377D-04B9-5A07-100C46221090}"/>
              </a:ext>
            </a:extLst>
          </p:cNvPr>
          <p:cNvSpPr txBox="1"/>
          <p:nvPr/>
        </p:nvSpPr>
        <p:spPr>
          <a:xfrm>
            <a:off x="642551" y="3842951"/>
            <a:ext cx="251774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 "type": "</a:t>
            </a:r>
            <a:r>
              <a:rPr kumimoji="1" lang="en" altLang="zh-CN" dirty="0" err="1"/>
              <a:t>tool_call</a:t>
            </a:r>
            <a:r>
              <a:rPr kumimoji="1" lang="en" altLang="zh-CN" dirty="0"/>
              <a:t>",</a:t>
            </a:r>
          </a:p>
          <a:p>
            <a:r>
              <a:rPr kumimoji="1" lang="en" altLang="zh-CN" dirty="0"/>
              <a:t>  "tool": "</a:t>
            </a:r>
            <a:r>
              <a:rPr kumimoji="1" lang="en" altLang="zh-CN" dirty="0" err="1"/>
              <a:t>read_text_file</a:t>
            </a:r>
            <a:r>
              <a:rPr kumimoji="1" lang="en" altLang="zh-CN" dirty="0"/>
              <a:t>",</a:t>
            </a:r>
          </a:p>
          <a:p>
            <a:r>
              <a:rPr kumimoji="1" lang="en" altLang="zh-CN" dirty="0"/>
              <a:t>  "arguments": {</a:t>
            </a:r>
          </a:p>
          <a:p>
            <a:r>
              <a:rPr kumimoji="1" lang="en" altLang="zh-CN" dirty="0"/>
              <a:t>    "path": "</a:t>
            </a:r>
            <a:r>
              <a:rPr kumimoji="1" lang="en" altLang="zh-CN" dirty="0" err="1"/>
              <a:t>README.md</a:t>
            </a:r>
            <a:r>
              <a:rPr kumimoji="1" lang="en" altLang="zh-CN" dirty="0"/>
              <a:t>"</a:t>
            </a:r>
          </a:p>
          <a:p>
            <a:r>
              <a:rPr kumimoji="1" lang="en" altLang="zh-CN" dirty="0"/>
              <a:t>  }</a:t>
            </a:r>
          </a:p>
          <a:p>
            <a:r>
              <a:rPr kumimoji="1" lang="en" altLang="zh-CN" dirty="0"/>
              <a:t>}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398F1A-1F32-E216-DB00-0E25C841882C}"/>
              </a:ext>
            </a:extLst>
          </p:cNvPr>
          <p:cNvSpPr txBox="1"/>
          <p:nvPr/>
        </p:nvSpPr>
        <p:spPr>
          <a:xfrm>
            <a:off x="5557681" y="4535447"/>
            <a:ext cx="5991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result = </a:t>
            </a:r>
            <a:r>
              <a:rPr kumimoji="1" lang="en" altLang="zh-CN" dirty="0" err="1"/>
              <a:t>registry.call</a:t>
            </a:r>
            <a:r>
              <a:rPr kumimoji="1" lang="en" altLang="zh-CN" dirty="0"/>
              <a:t>("</a:t>
            </a:r>
            <a:r>
              <a:rPr kumimoji="1" lang="en" altLang="zh-CN" dirty="0" err="1"/>
              <a:t>read_text_file</a:t>
            </a:r>
            <a:r>
              <a:rPr kumimoji="1" lang="en" altLang="zh-CN" dirty="0"/>
              <a:t>", {"path": "</a:t>
            </a:r>
            <a:r>
              <a:rPr kumimoji="1" lang="en" altLang="zh-CN" dirty="0" err="1"/>
              <a:t>README.md</a:t>
            </a:r>
            <a:r>
              <a:rPr kumimoji="1" lang="en" altLang="zh-CN" dirty="0"/>
              <a:t>"})</a:t>
            </a:r>
          </a:p>
          <a:p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EBD060-D60F-827F-D4D4-3DD56CFAF6C0}"/>
              </a:ext>
            </a:extLst>
          </p:cNvPr>
          <p:cNvSpPr txBox="1"/>
          <p:nvPr/>
        </p:nvSpPr>
        <p:spPr>
          <a:xfrm>
            <a:off x="277091" y="2664002"/>
            <a:ext cx="3567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案例：一个文本模型可能会给</a:t>
            </a:r>
            <a:r>
              <a:rPr kumimoji="1" lang="en-US" altLang="zh-CN" dirty="0"/>
              <a:t> Agent </a:t>
            </a:r>
            <a:r>
              <a:rPr kumimoji="1" lang="zh-CN" altLang="en-US" dirty="0"/>
              <a:t>返回下面这样的输出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8F91CE-016C-BEBD-A4B5-E728D426E205}"/>
              </a:ext>
            </a:extLst>
          </p:cNvPr>
          <p:cNvSpPr txBox="1"/>
          <p:nvPr/>
        </p:nvSpPr>
        <p:spPr>
          <a:xfrm>
            <a:off x="6033285" y="2658945"/>
            <a:ext cx="5040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Agent </a:t>
            </a:r>
            <a:r>
              <a:rPr kumimoji="1" lang="zh-CN" altLang="en-US" dirty="0"/>
              <a:t>检查后，确认对应的工具、参数格式等都是合法的，于是在本地执行类似下面的代码，来真的去运行了一个工具，并将结果返回给</a:t>
            </a:r>
            <a:r>
              <a:rPr kumimoji="1" lang="en-US" altLang="zh-CN" dirty="0"/>
              <a:t> LLM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74584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BF819-077D-FF0B-3A30-AF6BBE4E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44641-C0BC-C5BB-375E-37D590100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智能体工具（</a:t>
            </a:r>
            <a:r>
              <a:rPr lang="en-US" altLang="zh-CN" dirty="0"/>
              <a:t>Tool</a:t>
            </a:r>
            <a:r>
              <a:rPr lang="zh-CN" altLang="en-US" dirty="0"/>
              <a:t>）：给模型加上感知外界的躯干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49F04-A68D-A866-F9EB-189E156B8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39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E70BAE65-401A-6400-7A87-6A121E3D2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 </a:t>
            </a:r>
            <a:r>
              <a:rPr lang="en-US" altLang="zh-CN" dirty="0"/>
              <a:t>Agent </a:t>
            </a:r>
            <a:r>
              <a:rPr lang="zh-CN" altLang="en-US" dirty="0"/>
              <a:t>和</a:t>
            </a:r>
            <a:r>
              <a:rPr lang="en-US" altLang="zh-CN" dirty="0"/>
              <a:t> LLM </a:t>
            </a:r>
            <a:r>
              <a:rPr lang="zh-CN" altLang="en-US" dirty="0"/>
              <a:t>在</a:t>
            </a:r>
            <a:r>
              <a:rPr lang="en-US" altLang="zh-CN" dirty="0"/>
              <a:t> Tool </a:t>
            </a:r>
            <a:r>
              <a:rPr lang="zh-CN" altLang="en-US" dirty="0"/>
              <a:t>上存在明确的分工</a:t>
            </a:r>
            <a:endParaRPr lang="en-US" altLang="zh-CN" dirty="0"/>
          </a:p>
          <a:p>
            <a:r>
              <a:rPr lang="en-US" altLang="zh-CN" dirty="0"/>
              <a:t> Agent </a:t>
            </a:r>
            <a:r>
              <a:rPr lang="zh-CN" altLang="en-US" dirty="0"/>
              <a:t>提供</a:t>
            </a:r>
            <a:r>
              <a:rPr lang="en-US" altLang="zh-CN" dirty="0"/>
              <a:t> Tool </a:t>
            </a:r>
            <a:r>
              <a:rPr lang="zh-CN" altLang="en-US" dirty="0"/>
              <a:t>的能力，而</a:t>
            </a:r>
            <a:r>
              <a:rPr lang="en-US" altLang="zh-CN" dirty="0"/>
              <a:t> LLM </a:t>
            </a:r>
            <a:r>
              <a:rPr lang="zh-CN" altLang="en-US" dirty="0"/>
              <a:t>负责选择要发起的</a:t>
            </a:r>
            <a:r>
              <a:rPr lang="en-US" altLang="zh-CN" dirty="0"/>
              <a:t> Tool </a:t>
            </a:r>
            <a:r>
              <a:rPr lang="zh-CN" altLang="en-US" dirty="0"/>
              <a:t>和参数</a:t>
            </a:r>
            <a:endParaRPr lang="en-US" altLang="zh-CN" dirty="0"/>
          </a:p>
          <a:p>
            <a:r>
              <a:rPr lang="zh-CN" altLang="en-US" dirty="0"/>
              <a:t> 所以，其实</a:t>
            </a:r>
            <a:r>
              <a:rPr lang="en-US" altLang="zh-CN" dirty="0"/>
              <a:t> LLM </a:t>
            </a:r>
            <a:r>
              <a:rPr lang="zh-CN" altLang="en-US" dirty="0"/>
              <a:t>和</a:t>
            </a:r>
            <a:r>
              <a:rPr lang="en-US" altLang="zh-CN" dirty="0"/>
              <a:t> Agent </a:t>
            </a:r>
            <a:r>
              <a:rPr lang="zh-CN" altLang="en-US" dirty="0"/>
              <a:t>看到的</a:t>
            </a:r>
            <a:r>
              <a:rPr lang="en-US" altLang="zh-CN" dirty="0"/>
              <a:t> tool </a:t>
            </a:r>
            <a:r>
              <a:rPr lang="zh-CN" altLang="en-US" dirty="0"/>
              <a:t>的信息不需要相同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LLM</a:t>
            </a:r>
            <a:r>
              <a:rPr lang="zh-CN" altLang="en-US" b="1" dirty="0">
                <a:solidFill>
                  <a:srgbClr val="C00000"/>
                </a:solidFill>
              </a:rPr>
              <a:t>侧看</a:t>
            </a:r>
            <a:r>
              <a:rPr lang="en-US" altLang="zh-CN" b="1" dirty="0">
                <a:solidFill>
                  <a:srgbClr val="C00000"/>
                </a:solidFill>
              </a:rPr>
              <a:t> Tool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Description</a:t>
            </a:r>
            <a:r>
              <a:rPr lang="zh-CN" altLang="en-US" dirty="0"/>
              <a:t>，有哪些工具，什么能力，参数要求是什么等</a:t>
            </a:r>
            <a:endParaRPr lang="en-US" altLang="zh-CN" dirty="0"/>
          </a:p>
          <a:p>
            <a:pPr lvl="1"/>
            <a:r>
              <a:rPr lang="en-US" altLang="zh-CN" dirty="0"/>
              <a:t>Name</a:t>
            </a:r>
            <a:r>
              <a:rPr lang="zh-CN" altLang="en-US" dirty="0"/>
              <a:t>，</a:t>
            </a:r>
            <a:r>
              <a:rPr lang="en" altLang="zh-CN" dirty="0">
                <a:effectLst/>
              </a:rPr>
              <a:t>tool </a:t>
            </a:r>
            <a:r>
              <a:rPr lang="zh-CN" altLang="en-US" dirty="0"/>
              <a:t>的唯一名称。模型通过这个名称请求调用 </a:t>
            </a:r>
            <a:r>
              <a:rPr lang="en" altLang="zh-CN" dirty="0"/>
              <a:t>tool</a:t>
            </a:r>
            <a:r>
              <a:rPr lang="zh-CN" altLang="en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Description</a:t>
            </a:r>
            <a:r>
              <a:rPr lang="zh-CN" altLang="en-US" dirty="0"/>
              <a:t>，能力说明。模型依靠它判断什么时候该调用这个 </a:t>
            </a:r>
            <a:r>
              <a:rPr lang="en" altLang="zh-CN" dirty="0"/>
              <a:t>tool</a:t>
            </a:r>
            <a:r>
              <a:rPr lang="zh-CN" altLang="en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input schema</a:t>
            </a:r>
            <a:r>
              <a:rPr lang="zh-CN" altLang="en-US" dirty="0"/>
              <a:t>，参数格式。</a:t>
            </a:r>
            <a:r>
              <a:rPr lang="en" altLang="zh-CN" dirty="0"/>
              <a:t>runtime </a:t>
            </a:r>
            <a:r>
              <a:rPr lang="zh-CN" altLang="en-US" dirty="0"/>
              <a:t>需要用它检查模型给出的参数是否合理。</a:t>
            </a:r>
            <a:endParaRPr lang="en-US" altLang="zh-CN" dirty="0"/>
          </a:p>
          <a:p>
            <a:pPr lvl="1"/>
            <a:r>
              <a:rPr lang="en-US" altLang="zh-CN" dirty="0"/>
              <a:t>safety level</a:t>
            </a:r>
            <a:r>
              <a:rPr lang="zh-CN" altLang="en-US" dirty="0"/>
              <a:t>，能力边界。本 </a:t>
            </a:r>
            <a:r>
              <a:rPr lang="en" altLang="zh-CN" dirty="0">
                <a:solidFill>
                  <a:srgbClr val="A71D5D"/>
                </a:solidFill>
                <a:effectLst/>
              </a:rPr>
              <a:t>Step</a:t>
            </a:r>
            <a:r>
              <a:rPr lang="en" altLang="zh-CN" dirty="0"/>
              <a:t> </a:t>
            </a:r>
            <a:r>
              <a:rPr lang="zh-CN" altLang="en-US" dirty="0"/>
              <a:t>中统一为 </a:t>
            </a:r>
            <a:r>
              <a:rPr lang="en" altLang="zh-CN" dirty="0" err="1"/>
              <a:t>read_only</a:t>
            </a:r>
            <a:r>
              <a:rPr lang="zh-CN" altLang="en-US" dirty="0"/>
              <a:t>*</a:t>
            </a:r>
            <a:r>
              <a:rPr lang="zh-CN" altLang="en" dirty="0"/>
              <a:t>。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89211EA-2776-2363-D49B-60DFC425C397}"/>
              </a:ext>
            </a:extLst>
          </p:cNvPr>
          <p:cNvSpPr txBox="1"/>
          <p:nvPr/>
        </p:nvSpPr>
        <p:spPr>
          <a:xfrm>
            <a:off x="63226" y="6091807"/>
            <a:ext cx="1157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*：注意，单纯和</a:t>
            </a:r>
            <a:r>
              <a:rPr kumimoji="1" lang="en-US" altLang="zh-CN" dirty="0"/>
              <a:t> LLM </a:t>
            </a:r>
            <a:r>
              <a:rPr kumimoji="1" lang="zh-CN" altLang="en-US" dirty="0"/>
              <a:t>对话其实是很难对你的计算机造成很大的影响的，但是一旦给了</a:t>
            </a:r>
            <a:r>
              <a:rPr kumimoji="1" lang="en-US" altLang="zh-CN" dirty="0"/>
              <a:t> LLM </a:t>
            </a:r>
            <a:r>
              <a:rPr kumimoji="1" lang="zh-CN" altLang="en-US" dirty="0"/>
              <a:t>工具的能力，就可能会发生很难意料的事情，当前</a:t>
            </a:r>
            <a:r>
              <a:rPr kumimoji="1" lang="en-US" altLang="zh-CN" dirty="0"/>
              <a:t> Step </a:t>
            </a:r>
            <a:r>
              <a:rPr kumimoji="1" lang="zh-CN" altLang="en-US" dirty="0"/>
              <a:t>主要要求大家实现只读的工具，这样至少保障不会破坏大家本地的文件和数据</a:t>
            </a:r>
          </a:p>
        </p:txBody>
      </p:sp>
    </p:spTree>
    <p:extLst>
      <p:ext uri="{BB962C8B-B14F-4D97-AF65-F5344CB8AC3E}">
        <p14:creationId xmlns:p14="http://schemas.microsoft.com/office/powerpoint/2010/main" val="40637376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E6C89-D299-09A1-D4E7-7DE79E67D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C9F41-25A0-A345-D450-3C5B0D64F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智能体工具（</a:t>
            </a:r>
            <a:r>
              <a:rPr lang="en-US" altLang="zh-CN" dirty="0"/>
              <a:t>Tool</a:t>
            </a:r>
            <a:r>
              <a:rPr lang="zh-CN" altLang="en-US" dirty="0"/>
              <a:t>）：给模型加上感知外界的躯干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3C453-4EA4-F52A-A684-2842101C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40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55008B35-BD2F-4669-FD5F-B79309F85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 </a:t>
            </a:r>
            <a:r>
              <a:rPr lang="en-US" altLang="zh-CN" dirty="0"/>
              <a:t>Agent </a:t>
            </a:r>
            <a:r>
              <a:rPr lang="zh-CN" altLang="en-US" dirty="0"/>
              <a:t>和</a:t>
            </a:r>
            <a:r>
              <a:rPr lang="en-US" altLang="zh-CN" dirty="0"/>
              <a:t> LLM </a:t>
            </a:r>
            <a:r>
              <a:rPr lang="zh-CN" altLang="en-US" dirty="0"/>
              <a:t>在</a:t>
            </a:r>
            <a:r>
              <a:rPr lang="en-US" altLang="zh-CN" dirty="0"/>
              <a:t> Tool </a:t>
            </a:r>
            <a:r>
              <a:rPr lang="zh-CN" altLang="en-US" dirty="0"/>
              <a:t>上存在明确的分工</a:t>
            </a:r>
            <a:endParaRPr lang="en-US" altLang="zh-CN" dirty="0"/>
          </a:p>
          <a:p>
            <a:r>
              <a:rPr lang="en-US" altLang="zh-CN" dirty="0"/>
              <a:t> Agent </a:t>
            </a:r>
            <a:r>
              <a:rPr lang="zh-CN" altLang="en-US" dirty="0"/>
              <a:t>提供</a:t>
            </a:r>
            <a:r>
              <a:rPr lang="en-US" altLang="zh-CN" dirty="0"/>
              <a:t> Tool </a:t>
            </a:r>
            <a:r>
              <a:rPr lang="zh-CN" altLang="en-US" dirty="0"/>
              <a:t>的能力，而</a:t>
            </a:r>
            <a:r>
              <a:rPr lang="en-US" altLang="zh-CN" dirty="0"/>
              <a:t> LLM </a:t>
            </a:r>
            <a:r>
              <a:rPr lang="zh-CN" altLang="en-US" dirty="0"/>
              <a:t>负责选择要发起的</a:t>
            </a:r>
            <a:r>
              <a:rPr lang="en-US" altLang="zh-CN" dirty="0"/>
              <a:t> Tool </a:t>
            </a:r>
            <a:r>
              <a:rPr lang="zh-CN" altLang="en-US" dirty="0"/>
              <a:t>和参数</a:t>
            </a:r>
            <a:endParaRPr lang="en-US" altLang="zh-CN" dirty="0"/>
          </a:p>
          <a:p>
            <a:r>
              <a:rPr lang="zh-CN" altLang="en-US" dirty="0"/>
              <a:t> 所以，其实</a:t>
            </a:r>
            <a:r>
              <a:rPr lang="en-US" altLang="zh-CN" dirty="0"/>
              <a:t> LLM </a:t>
            </a:r>
            <a:r>
              <a:rPr lang="zh-CN" altLang="en-US" dirty="0"/>
              <a:t>和</a:t>
            </a:r>
            <a:r>
              <a:rPr lang="en-US" altLang="zh-CN" dirty="0"/>
              <a:t> Agent </a:t>
            </a:r>
            <a:r>
              <a:rPr lang="zh-CN" altLang="en-US" dirty="0"/>
              <a:t>看到的</a:t>
            </a:r>
            <a:r>
              <a:rPr lang="en-US" altLang="zh-CN" dirty="0"/>
              <a:t> tool </a:t>
            </a:r>
            <a:r>
              <a:rPr lang="zh-CN" altLang="en-US" dirty="0"/>
              <a:t>的信息不需要相同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Agent</a:t>
            </a:r>
            <a:r>
              <a:rPr lang="zh-CN" altLang="en-US" b="1" dirty="0">
                <a:solidFill>
                  <a:srgbClr val="C00000"/>
                </a:solidFill>
              </a:rPr>
              <a:t>侧看</a:t>
            </a:r>
            <a:r>
              <a:rPr lang="en-US" altLang="zh-CN" b="1" dirty="0">
                <a:solidFill>
                  <a:srgbClr val="C00000"/>
                </a:solidFill>
              </a:rPr>
              <a:t> Tool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handler</a:t>
            </a:r>
            <a:r>
              <a:rPr lang="zh-CN" altLang="en-US" dirty="0"/>
              <a:t>，具体的工具实现（可以是</a:t>
            </a:r>
            <a:r>
              <a:rPr lang="en-US" altLang="zh-CN" dirty="0"/>
              <a:t> Agent </a:t>
            </a:r>
            <a:r>
              <a:rPr lang="zh-CN" altLang="en-US" dirty="0"/>
              <a:t>内的函数，模块，或者甚至是外部</a:t>
            </a:r>
            <a:r>
              <a:rPr lang="en-US" altLang="zh-CN" dirty="0"/>
              <a:t>/</a:t>
            </a:r>
            <a:r>
              <a:rPr lang="zh-CN" altLang="en-US" dirty="0"/>
              <a:t>本地的程序、命令）</a:t>
            </a:r>
            <a:endParaRPr lang="en-US" altLang="zh-CN" dirty="0"/>
          </a:p>
          <a:p>
            <a:pPr lvl="1"/>
            <a:r>
              <a:rPr lang="zh-CN" altLang="en-US" dirty="0"/>
              <a:t>一般需要接收参数，访问环境，返回结果，处理异常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CE8321-808D-EA27-BA6F-2C95B1A760BC}"/>
              </a:ext>
            </a:extLst>
          </p:cNvPr>
          <p:cNvSpPr txBox="1"/>
          <p:nvPr/>
        </p:nvSpPr>
        <p:spPr>
          <a:xfrm>
            <a:off x="63226" y="6091807"/>
            <a:ext cx="1157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*：注意，单纯和</a:t>
            </a:r>
            <a:r>
              <a:rPr kumimoji="1" lang="en-US" altLang="zh-CN" dirty="0"/>
              <a:t> LLM </a:t>
            </a:r>
            <a:r>
              <a:rPr kumimoji="1" lang="zh-CN" altLang="en-US" dirty="0"/>
              <a:t>对话其实是很难对你的计算机造成很大的影响的，但是一旦给了</a:t>
            </a:r>
            <a:r>
              <a:rPr kumimoji="1" lang="en-US" altLang="zh-CN" dirty="0"/>
              <a:t> LLM </a:t>
            </a:r>
            <a:r>
              <a:rPr kumimoji="1" lang="zh-CN" altLang="en-US" dirty="0"/>
              <a:t>工具的能力，就可能会发生很难意料的事情，当前</a:t>
            </a:r>
            <a:r>
              <a:rPr kumimoji="1" lang="en-US" altLang="zh-CN" dirty="0"/>
              <a:t> Step </a:t>
            </a:r>
            <a:r>
              <a:rPr kumimoji="1" lang="zh-CN" altLang="en-US" dirty="0"/>
              <a:t>主要要求大家实现只读的工具，这样至少保障不会破坏大家本地的文件和数据</a:t>
            </a:r>
          </a:p>
        </p:txBody>
      </p:sp>
    </p:spTree>
    <p:extLst>
      <p:ext uri="{BB962C8B-B14F-4D97-AF65-F5344CB8AC3E}">
        <p14:creationId xmlns:p14="http://schemas.microsoft.com/office/powerpoint/2010/main" val="2935405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1554A-7377-2AFF-F6A1-869B7A391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1550-E75B-1BDF-4893-858F9E541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智能体工具（</a:t>
            </a:r>
            <a:r>
              <a:rPr lang="en-US" altLang="zh-CN" dirty="0"/>
              <a:t>Tool</a:t>
            </a:r>
            <a:r>
              <a:rPr lang="zh-CN" altLang="en-US" dirty="0"/>
              <a:t>）：给模型加上感知外界的躯干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F5E1E-AED5-A411-68A0-BE8AF396B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41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B5FD8F1F-5392-3911-E5A6-5529E2A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一些例子，大家可以考虑实现以下三个只读的</a:t>
            </a:r>
            <a:r>
              <a:rPr lang="en-US" altLang="zh-CN" dirty="0"/>
              <a:t> tool</a:t>
            </a:r>
            <a:r>
              <a:rPr lang="zh-CN" altLang="en-US" dirty="0"/>
              <a:t>，他们的</a:t>
            </a:r>
            <a:r>
              <a:rPr lang="en-US" altLang="zh-CN" dirty="0"/>
              <a:t> tool</a:t>
            </a:r>
            <a:r>
              <a:rPr lang="zh-CN" altLang="en-US" dirty="0"/>
              <a:t> </a:t>
            </a:r>
            <a:r>
              <a:rPr lang="en-US" altLang="zh-CN" dirty="0"/>
              <a:t>names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" altLang="zh-CN" dirty="0" err="1">
                <a:solidFill>
                  <a:srgbClr val="C00000"/>
                </a:solidFill>
                <a:effectLst/>
              </a:rPr>
              <a:t>current_time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，</a:t>
            </a:r>
            <a:r>
              <a:rPr lang="en" altLang="zh-CN" dirty="0" err="1">
                <a:solidFill>
                  <a:srgbClr val="C00000"/>
                </a:solidFill>
              </a:rPr>
              <a:t>list_dir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" altLang="zh-CN" dirty="0" err="1">
                <a:solidFill>
                  <a:srgbClr val="C00000"/>
                </a:solidFill>
              </a:rPr>
              <a:t>read_file</a:t>
            </a:r>
            <a:endParaRPr lang="en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Tool</a:t>
            </a:r>
            <a:r>
              <a:rPr lang="zh-CN" altLang="en-US" dirty="0"/>
              <a:t> </a:t>
            </a:r>
            <a:r>
              <a:rPr lang="en-US" altLang="zh-CN" dirty="0"/>
              <a:t>descriptions </a:t>
            </a:r>
            <a:r>
              <a:rPr lang="zh-CN" altLang="en-US" dirty="0"/>
              <a:t>帮助模型来判断当前的任务需要执行什么工具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好的工具一般要回答：它能做什么？什么时候用？有什么边界？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B07CE1-C5BC-20DF-71CB-22029F880800}"/>
              </a:ext>
            </a:extLst>
          </p:cNvPr>
          <p:cNvSpPr txBox="1"/>
          <p:nvPr/>
        </p:nvSpPr>
        <p:spPr>
          <a:xfrm>
            <a:off x="63226" y="6091807"/>
            <a:ext cx="1157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*：注意，单纯和</a:t>
            </a:r>
            <a:r>
              <a:rPr kumimoji="1" lang="en-US" altLang="zh-CN" dirty="0"/>
              <a:t> LLM </a:t>
            </a:r>
            <a:r>
              <a:rPr kumimoji="1" lang="zh-CN" altLang="en-US" dirty="0"/>
              <a:t>对话其实是很难对你的计算机造成很大的影响的，但是一旦给了</a:t>
            </a:r>
            <a:r>
              <a:rPr kumimoji="1" lang="en-US" altLang="zh-CN" dirty="0"/>
              <a:t> LLM </a:t>
            </a:r>
            <a:r>
              <a:rPr kumimoji="1" lang="zh-CN" altLang="en-US" dirty="0"/>
              <a:t>工具的能力，就可能会发生很难意料的事情，当前</a:t>
            </a:r>
            <a:r>
              <a:rPr kumimoji="1" lang="en-US" altLang="zh-CN" dirty="0"/>
              <a:t> Step </a:t>
            </a:r>
            <a:r>
              <a:rPr kumimoji="1" lang="zh-CN" altLang="en-US" dirty="0"/>
              <a:t>主要要求大家实现只读的工具，这样至少保障不会破坏大家本地的文件和数据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4B8B8A-D3B5-2C66-F998-D6AEF1FDFF75}"/>
              </a:ext>
            </a:extLst>
          </p:cNvPr>
          <p:cNvSpPr txBox="1"/>
          <p:nvPr/>
        </p:nvSpPr>
        <p:spPr>
          <a:xfrm>
            <a:off x="1287974" y="3113305"/>
            <a:ext cx="9125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Read one local UTF-8 text file using the user-provided path.</a:t>
            </a:r>
            <a:r>
              <a:rPr kumimoji="1" lang="zh-CN" altLang="en-US" dirty="0"/>
              <a:t> </a:t>
            </a:r>
            <a:r>
              <a:rPr kumimoji="1" lang="en" altLang="zh-CN" dirty="0"/>
              <a:t>Use when the answer depends on exact file contents.</a:t>
            </a:r>
            <a:r>
              <a:rPr kumimoji="1" lang="zh-CN" altLang="en-US" dirty="0"/>
              <a:t> </a:t>
            </a:r>
            <a:r>
              <a:rPr kumimoji="1" lang="en" altLang="zh-CN" dirty="0"/>
              <a:t>Return an error when the path does not exist; never substitute another file.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87836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747F6-8202-F9AF-B4EE-7FB915625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20EC-C64E-EBBA-FF89-195B63683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智能体工具（</a:t>
            </a:r>
            <a:r>
              <a:rPr lang="en-US" altLang="zh-CN" dirty="0"/>
              <a:t>Tool</a:t>
            </a:r>
            <a:r>
              <a:rPr lang="zh-CN" altLang="en-US" dirty="0"/>
              <a:t>）：给模型加上感知外界的躯干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FCD59-3354-61F2-0366-DE48D806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42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066B8AC0-FCF4-AFC4-0A45-87811EB6C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en-US" altLang="zh-CN" dirty="0"/>
              <a:t>Input</a:t>
            </a:r>
            <a:r>
              <a:rPr lang="zh-CN" altLang="en-US" dirty="0"/>
              <a:t> </a:t>
            </a:r>
            <a:r>
              <a:rPr lang="en-US" altLang="zh-CN" dirty="0"/>
              <a:t>Schema</a:t>
            </a:r>
            <a:r>
              <a:rPr lang="zh-CN" altLang="en-US" dirty="0"/>
              <a:t>，一般使用</a:t>
            </a:r>
            <a:r>
              <a:rPr lang="en-US" altLang="zh-CN" dirty="0"/>
              <a:t> Json </a:t>
            </a:r>
            <a:r>
              <a:rPr lang="zh-CN" altLang="en-US" dirty="0"/>
              <a:t>等格式化的数据格式（并且人读也较为容易）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B8B07B-30BC-3FCA-564F-EAC32D29F08D}"/>
              </a:ext>
            </a:extLst>
          </p:cNvPr>
          <p:cNvSpPr txBox="1"/>
          <p:nvPr/>
        </p:nvSpPr>
        <p:spPr>
          <a:xfrm>
            <a:off x="746754" y="2598004"/>
            <a:ext cx="434984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 "type": "object",</a:t>
            </a:r>
          </a:p>
          <a:p>
            <a:r>
              <a:rPr kumimoji="1" lang="en" altLang="zh-CN" dirty="0"/>
              <a:t>  "properties": {</a:t>
            </a:r>
          </a:p>
          <a:p>
            <a:r>
              <a:rPr kumimoji="1" lang="en" altLang="zh-CN" dirty="0"/>
              <a:t>    "path": {</a:t>
            </a:r>
          </a:p>
          <a:p>
            <a:r>
              <a:rPr kumimoji="1" lang="en" altLang="zh-CN" dirty="0"/>
              <a:t>      "type": "string",</a:t>
            </a:r>
          </a:p>
          <a:p>
            <a:r>
              <a:rPr kumimoji="1" lang="en" altLang="zh-CN" dirty="0"/>
              <a:t>      "description": "</a:t>
            </a:r>
            <a:r>
              <a:rPr kumimoji="1" lang="zh-CN" altLang="en-US" dirty="0"/>
              <a:t>要读取的文本文件路径</a:t>
            </a:r>
            <a:r>
              <a:rPr kumimoji="1" lang="en-US" altLang="zh-CN" dirty="0"/>
              <a:t>"</a:t>
            </a:r>
          </a:p>
          <a:p>
            <a:r>
              <a:rPr kumimoji="1" lang="en-US" altLang="zh-CN" dirty="0"/>
              <a:t>    }</a:t>
            </a:r>
          </a:p>
          <a:p>
            <a:r>
              <a:rPr kumimoji="1" lang="en-US" altLang="zh-CN" dirty="0"/>
              <a:t>  },</a:t>
            </a:r>
          </a:p>
          <a:p>
            <a:r>
              <a:rPr kumimoji="1" lang="en-US" altLang="zh-CN" dirty="0"/>
              <a:t>  "</a:t>
            </a:r>
            <a:r>
              <a:rPr kumimoji="1" lang="en" altLang="zh-CN" dirty="0"/>
              <a:t>required": ["path"],</a:t>
            </a:r>
          </a:p>
          <a:p>
            <a:r>
              <a:rPr kumimoji="1" lang="en" altLang="zh-CN" dirty="0"/>
              <a:t>  "</a:t>
            </a:r>
            <a:r>
              <a:rPr kumimoji="1" lang="en" altLang="zh-CN" dirty="0" err="1"/>
              <a:t>additionalProperties</a:t>
            </a:r>
            <a:r>
              <a:rPr kumimoji="1" lang="en" altLang="zh-CN" dirty="0"/>
              <a:t>": false</a:t>
            </a:r>
          </a:p>
          <a:p>
            <a:r>
              <a:rPr kumimoji="1" lang="en" altLang="zh-CN" dirty="0"/>
              <a:t>}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BB2726-94B3-3627-02D5-A3EE7468091A}"/>
              </a:ext>
            </a:extLst>
          </p:cNvPr>
          <p:cNvSpPr txBox="1"/>
          <p:nvPr/>
        </p:nvSpPr>
        <p:spPr>
          <a:xfrm>
            <a:off x="6746806" y="3429000"/>
            <a:ext cx="267252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参数整体必须是 </a:t>
            </a:r>
            <a:r>
              <a:rPr kumimoji="1" lang="en" altLang="zh-CN" dirty="0"/>
              <a:t>object</a:t>
            </a:r>
            <a:r>
              <a:rPr kumimoji="1" lang="zh-CN" altLang="en" dirty="0"/>
              <a:t>。</a:t>
            </a:r>
          </a:p>
          <a:p>
            <a:r>
              <a:rPr kumimoji="1" lang="zh-CN" altLang="en-US" dirty="0"/>
              <a:t>可以出现 </a:t>
            </a:r>
            <a:r>
              <a:rPr kumimoji="1" lang="en" altLang="zh-CN" dirty="0"/>
              <a:t>path</a:t>
            </a:r>
            <a:r>
              <a:rPr kumimoji="1" lang="zh-CN" altLang="en" dirty="0"/>
              <a:t>。</a:t>
            </a:r>
          </a:p>
          <a:p>
            <a:r>
              <a:rPr kumimoji="1" lang="en" altLang="zh-CN" dirty="0"/>
              <a:t>path </a:t>
            </a:r>
            <a:r>
              <a:rPr kumimoji="1" lang="zh-CN" altLang="en-US" dirty="0"/>
              <a:t>必须是 </a:t>
            </a:r>
            <a:r>
              <a:rPr kumimoji="1" lang="en" altLang="zh-CN" dirty="0"/>
              <a:t>string</a:t>
            </a:r>
            <a:r>
              <a:rPr kumimoji="1" lang="zh-CN" altLang="en" dirty="0"/>
              <a:t>。</a:t>
            </a:r>
          </a:p>
          <a:p>
            <a:r>
              <a:rPr kumimoji="1" lang="en" altLang="zh-CN" dirty="0"/>
              <a:t>path </a:t>
            </a:r>
            <a:r>
              <a:rPr kumimoji="1" lang="zh-CN" altLang="en-US" dirty="0"/>
              <a:t>是必填项。</a:t>
            </a:r>
          </a:p>
          <a:p>
            <a:r>
              <a:rPr kumimoji="1" lang="zh-CN" altLang="en-US" dirty="0"/>
              <a:t>不接受其他未知字段。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5A42F457-904D-FA48-0BF7-3650CF7742C1}"/>
              </a:ext>
            </a:extLst>
          </p:cNvPr>
          <p:cNvSpPr/>
          <p:nvPr/>
        </p:nvSpPr>
        <p:spPr>
          <a:xfrm>
            <a:off x="5306646" y="3805247"/>
            <a:ext cx="1080120" cy="576064"/>
          </a:xfrm>
          <a:prstGeom prst="rightArrow">
            <a:avLst/>
          </a:prstGeom>
          <a:solidFill>
            <a:srgbClr val="C00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76048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3C8AC-3B8E-89BB-769D-B0A060951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EAFD-D022-3806-9C70-CFF1204AF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智能体工具（</a:t>
            </a:r>
            <a:r>
              <a:rPr lang="en-US" altLang="zh-CN" dirty="0"/>
              <a:t>Tool</a:t>
            </a:r>
            <a:r>
              <a:rPr lang="zh-CN" altLang="en-US" dirty="0"/>
              <a:t>）：给模型加上感知外界的躯干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2AA78-99EF-6D8E-E711-22EF37B3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43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DB634EE5-7A13-DC32-D683-A4CE9AE02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en-US" altLang="zh-CN" dirty="0"/>
              <a:t>Tool</a:t>
            </a:r>
            <a:r>
              <a:rPr lang="zh-CN" altLang="en-US" dirty="0"/>
              <a:t> </a:t>
            </a:r>
            <a:r>
              <a:rPr lang="en-US" altLang="zh-CN" dirty="0"/>
              <a:t>Result</a:t>
            </a:r>
            <a:r>
              <a:rPr lang="zh-CN" altLang="en-US" dirty="0"/>
              <a:t>：</a:t>
            </a:r>
            <a:r>
              <a:rPr lang="en-US" altLang="zh-CN" dirty="0"/>
              <a:t>Agent </a:t>
            </a:r>
            <a:r>
              <a:rPr lang="zh-CN" altLang="en-US" dirty="0"/>
              <a:t>给模型返回的</a:t>
            </a:r>
            <a:r>
              <a:rPr lang="en-US" altLang="zh-CN" dirty="0"/>
              <a:t> Tool </a:t>
            </a:r>
            <a:r>
              <a:rPr lang="zh-CN" altLang="en-US" dirty="0"/>
              <a:t>的结果</a:t>
            </a:r>
            <a:endParaRPr lang="en-US" altLang="zh-CN" dirty="0"/>
          </a:p>
          <a:p>
            <a:pPr lvl="1"/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1235AB-CF41-1812-B18B-1AF2A75A3B66}"/>
              </a:ext>
            </a:extLst>
          </p:cNvPr>
          <p:cNvSpPr txBox="1"/>
          <p:nvPr/>
        </p:nvSpPr>
        <p:spPr>
          <a:xfrm>
            <a:off x="642551" y="3842951"/>
            <a:ext cx="251774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 "type": "</a:t>
            </a:r>
            <a:r>
              <a:rPr kumimoji="1" lang="en" altLang="zh-CN" dirty="0" err="1"/>
              <a:t>tool_call</a:t>
            </a:r>
            <a:r>
              <a:rPr kumimoji="1" lang="en" altLang="zh-CN" dirty="0"/>
              <a:t>",</a:t>
            </a:r>
          </a:p>
          <a:p>
            <a:r>
              <a:rPr kumimoji="1" lang="en" altLang="zh-CN" dirty="0"/>
              <a:t>  "tool": "</a:t>
            </a:r>
            <a:r>
              <a:rPr kumimoji="1" lang="en" altLang="zh-CN" dirty="0" err="1"/>
              <a:t>read_text_file</a:t>
            </a:r>
            <a:r>
              <a:rPr kumimoji="1" lang="en" altLang="zh-CN" dirty="0"/>
              <a:t>",</a:t>
            </a:r>
          </a:p>
          <a:p>
            <a:r>
              <a:rPr kumimoji="1" lang="en" altLang="zh-CN" dirty="0"/>
              <a:t>  "arguments": {</a:t>
            </a:r>
          </a:p>
          <a:p>
            <a:r>
              <a:rPr kumimoji="1" lang="en" altLang="zh-CN" dirty="0"/>
              <a:t>    "path": "</a:t>
            </a:r>
            <a:r>
              <a:rPr kumimoji="1" lang="en" altLang="zh-CN" dirty="0" err="1"/>
              <a:t>README.md</a:t>
            </a:r>
            <a:r>
              <a:rPr kumimoji="1" lang="en" altLang="zh-CN" dirty="0"/>
              <a:t>"</a:t>
            </a:r>
          </a:p>
          <a:p>
            <a:r>
              <a:rPr kumimoji="1" lang="en" altLang="zh-CN" dirty="0"/>
              <a:t>  }</a:t>
            </a:r>
          </a:p>
          <a:p>
            <a:r>
              <a:rPr kumimoji="1" lang="en" altLang="zh-CN" dirty="0"/>
              <a:t>}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AAA724-4DD5-9324-4394-84537C4F2329}"/>
              </a:ext>
            </a:extLst>
          </p:cNvPr>
          <p:cNvSpPr txBox="1"/>
          <p:nvPr/>
        </p:nvSpPr>
        <p:spPr>
          <a:xfrm>
            <a:off x="277091" y="2664002"/>
            <a:ext cx="3567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案例：一个文本模型可能会给</a:t>
            </a:r>
            <a:r>
              <a:rPr kumimoji="1" lang="en-US" altLang="zh-CN" dirty="0"/>
              <a:t> Agent </a:t>
            </a:r>
            <a:r>
              <a:rPr kumimoji="1" lang="zh-CN" altLang="en-US" dirty="0"/>
              <a:t>返回下面这样的输出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80E4E7-69E9-24AB-9B57-1398AA12F10C}"/>
              </a:ext>
            </a:extLst>
          </p:cNvPr>
          <p:cNvSpPr txBox="1"/>
          <p:nvPr/>
        </p:nvSpPr>
        <p:spPr>
          <a:xfrm>
            <a:off x="6513969" y="1941304"/>
            <a:ext cx="27747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 "tool": "</a:t>
            </a:r>
            <a:r>
              <a:rPr kumimoji="1" lang="en" altLang="zh-CN" dirty="0" err="1"/>
              <a:t>read_text_file</a:t>
            </a:r>
            <a:r>
              <a:rPr kumimoji="1" lang="en" altLang="zh-CN" dirty="0"/>
              <a:t>",</a:t>
            </a:r>
          </a:p>
          <a:p>
            <a:r>
              <a:rPr kumimoji="1" lang="en" altLang="zh-CN" dirty="0"/>
              <a:t>  "ok": true,</a:t>
            </a:r>
          </a:p>
          <a:p>
            <a:r>
              <a:rPr kumimoji="1" lang="en" altLang="zh-CN" dirty="0"/>
              <a:t>  "content": "# </a:t>
            </a:r>
            <a:r>
              <a:rPr kumimoji="1" lang="en" altLang="zh-CN" dirty="0" err="1"/>
              <a:t>SJTUClaw</a:t>
            </a:r>
            <a:r>
              <a:rPr kumimoji="1" lang="en" altLang="zh-CN" dirty="0"/>
              <a:t>...",</a:t>
            </a:r>
          </a:p>
          <a:p>
            <a:r>
              <a:rPr kumimoji="1" lang="en" altLang="zh-CN" dirty="0"/>
              <a:t>  "error": null</a:t>
            </a:r>
          </a:p>
          <a:p>
            <a:r>
              <a:rPr kumimoji="1" lang="en" altLang="zh-CN" dirty="0"/>
              <a:t>}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DCA636-3221-CF8A-8415-AEAEC14D5386}"/>
              </a:ext>
            </a:extLst>
          </p:cNvPr>
          <p:cNvSpPr txBox="1"/>
          <p:nvPr/>
        </p:nvSpPr>
        <p:spPr>
          <a:xfrm>
            <a:off x="6513969" y="4482986"/>
            <a:ext cx="370114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 "tool": "</a:t>
            </a:r>
            <a:r>
              <a:rPr kumimoji="1" lang="en" altLang="zh-CN" dirty="0" err="1"/>
              <a:t>read_text_file</a:t>
            </a:r>
            <a:r>
              <a:rPr kumimoji="1" lang="en" altLang="zh-CN" dirty="0"/>
              <a:t>",</a:t>
            </a:r>
          </a:p>
          <a:p>
            <a:r>
              <a:rPr kumimoji="1" lang="en" altLang="zh-CN" dirty="0"/>
              <a:t>  "ok": false,</a:t>
            </a:r>
          </a:p>
          <a:p>
            <a:r>
              <a:rPr kumimoji="1" lang="en" altLang="zh-CN" dirty="0"/>
              <a:t>  "content": null,</a:t>
            </a:r>
          </a:p>
          <a:p>
            <a:r>
              <a:rPr kumimoji="1" lang="en" altLang="zh-CN" dirty="0"/>
              <a:t>  "error": "</a:t>
            </a:r>
            <a:r>
              <a:rPr kumimoji="1" lang="zh-CN" altLang="en-US" dirty="0"/>
              <a:t>文件不存在：</a:t>
            </a:r>
            <a:r>
              <a:rPr kumimoji="1" lang="en" altLang="zh-CN" dirty="0" err="1"/>
              <a:t>missing.md</a:t>
            </a:r>
            <a:r>
              <a:rPr kumimoji="1" lang="en" altLang="zh-CN" dirty="0"/>
              <a:t>"</a:t>
            </a:r>
          </a:p>
          <a:p>
            <a:r>
              <a:rPr kumimoji="1" lang="en" altLang="zh-CN" dirty="0"/>
              <a:t>}</a:t>
            </a:r>
            <a:endParaRPr kumimoji="1" lang="zh-CN" altLang="en-US" dirty="0"/>
          </a:p>
        </p:txBody>
      </p: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1806FC70-8674-4BA9-FF20-D024F24BC561}"/>
              </a:ext>
            </a:extLst>
          </p:cNvPr>
          <p:cNvSpPr/>
          <p:nvPr/>
        </p:nvSpPr>
        <p:spPr>
          <a:xfrm>
            <a:off x="4012437" y="2492896"/>
            <a:ext cx="1800200" cy="3240360"/>
          </a:xfrm>
          <a:custGeom>
            <a:avLst/>
            <a:gdLst>
              <a:gd name="connsiteX0" fmla="*/ 1800200 w 1800200"/>
              <a:gd name="connsiteY0" fmla="*/ 3240360 h 3240360"/>
              <a:gd name="connsiteX1" fmla="*/ 900100 w 1800200"/>
              <a:gd name="connsiteY1" fmla="*/ 3090349 h 3240360"/>
              <a:gd name="connsiteX2" fmla="*/ 900100 w 1800200"/>
              <a:gd name="connsiteY2" fmla="*/ 2403867 h 3240360"/>
              <a:gd name="connsiteX3" fmla="*/ 900100 w 1800200"/>
              <a:gd name="connsiteY3" fmla="*/ 1770191 h 3240360"/>
              <a:gd name="connsiteX4" fmla="*/ 0 w 1800200"/>
              <a:gd name="connsiteY4" fmla="*/ 1620180 h 3240360"/>
              <a:gd name="connsiteX5" fmla="*/ 900100 w 1800200"/>
              <a:gd name="connsiteY5" fmla="*/ 1470169 h 3240360"/>
              <a:gd name="connsiteX6" fmla="*/ 900100 w 1800200"/>
              <a:gd name="connsiteY6" fmla="*/ 836493 h 3240360"/>
              <a:gd name="connsiteX7" fmla="*/ 900100 w 1800200"/>
              <a:gd name="connsiteY7" fmla="*/ 150011 h 3240360"/>
              <a:gd name="connsiteX8" fmla="*/ 1800200 w 1800200"/>
              <a:gd name="connsiteY8" fmla="*/ 0 h 3240360"/>
              <a:gd name="connsiteX9" fmla="*/ 1800200 w 1800200"/>
              <a:gd name="connsiteY9" fmla="*/ 712879 h 3240360"/>
              <a:gd name="connsiteX10" fmla="*/ 1800200 w 1800200"/>
              <a:gd name="connsiteY10" fmla="*/ 1393355 h 3240360"/>
              <a:gd name="connsiteX11" fmla="*/ 1800200 w 1800200"/>
              <a:gd name="connsiteY11" fmla="*/ 1944216 h 3240360"/>
              <a:gd name="connsiteX12" fmla="*/ 1800200 w 1800200"/>
              <a:gd name="connsiteY12" fmla="*/ 2592288 h 3240360"/>
              <a:gd name="connsiteX13" fmla="*/ 1800200 w 1800200"/>
              <a:gd name="connsiteY13" fmla="*/ 3240360 h 3240360"/>
              <a:gd name="connsiteX0" fmla="*/ 1800200 w 1800200"/>
              <a:gd name="connsiteY0" fmla="*/ 3240360 h 3240360"/>
              <a:gd name="connsiteX1" fmla="*/ 900100 w 1800200"/>
              <a:gd name="connsiteY1" fmla="*/ 3090349 h 3240360"/>
              <a:gd name="connsiteX2" fmla="*/ 900100 w 1800200"/>
              <a:gd name="connsiteY2" fmla="*/ 2403867 h 3240360"/>
              <a:gd name="connsiteX3" fmla="*/ 900100 w 1800200"/>
              <a:gd name="connsiteY3" fmla="*/ 1770191 h 3240360"/>
              <a:gd name="connsiteX4" fmla="*/ 0 w 1800200"/>
              <a:gd name="connsiteY4" fmla="*/ 1620180 h 3240360"/>
              <a:gd name="connsiteX5" fmla="*/ 900100 w 1800200"/>
              <a:gd name="connsiteY5" fmla="*/ 1470169 h 3240360"/>
              <a:gd name="connsiteX6" fmla="*/ 900100 w 1800200"/>
              <a:gd name="connsiteY6" fmla="*/ 796888 h 3240360"/>
              <a:gd name="connsiteX7" fmla="*/ 900100 w 1800200"/>
              <a:gd name="connsiteY7" fmla="*/ 150011 h 3240360"/>
              <a:gd name="connsiteX8" fmla="*/ 1800200 w 1800200"/>
              <a:gd name="connsiteY8" fmla="*/ 0 h 324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00200" h="3240360" stroke="0" extrusionOk="0">
                <a:moveTo>
                  <a:pt x="1800200" y="3240360"/>
                </a:moveTo>
                <a:cubicBezTo>
                  <a:pt x="1296794" y="3236478"/>
                  <a:pt x="889148" y="3177308"/>
                  <a:pt x="900100" y="3090349"/>
                </a:cubicBezTo>
                <a:cubicBezTo>
                  <a:pt x="869698" y="2836103"/>
                  <a:pt x="868574" y="2574475"/>
                  <a:pt x="900100" y="2403867"/>
                </a:cubicBezTo>
                <a:cubicBezTo>
                  <a:pt x="931626" y="2233259"/>
                  <a:pt x="886348" y="2000268"/>
                  <a:pt x="900100" y="1770191"/>
                </a:cubicBezTo>
                <a:cubicBezTo>
                  <a:pt x="846752" y="1658154"/>
                  <a:pt x="511700" y="1627150"/>
                  <a:pt x="0" y="1620180"/>
                </a:cubicBezTo>
                <a:cubicBezTo>
                  <a:pt x="500761" y="1620613"/>
                  <a:pt x="902286" y="1548519"/>
                  <a:pt x="900100" y="1470169"/>
                </a:cubicBezTo>
                <a:cubicBezTo>
                  <a:pt x="918024" y="1178737"/>
                  <a:pt x="874605" y="973393"/>
                  <a:pt x="900100" y="836493"/>
                </a:cubicBezTo>
                <a:cubicBezTo>
                  <a:pt x="925595" y="699593"/>
                  <a:pt x="905864" y="460599"/>
                  <a:pt x="900100" y="150011"/>
                </a:cubicBezTo>
                <a:cubicBezTo>
                  <a:pt x="916613" y="76407"/>
                  <a:pt x="1340718" y="9048"/>
                  <a:pt x="1800200" y="0"/>
                </a:cubicBezTo>
                <a:cubicBezTo>
                  <a:pt x="1808153" y="209197"/>
                  <a:pt x="1826791" y="442288"/>
                  <a:pt x="1800200" y="712879"/>
                </a:cubicBezTo>
                <a:cubicBezTo>
                  <a:pt x="1773609" y="983470"/>
                  <a:pt x="1829274" y="1121424"/>
                  <a:pt x="1800200" y="1393355"/>
                </a:cubicBezTo>
                <a:cubicBezTo>
                  <a:pt x="1771126" y="1665286"/>
                  <a:pt x="1814213" y="1788835"/>
                  <a:pt x="1800200" y="1944216"/>
                </a:cubicBezTo>
                <a:cubicBezTo>
                  <a:pt x="1786187" y="2099597"/>
                  <a:pt x="1806382" y="2269582"/>
                  <a:pt x="1800200" y="2592288"/>
                </a:cubicBezTo>
                <a:cubicBezTo>
                  <a:pt x="1794018" y="2914994"/>
                  <a:pt x="1782005" y="2932252"/>
                  <a:pt x="1800200" y="3240360"/>
                </a:cubicBezTo>
                <a:close/>
              </a:path>
              <a:path w="1800200" h="3240360" fill="none" extrusionOk="0">
                <a:moveTo>
                  <a:pt x="1800200" y="3240360"/>
                </a:moveTo>
                <a:cubicBezTo>
                  <a:pt x="1307625" y="3226405"/>
                  <a:pt x="902277" y="3175552"/>
                  <a:pt x="900100" y="3090349"/>
                </a:cubicBezTo>
                <a:cubicBezTo>
                  <a:pt x="866145" y="2791741"/>
                  <a:pt x="932086" y="2616430"/>
                  <a:pt x="900100" y="2403867"/>
                </a:cubicBezTo>
                <a:cubicBezTo>
                  <a:pt x="868114" y="2191304"/>
                  <a:pt x="909022" y="2018387"/>
                  <a:pt x="900100" y="1770191"/>
                </a:cubicBezTo>
                <a:cubicBezTo>
                  <a:pt x="980279" y="1669755"/>
                  <a:pt x="551291" y="1664815"/>
                  <a:pt x="0" y="1620180"/>
                </a:cubicBezTo>
                <a:cubicBezTo>
                  <a:pt x="479761" y="1614237"/>
                  <a:pt x="890547" y="1562688"/>
                  <a:pt x="900100" y="1470169"/>
                </a:cubicBezTo>
                <a:cubicBezTo>
                  <a:pt x="927808" y="1259383"/>
                  <a:pt x="897098" y="989036"/>
                  <a:pt x="900100" y="796888"/>
                </a:cubicBezTo>
                <a:cubicBezTo>
                  <a:pt x="903102" y="604740"/>
                  <a:pt x="883413" y="344353"/>
                  <a:pt x="900100" y="150011"/>
                </a:cubicBezTo>
                <a:cubicBezTo>
                  <a:pt x="897900" y="86710"/>
                  <a:pt x="1306637" y="-15490"/>
                  <a:pt x="1800200" y="0"/>
                </a:cubicBezTo>
              </a:path>
              <a:path w="1800200" h="3240360" fill="none" stroke="0" extrusionOk="0">
                <a:moveTo>
                  <a:pt x="1800200" y="3240360"/>
                </a:moveTo>
                <a:cubicBezTo>
                  <a:pt x="1301803" y="3237154"/>
                  <a:pt x="897471" y="3170721"/>
                  <a:pt x="900100" y="3090349"/>
                </a:cubicBezTo>
                <a:cubicBezTo>
                  <a:pt x="921124" y="2920411"/>
                  <a:pt x="885291" y="2668498"/>
                  <a:pt x="900100" y="2430270"/>
                </a:cubicBezTo>
                <a:cubicBezTo>
                  <a:pt x="914909" y="2192042"/>
                  <a:pt x="928435" y="2094832"/>
                  <a:pt x="900100" y="1770191"/>
                </a:cubicBezTo>
                <a:cubicBezTo>
                  <a:pt x="936488" y="1693253"/>
                  <a:pt x="482885" y="1620766"/>
                  <a:pt x="0" y="1620180"/>
                </a:cubicBezTo>
                <a:cubicBezTo>
                  <a:pt x="498608" y="1617482"/>
                  <a:pt x="884983" y="1560791"/>
                  <a:pt x="900100" y="1470169"/>
                </a:cubicBezTo>
                <a:cubicBezTo>
                  <a:pt x="915751" y="1210649"/>
                  <a:pt x="917887" y="1127450"/>
                  <a:pt x="900100" y="810090"/>
                </a:cubicBezTo>
                <a:cubicBezTo>
                  <a:pt x="882313" y="492730"/>
                  <a:pt x="902357" y="283013"/>
                  <a:pt x="900100" y="150011"/>
                </a:cubicBezTo>
                <a:cubicBezTo>
                  <a:pt x="985653" y="85002"/>
                  <a:pt x="1258475" y="55604"/>
                  <a:pt x="1800200" y="0"/>
                </a:cubicBezTo>
              </a:path>
            </a:pathLst>
          </a:custGeom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leftBrac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9BEA8C-E9DC-1146-D6D2-E747D7771172}"/>
              </a:ext>
            </a:extLst>
          </p:cNvPr>
          <p:cNvSpPr txBox="1"/>
          <p:nvPr/>
        </p:nvSpPr>
        <p:spPr>
          <a:xfrm>
            <a:off x="4912537" y="218919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成功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22A1F4-AB99-6C98-676B-E14B8AD44B84}"/>
              </a:ext>
            </a:extLst>
          </p:cNvPr>
          <p:cNvSpPr txBox="1"/>
          <p:nvPr/>
        </p:nvSpPr>
        <p:spPr>
          <a:xfrm>
            <a:off x="5031701" y="57723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失败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72B6594-CF61-F759-C2D2-8F7611AA1165}"/>
              </a:ext>
            </a:extLst>
          </p:cNvPr>
          <p:cNvSpPr txBox="1"/>
          <p:nvPr/>
        </p:nvSpPr>
        <p:spPr>
          <a:xfrm>
            <a:off x="5707321" y="4039533"/>
            <a:ext cx="4435317" cy="369332"/>
          </a:xfrm>
          <a:prstGeom prst="rect">
            <a:avLst/>
          </a:prstGeom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CN" altLang="en-US" b="1" dirty="0"/>
              <a:t>小思考：为什么失败也要返回 </a:t>
            </a:r>
            <a:r>
              <a:rPr kumimoji="1" lang="en" altLang="zh-CN" b="1" dirty="0" err="1"/>
              <a:t>ToolResult</a:t>
            </a:r>
            <a:r>
              <a:rPr kumimoji="1" lang="zh-CN" altLang="en" b="1" dirty="0"/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9893920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6CDED-E2A0-F4E2-99BA-5C1B3D1A6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AA3CF-3CD5-9649-AB7A-DFDCD6C3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智能体工具（</a:t>
            </a:r>
            <a:r>
              <a:rPr lang="en-US" altLang="zh-CN" dirty="0"/>
              <a:t>Tool</a:t>
            </a:r>
            <a:r>
              <a:rPr lang="zh-CN" altLang="en-US" dirty="0"/>
              <a:t>）：给模型加上感知外界的躯干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7E977-157D-0C41-6A15-D2F5F42AF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44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98E89431-3C8D-7361-AC21-67722CBA9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>
            <a:normAutofit/>
          </a:bodyPr>
          <a:lstStyle/>
          <a:p>
            <a:r>
              <a:rPr lang="en-US" altLang="zh-CN" dirty="0"/>
              <a:t>Tool</a:t>
            </a:r>
            <a:r>
              <a:rPr lang="zh-CN" altLang="en-US" dirty="0"/>
              <a:t> </a:t>
            </a:r>
            <a:r>
              <a:rPr lang="en-US" altLang="zh-CN" dirty="0"/>
              <a:t>Registry</a:t>
            </a:r>
            <a:r>
              <a:rPr lang="zh-CN" altLang="en-US" dirty="0"/>
              <a:t>：统一管理工具能力的</a:t>
            </a:r>
            <a:endParaRPr lang="en-US" altLang="zh-CN" dirty="0"/>
          </a:p>
          <a:p>
            <a:r>
              <a:rPr kumimoji="1" lang="zh-CN" altLang="en-US" dirty="0"/>
              <a:t>虽然没有</a:t>
            </a:r>
            <a:r>
              <a:rPr kumimoji="1" lang="en-US" altLang="zh-CN" dirty="0"/>
              <a:t> Registry </a:t>
            </a:r>
            <a:r>
              <a:rPr kumimoji="1" lang="zh-CN" altLang="en-US" dirty="0"/>
              <a:t>也可以实现</a:t>
            </a:r>
            <a:r>
              <a:rPr kumimoji="1" lang="en-US" altLang="zh-CN" dirty="0"/>
              <a:t> Tool </a:t>
            </a:r>
            <a:r>
              <a:rPr kumimoji="1" lang="zh-CN" altLang="en-US" dirty="0"/>
              <a:t>的能力，但是可能会变成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在</a:t>
            </a:r>
            <a:r>
              <a:rPr kumimoji="1" lang="en-US" altLang="zh-CN" dirty="0"/>
              <a:t> Tool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Registry </a:t>
            </a:r>
            <a:r>
              <a:rPr kumimoji="1" lang="zh-CN" altLang="en-US" dirty="0"/>
              <a:t>中通常需要支持以下的功能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注册、发现、输出 </a:t>
            </a:r>
            <a:r>
              <a:rPr kumimoji="1" lang="en" altLang="zh-CN" dirty="0"/>
              <a:t>definitions</a:t>
            </a:r>
            <a:r>
              <a:rPr kumimoji="1" lang="zh-CN" altLang="en-US" dirty="0"/>
              <a:t>、按名称路由、校验参数、统一错误</a:t>
            </a:r>
          </a:p>
          <a:p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14935D-1931-6701-E413-FFCC2DC0DCFB}"/>
              </a:ext>
            </a:extLst>
          </p:cNvPr>
          <p:cNvSpPr txBox="1"/>
          <p:nvPr/>
        </p:nvSpPr>
        <p:spPr>
          <a:xfrm>
            <a:off x="1775520" y="2551837"/>
            <a:ext cx="312592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if name == "</a:t>
            </a:r>
            <a:r>
              <a:rPr kumimoji="1" lang="en" altLang="zh-CN" dirty="0" err="1"/>
              <a:t>get_current_time</a:t>
            </a:r>
            <a:r>
              <a:rPr kumimoji="1" lang="en" altLang="zh-CN" dirty="0"/>
              <a:t>":</a:t>
            </a:r>
          </a:p>
          <a:p>
            <a:r>
              <a:rPr kumimoji="1" lang="en" altLang="zh-CN" dirty="0"/>
              <a:t>    ...</a:t>
            </a:r>
          </a:p>
          <a:p>
            <a:r>
              <a:rPr kumimoji="1" lang="en" altLang="zh-CN" dirty="0" err="1"/>
              <a:t>elif</a:t>
            </a:r>
            <a:r>
              <a:rPr kumimoji="1" lang="en" altLang="zh-CN" dirty="0"/>
              <a:t> name == "</a:t>
            </a:r>
            <a:r>
              <a:rPr kumimoji="1" lang="en" altLang="zh-CN" dirty="0" err="1"/>
              <a:t>list_dir</a:t>
            </a:r>
            <a:r>
              <a:rPr kumimoji="1" lang="en" altLang="zh-CN" dirty="0"/>
              <a:t>":</a:t>
            </a:r>
          </a:p>
          <a:p>
            <a:r>
              <a:rPr kumimoji="1" lang="en" altLang="zh-CN" dirty="0"/>
              <a:t>    ...</a:t>
            </a:r>
          </a:p>
          <a:p>
            <a:r>
              <a:rPr kumimoji="1" lang="en" altLang="zh-CN" dirty="0" err="1"/>
              <a:t>elif</a:t>
            </a:r>
            <a:r>
              <a:rPr kumimoji="1" lang="en" altLang="zh-CN" dirty="0"/>
              <a:t> name == "</a:t>
            </a:r>
            <a:r>
              <a:rPr kumimoji="1" lang="en" altLang="zh-CN" dirty="0" err="1"/>
              <a:t>read_text_file</a:t>
            </a:r>
            <a:r>
              <a:rPr kumimoji="1" lang="en" altLang="zh-CN" dirty="0"/>
              <a:t>":</a:t>
            </a:r>
          </a:p>
          <a:p>
            <a:r>
              <a:rPr kumimoji="1" lang="en" altLang="zh-CN" dirty="0"/>
              <a:t>    ...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40687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1B65C-3BC9-0F49-DC5C-AD32AF70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89231-7A80-9825-3557-755D28B2F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两种</a:t>
            </a:r>
            <a:r>
              <a:rPr lang="en-US" altLang="zh-CN" dirty="0"/>
              <a:t> Tool</a:t>
            </a:r>
            <a:r>
              <a:rPr lang="zh-CN" altLang="en-US" dirty="0"/>
              <a:t> </a:t>
            </a:r>
            <a:r>
              <a:rPr lang="en-US" altLang="zh-CN" dirty="0"/>
              <a:t>Calling </a:t>
            </a:r>
            <a:r>
              <a:rPr lang="zh-CN" altLang="en-US" dirty="0"/>
              <a:t>的方案（模型去调工具）</a:t>
            </a:r>
            <a:r>
              <a:rPr lang="en-US" altLang="zh-CN" dirty="0"/>
              <a:t>#1</a:t>
            </a:r>
            <a:r>
              <a:rPr lang="zh-CN" altLang="en-US" dirty="0"/>
              <a:t>：原生接口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9EE36-6D57-F486-E110-0C44A32A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45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E272F2FE-4BC2-4D23-23A8-BC9E874E3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>
            <a:normAutofit/>
          </a:bodyPr>
          <a:lstStyle/>
          <a:p>
            <a:r>
              <a:rPr lang="zh-CN" altLang="en-US" dirty="0"/>
              <a:t>由于工具使用的广泛性，当前模型训练等阶段已经针对工具调用进行了针对性的处理</a:t>
            </a:r>
            <a:endParaRPr lang="en-US" altLang="zh-CN" dirty="0"/>
          </a:p>
          <a:p>
            <a:r>
              <a:rPr lang="zh-CN" altLang="en-US" dirty="0"/>
              <a:t>如果 </a:t>
            </a:r>
            <a:r>
              <a:rPr lang="en-US" altLang="zh-CN" dirty="0"/>
              <a:t>LLM API </a:t>
            </a:r>
            <a:r>
              <a:rPr lang="zh-CN" altLang="en-US" dirty="0"/>
              <a:t>支持 </a:t>
            </a:r>
            <a:r>
              <a:rPr lang="en-US" altLang="zh-CN" dirty="0"/>
              <a:t>tools/function calling</a:t>
            </a:r>
            <a:r>
              <a:rPr lang="zh-CN" altLang="en-US" dirty="0"/>
              <a:t>，可以把 </a:t>
            </a:r>
            <a:r>
              <a:rPr lang="en-US" altLang="zh-CN" dirty="0"/>
              <a:t>definitions </a:t>
            </a:r>
            <a:r>
              <a:rPr lang="zh-CN" altLang="en-US" dirty="0"/>
              <a:t>作为 </a:t>
            </a:r>
            <a:r>
              <a:rPr lang="en-US" altLang="zh-CN" dirty="0"/>
              <a:t>API </a:t>
            </a:r>
            <a:r>
              <a:rPr lang="zh-CN" altLang="en-US" dirty="0"/>
              <a:t>参数传入。模型返回结构化 </a:t>
            </a:r>
            <a:r>
              <a:rPr lang="en-US" altLang="zh-CN" dirty="0"/>
              <a:t>Tool Call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例如：如果使用</a:t>
            </a:r>
            <a:r>
              <a:rPr lang="en-US" altLang="zh-CN" dirty="0"/>
              <a:t> </a:t>
            </a:r>
            <a:r>
              <a:rPr lang="en-US" altLang="zh-CN" dirty="0" err="1"/>
              <a:t>DeepSeek</a:t>
            </a:r>
            <a:r>
              <a:rPr lang="en-US" altLang="zh-CN" dirty="0"/>
              <a:t> </a:t>
            </a:r>
            <a:r>
              <a:rPr lang="zh-CN" altLang="en-US" dirty="0"/>
              <a:t>系列的</a:t>
            </a:r>
            <a:r>
              <a:rPr lang="en-US" altLang="zh-CN" dirty="0"/>
              <a:t> API</a:t>
            </a:r>
            <a:r>
              <a:rPr lang="zh-CN" altLang="en-US" dirty="0"/>
              <a:t>，那么</a:t>
            </a:r>
            <a:r>
              <a:rPr lang="en-US" altLang="zh-CN" dirty="0"/>
              <a:t> DS </a:t>
            </a:r>
            <a:r>
              <a:rPr lang="zh-CN" altLang="en-US" dirty="0"/>
              <a:t>是支持工具调用的</a:t>
            </a:r>
            <a:endParaRPr lang="en-US" altLang="zh-CN" dirty="0"/>
          </a:p>
          <a:p>
            <a:r>
              <a:rPr lang="zh-CN" altLang="en-US" dirty="0"/>
              <a:t>其他模型</a:t>
            </a:r>
            <a:r>
              <a:rPr lang="en-US" altLang="zh-CN" dirty="0"/>
              <a:t> API </a:t>
            </a:r>
            <a:r>
              <a:rPr lang="zh-CN" altLang="en-US" dirty="0"/>
              <a:t>平台大家</a:t>
            </a:r>
            <a:br>
              <a:rPr lang="en-US" altLang="zh-CN" dirty="0"/>
            </a:br>
            <a:r>
              <a:rPr lang="zh-CN" altLang="en-US" dirty="0"/>
              <a:t>可以自己去查阅对应的</a:t>
            </a:r>
            <a:br>
              <a:rPr lang="en-US" altLang="zh-CN" dirty="0"/>
            </a:br>
            <a:r>
              <a:rPr lang="zh-CN" altLang="en-US" dirty="0"/>
              <a:t>文档</a:t>
            </a:r>
          </a:p>
          <a:p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E5D740-D72A-AF67-5AE3-AB7444624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808" y="3679388"/>
            <a:ext cx="6400799" cy="297683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D9FB856-E2FD-255D-8252-2ED9D2F42521}"/>
              </a:ext>
            </a:extLst>
          </p:cNvPr>
          <p:cNvSpPr txBox="1"/>
          <p:nvPr/>
        </p:nvSpPr>
        <p:spPr>
          <a:xfrm>
            <a:off x="10002" y="6488668"/>
            <a:ext cx="7554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DeepSeek</a:t>
            </a:r>
            <a:r>
              <a:rPr kumimoji="1" lang="zh-CN" altLang="en-US" dirty="0"/>
              <a:t> </a:t>
            </a:r>
            <a:r>
              <a:rPr kumimoji="1" lang="en-US" altLang="zh-CN" dirty="0"/>
              <a:t>Tool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Calls</a:t>
            </a:r>
            <a:r>
              <a:rPr kumimoji="1" lang="zh-CN" altLang="en-US" dirty="0"/>
              <a:t>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api-docs.deepseek.com</a:t>
            </a:r>
            <a:r>
              <a:rPr kumimoji="1" lang="en" altLang="zh-CN" dirty="0"/>
              <a:t>/</a:t>
            </a:r>
            <a:r>
              <a:rPr kumimoji="1" lang="en" altLang="zh-CN" dirty="0" err="1"/>
              <a:t>zh-cn</a:t>
            </a:r>
            <a:r>
              <a:rPr kumimoji="1" lang="en" altLang="zh-CN" dirty="0"/>
              <a:t>/guides/</a:t>
            </a:r>
            <a:r>
              <a:rPr kumimoji="1" lang="en" altLang="zh-CN" dirty="0" err="1"/>
              <a:t>tool_calls</a:t>
            </a:r>
            <a:r>
              <a:rPr kumimoji="1" lang="en" altLang="zh-CN" dirty="0"/>
              <a:t>/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78062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65DBE-13D5-E159-B326-D4A07EA73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AF4E9-2C84-A370-7981-2935CC11D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两种</a:t>
            </a:r>
            <a:r>
              <a:rPr lang="en-US" altLang="zh-CN" dirty="0"/>
              <a:t> Tool</a:t>
            </a:r>
            <a:r>
              <a:rPr lang="zh-CN" altLang="en-US" dirty="0"/>
              <a:t> </a:t>
            </a:r>
            <a:r>
              <a:rPr lang="en-US" altLang="zh-CN" dirty="0"/>
              <a:t>Calling </a:t>
            </a:r>
            <a:r>
              <a:rPr lang="zh-CN" altLang="en-US" dirty="0"/>
              <a:t>的方案（模型去调工具）</a:t>
            </a:r>
            <a:r>
              <a:rPr lang="en-US" altLang="zh-CN" dirty="0"/>
              <a:t>#1</a:t>
            </a:r>
            <a:r>
              <a:rPr lang="zh-CN" altLang="en-US" dirty="0"/>
              <a:t>：原生接口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483FF-FC15-D62F-5114-B6C2D3F5B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46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6246747C-EA4F-81DC-5662-6E074E652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DeepSeek</a:t>
            </a:r>
            <a:r>
              <a:rPr lang="en-US" altLang="zh-CN" dirty="0"/>
              <a:t> </a:t>
            </a:r>
            <a:r>
              <a:rPr lang="zh-CN" altLang="en-US" dirty="0"/>
              <a:t>的</a:t>
            </a:r>
            <a:r>
              <a:rPr lang="en-US" altLang="zh-CN" dirty="0"/>
              <a:t> Tool</a:t>
            </a:r>
            <a:r>
              <a:rPr lang="zh-CN" altLang="en-US" dirty="0"/>
              <a:t> </a:t>
            </a:r>
            <a:r>
              <a:rPr lang="en-US" altLang="zh-CN" dirty="0"/>
              <a:t>Calling </a:t>
            </a:r>
            <a:r>
              <a:rPr lang="zh-CN" altLang="en-US" dirty="0"/>
              <a:t>案例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56A955-6584-44EF-7396-5E7C05A239D5}"/>
              </a:ext>
            </a:extLst>
          </p:cNvPr>
          <p:cNvSpPr txBox="1"/>
          <p:nvPr/>
        </p:nvSpPr>
        <p:spPr>
          <a:xfrm>
            <a:off x="10002" y="6488668"/>
            <a:ext cx="7554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DeepSeek</a:t>
            </a:r>
            <a:r>
              <a:rPr kumimoji="1" lang="zh-CN" altLang="en-US" dirty="0"/>
              <a:t> </a:t>
            </a:r>
            <a:r>
              <a:rPr kumimoji="1" lang="en-US" altLang="zh-CN" dirty="0"/>
              <a:t>Tool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Calls</a:t>
            </a:r>
            <a:r>
              <a:rPr kumimoji="1" lang="zh-CN" altLang="en-US" dirty="0"/>
              <a:t>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api-docs.deepseek.com</a:t>
            </a:r>
            <a:r>
              <a:rPr kumimoji="1" lang="en" altLang="zh-CN" dirty="0"/>
              <a:t>/</a:t>
            </a:r>
            <a:r>
              <a:rPr kumimoji="1" lang="en" altLang="zh-CN" dirty="0" err="1"/>
              <a:t>zh-cn</a:t>
            </a:r>
            <a:r>
              <a:rPr kumimoji="1" lang="en" altLang="zh-CN" dirty="0"/>
              <a:t>/guides/</a:t>
            </a:r>
            <a:r>
              <a:rPr kumimoji="1" lang="en" altLang="zh-CN" dirty="0" err="1"/>
              <a:t>tool_calls</a:t>
            </a:r>
            <a:r>
              <a:rPr kumimoji="1" lang="en" altLang="zh-CN" dirty="0"/>
              <a:t>/</a:t>
            </a:r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1C2ED2-B268-0DDE-D1C2-DE3D03B0B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84" y="1855391"/>
            <a:ext cx="5886713" cy="466159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90C743-BD40-11B3-01F0-83C21377D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1975" y="1827070"/>
            <a:ext cx="7890025" cy="220186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E879F3D-516E-A333-7D3E-F554786F6D05}"/>
              </a:ext>
            </a:extLst>
          </p:cNvPr>
          <p:cNvSpPr txBox="1"/>
          <p:nvPr/>
        </p:nvSpPr>
        <p:spPr>
          <a:xfrm>
            <a:off x="6154253" y="5404574"/>
            <a:ext cx="2385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代码来自</a:t>
            </a:r>
            <a:r>
              <a:rPr kumimoji="1" lang="en-US" altLang="zh-CN" dirty="0"/>
              <a:t> DS </a:t>
            </a:r>
            <a:r>
              <a:rPr kumimoji="1" lang="zh-CN" altLang="en-US" dirty="0"/>
              <a:t>官方文档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62C233-36A3-1724-9310-5C3469B47722}"/>
              </a:ext>
            </a:extLst>
          </p:cNvPr>
          <p:cNvSpPr/>
          <p:nvPr/>
        </p:nvSpPr>
        <p:spPr>
          <a:xfrm>
            <a:off x="407368" y="4221088"/>
            <a:ext cx="5443473" cy="2267580"/>
          </a:xfrm>
          <a:custGeom>
            <a:avLst/>
            <a:gdLst>
              <a:gd name="connsiteX0" fmla="*/ 0 w 5443473"/>
              <a:gd name="connsiteY0" fmla="*/ 0 h 2267580"/>
              <a:gd name="connsiteX1" fmla="*/ 571565 w 5443473"/>
              <a:gd name="connsiteY1" fmla="*/ 0 h 2267580"/>
              <a:gd name="connsiteX2" fmla="*/ 1251999 w 5443473"/>
              <a:gd name="connsiteY2" fmla="*/ 0 h 2267580"/>
              <a:gd name="connsiteX3" fmla="*/ 1823563 w 5443473"/>
              <a:gd name="connsiteY3" fmla="*/ 0 h 2267580"/>
              <a:gd name="connsiteX4" fmla="*/ 2612867 w 5443473"/>
              <a:gd name="connsiteY4" fmla="*/ 0 h 2267580"/>
              <a:gd name="connsiteX5" fmla="*/ 3347736 w 5443473"/>
              <a:gd name="connsiteY5" fmla="*/ 0 h 2267580"/>
              <a:gd name="connsiteX6" fmla="*/ 3864866 w 5443473"/>
              <a:gd name="connsiteY6" fmla="*/ 0 h 2267580"/>
              <a:gd name="connsiteX7" fmla="*/ 4654169 w 5443473"/>
              <a:gd name="connsiteY7" fmla="*/ 0 h 2267580"/>
              <a:gd name="connsiteX8" fmla="*/ 5443473 w 5443473"/>
              <a:gd name="connsiteY8" fmla="*/ 0 h 2267580"/>
              <a:gd name="connsiteX9" fmla="*/ 5443473 w 5443473"/>
              <a:gd name="connsiteY9" fmla="*/ 612247 h 2267580"/>
              <a:gd name="connsiteX10" fmla="*/ 5443473 w 5443473"/>
              <a:gd name="connsiteY10" fmla="*/ 1111114 h 2267580"/>
              <a:gd name="connsiteX11" fmla="*/ 5443473 w 5443473"/>
              <a:gd name="connsiteY11" fmla="*/ 1700685 h 2267580"/>
              <a:gd name="connsiteX12" fmla="*/ 5443473 w 5443473"/>
              <a:gd name="connsiteY12" fmla="*/ 2267580 h 2267580"/>
              <a:gd name="connsiteX13" fmla="*/ 4871908 w 5443473"/>
              <a:gd name="connsiteY13" fmla="*/ 2267580 h 2267580"/>
              <a:gd name="connsiteX14" fmla="*/ 4300344 w 5443473"/>
              <a:gd name="connsiteY14" fmla="*/ 2267580 h 2267580"/>
              <a:gd name="connsiteX15" fmla="*/ 3619910 w 5443473"/>
              <a:gd name="connsiteY15" fmla="*/ 2267580 h 2267580"/>
              <a:gd name="connsiteX16" fmla="*/ 2939475 w 5443473"/>
              <a:gd name="connsiteY16" fmla="*/ 2267580 h 2267580"/>
              <a:gd name="connsiteX17" fmla="*/ 2313476 w 5443473"/>
              <a:gd name="connsiteY17" fmla="*/ 2267580 h 2267580"/>
              <a:gd name="connsiteX18" fmla="*/ 1633042 w 5443473"/>
              <a:gd name="connsiteY18" fmla="*/ 2267580 h 2267580"/>
              <a:gd name="connsiteX19" fmla="*/ 1061477 w 5443473"/>
              <a:gd name="connsiteY19" fmla="*/ 2267580 h 2267580"/>
              <a:gd name="connsiteX20" fmla="*/ 0 w 5443473"/>
              <a:gd name="connsiteY20" fmla="*/ 2267580 h 2267580"/>
              <a:gd name="connsiteX21" fmla="*/ 0 w 5443473"/>
              <a:gd name="connsiteY21" fmla="*/ 1746037 h 2267580"/>
              <a:gd name="connsiteX22" fmla="*/ 0 w 5443473"/>
              <a:gd name="connsiteY22" fmla="*/ 1156466 h 2267580"/>
              <a:gd name="connsiteX23" fmla="*/ 0 w 5443473"/>
              <a:gd name="connsiteY23" fmla="*/ 657598 h 2267580"/>
              <a:gd name="connsiteX24" fmla="*/ 0 w 5443473"/>
              <a:gd name="connsiteY24" fmla="*/ 0 h 226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443473" h="2267580" extrusionOk="0">
                <a:moveTo>
                  <a:pt x="0" y="0"/>
                </a:moveTo>
                <a:cubicBezTo>
                  <a:pt x="193882" y="11749"/>
                  <a:pt x="413432" y="3374"/>
                  <a:pt x="571565" y="0"/>
                </a:cubicBezTo>
                <a:cubicBezTo>
                  <a:pt x="729698" y="-3374"/>
                  <a:pt x="1103873" y="-3381"/>
                  <a:pt x="1251999" y="0"/>
                </a:cubicBezTo>
                <a:cubicBezTo>
                  <a:pt x="1400125" y="3381"/>
                  <a:pt x="1631578" y="-6995"/>
                  <a:pt x="1823563" y="0"/>
                </a:cubicBezTo>
                <a:cubicBezTo>
                  <a:pt x="2015548" y="6995"/>
                  <a:pt x="2372903" y="-39118"/>
                  <a:pt x="2612867" y="0"/>
                </a:cubicBezTo>
                <a:cubicBezTo>
                  <a:pt x="2852831" y="39118"/>
                  <a:pt x="3156615" y="-28546"/>
                  <a:pt x="3347736" y="0"/>
                </a:cubicBezTo>
                <a:cubicBezTo>
                  <a:pt x="3538857" y="28546"/>
                  <a:pt x="3723884" y="1821"/>
                  <a:pt x="3864866" y="0"/>
                </a:cubicBezTo>
                <a:cubicBezTo>
                  <a:pt x="4005848" y="-1821"/>
                  <a:pt x="4351837" y="9957"/>
                  <a:pt x="4654169" y="0"/>
                </a:cubicBezTo>
                <a:cubicBezTo>
                  <a:pt x="4956501" y="-9957"/>
                  <a:pt x="5210257" y="-27885"/>
                  <a:pt x="5443473" y="0"/>
                </a:cubicBezTo>
                <a:cubicBezTo>
                  <a:pt x="5422134" y="145805"/>
                  <a:pt x="5458359" y="323387"/>
                  <a:pt x="5443473" y="612247"/>
                </a:cubicBezTo>
                <a:cubicBezTo>
                  <a:pt x="5428587" y="901107"/>
                  <a:pt x="5444666" y="997612"/>
                  <a:pt x="5443473" y="1111114"/>
                </a:cubicBezTo>
                <a:cubicBezTo>
                  <a:pt x="5442280" y="1224616"/>
                  <a:pt x="5464416" y="1515052"/>
                  <a:pt x="5443473" y="1700685"/>
                </a:cubicBezTo>
                <a:cubicBezTo>
                  <a:pt x="5422530" y="1886318"/>
                  <a:pt x="5462629" y="2019333"/>
                  <a:pt x="5443473" y="2267580"/>
                </a:cubicBezTo>
                <a:cubicBezTo>
                  <a:pt x="5289066" y="2252103"/>
                  <a:pt x="5125410" y="2258955"/>
                  <a:pt x="4871908" y="2267580"/>
                </a:cubicBezTo>
                <a:cubicBezTo>
                  <a:pt x="4618407" y="2276205"/>
                  <a:pt x="4478399" y="2294896"/>
                  <a:pt x="4300344" y="2267580"/>
                </a:cubicBezTo>
                <a:cubicBezTo>
                  <a:pt x="4122289" y="2240264"/>
                  <a:pt x="3765749" y="2243179"/>
                  <a:pt x="3619910" y="2267580"/>
                </a:cubicBezTo>
                <a:cubicBezTo>
                  <a:pt x="3474071" y="2291981"/>
                  <a:pt x="3108927" y="2241377"/>
                  <a:pt x="2939475" y="2267580"/>
                </a:cubicBezTo>
                <a:cubicBezTo>
                  <a:pt x="2770023" y="2293783"/>
                  <a:pt x="2470505" y="2273190"/>
                  <a:pt x="2313476" y="2267580"/>
                </a:cubicBezTo>
                <a:cubicBezTo>
                  <a:pt x="2156447" y="2261970"/>
                  <a:pt x="1916342" y="2271467"/>
                  <a:pt x="1633042" y="2267580"/>
                </a:cubicBezTo>
                <a:cubicBezTo>
                  <a:pt x="1349742" y="2263693"/>
                  <a:pt x="1279391" y="2248487"/>
                  <a:pt x="1061477" y="2267580"/>
                </a:cubicBezTo>
                <a:cubicBezTo>
                  <a:pt x="843563" y="2286673"/>
                  <a:pt x="242718" y="2270881"/>
                  <a:pt x="0" y="2267580"/>
                </a:cubicBezTo>
                <a:cubicBezTo>
                  <a:pt x="8996" y="2027038"/>
                  <a:pt x="17100" y="1924540"/>
                  <a:pt x="0" y="1746037"/>
                </a:cubicBezTo>
                <a:cubicBezTo>
                  <a:pt x="-17100" y="1567534"/>
                  <a:pt x="28533" y="1400322"/>
                  <a:pt x="0" y="1156466"/>
                </a:cubicBezTo>
                <a:cubicBezTo>
                  <a:pt x="-28533" y="912610"/>
                  <a:pt x="21828" y="869754"/>
                  <a:pt x="0" y="657598"/>
                </a:cubicBezTo>
                <a:cubicBezTo>
                  <a:pt x="-21828" y="445442"/>
                  <a:pt x="31294" y="320788"/>
                  <a:pt x="0" y="0"/>
                </a:cubicBezTo>
                <a:close/>
              </a:path>
            </a:pathLst>
          </a:custGeom>
          <a:noFill/>
          <a:ln w="190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84431218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827DD7D-474B-D49C-77B4-BD5BA629473E}"/>
              </a:ext>
            </a:extLst>
          </p:cNvPr>
          <p:cNvSpPr txBox="1"/>
          <p:nvPr/>
        </p:nvSpPr>
        <p:spPr>
          <a:xfrm>
            <a:off x="2344993" y="6025834"/>
            <a:ext cx="3541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</a:rPr>
              <a:t>这是一个获取天气的</a:t>
            </a:r>
            <a:r>
              <a:rPr kumimoji="1" lang="en-US" altLang="zh-CN" sz="2400" b="1" dirty="0">
                <a:solidFill>
                  <a:srgbClr val="C00000"/>
                </a:solidFill>
              </a:rPr>
              <a:t> Tool</a:t>
            </a:r>
            <a:endParaRPr kumimoji="1"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7DE07D-840A-60D1-30E5-CF3F83368553}"/>
              </a:ext>
            </a:extLst>
          </p:cNvPr>
          <p:cNvSpPr txBox="1"/>
          <p:nvPr/>
        </p:nvSpPr>
        <p:spPr>
          <a:xfrm>
            <a:off x="2566729" y="1855391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1/2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B74C7E3-1A92-9827-2294-1AA6FA51B9A5}"/>
              </a:ext>
            </a:extLst>
          </p:cNvPr>
          <p:cNvSpPr txBox="1"/>
          <p:nvPr/>
        </p:nvSpPr>
        <p:spPr>
          <a:xfrm>
            <a:off x="10776520" y="221346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2/2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07E143-436B-D2D3-E411-9F474096A388}"/>
              </a:ext>
            </a:extLst>
          </p:cNvPr>
          <p:cNvSpPr/>
          <p:nvPr/>
        </p:nvSpPr>
        <p:spPr>
          <a:xfrm>
            <a:off x="4167382" y="2132857"/>
            <a:ext cx="3600844" cy="216024"/>
          </a:xfrm>
          <a:custGeom>
            <a:avLst/>
            <a:gdLst>
              <a:gd name="connsiteX0" fmla="*/ 0 w 3600844"/>
              <a:gd name="connsiteY0" fmla="*/ 0 h 216024"/>
              <a:gd name="connsiteX1" fmla="*/ 528124 w 3600844"/>
              <a:gd name="connsiteY1" fmla="*/ 0 h 216024"/>
              <a:gd name="connsiteX2" fmla="*/ 1128264 w 3600844"/>
              <a:gd name="connsiteY2" fmla="*/ 0 h 216024"/>
              <a:gd name="connsiteX3" fmla="*/ 1656388 w 3600844"/>
              <a:gd name="connsiteY3" fmla="*/ 0 h 216024"/>
              <a:gd name="connsiteX4" fmla="*/ 2328546 w 3600844"/>
              <a:gd name="connsiteY4" fmla="*/ 0 h 216024"/>
              <a:gd name="connsiteX5" fmla="*/ 2964695 w 3600844"/>
              <a:gd name="connsiteY5" fmla="*/ 0 h 216024"/>
              <a:gd name="connsiteX6" fmla="*/ 3600844 w 3600844"/>
              <a:gd name="connsiteY6" fmla="*/ 0 h 216024"/>
              <a:gd name="connsiteX7" fmla="*/ 3600844 w 3600844"/>
              <a:gd name="connsiteY7" fmla="*/ 216024 h 216024"/>
              <a:gd name="connsiteX8" fmla="*/ 3072720 w 3600844"/>
              <a:gd name="connsiteY8" fmla="*/ 216024 h 216024"/>
              <a:gd name="connsiteX9" fmla="*/ 2400563 w 3600844"/>
              <a:gd name="connsiteY9" fmla="*/ 216024 h 216024"/>
              <a:gd name="connsiteX10" fmla="*/ 1908447 w 3600844"/>
              <a:gd name="connsiteY10" fmla="*/ 216024 h 216024"/>
              <a:gd name="connsiteX11" fmla="*/ 1416332 w 3600844"/>
              <a:gd name="connsiteY11" fmla="*/ 216024 h 216024"/>
              <a:gd name="connsiteX12" fmla="*/ 816191 w 3600844"/>
              <a:gd name="connsiteY12" fmla="*/ 216024 h 216024"/>
              <a:gd name="connsiteX13" fmla="*/ 0 w 3600844"/>
              <a:gd name="connsiteY13" fmla="*/ 216024 h 216024"/>
              <a:gd name="connsiteX14" fmla="*/ 0 w 3600844"/>
              <a:gd name="connsiteY14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600844" h="216024" extrusionOk="0">
                <a:moveTo>
                  <a:pt x="0" y="0"/>
                </a:moveTo>
                <a:cubicBezTo>
                  <a:pt x="132604" y="17736"/>
                  <a:pt x="361250" y="10435"/>
                  <a:pt x="528124" y="0"/>
                </a:cubicBezTo>
                <a:cubicBezTo>
                  <a:pt x="694998" y="-10435"/>
                  <a:pt x="998221" y="2600"/>
                  <a:pt x="1128264" y="0"/>
                </a:cubicBezTo>
                <a:cubicBezTo>
                  <a:pt x="1258307" y="-2600"/>
                  <a:pt x="1416936" y="25739"/>
                  <a:pt x="1656388" y="0"/>
                </a:cubicBezTo>
                <a:cubicBezTo>
                  <a:pt x="1895840" y="-25739"/>
                  <a:pt x="2119071" y="-15635"/>
                  <a:pt x="2328546" y="0"/>
                </a:cubicBezTo>
                <a:cubicBezTo>
                  <a:pt x="2538021" y="15635"/>
                  <a:pt x="2796875" y="10304"/>
                  <a:pt x="2964695" y="0"/>
                </a:cubicBezTo>
                <a:cubicBezTo>
                  <a:pt x="3132515" y="-10304"/>
                  <a:pt x="3413874" y="16923"/>
                  <a:pt x="3600844" y="0"/>
                </a:cubicBezTo>
                <a:cubicBezTo>
                  <a:pt x="3595726" y="78085"/>
                  <a:pt x="3591284" y="127314"/>
                  <a:pt x="3600844" y="216024"/>
                </a:cubicBezTo>
                <a:cubicBezTo>
                  <a:pt x="3449853" y="221967"/>
                  <a:pt x="3193549" y="226369"/>
                  <a:pt x="3072720" y="216024"/>
                </a:cubicBezTo>
                <a:cubicBezTo>
                  <a:pt x="2951891" y="205679"/>
                  <a:pt x="2630895" y="219438"/>
                  <a:pt x="2400563" y="216024"/>
                </a:cubicBezTo>
                <a:cubicBezTo>
                  <a:pt x="2170231" y="212610"/>
                  <a:pt x="2069238" y="221856"/>
                  <a:pt x="1908447" y="216024"/>
                </a:cubicBezTo>
                <a:cubicBezTo>
                  <a:pt x="1747656" y="210192"/>
                  <a:pt x="1570484" y="218735"/>
                  <a:pt x="1416332" y="216024"/>
                </a:cubicBezTo>
                <a:cubicBezTo>
                  <a:pt x="1262180" y="213313"/>
                  <a:pt x="1027596" y="209634"/>
                  <a:pt x="816191" y="216024"/>
                </a:cubicBezTo>
                <a:cubicBezTo>
                  <a:pt x="604786" y="222414"/>
                  <a:pt x="302189" y="213817"/>
                  <a:pt x="0" y="216024"/>
                </a:cubicBezTo>
                <a:cubicBezTo>
                  <a:pt x="6035" y="168235"/>
                  <a:pt x="-9599" y="101792"/>
                  <a:pt x="0" y="0"/>
                </a:cubicBezTo>
                <a:close/>
              </a:path>
            </a:pathLst>
          </a:custGeom>
          <a:noFill/>
          <a:ln w="190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84431218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10088C-B257-4AA2-59CB-8D0A671EE7FB}"/>
              </a:ext>
            </a:extLst>
          </p:cNvPr>
          <p:cNvSpPr/>
          <p:nvPr/>
        </p:nvSpPr>
        <p:spPr>
          <a:xfrm>
            <a:off x="767408" y="2733453"/>
            <a:ext cx="792088" cy="191491"/>
          </a:xfrm>
          <a:custGeom>
            <a:avLst/>
            <a:gdLst>
              <a:gd name="connsiteX0" fmla="*/ 0 w 792088"/>
              <a:gd name="connsiteY0" fmla="*/ 0 h 191491"/>
              <a:gd name="connsiteX1" fmla="*/ 380202 w 792088"/>
              <a:gd name="connsiteY1" fmla="*/ 0 h 191491"/>
              <a:gd name="connsiteX2" fmla="*/ 792088 w 792088"/>
              <a:gd name="connsiteY2" fmla="*/ 0 h 191491"/>
              <a:gd name="connsiteX3" fmla="*/ 792088 w 792088"/>
              <a:gd name="connsiteY3" fmla="*/ 191491 h 191491"/>
              <a:gd name="connsiteX4" fmla="*/ 419807 w 792088"/>
              <a:gd name="connsiteY4" fmla="*/ 191491 h 191491"/>
              <a:gd name="connsiteX5" fmla="*/ 0 w 792088"/>
              <a:gd name="connsiteY5" fmla="*/ 191491 h 191491"/>
              <a:gd name="connsiteX6" fmla="*/ 0 w 792088"/>
              <a:gd name="connsiteY6" fmla="*/ 0 h 19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2088" h="191491" extrusionOk="0">
                <a:moveTo>
                  <a:pt x="0" y="0"/>
                </a:moveTo>
                <a:cubicBezTo>
                  <a:pt x="186064" y="-3647"/>
                  <a:pt x="266288" y="-778"/>
                  <a:pt x="380202" y="0"/>
                </a:cubicBezTo>
                <a:cubicBezTo>
                  <a:pt x="494116" y="778"/>
                  <a:pt x="610163" y="11595"/>
                  <a:pt x="792088" y="0"/>
                </a:cubicBezTo>
                <a:cubicBezTo>
                  <a:pt x="797926" y="72965"/>
                  <a:pt x="786036" y="123368"/>
                  <a:pt x="792088" y="191491"/>
                </a:cubicBezTo>
                <a:cubicBezTo>
                  <a:pt x="654728" y="187496"/>
                  <a:pt x="499291" y="182241"/>
                  <a:pt x="419807" y="191491"/>
                </a:cubicBezTo>
                <a:cubicBezTo>
                  <a:pt x="340323" y="200741"/>
                  <a:pt x="146925" y="175308"/>
                  <a:pt x="0" y="191491"/>
                </a:cubicBezTo>
                <a:cubicBezTo>
                  <a:pt x="-4742" y="144959"/>
                  <a:pt x="-395" y="75783"/>
                  <a:pt x="0" y="0"/>
                </a:cubicBezTo>
                <a:close/>
              </a:path>
            </a:pathLst>
          </a:custGeom>
          <a:noFill/>
          <a:ln w="190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84431218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20023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4BAF-71CE-A1A0-E761-AE74DCCDB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F6714-E18C-370E-CC62-B55FBE003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两种</a:t>
            </a:r>
            <a:r>
              <a:rPr lang="en-US" altLang="zh-CN" dirty="0"/>
              <a:t> Tool</a:t>
            </a:r>
            <a:r>
              <a:rPr lang="zh-CN" altLang="en-US" dirty="0"/>
              <a:t> </a:t>
            </a:r>
            <a:r>
              <a:rPr lang="en-US" altLang="zh-CN" dirty="0"/>
              <a:t>Calling </a:t>
            </a:r>
            <a:r>
              <a:rPr lang="zh-CN" altLang="en-US" dirty="0"/>
              <a:t>的方案（模型去调工具）</a:t>
            </a:r>
            <a:r>
              <a:rPr lang="en-US" altLang="zh-CN" dirty="0"/>
              <a:t>#2</a:t>
            </a:r>
            <a:r>
              <a:rPr lang="zh-CN" altLang="en-US" dirty="0"/>
              <a:t>：自定义协议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FCC30-5FB7-0C9F-9675-74ACA35FA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47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0D6B4E6C-A09C-1E18-6BE9-69B8C5769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>
            <a:normAutofit/>
          </a:bodyPr>
          <a:lstStyle/>
          <a:p>
            <a:r>
              <a:rPr lang="zh-CN" altLang="en-US" dirty="0"/>
              <a:t>大家也可以通过系统提示词，和</a:t>
            </a:r>
            <a:r>
              <a:rPr lang="en-US" altLang="zh-CN" dirty="0"/>
              <a:t> LLM </a:t>
            </a:r>
            <a:r>
              <a:rPr lang="zh-CN" altLang="en-US" dirty="0"/>
              <a:t>协商工具调用的自定义协议</a:t>
            </a:r>
            <a:endParaRPr lang="en-US" altLang="zh-CN" dirty="0"/>
          </a:p>
          <a:p>
            <a:r>
              <a:rPr lang="zh-CN" altLang="en-US" dirty="0"/>
              <a:t>如，在系统提示词中约定模型对工具调用的返回是：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优点：简单，可以做定制化，而且和模型</a:t>
            </a:r>
            <a:r>
              <a:rPr lang="en-US" altLang="zh-CN" dirty="0"/>
              <a:t>/API </a:t>
            </a:r>
            <a:r>
              <a:rPr lang="zh-CN" altLang="en-US" dirty="0"/>
              <a:t>能力无关</a:t>
            </a:r>
            <a:endParaRPr lang="en-US" altLang="zh-CN" dirty="0"/>
          </a:p>
          <a:p>
            <a:r>
              <a:rPr lang="zh-CN" altLang="en-US" dirty="0"/>
              <a:t>缺点：模型遵守协议的情况不一定会十分好，可能面临错误的格式，且需要考虑协议中的各种</a:t>
            </a:r>
            <a:r>
              <a:rPr lang="en-US" altLang="zh-CN" dirty="0"/>
              <a:t> corner</a:t>
            </a:r>
            <a:r>
              <a:rPr lang="zh-CN" altLang="en-US" dirty="0"/>
              <a:t> </a:t>
            </a:r>
            <a:r>
              <a:rPr lang="en-US" altLang="zh-CN" dirty="0"/>
              <a:t>case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8A770F-5FC9-0460-4858-BA1DF66F4724}"/>
              </a:ext>
            </a:extLst>
          </p:cNvPr>
          <p:cNvSpPr txBox="1"/>
          <p:nvPr/>
        </p:nvSpPr>
        <p:spPr>
          <a:xfrm>
            <a:off x="4175570" y="2420888"/>
            <a:ext cx="38408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 "type": "</a:t>
            </a:r>
            <a:r>
              <a:rPr kumimoji="1" lang="en" altLang="zh-CN" dirty="0" err="1"/>
              <a:t>tool_call</a:t>
            </a:r>
            <a:r>
              <a:rPr kumimoji="1" lang="en" altLang="zh-CN" dirty="0"/>
              <a:t>",</a:t>
            </a:r>
          </a:p>
          <a:p>
            <a:r>
              <a:rPr kumimoji="1" lang="en" altLang="zh-CN" dirty="0"/>
              <a:t>  "tool": "</a:t>
            </a:r>
            <a:r>
              <a:rPr kumimoji="1" lang="en" altLang="zh-CN" dirty="0" err="1"/>
              <a:t>read_text_file</a:t>
            </a:r>
            <a:r>
              <a:rPr kumimoji="1" lang="en" altLang="zh-CN" dirty="0"/>
              <a:t>",</a:t>
            </a:r>
          </a:p>
          <a:p>
            <a:r>
              <a:rPr kumimoji="1" lang="en" altLang="zh-CN" dirty="0"/>
              <a:t>  "arguments": {"path": "</a:t>
            </a:r>
            <a:r>
              <a:rPr kumimoji="1" lang="en" altLang="zh-CN" dirty="0" err="1"/>
              <a:t>README.md</a:t>
            </a:r>
            <a:r>
              <a:rPr kumimoji="1" lang="en" altLang="zh-CN" dirty="0"/>
              <a:t>"}</a:t>
            </a:r>
          </a:p>
          <a:p>
            <a:r>
              <a:rPr kumimoji="1" lang="en" altLang="zh-CN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69028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ABE48-F038-0BDE-DBE5-B2DB31024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0662-3D29-A41C-A7CF-2BDFAF4F0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Agent Loop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4436B-7641-F2AE-9F08-E69E1E40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48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1F19F862-785C-8AE6-F282-3DC5699B5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>
            <a:normAutofit/>
          </a:bodyPr>
          <a:lstStyle/>
          <a:p>
            <a:r>
              <a:rPr lang="zh-CN" altLang="en-US" dirty="0"/>
              <a:t>到目前阶段，大家应该对</a:t>
            </a:r>
            <a:r>
              <a:rPr lang="en-US" altLang="zh-CN" dirty="0"/>
              <a:t> Agent </a:t>
            </a:r>
            <a:r>
              <a:rPr lang="zh-CN" altLang="en-US" dirty="0"/>
              <a:t>的逻辑有个比较清晰的感受了</a:t>
            </a:r>
            <a:endParaRPr lang="en-US" altLang="zh-CN" dirty="0"/>
          </a:p>
          <a:p>
            <a:r>
              <a:rPr lang="en-US" altLang="zh-CN" dirty="0"/>
              <a:t> Agent</a:t>
            </a:r>
            <a:r>
              <a:rPr lang="zh-CN" altLang="en-US" dirty="0"/>
              <a:t> </a:t>
            </a:r>
            <a:r>
              <a:rPr lang="en-US" altLang="zh-CN" dirty="0"/>
              <a:t>Loop</a:t>
            </a:r>
            <a:r>
              <a:rPr lang="zh-CN" altLang="en-US" dirty="0"/>
              <a:t>：本质上是把</a:t>
            </a:r>
            <a:r>
              <a:rPr lang="en-US" altLang="zh-CN" dirty="0"/>
              <a:t> LLM </a:t>
            </a:r>
            <a:r>
              <a:rPr lang="zh-CN" altLang="en-US" dirty="0"/>
              <a:t>调用作为其中关键一环的一个死循环（仅在特定的命令，如</a:t>
            </a:r>
            <a:r>
              <a:rPr lang="en-US" altLang="zh-CN" dirty="0"/>
              <a:t>/exit </a:t>
            </a:r>
            <a:r>
              <a:rPr lang="zh-CN" altLang="en-US" dirty="0"/>
              <a:t>进入时，才退出）</a:t>
            </a:r>
            <a:endParaRPr lang="en-US" altLang="zh-CN" dirty="0"/>
          </a:p>
          <a:p>
            <a:r>
              <a:rPr lang="zh-CN" altLang="en-US" dirty="0"/>
              <a:t>也是实现</a:t>
            </a:r>
            <a:r>
              <a:rPr lang="en-US" altLang="zh-CN" dirty="0"/>
              <a:t> Agent </a:t>
            </a:r>
            <a:r>
              <a:rPr lang="zh-CN" altLang="en-US" dirty="0"/>
              <a:t>的核心主体（类似</a:t>
            </a:r>
            <a:r>
              <a:rPr lang="en-US" altLang="zh-CN" dirty="0"/>
              <a:t> main </a:t>
            </a:r>
            <a:r>
              <a:rPr lang="zh-CN" altLang="en-US" dirty="0"/>
              <a:t>函数）</a:t>
            </a:r>
            <a:endParaRPr lang="en-US" altLang="zh-CN" dirty="0"/>
          </a:p>
          <a:p>
            <a:r>
              <a:rPr lang="zh-CN" altLang="en-US" dirty="0"/>
              <a:t>有了工具后，我们需要升级</a:t>
            </a:r>
            <a:r>
              <a:rPr lang="en-US" altLang="zh-CN" dirty="0"/>
              <a:t> Agent</a:t>
            </a:r>
            <a:r>
              <a:rPr lang="zh-CN" altLang="en-US" dirty="0"/>
              <a:t> </a:t>
            </a:r>
            <a:r>
              <a:rPr lang="en-US" altLang="zh-CN" dirty="0"/>
              <a:t>Loop </a:t>
            </a:r>
            <a:r>
              <a:rPr lang="zh-CN" altLang="en-US" dirty="0"/>
              <a:t>来支持更加全面复杂地完成用户述求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FAB1AC-32CA-05EA-6121-53D55DC58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95" y="4159250"/>
            <a:ext cx="4394200" cy="21971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7D80AD3-E978-A930-1D52-C0A4B1500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6309" y="3753036"/>
            <a:ext cx="6264696" cy="2655878"/>
          </a:xfrm>
          <a:prstGeom prst="rect">
            <a:avLst/>
          </a:prstGeom>
        </p:spPr>
      </p:pic>
      <p:sp>
        <p:nvSpPr>
          <p:cNvPr id="8" name="右箭头 7">
            <a:extLst>
              <a:ext uri="{FF2B5EF4-FFF2-40B4-BE49-F238E27FC236}">
                <a16:creationId xmlns:a16="http://schemas.microsoft.com/office/drawing/2014/main" id="{95C4086F-6AD5-925E-36F6-51B9221D6311}"/>
              </a:ext>
            </a:extLst>
          </p:cNvPr>
          <p:cNvSpPr/>
          <p:nvPr/>
        </p:nvSpPr>
        <p:spPr>
          <a:xfrm>
            <a:off x="4615195" y="4968892"/>
            <a:ext cx="976749" cy="6203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18326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01C383-3B41-624F-AD07-01DA3D24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请大家按照今天的课程内容，开始阅读</a:t>
            </a:r>
            <a:r>
              <a:rPr lang="en-US" altLang="zh-CN" dirty="0"/>
              <a:t> </a:t>
            </a:r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要求文档，并且进行开发和实践～</a:t>
            </a:r>
            <a:endParaRPr lang="en-C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AF9D6A-A624-4F4F-9787-9444E1E9B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如果提前完成了课上的内容，可以根据文档继续往后面提前进行开发任务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2C26-BDAF-D24E-B930-53C5D993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6961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3400</TotalTime>
  <Words>4224</Words>
  <Application>Microsoft Macintosh PowerPoint</Application>
  <PresentationFormat>宽屏</PresentationFormat>
  <Paragraphs>435</Paragraphs>
  <Slides>49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5" baseType="lpstr">
      <vt:lpstr>Microsoft YaHei</vt:lpstr>
      <vt:lpstr>Mona Sans VF</vt:lpstr>
      <vt:lpstr>Arial</vt:lpstr>
      <vt:lpstr>Calibri</vt:lpstr>
      <vt:lpstr>Lucida Grande</vt:lpstr>
      <vt:lpstr>Office Theme</vt:lpstr>
      <vt:lpstr>计算机编程实践#5 Skill应用与智能体工具</vt:lpstr>
      <vt:lpstr>Outline</vt:lpstr>
      <vt:lpstr>编程技巧篇：AI IDE 中的 skill 如何使用？</vt:lpstr>
      <vt:lpstr>疯狂的 Skill：同事离职了，但是还在干活</vt:lpstr>
      <vt:lpstr>疯狂的 Skill：同事离职了，但是还在干活</vt:lpstr>
      <vt:lpstr>疯狂的 Skill：同事离职了，但是还在干活</vt:lpstr>
      <vt:lpstr>疯狂的 Skill：前任.skill 的使用</vt:lpstr>
      <vt:lpstr>疯狂的 Skill：前任.skill 的使用</vt:lpstr>
      <vt:lpstr>疯狂的 Skill：前任.skill 的使用</vt:lpstr>
      <vt:lpstr>疯狂的 Skill：甚至不一定是周围的人</vt:lpstr>
      <vt:lpstr>严肃点，什么是 Agent Skill？</vt:lpstr>
      <vt:lpstr>严肃点，什么是 Agent Skill？</vt:lpstr>
      <vt:lpstr>严肃点，什么是 Agent Skill？</vt:lpstr>
      <vt:lpstr>Skill 和我们熟悉的 Prompt 有什么区别？</vt:lpstr>
      <vt:lpstr>Skill 能够很好地被应用的关键机制：渐进式披露</vt:lpstr>
      <vt:lpstr>Skill 能够很好地被应用的关键机制：渐进式披露</vt:lpstr>
      <vt:lpstr>案例实践：在 Trae CN 中使用 Skill</vt:lpstr>
      <vt:lpstr>案例实践：在 Trae CN 中使用 Skill</vt:lpstr>
      <vt:lpstr>案例实践：在 Trae CN 中使用 Skill</vt:lpstr>
      <vt:lpstr>案例实践：在 Trae CN 中使用 Skill</vt:lpstr>
      <vt:lpstr>案例实践：在 Trae CN 中使用 Skill</vt:lpstr>
      <vt:lpstr>案例实践：在 Trae CN 中使用 Skill</vt:lpstr>
      <vt:lpstr>案例实践：在 Trae CN 中使用 Skill</vt:lpstr>
      <vt:lpstr>案例实践：在 Trae CN 中使用 Skill</vt:lpstr>
      <vt:lpstr>案例实践：在 Trae CN 中使用 Skill</vt:lpstr>
      <vt:lpstr>案例实践：在 Trae CN 中使用 Skill</vt:lpstr>
      <vt:lpstr>案例实践：在 Trae CN 中使用 Skill</vt:lpstr>
      <vt:lpstr>案例实践：Zcode 中使用 Skill</vt:lpstr>
      <vt:lpstr>案例实践：Zcode 中使用 Skill</vt:lpstr>
      <vt:lpstr>案例实践：Zcode 中使用 Skill</vt:lpstr>
      <vt:lpstr>应该去哪里找到好的 Skill？</vt:lpstr>
      <vt:lpstr>智能体工具（Tool）</vt:lpstr>
      <vt:lpstr>当前状态</vt:lpstr>
      <vt:lpstr>怎么样让我们的 Agent 更有用一点？</vt:lpstr>
      <vt:lpstr>智能体工具（Tool）：给模型加上感知外界的躯干</vt:lpstr>
      <vt:lpstr>智能体工具（Tool）：给模型加上感知外界的躯干</vt:lpstr>
      <vt:lpstr>智能体工具（Tool）：给模型加上感知外界的躯干</vt:lpstr>
      <vt:lpstr>智能体工具（Tool）：给模型加上感知外界的躯干</vt:lpstr>
      <vt:lpstr>智能体工具（Tool）：给模型加上感知外界的躯干</vt:lpstr>
      <vt:lpstr>智能体工具（Tool）：给模型加上感知外界的躯干</vt:lpstr>
      <vt:lpstr>智能体工具（Tool）：给模型加上感知外界的躯干</vt:lpstr>
      <vt:lpstr>智能体工具（Tool）：给模型加上感知外界的躯干</vt:lpstr>
      <vt:lpstr>智能体工具（Tool）：给模型加上感知外界的躯干</vt:lpstr>
      <vt:lpstr>智能体工具（Tool）：给模型加上感知外界的躯干</vt:lpstr>
      <vt:lpstr>两种 Tool Calling 的方案（模型去调工具）#1：原生接口</vt:lpstr>
      <vt:lpstr>两种 Tool Calling 的方案（模型去调工具）#1：原生接口</vt:lpstr>
      <vt:lpstr>两种 Tool Calling 的方案（模型去调工具）#2：自定义协议</vt:lpstr>
      <vt:lpstr>Agent Loop</vt:lpstr>
      <vt:lpstr>请大家按照今天的课程内容，开始阅读 SJTUClaw 要求文档，并且进行开发和实践～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Mingkai Dong</dc:creator>
  <cp:lastModifiedBy>Dong Du</cp:lastModifiedBy>
  <cp:revision>274</cp:revision>
  <dcterms:created xsi:type="dcterms:W3CDTF">2021-02-24T11:14:01Z</dcterms:created>
  <dcterms:modified xsi:type="dcterms:W3CDTF">2026-07-13T02:57:59Z</dcterms:modified>
</cp:coreProperties>
</file>