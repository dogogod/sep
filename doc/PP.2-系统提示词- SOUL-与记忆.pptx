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48" r:id="rId2"/>
  </p:sldMasterIdLst>
  <p:notesMasterIdLst>
    <p:notesMasterId r:id="rId31"/>
  </p:notesMasterIdLst>
  <p:handoutMasterIdLst>
    <p:handoutMasterId r:id="rId32"/>
  </p:handoutMasterIdLst>
  <p:sldIdLst>
    <p:sldId id="2147483643" r:id="rId3"/>
    <p:sldId id="2147483644" r:id="rId4"/>
    <p:sldId id="2147483645" r:id="rId5"/>
    <p:sldId id="2147483646" r:id="rId6"/>
    <p:sldId id="2147483647" r:id="rId7"/>
    <p:sldId id="257" r:id="rId8"/>
    <p:sldId id="256" r:id="rId9"/>
    <p:sldId id="259" r:id="rId10"/>
    <p:sldId id="260" r:id="rId11"/>
    <p:sldId id="258" r:id="rId12"/>
    <p:sldId id="268" r:id="rId13"/>
    <p:sldId id="261" r:id="rId14"/>
    <p:sldId id="273" r:id="rId15"/>
    <p:sldId id="262" r:id="rId16"/>
    <p:sldId id="263" r:id="rId17"/>
    <p:sldId id="264" r:id="rId18"/>
    <p:sldId id="272" r:id="rId19"/>
    <p:sldId id="275" r:id="rId20"/>
    <p:sldId id="265" r:id="rId21"/>
    <p:sldId id="267" r:id="rId22"/>
    <p:sldId id="269" r:id="rId23"/>
    <p:sldId id="270" r:id="rId24"/>
    <p:sldId id="266" r:id="rId25"/>
    <p:sldId id="283" r:id="rId26"/>
    <p:sldId id="271" r:id="rId27"/>
    <p:sldId id="282" r:id="rId28"/>
    <p:sldId id="274" r:id="rId29"/>
    <p:sldId id="276" r:id="rId30"/>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58"/>
    <p:restoredTop sz="85704"/>
  </p:normalViewPr>
  <p:slideViewPr>
    <p:cSldViewPr snapToObjects="1" showGuides="1">
      <p:cViewPr varScale="1">
        <p:scale>
          <a:sx n="98" d="100"/>
          <a:sy n="98" d="100"/>
        </p:scale>
        <p:origin x="440" y="192"/>
      </p:cViewPr>
      <p:guideLst>
        <p:guide orient="horz" pos="2160"/>
        <p:guide pos="3840"/>
      </p:guideLst>
    </p:cSldViewPr>
  </p:slideViewPr>
  <p:notesTextViewPr>
    <p:cViewPr>
      <p:scale>
        <a:sx n="1" d="1"/>
        <a:sy n="1" d="1"/>
      </p:scale>
      <p:origin x="0" y="0"/>
    </p:cViewPr>
  </p:notesTextViewPr>
  <p:notesViewPr>
    <p:cSldViewPr snapToObjects="1" showGuides="1">
      <p:cViewPr varScale="1">
        <p:scale>
          <a:sx n="93" d="100"/>
          <a:sy n="93" d="100"/>
        </p:scale>
        <p:origin x="3784"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80A4E0-C67A-6842-A063-4188E143D8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6777E8CA-64C1-604E-B679-AE92A4602E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61E017-357D-4744-8D4B-04CA59826C34}" type="datetimeFigureOut">
              <a:rPr lang="en-CN" smtClean="0"/>
              <a:t>7/6/26</a:t>
            </a:fld>
            <a:endParaRPr lang="en-CN"/>
          </a:p>
        </p:txBody>
      </p:sp>
      <p:sp>
        <p:nvSpPr>
          <p:cNvPr id="4" name="Footer Placeholder 3">
            <a:extLst>
              <a:ext uri="{FF2B5EF4-FFF2-40B4-BE49-F238E27FC236}">
                <a16:creationId xmlns:a16="http://schemas.microsoft.com/office/drawing/2014/main" id="{A9EBE6F5-546E-CB46-A99D-1F0682A0A8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C828A5B9-2BE3-1E4C-BD6C-27A1391C6D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F29CC4-8916-F84A-A92E-A3769754F19D}" type="slidenum">
              <a:rPr lang="en-CN" smtClean="0"/>
              <a:t>‹#›</a:t>
            </a:fld>
            <a:endParaRPr lang="en-CN"/>
          </a:p>
        </p:txBody>
      </p:sp>
    </p:spTree>
    <p:extLst>
      <p:ext uri="{BB962C8B-B14F-4D97-AF65-F5344CB8AC3E}">
        <p14:creationId xmlns:p14="http://schemas.microsoft.com/office/powerpoint/2010/main" val="3907825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BEA6A-5BB7-4947-8A67-D55A874F4F16}" type="datetimeFigureOut">
              <a:rPr lang="en-CN" smtClean="0"/>
              <a:t>7/6/26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F54FA-28E9-114E-B0A7-6C255474D561}" type="slidenum">
              <a:rPr lang="en-CN" smtClean="0"/>
              <a:t>‹#›</a:t>
            </a:fld>
            <a:endParaRPr lang="en-CN"/>
          </a:p>
        </p:txBody>
      </p:sp>
    </p:spTree>
    <p:extLst>
      <p:ext uri="{BB962C8B-B14F-4D97-AF65-F5344CB8AC3E}">
        <p14:creationId xmlns:p14="http://schemas.microsoft.com/office/powerpoint/2010/main" val="1248253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一个例子</a:t>
            </a:r>
            <a:r>
              <a:rPr lang="zh-CN" altLang="en-US" dirty="0"/>
              <a:t>：</a:t>
            </a:r>
            <a:r>
              <a:rPr lang="en-US" altLang="zh-CN" dirty="0"/>
              <a:t>Claude</a:t>
            </a:r>
            <a:r>
              <a:rPr lang="zh-CN" altLang="en-US" dirty="0"/>
              <a:t> </a:t>
            </a:r>
            <a:r>
              <a:rPr lang="en-US" altLang="zh-CN" dirty="0"/>
              <a:t>Code </a:t>
            </a:r>
            <a:r>
              <a:rPr lang="zh-CN" altLang="en-US" dirty="0"/>
              <a:t>是一个很厉害的</a:t>
            </a:r>
            <a:r>
              <a:rPr lang="en-US" altLang="zh-CN" dirty="0"/>
              <a:t> AI</a:t>
            </a:r>
            <a:r>
              <a:rPr lang="zh-CN" altLang="en-US" dirty="0"/>
              <a:t> </a:t>
            </a:r>
            <a:r>
              <a:rPr lang="en-US" altLang="zh-CN" dirty="0"/>
              <a:t>IDE/Agent</a:t>
            </a:r>
            <a:r>
              <a:rPr lang="zh-CN" altLang="en-US" dirty="0"/>
              <a:t>，那么我直接使用</a:t>
            </a:r>
            <a:r>
              <a:rPr lang="en-US" altLang="zh-CN" dirty="0"/>
              <a:t> Anthropic </a:t>
            </a:r>
            <a:r>
              <a:rPr lang="zh-CN" altLang="en-US" dirty="0"/>
              <a:t>的</a:t>
            </a:r>
            <a:r>
              <a:rPr lang="en-US" altLang="zh-CN" dirty="0"/>
              <a:t> </a:t>
            </a:r>
            <a:r>
              <a:rPr lang="en-US" altLang="zh-CN" dirty="0" err="1"/>
              <a:t>Sonet</a:t>
            </a:r>
            <a:r>
              <a:rPr lang="en-US" altLang="zh-CN" dirty="0"/>
              <a:t> </a:t>
            </a:r>
            <a:r>
              <a:rPr lang="zh-CN" altLang="en-US" dirty="0"/>
              <a:t>模型，和基于</a:t>
            </a:r>
            <a:r>
              <a:rPr lang="en-US" altLang="zh-CN" dirty="0"/>
              <a:t> Claude</a:t>
            </a:r>
            <a:r>
              <a:rPr lang="zh-CN" altLang="en-US" dirty="0"/>
              <a:t> </a:t>
            </a:r>
            <a:r>
              <a:rPr lang="en-US" altLang="zh-CN" dirty="0"/>
              <a:t>Code </a:t>
            </a:r>
            <a:r>
              <a:rPr lang="zh-CN" altLang="en-US" dirty="0"/>
              <a:t>去使用，有什么区别？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BF763-283F-2DA3-5577-1341D8943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4E976-77A5-8844-3BF4-CFFB52637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18D9B-31C6-47A8-59C1-BD0154813E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3650A8-71AF-B37D-9B05-7E75B45880F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39066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4E229-2A30-F8AE-504E-FBC1422F2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95A5F-2DD7-CE6E-633D-51DCD0038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3E931-19CC-F8EA-77EA-FBFB747C9D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BB6DCB-2048-6A90-E615-C2E9DE99198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19477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54F13-952D-327B-A348-7DD525BFC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A977B-E7BA-7C06-0649-142A870BD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0AB11-8076-5174-D2BB-1A2BAB39E6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32DC4A-C5B7-F861-905A-ED465D3A609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92916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A9742-093A-2DA1-D71D-09ECC6842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8A74F-B14C-298F-314B-EEC801AC4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0DF59-93BC-62E1-894F-769678D18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2196BF-7543-1F93-A340-FA0F1B9341C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40687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72E2-F466-FDD3-3875-F05E64B9D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0400F-0E28-74F8-3D51-DEEFCC0F5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7A02C-0D60-A802-5EFD-D354EA5E0A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66ECF4-7A9A-8603-2B0E-5EAD9772ABA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38109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FF9E-DBD9-0CCF-7E08-6FDF7329E9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83CDD-4111-626B-7F62-34B874DA8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57C05-C537-8575-A163-25D9D73F7F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F3B450-75B4-8D87-67E7-A94B2F08D3C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479350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D0F33-5F00-2DBF-0C6A-B9CBE2D4E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0D133-021A-A12D-E5C4-F6F26ED7A4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02F17-08BB-CEF3-B6FA-A52ACC14EE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2D2C8-0B10-F4A3-B4E5-51B7ED0D218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6740178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E8F3-BABA-DA4B-98F4-B69497EC1BC6}"/>
              </a:ext>
            </a:extLst>
          </p:cNvPr>
          <p:cNvSpPr>
            <a:spLocks noGrp="1"/>
          </p:cNvSpPr>
          <p:nvPr>
            <p:ph type="ctrTitle"/>
          </p:nvPr>
        </p:nvSpPr>
        <p:spPr>
          <a:xfrm>
            <a:off x="623392" y="1122363"/>
            <a:ext cx="10945216"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6BF926C3-432C-544D-B73E-7686141AEDE3}"/>
              </a:ext>
            </a:extLst>
          </p:cNvPr>
          <p:cNvSpPr>
            <a:spLocks noGrp="1"/>
          </p:cNvSpPr>
          <p:nvPr>
            <p:ph type="subTitle" idx="1"/>
          </p:nvPr>
        </p:nvSpPr>
        <p:spPr>
          <a:xfrm>
            <a:off x="623392" y="3933056"/>
            <a:ext cx="10945216" cy="132474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1692211E-626E-E649-BCEC-0C3443778DDD}"/>
              </a:ext>
            </a:extLst>
          </p:cNvPr>
          <p:cNvSpPr>
            <a:spLocks noGrp="1"/>
          </p:cNvSpPr>
          <p:nvPr>
            <p:ph type="dt" sz="half" idx="10"/>
          </p:nvPr>
        </p:nvSpPr>
        <p:spPr/>
        <p:txBody>
          <a:bodyPr/>
          <a:lstStyle/>
          <a:p>
            <a:fld id="{9CE2BFE9-E284-B34B-9DD9-9734E072A10D}" type="datetime1">
              <a:rPr lang="en-US" smtClean="0"/>
              <a:t>7/6/26</a:t>
            </a:fld>
            <a:endParaRPr lang="en-CN"/>
          </a:p>
        </p:txBody>
      </p:sp>
      <p:sp>
        <p:nvSpPr>
          <p:cNvPr id="5" name="Footer Placeholder 4">
            <a:extLst>
              <a:ext uri="{FF2B5EF4-FFF2-40B4-BE49-F238E27FC236}">
                <a16:creationId xmlns:a16="http://schemas.microsoft.com/office/drawing/2014/main" id="{854CD07C-E71B-EE4E-A04D-513B4FDC547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6E789468-3554-7E45-9EC0-72A9DA9D1990}"/>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828772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AC705-C275-294F-88E4-9FB87207ABCC}"/>
              </a:ext>
            </a:extLst>
          </p:cNvPr>
          <p:cNvSpPr>
            <a:spLocks noGrp="1"/>
          </p:cNvSpPr>
          <p:nvPr>
            <p:ph type="title"/>
          </p:nvPr>
        </p:nvSpPr>
        <p:spPr/>
        <p:txBody>
          <a:bodyPr>
            <a:normAutofit/>
          </a:bodyPr>
          <a:lstStyle>
            <a:lvl1pPr>
              <a:defRPr sz="3600"/>
            </a:lvl1pPr>
          </a:lstStyle>
          <a:p>
            <a:r>
              <a:rPr lang="en-US" dirty="0"/>
              <a:t>Click to edit Master title style</a:t>
            </a:r>
            <a:endParaRPr lang="en-CN" dirty="0"/>
          </a:p>
        </p:txBody>
      </p:sp>
      <p:sp>
        <p:nvSpPr>
          <p:cNvPr id="3" name="Content Placeholder 2">
            <a:extLst>
              <a:ext uri="{FF2B5EF4-FFF2-40B4-BE49-F238E27FC236}">
                <a16:creationId xmlns:a16="http://schemas.microsoft.com/office/drawing/2014/main" id="{39D265A9-208F-B747-8249-EF637072FC45}"/>
              </a:ext>
            </a:extLst>
          </p:cNvPr>
          <p:cNvSpPr>
            <a:spLocks noGrp="1"/>
          </p:cNvSpPr>
          <p:nvPr>
            <p:ph idx="1"/>
          </p:nvPr>
        </p:nvSpPr>
        <p:spPr>
          <a:xfrm>
            <a:off x="277091" y="1268760"/>
            <a:ext cx="11637818" cy="4968552"/>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N" dirty="0"/>
          </a:p>
        </p:txBody>
      </p:sp>
      <p:sp>
        <p:nvSpPr>
          <p:cNvPr id="4" name="Date Placeholder 3">
            <a:extLst>
              <a:ext uri="{FF2B5EF4-FFF2-40B4-BE49-F238E27FC236}">
                <a16:creationId xmlns:a16="http://schemas.microsoft.com/office/drawing/2014/main" id="{2A13A073-1A46-2C48-AA4B-6B0CC61968E8}"/>
              </a:ext>
            </a:extLst>
          </p:cNvPr>
          <p:cNvSpPr>
            <a:spLocks noGrp="1"/>
          </p:cNvSpPr>
          <p:nvPr>
            <p:ph type="dt" sz="half" idx="10"/>
          </p:nvPr>
        </p:nvSpPr>
        <p:spPr/>
        <p:txBody>
          <a:bodyPr/>
          <a:lstStyle/>
          <a:p>
            <a:fld id="{059A5C36-DE89-754B-AADC-BE098732BA55}" type="datetime1">
              <a:rPr lang="en-US" smtClean="0"/>
              <a:t>7/6/26</a:t>
            </a:fld>
            <a:endParaRPr lang="en-CN"/>
          </a:p>
        </p:txBody>
      </p:sp>
      <p:sp>
        <p:nvSpPr>
          <p:cNvPr id="5" name="Footer Placeholder 4">
            <a:extLst>
              <a:ext uri="{FF2B5EF4-FFF2-40B4-BE49-F238E27FC236}">
                <a16:creationId xmlns:a16="http://schemas.microsoft.com/office/drawing/2014/main" id="{AAA9E507-59F5-8A41-B56B-0E2687B02A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E648107E-D461-1C49-AF2F-D9273FD12F45}"/>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709088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4513C-7AC8-7541-BCC2-5C66F9958F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C68597B0-B86C-984E-9652-A57A697080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4BD942-5636-774E-9AE5-8136B8B4C43D}"/>
              </a:ext>
            </a:extLst>
          </p:cNvPr>
          <p:cNvSpPr>
            <a:spLocks noGrp="1"/>
          </p:cNvSpPr>
          <p:nvPr>
            <p:ph type="dt" sz="half" idx="10"/>
          </p:nvPr>
        </p:nvSpPr>
        <p:spPr/>
        <p:txBody>
          <a:bodyPr/>
          <a:lstStyle/>
          <a:p>
            <a:fld id="{ADC92F05-C132-444E-8CB1-83285020EE6B}" type="datetime1">
              <a:rPr lang="en-US" smtClean="0"/>
              <a:t>7/6/26</a:t>
            </a:fld>
            <a:endParaRPr lang="en-CN"/>
          </a:p>
        </p:txBody>
      </p:sp>
      <p:sp>
        <p:nvSpPr>
          <p:cNvPr id="5" name="Footer Placeholder 4">
            <a:extLst>
              <a:ext uri="{FF2B5EF4-FFF2-40B4-BE49-F238E27FC236}">
                <a16:creationId xmlns:a16="http://schemas.microsoft.com/office/drawing/2014/main" id="{EF9AB1F5-1745-B641-8A3E-8C77C9972F62}"/>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CEC51740-E141-994F-960E-30E141D3814F}"/>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163477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2C74-6A75-C345-8D45-8399B42E921B}"/>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3684567-0E36-8C49-9950-371CE9271C11}"/>
              </a:ext>
            </a:extLst>
          </p:cNvPr>
          <p:cNvSpPr>
            <a:spLocks noGrp="1"/>
          </p:cNvSpPr>
          <p:nvPr>
            <p:ph sz="half" idx="1"/>
          </p:nvPr>
        </p:nvSpPr>
        <p:spPr>
          <a:xfrm>
            <a:off x="277091" y="1268760"/>
            <a:ext cx="5742709" cy="49082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5E7E884A-AA9A-BE49-9BD4-6BBBB45F0C06}"/>
              </a:ext>
            </a:extLst>
          </p:cNvPr>
          <p:cNvSpPr>
            <a:spLocks noGrp="1"/>
          </p:cNvSpPr>
          <p:nvPr>
            <p:ph sz="half" idx="2"/>
          </p:nvPr>
        </p:nvSpPr>
        <p:spPr>
          <a:xfrm>
            <a:off x="6172200" y="1268760"/>
            <a:ext cx="5742708" cy="49082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FAAB4A51-01A4-3C48-9EF1-CAD204407F64}"/>
              </a:ext>
            </a:extLst>
          </p:cNvPr>
          <p:cNvSpPr>
            <a:spLocks noGrp="1"/>
          </p:cNvSpPr>
          <p:nvPr>
            <p:ph type="dt" sz="half" idx="10"/>
          </p:nvPr>
        </p:nvSpPr>
        <p:spPr/>
        <p:txBody>
          <a:bodyPr/>
          <a:lstStyle/>
          <a:p>
            <a:fld id="{C71EA035-3CCE-DA49-8248-4DECF1480FAD}" type="datetime1">
              <a:rPr lang="en-US" smtClean="0"/>
              <a:t>7/6/26</a:t>
            </a:fld>
            <a:endParaRPr lang="en-CN"/>
          </a:p>
        </p:txBody>
      </p:sp>
      <p:sp>
        <p:nvSpPr>
          <p:cNvPr id="6" name="Footer Placeholder 5">
            <a:extLst>
              <a:ext uri="{FF2B5EF4-FFF2-40B4-BE49-F238E27FC236}">
                <a16:creationId xmlns:a16="http://schemas.microsoft.com/office/drawing/2014/main" id="{050CDCA8-4C0B-2B4F-9CDC-ACA218BDBF8A}"/>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0B20FABC-1CE5-A841-95A8-DC4B76383624}"/>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550177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DA5A-7B1C-D842-8A6E-984ADE326083}"/>
              </a:ext>
            </a:extLst>
          </p:cNvPr>
          <p:cNvSpPr>
            <a:spLocks noGrp="1"/>
          </p:cNvSpPr>
          <p:nvPr>
            <p:ph type="title"/>
          </p:nvPr>
        </p:nvSpPr>
        <p:spPr>
          <a:xfrm>
            <a:off x="277091" y="365125"/>
            <a:ext cx="11637817"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5BD3FD6F-1409-9F43-BEE8-8F9EFC917E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5C4E4F-B343-6443-A79A-CB96201DE36F}"/>
              </a:ext>
            </a:extLst>
          </p:cNvPr>
          <p:cNvSpPr>
            <a:spLocks noGrp="1"/>
          </p:cNvSpPr>
          <p:nvPr>
            <p:ph sz="half" idx="2"/>
          </p:nvPr>
        </p:nvSpPr>
        <p:spPr>
          <a:xfrm>
            <a:off x="277092" y="2505075"/>
            <a:ext cx="572048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90E01090-F89E-AA4B-9D16-F48FB5E06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66B3EB-D7F0-C44F-89A3-064941260E14}"/>
              </a:ext>
            </a:extLst>
          </p:cNvPr>
          <p:cNvSpPr>
            <a:spLocks noGrp="1"/>
          </p:cNvSpPr>
          <p:nvPr>
            <p:ph sz="quarter" idx="4"/>
          </p:nvPr>
        </p:nvSpPr>
        <p:spPr>
          <a:xfrm>
            <a:off x="6172200" y="2505075"/>
            <a:ext cx="572048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70273A94-E684-2649-A535-833C9909AA7F}"/>
              </a:ext>
            </a:extLst>
          </p:cNvPr>
          <p:cNvSpPr>
            <a:spLocks noGrp="1"/>
          </p:cNvSpPr>
          <p:nvPr>
            <p:ph type="dt" sz="half" idx="10"/>
          </p:nvPr>
        </p:nvSpPr>
        <p:spPr/>
        <p:txBody>
          <a:bodyPr/>
          <a:lstStyle/>
          <a:p>
            <a:fld id="{54738968-DCED-034C-A9F9-63C7B612155B}" type="datetime1">
              <a:rPr lang="en-US" smtClean="0"/>
              <a:t>7/6/26</a:t>
            </a:fld>
            <a:endParaRPr lang="en-CN"/>
          </a:p>
        </p:txBody>
      </p:sp>
      <p:sp>
        <p:nvSpPr>
          <p:cNvPr id="8" name="Footer Placeholder 7">
            <a:extLst>
              <a:ext uri="{FF2B5EF4-FFF2-40B4-BE49-F238E27FC236}">
                <a16:creationId xmlns:a16="http://schemas.microsoft.com/office/drawing/2014/main" id="{230C9F79-6BC1-C54D-BBE7-D3713DCC0254}"/>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0C490904-0654-2849-9A8C-F33DBEE4D30C}"/>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3540489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37F1A-C959-D645-9CB7-7339FD8B5EFB}"/>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5B8F0EF2-B047-1843-9607-4AF6018BEB38}"/>
              </a:ext>
            </a:extLst>
          </p:cNvPr>
          <p:cNvSpPr>
            <a:spLocks noGrp="1"/>
          </p:cNvSpPr>
          <p:nvPr>
            <p:ph type="dt" sz="half" idx="10"/>
          </p:nvPr>
        </p:nvSpPr>
        <p:spPr/>
        <p:txBody>
          <a:bodyPr/>
          <a:lstStyle/>
          <a:p>
            <a:fld id="{E274FFC6-ADAB-5E41-86AC-7F6081FE7CAC}" type="datetime1">
              <a:rPr lang="en-US" smtClean="0"/>
              <a:t>7/6/26</a:t>
            </a:fld>
            <a:endParaRPr lang="en-CN"/>
          </a:p>
        </p:txBody>
      </p:sp>
      <p:sp>
        <p:nvSpPr>
          <p:cNvPr id="4" name="Footer Placeholder 3">
            <a:extLst>
              <a:ext uri="{FF2B5EF4-FFF2-40B4-BE49-F238E27FC236}">
                <a16:creationId xmlns:a16="http://schemas.microsoft.com/office/drawing/2014/main" id="{0B9D6C8D-169C-E24E-B2DA-7E28FB0B6B1F}"/>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211FC934-724A-D84B-9F74-7DAEAF31E19B}"/>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308310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0904D3-4AF6-314E-9FEA-CF71A3D6F5CE}"/>
              </a:ext>
            </a:extLst>
          </p:cNvPr>
          <p:cNvSpPr>
            <a:spLocks noGrp="1"/>
          </p:cNvSpPr>
          <p:nvPr>
            <p:ph type="dt" sz="half" idx="10"/>
          </p:nvPr>
        </p:nvSpPr>
        <p:spPr/>
        <p:txBody>
          <a:bodyPr/>
          <a:lstStyle/>
          <a:p>
            <a:fld id="{6FEC856D-977A-F642-9AEB-80D2F107EFF4}" type="datetime1">
              <a:rPr lang="en-US" smtClean="0"/>
              <a:t>7/6/26</a:t>
            </a:fld>
            <a:endParaRPr lang="en-CN"/>
          </a:p>
        </p:txBody>
      </p:sp>
      <p:sp>
        <p:nvSpPr>
          <p:cNvPr id="3" name="Footer Placeholder 2">
            <a:extLst>
              <a:ext uri="{FF2B5EF4-FFF2-40B4-BE49-F238E27FC236}">
                <a16:creationId xmlns:a16="http://schemas.microsoft.com/office/drawing/2014/main" id="{1EF48081-E7A8-134A-8DE9-3268CD361086}"/>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AA917B03-016A-BB4E-B72A-7FEB25024E4D}"/>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194185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4E59-A309-134D-A7DA-234DDB7C4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FA761448-1A70-954A-B1B3-716EB40637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4D9ACCF5-86A9-6846-80E5-9F5210865E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988A50-D7AF-F540-9B78-27732CB9F1B4}"/>
              </a:ext>
            </a:extLst>
          </p:cNvPr>
          <p:cNvSpPr>
            <a:spLocks noGrp="1"/>
          </p:cNvSpPr>
          <p:nvPr>
            <p:ph type="dt" sz="half" idx="10"/>
          </p:nvPr>
        </p:nvSpPr>
        <p:spPr/>
        <p:txBody>
          <a:bodyPr/>
          <a:lstStyle/>
          <a:p>
            <a:fld id="{B7034B7F-BC74-F14F-8BF9-586EC96745A0}" type="datetime1">
              <a:rPr lang="en-US" smtClean="0"/>
              <a:t>7/6/26</a:t>
            </a:fld>
            <a:endParaRPr lang="en-CN"/>
          </a:p>
        </p:txBody>
      </p:sp>
      <p:sp>
        <p:nvSpPr>
          <p:cNvPr id="6" name="Footer Placeholder 5">
            <a:extLst>
              <a:ext uri="{FF2B5EF4-FFF2-40B4-BE49-F238E27FC236}">
                <a16:creationId xmlns:a16="http://schemas.microsoft.com/office/drawing/2014/main" id="{81025F00-82C3-474A-BB00-672C82BBCC8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728D448-780A-DC49-8C78-27A053B1F418}"/>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37077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BA7F5-0229-024C-A91C-660C92209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4746B5FD-870A-B046-9BE3-57F89CB1F0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73AFCD14-9FC1-4043-B048-B049BE1EE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2996A-2C74-AA45-8AB4-0C7955B52F77}"/>
              </a:ext>
            </a:extLst>
          </p:cNvPr>
          <p:cNvSpPr>
            <a:spLocks noGrp="1"/>
          </p:cNvSpPr>
          <p:nvPr>
            <p:ph type="dt" sz="half" idx="10"/>
          </p:nvPr>
        </p:nvSpPr>
        <p:spPr/>
        <p:txBody>
          <a:bodyPr/>
          <a:lstStyle/>
          <a:p>
            <a:fld id="{992A7302-2114-A74D-8389-8181128E4BC3}" type="datetime1">
              <a:rPr lang="en-US" smtClean="0"/>
              <a:t>7/6/26</a:t>
            </a:fld>
            <a:endParaRPr lang="en-CN"/>
          </a:p>
        </p:txBody>
      </p:sp>
      <p:sp>
        <p:nvSpPr>
          <p:cNvPr id="6" name="Footer Placeholder 5">
            <a:extLst>
              <a:ext uri="{FF2B5EF4-FFF2-40B4-BE49-F238E27FC236}">
                <a16:creationId xmlns:a16="http://schemas.microsoft.com/office/drawing/2014/main" id="{9C2AA01E-2B14-4B4A-A421-3492F2456F48}"/>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62B5C4E4-99EA-E14D-AAEA-DCD6ECF50D1F}"/>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2846358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4FB2D-E296-704F-8176-9D763DB80F6C}"/>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D57D5061-4135-AD4C-A724-15D16C3945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5460BFD8-AE5F-F840-911B-311B24DDB6CE}"/>
              </a:ext>
            </a:extLst>
          </p:cNvPr>
          <p:cNvSpPr>
            <a:spLocks noGrp="1"/>
          </p:cNvSpPr>
          <p:nvPr>
            <p:ph type="dt" sz="half" idx="10"/>
          </p:nvPr>
        </p:nvSpPr>
        <p:spPr/>
        <p:txBody>
          <a:bodyPr/>
          <a:lstStyle/>
          <a:p>
            <a:fld id="{28528223-6D33-DE4C-9F51-4A38614FD791}" type="datetime1">
              <a:rPr lang="en-US" smtClean="0"/>
              <a:t>7/6/26</a:t>
            </a:fld>
            <a:endParaRPr lang="en-CN"/>
          </a:p>
        </p:txBody>
      </p:sp>
      <p:sp>
        <p:nvSpPr>
          <p:cNvPr id="5" name="Footer Placeholder 4">
            <a:extLst>
              <a:ext uri="{FF2B5EF4-FFF2-40B4-BE49-F238E27FC236}">
                <a16:creationId xmlns:a16="http://schemas.microsoft.com/office/drawing/2014/main" id="{B0CE4ED0-1654-3A4E-AEC7-9A8CAB79076A}"/>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2F56FF2-B775-AE48-854B-A8FC4BD5BE5C}"/>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933544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3990A8-A8D2-3949-8444-FC2A73CED7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F111292E-E172-D94F-B9FD-164675C706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2D23F332-4AC7-7541-80F3-77180C552D91}"/>
              </a:ext>
            </a:extLst>
          </p:cNvPr>
          <p:cNvSpPr>
            <a:spLocks noGrp="1"/>
          </p:cNvSpPr>
          <p:nvPr>
            <p:ph type="dt" sz="half" idx="10"/>
          </p:nvPr>
        </p:nvSpPr>
        <p:spPr/>
        <p:txBody>
          <a:bodyPr/>
          <a:lstStyle/>
          <a:p>
            <a:fld id="{AF8D0E2A-2758-4248-AC6A-4E927F9F5533}" type="datetime1">
              <a:rPr lang="en-US" smtClean="0"/>
              <a:t>7/6/26</a:t>
            </a:fld>
            <a:endParaRPr lang="en-CN"/>
          </a:p>
        </p:txBody>
      </p:sp>
      <p:sp>
        <p:nvSpPr>
          <p:cNvPr id="5" name="Footer Placeholder 4">
            <a:extLst>
              <a:ext uri="{FF2B5EF4-FFF2-40B4-BE49-F238E27FC236}">
                <a16:creationId xmlns:a16="http://schemas.microsoft.com/office/drawing/2014/main" id="{82509EB2-2AD6-404A-B9A9-546937AA4056}"/>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4F834627-5052-DD45-806F-F1F199EE0F40}"/>
              </a:ext>
            </a:extLst>
          </p:cNvPr>
          <p:cNvSpPr>
            <a:spLocks noGrp="1"/>
          </p:cNvSpPr>
          <p:nvPr>
            <p:ph type="sldNum" sz="quarter" idx="12"/>
          </p:nvPr>
        </p:nvSpPr>
        <p:spPr/>
        <p:txBody>
          <a:bodyPr/>
          <a:lstStyle/>
          <a:p>
            <a:fld id="{F9FE1A1A-A846-1244-B210-CC29CD60D5AB}" type="slidenum">
              <a:rPr lang="en-CN" smtClean="0"/>
              <a:t>‹#›</a:t>
            </a:fld>
            <a:endParaRPr lang="en-CN"/>
          </a:p>
        </p:txBody>
      </p:sp>
    </p:spTree>
    <p:extLst>
      <p:ext uri="{BB962C8B-B14F-4D97-AF65-F5344CB8AC3E}">
        <p14:creationId xmlns:p14="http://schemas.microsoft.com/office/powerpoint/2010/main" val="648409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64C47F-F176-F546-BC0D-68EB72279695}"/>
              </a:ext>
            </a:extLst>
          </p:cNvPr>
          <p:cNvSpPr>
            <a:spLocks noGrp="1"/>
          </p:cNvSpPr>
          <p:nvPr>
            <p:ph type="title"/>
          </p:nvPr>
        </p:nvSpPr>
        <p:spPr>
          <a:xfrm>
            <a:off x="277091" y="365125"/>
            <a:ext cx="11637818" cy="646257"/>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291D7DD0-DC4B-B84D-A6B0-3F2FDED38A58}"/>
              </a:ext>
            </a:extLst>
          </p:cNvPr>
          <p:cNvSpPr>
            <a:spLocks noGrp="1"/>
          </p:cNvSpPr>
          <p:nvPr>
            <p:ph type="body" idx="1"/>
          </p:nvPr>
        </p:nvSpPr>
        <p:spPr>
          <a:xfrm>
            <a:off x="277091" y="1268760"/>
            <a:ext cx="11637818" cy="49685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N" dirty="0"/>
          </a:p>
        </p:txBody>
      </p:sp>
      <p:sp>
        <p:nvSpPr>
          <p:cNvPr id="4" name="Date Placeholder 3">
            <a:extLst>
              <a:ext uri="{FF2B5EF4-FFF2-40B4-BE49-F238E27FC236}">
                <a16:creationId xmlns:a16="http://schemas.microsoft.com/office/drawing/2014/main" id="{90317A9E-FDF2-F640-9AAD-992969746734}"/>
              </a:ext>
            </a:extLst>
          </p:cNvPr>
          <p:cNvSpPr>
            <a:spLocks noGrp="1"/>
          </p:cNvSpPr>
          <p:nvPr>
            <p:ph type="dt" sz="half" idx="2"/>
          </p:nvPr>
        </p:nvSpPr>
        <p:spPr>
          <a:xfrm>
            <a:off x="277091" y="6356350"/>
            <a:ext cx="330430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28F2AF-5968-3346-AE5F-9E0849B6F0B3}" type="datetime1">
              <a:rPr lang="en-US" smtClean="0"/>
              <a:t>7/6/26</a:t>
            </a:fld>
            <a:endParaRPr lang="en-CN"/>
          </a:p>
        </p:txBody>
      </p:sp>
      <p:sp>
        <p:nvSpPr>
          <p:cNvPr id="5" name="Footer Placeholder 4">
            <a:extLst>
              <a:ext uri="{FF2B5EF4-FFF2-40B4-BE49-F238E27FC236}">
                <a16:creationId xmlns:a16="http://schemas.microsoft.com/office/drawing/2014/main" id="{8150713F-EA27-5D49-950B-4667F409F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8105151B-CA49-B145-971E-747B50551377}"/>
              </a:ext>
            </a:extLst>
          </p:cNvPr>
          <p:cNvSpPr>
            <a:spLocks noGrp="1"/>
          </p:cNvSpPr>
          <p:nvPr>
            <p:ph type="sldNum" sz="quarter" idx="4"/>
          </p:nvPr>
        </p:nvSpPr>
        <p:spPr>
          <a:xfrm>
            <a:off x="8610599" y="6356350"/>
            <a:ext cx="330430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FE1A1A-A846-1244-B210-CC29CD60D5AB}" type="slidenum">
              <a:rPr lang="en-CN" smtClean="0"/>
              <a:t>‹#›</a:t>
            </a:fld>
            <a:endParaRPr lang="en-CN"/>
          </a:p>
        </p:txBody>
      </p:sp>
    </p:spTree>
    <p:extLst>
      <p:ext uri="{BB962C8B-B14F-4D97-AF65-F5344CB8AC3E}">
        <p14:creationId xmlns:p14="http://schemas.microsoft.com/office/powerpoint/2010/main" val="2502958663"/>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C00000"/>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FFFFF">
                <a:alpha val="0"/>
              </a:srgbClr>
            </a:solidFill>
            <a:prstDash val="solid"/>
          </a:ln>
        </p:spPr>
        <p:txBody>
          <a:bodyPr/>
          <a:lstStyle/>
          <a:p>
            <a:endParaRPr lang="zh-CN" altLang="en-US" dirty="0"/>
          </a:p>
        </p:txBody>
      </p:sp>
      <p:sp>
        <p:nvSpPr>
          <p:cNvPr id="3" name="Shape 1"/>
          <p:cNvSpPr/>
          <p:nvPr/>
        </p:nvSpPr>
        <p:spPr>
          <a:xfrm>
            <a:off x="0" y="0"/>
            <a:ext cx="190495" cy="6858000"/>
          </a:xfrm>
          <a:prstGeom prst="rect">
            <a:avLst/>
          </a:prstGeom>
          <a:solidFill>
            <a:srgbClr val="1F5F8B"/>
          </a:solidFill>
          <a:ln w="12700">
            <a:solidFill>
              <a:srgbClr val="FFFFFF">
                <a:alpha val="0"/>
              </a:srgbClr>
            </a:solidFill>
            <a:prstDash val="solid"/>
          </a:ln>
        </p:spPr>
        <p:txBody>
          <a:bodyPr/>
          <a:lstStyle/>
          <a:p>
            <a:endParaRPr lang="zh-CN" altLang="en-US"/>
          </a:p>
        </p:txBody>
      </p:sp>
      <p:sp>
        <p:nvSpPr>
          <p:cNvPr id="4" name="Text 2"/>
          <p:cNvSpPr/>
          <p:nvPr/>
        </p:nvSpPr>
        <p:spPr>
          <a:xfrm>
            <a:off x="647684" y="666750"/>
            <a:ext cx="2405151" cy="238125"/>
          </a:xfrm>
          <a:prstGeom prst="rect">
            <a:avLst/>
          </a:prstGeom>
          <a:noFill/>
          <a:ln/>
        </p:spPr>
        <p:txBody>
          <a:bodyPr wrap="square" lIns="0" tIns="0" rIns="0" bIns="0" rtlCol="0" anchor="t"/>
          <a:lstStyle/>
          <a:p>
            <a:pPr marL="0" indent="0" algn="l">
              <a:buNone/>
            </a:pPr>
            <a:r>
              <a:rPr lang="en-US" sz="1350" b="1" dirty="0">
                <a:solidFill>
                  <a:srgbClr val="1F5F8B"/>
                </a:solidFill>
                <a:latin typeface="Helvetica Neue" pitchFamily="34" charset="0"/>
                <a:ea typeface="Helvetica Neue" pitchFamily="34" charset="-122"/>
                <a:cs typeface="Helvetica Neue" pitchFamily="34" charset="-120"/>
              </a:rPr>
              <a:t>SJTUClaw｜PP.02</a:t>
            </a:r>
            <a:endParaRPr lang="en-US" sz="1350" dirty="0"/>
          </a:p>
        </p:txBody>
      </p:sp>
      <p:sp>
        <p:nvSpPr>
          <p:cNvPr id="5" name="Text 3"/>
          <p:cNvSpPr/>
          <p:nvPr/>
        </p:nvSpPr>
        <p:spPr>
          <a:xfrm>
            <a:off x="647684" y="1428750"/>
            <a:ext cx="9552772" cy="1104900"/>
          </a:xfrm>
          <a:prstGeom prst="rect">
            <a:avLst/>
          </a:prstGeom>
          <a:noFill/>
          <a:ln/>
        </p:spPr>
        <p:txBody>
          <a:bodyPr wrap="square" lIns="0" tIns="0" rIns="0" bIns="0" rtlCol="0" anchor="t"/>
          <a:lstStyle/>
          <a:p>
            <a:pPr marL="0" indent="0" algn="l">
              <a:buNone/>
            </a:pPr>
            <a:r>
              <a:rPr lang="en-US" sz="3900" b="1" dirty="0">
                <a:solidFill>
                  <a:srgbClr val="111827"/>
                </a:solidFill>
                <a:latin typeface="Helvetica Neue" pitchFamily="34" charset="0"/>
                <a:ea typeface="Helvetica Neue" pitchFamily="34" charset="-122"/>
                <a:cs typeface="Helvetica Neue" pitchFamily="34" charset="-120"/>
              </a:rPr>
              <a:t>SOUL 与 Memory：让 Agent 有稳定身份和长期记忆</a:t>
            </a:r>
            <a:endParaRPr lang="en-US" sz="3900" dirty="0"/>
          </a:p>
        </p:txBody>
      </p:sp>
      <p:sp>
        <p:nvSpPr>
          <p:cNvPr id="6" name="Text 4"/>
          <p:cNvSpPr/>
          <p:nvPr/>
        </p:nvSpPr>
        <p:spPr>
          <a:xfrm>
            <a:off x="685783" y="3238500"/>
            <a:ext cx="6572086" cy="628650"/>
          </a:xfrm>
          <a:prstGeom prst="rect">
            <a:avLst/>
          </a:prstGeom>
          <a:noFill/>
          <a:ln/>
        </p:spPr>
        <p:txBody>
          <a:bodyPr wrap="square" lIns="0" tIns="0" rIns="0" bIns="0" rtlCol="0" anchor="t"/>
          <a:lstStyle/>
          <a:p>
            <a:pPr marL="0" indent="0" algn="l">
              <a:buNone/>
            </a:pPr>
            <a:r>
              <a:rPr lang="en-US" sz="1750" dirty="0">
                <a:solidFill>
                  <a:srgbClr val="334155"/>
                </a:solidFill>
                <a:latin typeface="Helvetica Neue" pitchFamily="34" charset="0"/>
                <a:ea typeface="Helvetica Neue" pitchFamily="34" charset="-122"/>
                <a:cs typeface="Helvetica Neue" pitchFamily="34" charset="-120"/>
              </a:rPr>
              <a:t>理解 System Prompt，完成运行期间有效的多轮对话 loop，并把固定 prompt 升级为可读、可控、可检索的 memory 体系。</a:t>
            </a:r>
            <a:endParaRPr lang="en-US" sz="1750" dirty="0"/>
          </a:p>
        </p:txBody>
      </p:sp>
      <p:sp>
        <p:nvSpPr>
          <p:cNvPr id="7" name="Text 5"/>
          <p:cNvSpPr/>
          <p:nvPr/>
        </p:nvSpPr>
        <p:spPr>
          <a:xfrm>
            <a:off x="221301" y="5429250"/>
            <a:ext cx="3257915" cy="647700"/>
          </a:xfrm>
          <a:prstGeom prst="rect">
            <a:avLst/>
          </a:prstGeom>
          <a:noFill/>
          <a:ln/>
        </p:spPr>
        <p:txBody>
          <a:bodyPr wrap="square" lIns="0" tIns="0" rIns="0" bIns="0" rtlCol="0" anchor="t"/>
          <a:lstStyle/>
          <a:p>
            <a:pPr marL="0" indent="0" algn="ctr">
              <a:buNone/>
            </a:pPr>
            <a:r>
              <a:rPr lang="en-US" dirty="0" err="1">
                <a:solidFill>
                  <a:srgbClr val="475569"/>
                </a:solidFill>
                <a:latin typeface="Helvetica Neue" pitchFamily="34" charset="0"/>
                <a:ea typeface="Helvetica Neue" pitchFamily="34" charset="-122"/>
                <a:cs typeface="Helvetica Neue" pitchFamily="34" charset="-120"/>
              </a:rPr>
              <a:t>杜冬冬</a:t>
            </a:r>
            <a:endParaRPr lang="en-US" dirty="0">
              <a:solidFill>
                <a:srgbClr val="475569"/>
              </a:solidFill>
              <a:latin typeface="Helvetica Neue" pitchFamily="34" charset="0"/>
              <a:ea typeface="Helvetica Neue" pitchFamily="34" charset="-122"/>
              <a:cs typeface="Helvetica Neue" pitchFamily="34" charset="-120"/>
            </a:endParaRPr>
          </a:p>
          <a:p>
            <a:pPr marL="0" indent="0" algn="ctr">
              <a:buNone/>
            </a:pPr>
            <a:r>
              <a:rPr lang="zh-CN" altLang="en-US" dirty="0">
                <a:solidFill>
                  <a:srgbClr val="475569"/>
                </a:solidFill>
                <a:latin typeface="Helvetica Neue" pitchFamily="34" charset="0"/>
                <a:cs typeface="Helvetica Neue" pitchFamily="34" charset="-120"/>
              </a:rPr>
              <a:t> </a:t>
            </a:r>
            <a:r>
              <a:rPr lang="en-US" altLang="zh-CN" dirty="0">
                <a:solidFill>
                  <a:srgbClr val="475569"/>
                </a:solidFill>
                <a:latin typeface="Helvetica Neue" pitchFamily="34" charset="0"/>
                <a:ea typeface="Helvetica Neue" pitchFamily="34" charset="-122"/>
                <a:cs typeface="Helvetica Neue" pitchFamily="34" charset="-120"/>
              </a:rPr>
              <a:t>2026·</a:t>
            </a:r>
            <a:r>
              <a:rPr lang="zh-CN" altLang="en-US" dirty="0">
                <a:solidFill>
                  <a:srgbClr val="475569"/>
                </a:solidFill>
                <a:latin typeface="Helvetica Neue" pitchFamily="34" charset="0"/>
                <a:ea typeface="Helvetica Neue" pitchFamily="34" charset="-122"/>
                <a:cs typeface="Helvetica Neue" pitchFamily="34" charset="-120"/>
              </a:rPr>
              <a:t>暑期小学期</a:t>
            </a:r>
            <a:endParaRPr lang="en-US" dirty="0"/>
          </a:p>
        </p:txBody>
      </p:sp>
      <p:sp>
        <p:nvSpPr>
          <p:cNvPr id="8" name="Text 6"/>
          <p:cNvSpPr/>
          <p:nvPr/>
        </p:nvSpPr>
        <p:spPr>
          <a:xfrm>
            <a:off x="11377179" y="6457950"/>
            <a:ext cx="395426" cy="152400"/>
          </a:xfrm>
          <a:prstGeom prst="rect">
            <a:avLst/>
          </a:prstGeom>
          <a:noFill/>
          <a:ln/>
        </p:spPr>
        <p:txBody>
          <a:bodyPr wrap="square" lIns="0" tIns="0" rIns="0" bIns="0" rtlCol="0" anchor="t"/>
          <a:lstStyle/>
          <a:p>
            <a:pPr marL="0" indent="0" algn="l">
              <a:buNone/>
            </a:pPr>
            <a:r>
              <a:rPr lang="en-US" sz="1000">
                <a:solidFill>
                  <a:srgbClr val="E5EEF6"/>
                </a:solidFill>
                <a:latin typeface="Helvetica Neue" pitchFamily="34" charset="0"/>
                <a:ea typeface="Helvetica Neue" pitchFamily="34" charset="-122"/>
                <a:cs typeface="Helvetica Neue" pitchFamily="34" charset="-120"/>
              </a:rPr>
              <a:t>01 / 26</a:t>
            </a:r>
            <a:endParaRPr lang="en-US" sz="1000" dirty="0"/>
          </a:p>
        </p:txBody>
      </p:sp>
      <p:sp>
        <p:nvSpPr>
          <p:cNvPr id="9" name="文本框 8">
            <a:extLst>
              <a:ext uri="{FF2B5EF4-FFF2-40B4-BE49-F238E27FC236}">
                <a16:creationId xmlns:a16="http://schemas.microsoft.com/office/drawing/2014/main" id="{25303260-91A0-7FF2-205E-9A13C2357E4E}"/>
              </a:ext>
            </a:extLst>
          </p:cNvPr>
          <p:cNvSpPr txBox="1"/>
          <p:nvPr/>
        </p:nvSpPr>
        <p:spPr>
          <a:xfrm>
            <a:off x="221301" y="6457950"/>
            <a:ext cx="8558305" cy="369332"/>
          </a:xfrm>
          <a:prstGeom prst="rect">
            <a:avLst/>
          </a:prstGeom>
          <a:noFill/>
        </p:spPr>
        <p:txBody>
          <a:bodyPr wrap="none" rtlCol="0">
            <a:spAutoFit/>
          </a:bodyPr>
          <a:lstStyle/>
          <a:p>
            <a:r>
              <a:rPr kumimoji="1" lang="zh-CN" altLang="en-US" dirty="0"/>
              <a:t>备注：本</a:t>
            </a:r>
            <a:r>
              <a:rPr kumimoji="1" lang="en-US" altLang="zh-CN" dirty="0"/>
              <a:t> PPT </a:t>
            </a:r>
            <a:r>
              <a:rPr kumimoji="1" lang="zh-CN" altLang="en-US" dirty="0"/>
              <a:t>初版由本人的</a:t>
            </a:r>
            <a:r>
              <a:rPr kumimoji="1" lang="en-US" altLang="zh-CN" dirty="0"/>
              <a:t> </a:t>
            </a:r>
            <a:r>
              <a:rPr kumimoji="1" lang="en-US" altLang="zh-CN" dirty="0" err="1"/>
              <a:t>SJTUClaw</a:t>
            </a:r>
            <a:r>
              <a:rPr kumimoji="1" lang="en-US" altLang="zh-CN" dirty="0"/>
              <a:t> </a:t>
            </a:r>
            <a:r>
              <a:rPr kumimoji="1" lang="zh-CN" altLang="en-US" dirty="0"/>
              <a:t>智能体完成，后已经经过对内容的精修和调整</a:t>
            </a:r>
          </a:p>
        </p:txBody>
      </p:sp>
    </p:spTree>
    <p:extLst>
      <p:ext uri="{BB962C8B-B14F-4D97-AF65-F5344CB8AC3E}">
        <p14:creationId xmlns:p14="http://schemas.microsoft.com/office/powerpoint/2010/main" val="2448068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1"/>
          <p:cNvSpPr/>
          <p:nvPr/>
        </p:nvSpPr>
        <p:spPr>
          <a:xfrm>
            <a:off x="0" y="0"/>
            <a:ext cx="12191695" cy="133350"/>
          </a:xfrm>
          <a:prstGeom prst="rect">
            <a:avLst/>
          </a:prstGeom>
          <a:solidFill>
            <a:srgbClr val="1F5F8B"/>
          </a:solidFill>
          <a:ln w="12700">
            <a:solidFill>
              <a:srgbClr val="FFFFFF">
                <a:alpha val="0"/>
              </a:srgbClr>
            </a:solidFill>
            <a:prstDash val="solid"/>
          </a:ln>
        </p:spPr>
        <p:txBody>
          <a:bodyPr/>
          <a:lstStyle/>
          <a:p>
            <a:endParaRPr lang="zh-CN" altLang="en-US"/>
          </a:p>
        </p:txBody>
      </p:sp>
      <p:sp>
        <p:nvSpPr>
          <p:cNvPr id="5" name="Text 3"/>
          <p:cNvSpPr/>
          <p:nvPr/>
        </p:nvSpPr>
        <p:spPr>
          <a:xfrm>
            <a:off x="400040" y="628650"/>
            <a:ext cx="10001000"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目标</a:t>
            </a:r>
            <a:r>
              <a:rPr lang="zh-CN" altLang="en-US" sz="2950" b="1" dirty="0">
                <a:solidFill>
                  <a:srgbClr val="111827"/>
                </a:solidFill>
                <a:latin typeface="Helvetica Neue" pitchFamily="34" charset="0"/>
                <a:ea typeface="Helvetica Neue" pitchFamily="34" charset="-122"/>
                <a:cs typeface="Helvetica Neue" pitchFamily="34" charset="-120"/>
              </a:rPr>
              <a:t>：</a:t>
            </a:r>
            <a:r>
              <a:rPr lang="en-US" sz="2950" b="1" dirty="0" err="1">
                <a:solidFill>
                  <a:srgbClr val="111827"/>
                </a:solidFill>
                <a:latin typeface="Helvetica Neue" pitchFamily="34" charset="0"/>
                <a:ea typeface="Helvetica Neue" pitchFamily="34" charset="-122"/>
                <a:cs typeface="Helvetica Neue" pitchFamily="34" charset="-120"/>
              </a:rPr>
              <a:t>把</a:t>
            </a:r>
            <a:r>
              <a:rPr lang="en-US" sz="2950" b="1" dirty="0">
                <a:solidFill>
                  <a:srgbClr val="111827"/>
                </a:solidFill>
                <a:latin typeface="Helvetica Neue" pitchFamily="34" charset="0"/>
                <a:ea typeface="Helvetica Neue" pitchFamily="34" charset="-122"/>
                <a:cs typeface="Helvetica Neue" pitchFamily="34" charset="-120"/>
              </a:rPr>
              <a:t> agent 的“身份、上下文、记忆”分清楚</a:t>
            </a:r>
            <a:endParaRPr lang="en-US" sz="2950" dirty="0"/>
          </a:p>
        </p:txBody>
      </p:sp>
      <p:sp>
        <p:nvSpPr>
          <p:cNvPr id="23" name="Text 21"/>
          <p:cNvSpPr/>
          <p:nvPr/>
        </p:nvSpPr>
        <p:spPr>
          <a:xfrm>
            <a:off x="609585" y="5638800"/>
            <a:ext cx="10343891" cy="533400"/>
          </a:xfrm>
          <a:prstGeom prst="rect">
            <a:avLst/>
          </a:prstGeom>
          <a:noFill/>
          <a:ln/>
        </p:spPr>
        <p:txBody>
          <a:bodyPr wrap="square" lIns="0" tIns="0" rIns="0" bIns="0" rtlCol="0" anchor="t"/>
          <a:lstStyle/>
          <a:p>
            <a:pPr marL="0" indent="0" algn="l">
              <a:buNone/>
            </a:pPr>
            <a:r>
              <a:rPr lang="en-US" sz="1600" dirty="0">
                <a:solidFill>
                  <a:srgbClr val="FFFFFF"/>
                </a:solidFill>
                <a:latin typeface="Helvetica Neue" pitchFamily="34" charset="0"/>
                <a:ea typeface="Helvetica Neue" pitchFamily="34" charset="-122"/>
                <a:cs typeface="Helvetica Neue" pitchFamily="34" charset="-120"/>
              </a:rPr>
              <a:t>最终交付：多轮 CLI、SOUL.md、profile memory、session log、course index，以及可查看/添加/删除的记忆命令。</a:t>
            </a:r>
            <a:endParaRPr lang="en-US" sz="1600" dirty="0"/>
          </a:p>
        </p:txBody>
      </p:sp>
      <p:sp>
        <p:nvSpPr>
          <p:cNvPr id="24" name="Text 22"/>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02 / 26</a:t>
            </a:r>
            <a:endParaRPr lang="en-US" sz="1000" dirty="0"/>
          </a:p>
        </p:txBody>
      </p:sp>
      <p:sp>
        <p:nvSpPr>
          <p:cNvPr id="25" name="文本框 24">
            <a:extLst>
              <a:ext uri="{FF2B5EF4-FFF2-40B4-BE49-F238E27FC236}">
                <a16:creationId xmlns:a16="http://schemas.microsoft.com/office/drawing/2014/main" id="{016A5216-BBAE-9F9D-1E89-287536EA7077}"/>
              </a:ext>
            </a:extLst>
          </p:cNvPr>
          <p:cNvSpPr txBox="1"/>
          <p:nvPr/>
        </p:nvSpPr>
        <p:spPr>
          <a:xfrm>
            <a:off x="609585" y="1628800"/>
            <a:ext cx="10887015" cy="3046988"/>
          </a:xfrm>
          <a:prstGeom prst="rect">
            <a:avLst/>
          </a:prstGeom>
          <a:noFill/>
        </p:spPr>
        <p:txBody>
          <a:bodyPr wrap="square" rtlCol="0">
            <a:spAutoFit/>
          </a:bodyPr>
          <a:lstStyle/>
          <a:p>
            <a:pPr marL="285750" indent="-285750">
              <a:buFont typeface="Wingdings" pitchFamily="2" charset="2"/>
              <a:buChar char="n"/>
            </a:pPr>
            <a:r>
              <a:rPr kumimoji="1" lang="zh-CN" altLang="en-US" sz="2400" dirty="0"/>
              <a:t>前置要求：已经熟练掌握并且完成</a:t>
            </a:r>
            <a:r>
              <a:rPr kumimoji="1" lang="en-US" altLang="zh-CN" sz="2400" dirty="0"/>
              <a:t> PP.1 </a:t>
            </a:r>
            <a:r>
              <a:rPr kumimoji="1" lang="zh-CN" altLang="en-US" sz="2400" dirty="0"/>
              <a:t>课程中的内容</a:t>
            </a: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r>
              <a:rPr kumimoji="1" lang="zh-CN" altLang="en-US" sz="2400" dirty="0"/>
              <a:t>课程内容： </a:t>
            </a:r>
            <a:r>
              <a:rPr kumimoji="1" lang="en-US" altLang="zh-CN" sz="2400" dirty="0"/>
              <a:t>System Prompt</a:t>
            </a:r>
            <a:r>
              <a:rPr kumimoji="1" lang="zh-CN" altLang="en-US" sz="2400" dirty="0"/>
              <a:t>、</a:t>
            </a:r>
            <a:r>
              <a:rPr kumimoji="1" lang="en-US" altLang="zh-CN" sz="2400" dirty="0" err="1"/>
              <a:t>SOUL.md</a:t>
            </a:r>
            <a:r>
              <a:rPr kumimoji="1" lang="zh-CN" altLang="en-US" sz="2400" dirty="0"/>
              <a:t>、当前会话历史和持久 </a:t>
            </a:r>
            <a:r>
              <a:rPr kumimoji="1" lang="en-US" altLang="zh-CN" sz="2400" dirty="0"/>
              <a:t>memory </a:t>
            </a:r>
            <a:r>
              <a:rPr kumimoji="1" lang="zh-CN" altLang="en-US" sz="2400" dirty="0"/>
              <a:t>的区别</a:t>
            </a: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r>
              <a:rPr kumimoji="1" lang="zh-CN" altLang="en-US" sz="2400" dirty="0"/>
              <a:t>本节课内容之后，同学们应该能够在</a:t>
            </a:r>
            <a:r>
              <a:rPr kumimoji="1" lang="en-US" altLang="zh-CN" sz="2400" dirty="0"/>
              <a:t> AI</a:t>
            </a:r>
            <a:r>
              <a:rPr kumimoji="1" lang="zh-CN" altLang="en-US" sz="2400" dirty="0"/>
              <a:t> </a:t>
            </a:r>
            <a:r>
              <a:rPr kumimoji="1" lang="en-US" altLang="zh-CN" sz="2400" dirty="0"/>
              <a:t>IDE </a:t>
            </a:r>
            <a:r>
              <a:rPr kumimoji="1" lang="zh-CN" altLang="en-US" sz="2400" dirty="0"/>
              <a:t>的辅助下，实现</a:t>
            </a:r>
            <a:r>
              <a:rPr kumimoji="1" lang="en-US" altLang="zh-CN" sz="2400" dirty="0"/>
              <a:t> </a:t>
            </a:r>
            <a:r>
              <a:rPr kumimoji="1" lang="en-US" altLang="zh-CN" sz="2400" dirty="0" err="1"/>
              <a:t>SJTUClaw</a:t>
            </a:r>
            <a:r>
              <a:rPr kumimoji="1" lang="en-US" altLang="zh-CN" sz="2400" dirty="0"/>
              <a:t> </a:t>
            </a:r>
            <a:r>
              <a:rPr kumimoji="1" lang="zh-CN" altLang="en-US" sz="2400" dirty="0"/>
              <a:t>中的多轮对话、</a:t>
            </a:r>
            <a:r>
              <a:rPr kumimoji="1" lang="en-US" altLang="zh-CN" sz="2400" dirty="0" err="1"/>
              <a:t>SOUL.md</a:t>
            </a:r>
            <a:r>
              <a:rPr kumimoji="1" lang="zh-CN" altLang="en-US" sz="2400" dirty="0"/>
              <a:t>、基础的</a:t>
            </a:r>
            <a:r>
              <a:rPr kumimoji="1" lang="en-US" altLang="zh-CN" sz="2400" dirty="0"/>
              <a:t>Agent </a:t>
            </a:r>
            <a:r>
              <a:rPr kumimoji="1" lang="zh-CN" altLang="en-US" sz="2400" dirty="0"/>
              <a:t>记忆管理操作等能力</a:t>
            </a:r>
            <a:endParaRPr kumimoji="1" lang="en-US" altLang="zh-CN" sz="2400" dirty="0"/>
          </a:p>
          <a:p>
            <a:pPr marL="285750" indent="-285750">
              <a:buFont typeface="Wingdings" pitchFamily="2" charset="2"/>
              <a:buChar char="n"/>
            </a:pPr>
            <a:endParaRPr kumimoji="1" lang="zh-CN" altLang="en-US" sz="2400" dirty="0"/>
          </a:p>
          <a:p>
            <a:pPr marL="285750" indent="-285750">
              <a:buFont typeface="Wingdings" pitchFamily="2" charset="2"/>
              <a:buChar char="n"/>
            </a:pPr>
            <a:endParaRPr kumimoji="1" lang="en-US" altLang="zh-CN" sz="2400" dirty="0"/>
          </a:p>
        </p:txBody>
      </p:sp>
    </p:spTree>
    <p:extLst>
      <p:ext uri="{BB962C8B-B14F-4D97-AF65-F5344CB8AC3E}">
        <p14:creationId xmlns:p14="http://schemas.microsoft.com/office/powerpoint/2010/main" val="233148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4" name="Text 2"/>
          <p:cNvSpPr/>
          <p:nvPr/>
        </p:nvSpPr>
        <p:spPr>
          <a:xfrm>
            <a:off x="400040" y="609600"/>
            <a:ext cx="10001000" cy="428625"/>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今日实践</a:t>
            </a:r>
            <a:r>
              <a:rPr lang="zh-CN" altLang="en-US" sz="2950" b="1" dirty="0">
                <a:solidFill>
                  <a:srgbClr val="111827"/>
                </a:solidFill>
                <a:latin typeface="Helvetica Neue" pitchFamily="34" charset="0"/>
                <a:ea typeface="Helvetica Neue" pitchFamily="34" charset="-122"/>
                <a:cs typeface="Helvetica Neue" pitchFamily="34" charset="-120"/>
              </a:rPr>
              <a:t>：</a:t>
            </a:r>
            <a:r>
              <a:rPr lang="en-US" sz="2950" b="1" dirty="0" err="1">
                <a:solidFill>
                  <a:srgbClr val="111827"/>
                </a:solidFill>
                <a:latin typeface="Helvetica Neue" pitchFamily="34" charset="0"/>
                <a:ea typeface="Helvetica Neue" pitchFamily="34" charset="-122"/>
                <a:cs typeface="Helvetica Neue" pitchFamily="34" charset="-120"/>
              </a:rPr>
              <a:t>按“身份</a:t>
            </a:r>
            <a:r>
              <a:rPr lang="zh-CN" altLang="en-US" sz="2950" b="1" dirty="0">
                <a:solidFill>
                  <a:srgbClr val="111827"/>
                </a:solidFill>
                <a:latin typeface="Helvetica Neue" pitchFamily="34" charset="0"/>
                <a:ea typeface="Helvetica Neue" pitchFamily="34" charset="-122"/>
                <a:cs typeface="Helvetica Neue" pitchFamily="34" charset="-120"/>
              </a:rPr>
              <a:t> </a:t>
            </a:r>
            <a:r>
              <a:rPr lang="en-US" sz="2950" b="1" dirty="0">
                <a:solidFill>
                  <a:srgbClr val="111827"/>
                </a:solidFill>
                <a:latin typeface="Helvetica Neue" pitchFamily="34" charset="0"/>
                <a:ea typeface="Helvetica Neue" pitchFamily="34" charset="-122"/>
                <a:cs typeface="Helvetica Neue" pitchFamily="34" charset="-120"/>
              </a:rPr>
              <a:t>→</a:t>
            </a:r>
            <a:r>
              <a:rPr lang="zh-CN" altLang="en-US" sz="2950" b="1" dirty="0">
                <a:solidFill>
                  <a:srgbClr val="111827"/>
                </a:solidFill>
                <a:latin typeface="Helvetica Neue" pitchFamily="34" charset="0"/>
                <a:ea typeface="Helvetica Neue" pitchFamily="34" charset="-122"/>
                <a:cs typeface="Helvetica Neue" pitchFamily="34" charset="-120"/>
              </a:rPr>
              <a:t> </a:t>
            </a:r>
            <a:r>
              <a:rPr lang="en-US" sz="2950" b="1" dirty="0" err="1">
                <a:solidFill>
                  <a:srgbClr val="111827"/>
                </a:solidFill>
                <a:latin typeface="Helvetica Neue" pitchFamily="34" charset="0"/>
                <a:ea typeface="Helvetica Neue" pitchFamily="34" charset="-122"/>
                <a:cs typeface="Helvetica Neue" pitchFamily="34" charset="-120"/>
              </a:rPr>
              <a:t>会话</a:t>
            </a:r>
            <a:r>
              <a:rPr lang="zh-CN" altLang="en-US" sz="2950" b="1" dirty="0">
                <a:solidFill>
                  <a:srgbClr val="111827"/>
                </a:solidFill>
                <a:latin typeface="Helvetica Neue" pitchFamily="34" charset="0"/>
                <a:ea typeface="Helvetica Neue" pitchFamily="34" charset="-122"/>
                <a:cs typeface="Helvetica Neue" pitchFamily="34" charset="-120"/>
              </a:rPr>
              <a:t> </a:t>
            </a:r>
            <a:r>
              <a:rPr lang="en-US" sz="2950" b="1" dirty="0">
                <a:solidFill>
                  <a:srgbClr val="111827"/>
                </a:solidFill>
                <a:latin typeface="Helvetica Neue" pitchFamily="34" charset="0"/>
                <a:ea typeface="Helvetica Neue" pitchFamily="34" charset="-122"/>
                <a:cs typeface="Helvetica Neue" pitchFamily="34" charset="-120"/>
              </a:rPr>
              <a:t>→</a:t>
            </a:r>
            <a:r>
              <a:rPr lang="zh-CN" altLang="en-US" sz="2950" b="1" dirty="0">
                <a:solidFill>
                  <a:srgbClr val="111827"/>
                </a:solidFill>
                <a:latin typeface="Helvetica Neue" pitchFamily="34" charset="0"/>
                <a:ea typeface="Helvetica Neue" pitchFamily="34" charset="-122"/>
                <a:cs typeface="Helvetica Neue" pitchFamily="34" charset="-120"/>
              </a:rPr>
              <a:t> </a:t>
            </a:r>
            <a:r>
              <a:rPr lang="en-US" sz="2950" b="1" dirty="0" err="1">
                <a:solidFill>
                  <a:srgbClr val="111827"/>
                </a:solidFill>
                <a:latin typeface="Helvetica Neue" pitchFamily="34" charset="0"/>
                <a:ea typeface="Helvetica Neue" pitchFamily="34" charset="-122"/>
                <a:cs typeface="Helvetica Neue" pitchFamily="34" charset="-120"/>
              </a:rPr>
              <a:t>记忆”逐层升级</a:t>
            </a:r>
            <a:endParaRPr lang="en-US" sz="2950" dirty="0"/>
          </a:p>
        </p:txBody>
      </p:sp>
      <p:sp>
        <p:nvSpPr>
          <p:cNvPr id="5" name="Shape 3"/>
          <p:cNvSpPr/>
          <p:nvPr/>
        </p:nvSpPr>
        <p:spPr>
          <a:xfrm>
            <a:off x="400040" y="1428750"/>
            <a:ext cx="3581310" cy="37338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6" name="Shape 4"/>
          <p:cNvSpPr/>
          <p:nvPr/>
        </p:nvSpPr>
        <p:spPr>
          <a:xfrm>
            <a:off x="400040" y="1457325"/>
            <a:ext cx="3581310" cy="0"/>
          </a:xfrm>
          <a:prstGeom prst="line">
            <a:avLst/>
          </a:prstGeom>
          <a:solidFill>
            <a:srgbClr val="FFFFFF">
              <a:alpha val="0"/>
            </a:srgbClr>
          </a:solidFill>
          <a:ln w="57150">
            <a:solidFill>
              <a:srgbClr val="1F5F8B"/>
            </a:solidFill>
            <a:prstDash val="solid"/>
          </a:ln>
        </p:spPr>
        <p:txBody>
          <a:bodyPr/>
          <a:lstStyle/>
          <a:p>
            <a:endParaRPr lang="zh-CN" altLang="en-US"/>
          </a:p>
        </p:txBody>
      </p:sp>
      <p:sp>
        <p:nvSpPr>
          <p:cNvPr id="7" name="Text 5"/>
          <p:cNvSpPr/>
          <p:nvPr/>
        </p:nvSpPr>
        <p:spPr>
          <a:xfrm>
            <a:off x="581010" y="1647825"/>
            <a:ext cx="3219370"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一、先把对话跑起来</a:t>
            </a:r>
            <a:endParaRPr lang="en-US" sz="1600" dirty="0"/>
          </a:p>
        </p:txBody>
      </p:sp>
      <p:sp>
        <p:nvSpPr>
          <p:cNvPr id="8" name="Text 6"/>
          <p:cNvSpPr/>
          <p:nvPr/>
        </p:nvSpPr>
        <p:spPr>
          <a:xfrm>
            <a:off x="581010" y="1933575"/>
            <a:ext cx="3219370" cy="3257550"/>
          </a:xfrm>
          <a:prstGeom prst="rect">
            <a:avLst/>
          </a:prstGeom>
          <a:noFill/>
          <a:ln/>
        </p:spPr>
        <p:txBody>
          <a:bodyPr wrap="square" lIns="0" tIns="0" rIns="0" bIns="0" rtlCol="0" anchor="t"/>
          <a:lstStyle/>
          <a:p>
            <a:pPr marL="0" indent="0" algn="l">
              <a:buNone/>
            </a:pPr>
            <a:r>
              <a:rPr lang="en-US" sz="1600" dirty="0">
                <a:solidFill>
                  <a:srgbClr val="111827"/>
                </a:solidFill>
                <a:latin typeface="Helvetica Neue" pitchFamily="34" charset="0"/>
                <a:ea typeface="Helvetica Neue" pitchFamily="34" charset="-122"/>
                <a:cs typeface="Helvetica Neue" pitchFamily="34" charset="-120"/>
              </a:rPr>
              <a:t>1. 固定 prompt 作为 system message。</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2. 实现 ChatSession 历史。</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3. answer() 每轮发送 system + session。</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4. CLI loop 支持连续输入、空输入、/exit、Ctrl+C。</a:t>
            </a:r>
            <a:endParaRPr lang="en-US" sz="1600" dirty="0"/>
          </a:p>
        </p:txBody>
      </p:sp>
      <p:sp>
        <p:nvSpPr>
          <p:cNvPr id="9" name="Shape 7"/>
          <p:cNvSpPr/>
          <p:nvPr/>
        </p:nvSpPr>
        <p:spPr>
          <a:xfrm>
            <a:off x="4133747" y="1428750"/>
            <a:ext cx="3581310" cy="37338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0" name="Shape 8"/>
          <p:cNvSpPr/>
          <p:nvPr/>
        </p:nvSpPr>
        <p:spPr>
          <a:xfrm>
            <a:off x="4133747" y="1457325"/>
            <a:ext cx="3581310" cy="0"/>
          </a:xfrm>
          <a:prstGeom prst="line">
            <a:avLst/>
          </a:prstGeom>
          <a:solidFill>
            <a:srgbClr val="FFFFFF">
              <a:alpha val="0"/>
            </a:srgbClr>
          </a:solidFill>
          <a:ln w="57150">
            <a:solidFill>
              <a:srgbClr val="1F5F8B"/>
            </a:solidFill>
            <a:prstDash val="solid"/>
          </a:ln>
        </p:spPr>
        <p:txBody>
          <a:bodyPr/>
          <a:lstStyle/>
          <a:p>
            <a:endParaRPr lang="zh-CN" altLang="en-US"/>
          </a:p>
        </p:txBody>
      </p:sp>
      <p:sp>
        <p:nvSpPr>
          <p:cNvPr id="11" name="Text 9"/>
          <p:cNvSpPr/>
          <p:nvPr/>
        </p:nvSpPr>
        <p:spPr>
          <a:xfrm>
            <a:off x="4314717" y="1647825"/>
            <a:ext cx="3219370"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二、把身份抽成 SOUL</a:t>
            </a:r>
            <a:endParaRPr lang="en-US" sz="1600" dirty="0"/>
          </a:p>
        </p:txBody>
      </p:sp>
      <p:sp>
        <p:nvSpPr>
          <p:cNvPr id="12" name="Text 10"/>
          <p:cNvSpPr/>
          <p:nvPr/>
        </p:nvSpPr>
        <p:spPr>
          <a:xfrm>
            <a:off x="4314717" y="1933574"/>
            <a:ext cx="3219370" cy="3151609"/>
          </a:xfrm>
          <a:prstGeom prst="rect">
            <a:avLst/>
          </a:prstGeom>
          <a:noFill/>
          <a:ln/>
        </p:spPr>
        <p:txBody>
          <a:bodyPr wrap="square" lIns="0" tIns="0" rIns="0" bIns="0" rtlCol="0" anchor="t"/>
          <a:lstStyle/>
          <a:p>
            <a:pPr marL="0" indent="0" algn="l">
              <a:buNone/>
            </a:pPr>
            <a:r>
              <a:rPr lang="en-US" sz="1600" dirty="0">
                <a:solidFill>
                  <a:srgbClr val="111827"/>
                </a:solidFill>
                <a:latin typeface="Helvetica Neue" pitchFamily="34" charset="0"/>
                <a:ea typeface="Helvetica Neue" pitchFamily="34" charset="-122"/>
                <a:cs typeface="Helvetica Neue" pitchFamily="34" charset="-120"/>
              </a:rPr>
              <a:t>1. 编写 SOUL.md 行为契约。</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2. 实现 load_soul() 读取文件。</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3. 新增 MemoryStore 管理三类文件。</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4. CLI 增加 /memory show、add、forget。</a:t>
            </a:r>
            <a:endParaRPr lang="en-US" sz="1600" dirty="0"/>
          </a:p>
        </p:txBody>
      </p:sp>
      <p:sp>
        <p:nvSpPr>
          <p:cNvPr id="13" name="Shape 11"/>
          <p:cNvSpPr/>
          <p:nvPr/>
        </p:nvSpPr>
        <p:spPr>
          <a:xfrm>
            <a:off x="7867453" y="1428750"/>
            <a:ext cx="3581310" cy="37338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4" name="Shape 12"/>
          <p:cNvSpPr/>
          <p:nvPr/>
        </p:nvSpPr>
        <p:spPr>
          <a:xfrm>
            <a:off x="7867453" y="1457325"/>
            <a:ext cx="3581310" cy="0"/>
          </a:xfrm>
          <a:prstGeom prst="line">
            <a:avLst/>
          </a:prstGeom>
          <a:solidFill>
            <a:srgbClr val="FFFFFF">
              <a:alpha val="0"/>
            </a:srgbClr>
          </a:solidFill>
          <a:ln w="57150">
            <a:solidFill>
              <a:srgbClr val="1F5F8B"/>
            </a:solidFill>
            <a:prstDash val="solid"/>
          </a:ln>
        </p:spPr>
        <p:txBody>
          <a:bodyPr/>
          <a:lstStyle/>
          <a:p>
            <a:endParaRPr lang="zh-CN" altLang="en-US"/>
          </a:p>
        </p:txBody>
      </p:sp>
      <p:sp>
        <p:nvSpPr>
          <p:cNvPr id="15" name="Text 13"/>
          <p:cNvSpPr/>
          <p:nvPr/>
        </p:nvSpPr>
        <p:spPr>
          <a:xfrm>
            <a:off x="8048424" y="1647825"/>
            <a:ext cx="3219370"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三、让回答引用上下文</a:t>
            </a:r>
            <a:endParaRPr lang="en-US" sz="1600" dirty="0"/>
          </a:p>
        </p:txBody>
      </p:sp>
      <p:sp>
        <p:nvSpPr>
          <p:cNvPr id="16" name="Text 14"/>
          <p:cNvSpPr/>
          <p:nvPr/>
        </p:nvSpPr>
        <p:spPr>
          <a:xfrm>
            <a:off x="8048424" y="1933575"/>
            <a:ext cx="3219370" cy="3257550"/>
          </a:xfrm>
          <a:prstGeom prst="rect">
            <a:avLst/>
          </a:prstGeom>
          <a:noFill/>
          <a:ln/>
        </p:spPr>
        <p:txBody>
          <a:bodyPr wrap="square" lIns="0" tIns="0" rIns="0" bIns="0" rtlCol="0" anchor="t"/>
          <a:lstStyle/>
          <a:p>
            <a:pPr marL="0" indent="0" algn="l">
              <a:buNone/>
            </a:pPr>
            <a:r>
              <a:rPr lang="en-US" sz="1600" dirty="0">
                <a:solidFill>
                  <a:srgbClr val="111827"/>
                </a:solidFill>
                <a:latin typeface="Helvetica Neue" pitchFamily="34" charset="0"/>
                <a:ea typeface="Helvetica Neue" pitchFamily="34" charset="-122"/>
                <a:cs typeface="Helvetica Neue" pitchFamily="34" charset="-120"/>
              </a:rPr>
              <a:t>1. CLI 增加 /index data/courses。</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2. 回答时放入 SOUL、session、profile、命中文件名。</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3. 每轮写入 JSONL session log。</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4. 测试多轮、SOUL、profile、course index。</a:t>
            </a:r>
            <a:endParaRPr lang="en-US" sz="1600" dirty="0"/>
          </a:p>
        </p:txBody>
      </p:sp>
      <p:sp>
        <p:nvSpPr>
          <p:cNvPr id="20" name="Text 18"/>
          <p:cNvSpPr/>
          <p:nvPr/>
        </p:nvSpPr>
        <p:spPr>
          <a:xfrm>
            <a:off x="11377179" y="649605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03 / 26</a:t>
            </a:r>
            <a:endParaRPr lang="en-US" sz="1000" dirty="0"/>
          </a:p>
        </p:txBody>
      </p:sp>
    </p:spTree>
    <p:extLst>
      <p:ext uri="{BB962C8B-B14F-4D97-AF65-F5344CB8AC3E}">
        <p14:creationId xmlns:p14="http://schemas.microsoft.com/office/powerpoint/2010/main" val="4198767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zh-CN" altLang="en-US" dirty="0"/>
          </a:p>
        </p:txBody>
      </p:sp>
      <p:sp>
        <p:nvSpPr>
          <p:cNvPr id="3" name="Shape 1"/>
          <p:cNvSpPr/>
          <p:nvPr/>
        </p:nvSpPr>
        <p:spPr>
          <a:xfrm>
            <a:off x="0" y="0"/>
            <a:ext cx="2857429" cy="6858000"/>
          </a:xfrm>
          <a:prstGeom prst="rect">
            <a:avLst/>
          </a:prstGeom>
          <a:solidFill>
            <a:srgbClr val="10233C"/>
          </a:solidFill>
          <a:ln w="12700">
            <a:solidFill>
              <a:srgbClr val="FFFFFF">
                <a:alpha val="0"/>
              </a:srgbClr>
            </a:solidFill>
            <a:prstDash val="solid"/>
          </a:ln>
        </p:spPr>
        <p:txBody>
          <a:bodyPr/>
          <a:lstStyle/>
          <a:p>
            <a:endParaRPr lang="zh-CN" altLang="en-US"/>
          </a:p>
        </p:txBody>
      </p:sp>
      <p:sp>
        <p:nvSpPr>
          <p:cNvPr id="4" name="Text 2"/>
          <p:cNvSpPr/>
          <p:nvPr/>
        </p:nvSpPr>
        <p:spPr>
          <a:xfrm>
            <a:off x="400040" y="552450"/>
            <a:ext cx="2095448" cy="1057275"/>
          </a:xfrm>
          <a:prstGeom prst="rect">
            <a:avLst/>
          </a:prstGeom>
          <a:noFill/>
          <a:ln/>
        </p:spPr>
        <p:txBody>
          <a:bodyPr wrap="square" lIns="0" tIns="0" rIns="0" bIns="0" rtlCol="0" anchor="t"/>
          <a:lstStyle/>
          <a:p>
            <a:pPr marL="0" indent="0" algn="l">
              <a:buNone/>
            </a:pPr>
            <a:r>
              <a:rPr lang="en-US" altLang="zh-CN" sz="2400" b="1" dirty="0">
                <a:solidFill>
                  <a:srgbClr val="FFFFFF"/>
                </a:solidFill>
                <a:latin typeface="Helvetica Neue" pitchFamily="34" charset="0"/>
                <a:ea typeface="Helvetica Neue" pitchFamily="34" charset="-122"/>
                <a:cs typeface="Helvetica Neue" pitchFamily="34" charset="-120"/>
              </a:rPr>
              <a:t>1</a:t>
            </a:r>
            <a:endParaRPr lang="en-US" sz="2400" dirty="0"/>
          </a:p>
          <a:p>
            <a:pPr marL="0" indent="0" algn="l">
              <a:buNone/>
            </a:pPr>
            <a:r>
              <a:rPr lang="en-US" sz="2400" b="1" dirty="0">
                <a:solidFill>
                  <a:srgbClr val="FFFFFF"/>
                </a:solidFill>
                <a:latin typeface="Helvetica Neue" pitchFamily="34" charset="0"/>
                <a:ea typeface="Helvetica Neue" pitchFamily="34" charset="-122"/>
                <a:cs typeface="Helvetica Neue" pitchFamily="34" charset="-120"/>
              </a:rPr>
              <a:t>System Prompt</a:t>
            </a:r>
            <a:endParaRPr lang="en-US" sz="2400" dirty="0"/>
          </a:p>
        </p:txBody>
      </p:sp>
      <p:sp>
        <p:nvSpPr>
          <p:cNvPr id="5" name="Text 3"/>
          <p:cNvSpPr/>
          <p:nvPr/>
        </p:nvSpPr>
        <p:spPr>
          <a:xfrm>
            <a:off x="400040" y="1581150"/>
            <a:ext cx="2095448" cy="714375"/>
          </a:xfrm>
          <a:prstGeom prst="rect">
            <a:avLst/>
          </a:prstGeom>
          <a:noFill/>
          <a:ln/>
        </p:spPr>
        <p:txBody>
          <a:bodyPr wrap="square" lIns="0" tIns="0" rIns="0" bIns="0" rtlCol="0" anchor="t"/>
          <a:lstStyle/>
          <a:p>
            <a:pPr marL="0" indent="0" algn="l">
              <a:buNone/>
            </a:pPr>
            <a:r>
              <a:rPr lang="en-US" sz="1350" dirty="0">
                <a:solidFill>
                  <a:srgbClr val="BCD5EA"/>
                </a:solidFill>
                <a:latin typeface="Helvetica Neue" pitchFamily="34" charset="0"/>
                <a:ea typeface="Helvetica Neue" pitchFamily="34" charset="-122"/>
                <a:cs typeface="Helvetica Neue" pitchFamily="34" charset="-120"/>
              </a:rPr>
              <a:t>让模型不只是“随便回答”，而是在稳定身份和边界下回答。</a:t>
            </a:r>
            <a:endParaRPr lang="en-US" sz="1350" dirty="0"/>
          </a:p>
        </p:txBody>
      </p:sp>
      <p:sp>
        <p:nvSpPr>
          <p:cNvPr id="6" name="Text 4"/>
          <p:cNvSpPr/>
          <p:nvPr/>
        </p:nvSpPr>
        <p:spPr>
          <a:xfrm>
            <a:off x="3333667" y="533400"/>
            <a:ext cx="7810305" cy="819150"/>
          </a:xfrm>
          <a:prstGeom prst="rect">
            <a:avLst/>
          </a:prstGeom>
          <a:noFill/>
          <a:ln/>
        </p:spPr>
        <p:txBody>
          <a:bodyPr wrap="square" lIns="0" tIns="0" rIns="0" bIns="0" rtlCol="0" anchor="t"/>
          <a:lstStyle/>
          <a:p>
            <a:pPr marL="0" indent="0" algn="l">
              <a:buNone/>
            </a:pPr>
            <a:r>
              <a:rPr lang="en-US" sz="2850" b="1" dirty="0">
                <a:solidFill>
                  <a:srgbClr val="111827"/>
                </a:solidFill>
                <a:latin typeface="Helvetica Neue" pitchFamily="34" charset="0"/>
                <a:ea typeface="Helvetica Neue" pitchFamily="34" charset="-122"/>
                <a:cs typeface="Helvetica Neue" pitchFamily="34" charset="-120"/>
              </a:rPr>
              <a:t>System Prompt 不是用户随口说的话，而是程序每次主动传给模型的高优先级规则</a:t>
            </a:r>
            <a:endParaRPr lang="en-US" sz="2850" dirty="0"/>
          </a:p>
        </p:txBody>
      </p:sp>
      <p:sp>
        <p:nvSpPr>
          <p:cNvPr id="7" name="Text 5"/>
          <p:cNvSpPr/>
          <p:nvPr/>
        </p:nvSpPr>
        <p:spPr>
          <a:xfrm>
            <a:off x="3333667" y="1447800"/>
            <a:ext cx="7762681" cy="590550"/>
          </a:xfrm>
          <a:prstGeom prst="rect">
            <a:avLst/>
          </a:prstGeom>
          <a:noFill/>
          <a:ln/>
        </p:spPr>
        <p:txBody>
          <a:bodyPr wrap="square" lIns="0" tIns="0" rIns="0" bIns="0" rtlCol="0" anchor="t"/>
          <a:lstStyle/>
          <a:p>
            <a:pPr marL="0" indent="0" algn="l">
              <a:buNone/>
            </a:pPr>
            <a:r>
              <a:rPr lang="en-US" sz="1650" dirty="0">
                <a:solidFill>
                  <a:srgbClr val="334155"/>
                </a:solidFill>
                <a:latin typeface="Helvetica Neue" pitchFamily="34" charset="0"/>
                <a:ea typeface="Helvetica Neue" pitchFamily="34" charset="-122"/>
                <a:cs typeface="Helvetica Neue" pitchFamily="34" charset="-120"/>
              </a:rPr>
              <a:t>在 Chat Completions 风格的 API </a:t>
            </a:r>
            <a:r>
              <a:rPr lang="en-US" sz="1650" dirty="0" err="1">
                <a:solidFill>
                  <a:srgbClr val="334155"/>
                </a:solidFill>
                <a:latin typeface="Helvetica Neue" pitchFamily="34" charset="0"/>
                <a:ea typeface="Helvetica Neue" pitchFamily="34" charset="-122"/>
                <a:cs typeface="Helvetica Neue" pitchFamily="34" charset="-120"/>
              </a:rPr>
              <a:t>中，发送给模型的是一组</a:t>
            </a:r>
            <a:r>
              <a:rPr lang="en-US" sz="1650" dirty="0">
                <a:solidFill>
                  <a:srgbClr val="334155"/>
                </a:solidFill>
                <a:latin typeface="Helvetica Neue" pitchFamily="34" charset="0"/>
                <a:ea typeface="Helvetica Neue" pitchFamily="34" charset="-122"/>
                <a:cs typeface="Helvetica Neue" pitchFamily="34" charset="-120"/>
              </a:rPr>
              <a:t> messages</a:t>
            </a:r>
            <a:r>
              <a:rPr lang="zh-CN" altLang="en-US" sz="1650" dirty="0">
                <a:solidFill>
                  <a:srgbClr val="334155"/>
                </a:solidFill>
                <a:latin typeface="Helvetica Neue" pitchFamily="34" charset="0"/>
                <a:ea typeface="Helvetica Neue" pitchFamily="34" charset="-122"/>
                <a:cs typeface="Helvetica Neue" pitchFamily="34" charset="-120"/>
              </a:rPr>
              <a:t>；</a:t>
            </a:r>
            <a:endParaRPr lang="en-US" altLang="zh-CN" sz="1650" dirty="0">
              <a:solidFill>
                <a:srgbClr val="334155"/>
              </a:solidFill>
              <a:latin typeface="Helvetica Neue" pitchFamily="34" charset="0"/>
              <a:ea typeface="Helvetica Neue" pitchFamily="34" charset="-122"/>
              <a:cs typeface="Helvetica Neue" pitchFamily="34" charset="-120"/>
            </a:endParaRPr>
          </a:p>
          <a:p>
            <a:pPr marL="0" indent="0" algn="l">
              <a:buNone/>
            </a:pPr>
            <a:r>
              <a:rPr lang="en-US" sz="1650" dirty="0">
                <a:solidFill>
                  <a:srgbClr val="334155"/>
                </a:solidFill>
                <a:latin typeface="Helvetica Neue" pitchFamily="34" charset="0"/>
                <a:ea typeface="Helvetica Neue" pitchFamily="34" charset="-122"/>
                <a:cs typeface="Helvetica Neue" pitchFamily="34" charset="-120"/>
              </a:rPr>
              <a:t>system message 用来约束模型这一轮应如何表现。</a:t>
            </a:r>
            <a:endParaRPr lang="en-US" sz="1650" dirty="0"/>
          </a:p>
        </p:txBody>
      </p:sp>
      <p:sp>
        <p:nvSpPr>
          <p:cNvPr id="8" name="Text 6"/>
          <p:cNvSpPr/>
          <p:nvPr/>
        </p:nvSpPr>
        <p:spPr>
          <a:xfrm>
            <a:off x="3333667" y="2038350"/>
            <a:ext cx="7762681" cy="1102618"/>
          </a:xfrm>
          <a:prstGeom prst="rect">
            <a:avLst/>
          </a:prstGeom>
          <a:noFill/>
          <a:ln/>
        </p:spPr>
        <p:txBody>
          <a:bodyPr wrap="square" lIns="0" tIns="0" rIns="0" bIns="0" rtlCol="0" anchor="t"/>
          <a:lstStyle/>
          <a:p>
            <a:pPr marL="0" indent="0" algn="l">
              <a:buNone/>
            </a:pPr>
            <a:r>
              <a:rPr lang="en-US" altLang="zh-CN" sz="1600" dirty="0">
                <a:solidFill>
                  <a:srgbClr val="111827"/>
                </a:solidFill>
                <a:latin typeface="Helvetica Neue" pitchFamily="34" charset="0"/>
                <a:ea typeface="Helvetica Neue" pitchFamily="34" charset="-122"/>
                <a:cs typeface="Helvetica Neue" pitchFamily="34" charset="-120"/>
              </a:rPr>
              <a:t>• </a:t>
            </a:r>
            <a:r>
              <a:rPr lang="zh-CN" altLang="en-US" sz="1600" dirty="0">
                <a:solidFill>
                  <a:srgbClr val="111827"/>
                </a:solidFill>
                <a:latin typeface="Helvetica Neue" pitchFamily="34" charset="0"/>
                <a:ea typeface="Helvetica Neue" pitchFamily="34" charset="-122"/>
                <a:cs typeface="Helvetica Neue" pitchFamily="34" charset="-120"/>
              </a:rPr>
              <a:t>你是谁：例如 </a:t>
            </a:r>
            <a:r>
              <a:rPr lang="en-US" sz="1600" dirty="0" err="1">
                <a:solidFill>
                  <a:srgbClr val="111827"/>
                </a:solidFill>
                <a:latin typeface="Helvetica Neue" pitchFamily="34" charset="0"/>
                <a:ea typeface="Helvetica Neue" pitchFamily="34" charset="-122"/>
                <a:cs typeface="Helvetica Neue" pitchFamily="34" charset="-120"/>
              </a:rPr>
              <a:t>SJTUClaw</a:t>
            </a:r>
            <a:r>
              <a:rPr lang="en-US" sz="1600" dirty="0">
                <a:solidFill>
                  <a:srgbClr val="111827"/>
                </a:solidFill>
                <a:latin typeface="Helvetica Neue" pitchFamily="34" charset="0"/>
                <a:ea typeface="Helvetica Neue" pitchFamily="34" charset="-122"/>
                <a:cs typeface="Helvetica Neue" pitchFamily="34" charset="-120"/>
              </a:rPr>
              <a:t>，</a:t>
            </a:r>
            <a:r>
              <a:rPr lang="zh-CN" altLang="en-US" sz="1600" dirty="0">
                <a:solidFill>
                  <a:srgbClr val="111827"/>
                </a:solidFill>
                <a:latin typeface="Helvetica Neue" pitchFamily="34" charset="0"/>
                <a:ea typeface="Helvetica Neue" pitchFamily="34" charset="-122"/>
                <a:cs typeface="Helvetica Neue" pitchFamily="34" charset="-120"/>
              </a:rPr>
              <a:t>一个教育 </a:t>
            </a:r>
            <a:r>
              <a:rPr lang="en-US" sz="1600" dirty="0">
                <a:solidFill>
                  <a:srgbClr val="111827"/>
                </a:solidFill>
                <a:latin typeface="Helvetica Neue" pitchFamily="34" charset="0"/>
                <a:ea typeface="Helvetica Neue" pitchFamily="34" charset="-122"/>
                <a:cs typeface="Helvetica Neue" pitchFamily="34" charset="-120"/>
              </a:rPr>
              <a:t>agent。
• </a:t>
            </a:r>
            <a:r>
              <a:rPr lang="zh-CN" altLang="en-US" sz="1600" dirty="0">
                <a:solidFill>
                  <a:srgbClr val="111827"/>
                </a:solidFill>
                <a:latin typeface="Helvetica Neue" pitchFamily="34" charset="0"/>
                <a:ea typeface="Helvetica Neue" pitchFamily="34" charset="-122"/>
                <a:cs typeface="Helvetica Neue" pitchFamily="34" charset="-120"/>
              </a:rPr>
              <a:t>你该怎么回答：风格、顺序、粒度和语言。
</a:t>
            </a:r>
            <a:r>
              <a:rPr lang="en-US" altLang="zh-CN" sz="1600" dirty="0">
                <a:solidFill>
                  <a:srgbClr val="111827"/>
                </a:solidFill>
                <a:latin typeface="Helvetica Neue" pitchFamily="34" charset="0"/>
                <a:ea typeface="Helvetica Neue" pitchFamily="34" charset="-122"/>
                <a:cs typeface="Helvetica Neue" pitchFamily="34" charset="-120"/>
              </a:rPr>
              <a:t>• </a:t>
            </a:r>
            <a:r>
              <a:rPr lang="zh-CN" altLang="en-US" sz="1600" dirty="0">
                <a:solidFill>
                  <a:srgbClr val="111827"/>
                </a:solidFill>
                <a:latin typeface="Helvetica Neue" pitchFamily="34" charset="0"/>
                <a:ea typeface="Helvetica Neue" pitchFamily="34" charset="-122"/>
                <a:cs typeface="Helvetica Neue" pitchFamily="34" charset="-120"/>
              </a:rPr>
              <a:t>你帮助什么任务：复习、计划、检查理解。
</a:t>
            </a:r>
            <a:r>
              <a:rPr lang="en-US" altLang="zh-CN" sz="1600" dirty="0">
                <a:solidFill>
                  <a:srgbClr val="111827"/>
                </a:solidFill>
                <a:latin typeface="Helvetica Neue" pitchFamily="34" charset="0"/>
                <a:ea typeface="Helvetica Neue" pitchFamily="34" charset="-122"/>
                <a:cs typeface="Helvetica Neue" pitchFamily="34" charset="-120"/>
              </a:rPr>
              <a:t>• </a:t>
            </a:r>
            <a:r>
              <a:rPr lang="zh-CN" altLang="en-US" sz="1600" dirty="0">
                <a:solidFill>
                  <a:srgbClr val="111827"/>
                </a:solidFill>
                <a:latin typeface="Helvetica Neue" pitchFamily="34" charset="0"/>
                <a:ea typeface="Helvetica Neue" pitchFamily="34" charset="-122"/>
                <a:cs typeface="Helvetica Neue" pitchFamily="34" charset="-120"/>
              </a:rPr>
              <a:t>你不能做什么：例如违反课程规则的代写。</a:t>
            </a:r>
            <a:endParaRPr lang="en-US" sz="1600" dirty="0"/>
          </a:p>
        </p:txBody>
      </p:sp>
      <p:grpSp>
        <p:nvGrpSpPr>
          <p:cNvPr id="14" name="组合 13">
            <a:extLst>
              <a:ext uri="{FF2B5EF4-FFF2-40B4-BE49-F238E27FC236}">
                <a16:creationId xmlns:a16="http://schemas.microsoft.com/office/drawing/2014/main" id="{B80D9685-8154-AB60-B926-5239ABA2AF88}"/>
              </a:ext>
            </a:extLst>
          </p:cNvPr>
          <p:cNvGrpSpPr/>
          <p:nvPr/>
        </p:nvGrpSpPr>
        <p:grpSpPr>
          <a:xfrm>
            <a:off x="3195408" y="5943600"/>
            <a:ext cx="7762681" cy="685800"/>
            <a:chOff x="3195408" y="5943600"/>
            <a:chExt cx="7762681" cy="685800"/>
          </a:xfrm>
        </p:grpSpPr>
        <p:sp>
          <p:nvSpPr>
            <p:cNvPr id="9" name="Shape 7"/>
            <p:cNvSpPr/>
            <p:nvPr/>
          </p:nvSpPr>
          <p:spPr>
            <a:xfrm>
              <a:off x="3195408" y="5943600"/>
              <a:ext cx="7762681" cy="685800"/>
            </a:xfrm>
            <a:prstGeom prst="rect">
              <a:avLst/>
            </a:prstGeom>
            <a:solidFill>
              <a:srgbClr val="F1F5F9"/>
            </a:solidFill>
            <a:ln w="12700">
              <a:solidFill>
                <a:srgbClr val="FFFFFF">
                  <a:alpha val="0"/>
                </a:srgbClr>
              </a:solidFill>
              <a:prstDash val="solid"/>
            </a:ln>
          </p:spPr>
          <p:txBody>
            <a:bodyPr/>
            <a:lstStyle/>
            <a:p>
              <a:endParaRPr lang="zh-CN" altLang="en-US"/>
            </a:p>
          </p:txBody>
        </p:sp>
        <p:sp>
          <p:nvSpPr>
            <p:cNvPr id="10" name="Shape 8"/>
            <p:cNvSpPr/>
            <p:nvPr/>
          </p:nvSpPr>
          <p:spPr>
            <a:xfrm>
              <a:off x="3219220" y="5943600"/>
              <a:ext cx="0" cy="685800"/>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11" name="Text 9"/>
            <p:cNvSpPr/>
            <p:nvPr/>
          </p:nvSpPr>
          <p:spPr>
            <a:xfrm>
              <a:off x="3414477" y="6086475"/>
              <a:ext cx="7372166" cy="400050"/>
            </a:xfrm>
            <a:prstGeom prst="rect">
              <a:avLst/>
            </a:prstGeom>
            <a:noFill/>
            <a:ln/>
          </p:spPr>
          <p:txBody>
            <a:bodyPr wrap="square" lIns="0" tIns="0" rIns="0" bIns="0" rtlCol="0" anchor="t"/>
            <a:lstStyle/>
            <a:p>
              <a:pPr marL="0" indent="0" algn="l">
                <a:buNone/>
              </a:pPr>
              <a:r>
                <a:rPr lang="en-US" sz="1150" dirty="0">
                  <a:solidFill>
                    <a:srgbClr val="0F172A"/>
                  </a:solidFill>
                  <a:latin typeface="Consolas" pitchFamily="34" charset="0"/>
                  <a:ea typeface="Consolas" pitchFamily="34" charset="-122"/>
                  <a:cs typeface="Consolas" pitchFamily="34" charset="-120"/>
                </a:rPr>
                <a:t>[{ role: "system", content: "</a:t>
              </a:r>
              <a:r>
                <a:rPr lang="zh-CN" altLang="en-US" sz="1150" dirty="0">
                  <a:solidFill>
                    <a:srgbClr val="0F172A"/>
                  </a:solidFill>
                  <a:latin typeface="Consolas" pitchFamily="34" charset="0"/>
                  <a:ea typeface="Consolas" pitchFamily="34" charset="-122"/>
                  <a:cs typeface="Consolas" pitchFamily="34" charset="-120"/>
                </a:rPr>
                <a:t>你是 </a:t>
              </a:r>
              <a:r>
                <a:rPr lang="en-US" sz="1150" dirty="0" err="1">
                  <a:solidFill>
                    <a:srgbClr val="0F172A"/>
                  </a:solidFill>
                  <a:latin typeface="Consolas" pitchFamily="34" charset="0"/>
                  <a:ea typeface="Consolas" pitchFamily="34" charset="-122"/>
                  <a:cs typeface="Consolas" pitchFamily="34" charset="-120"/>
                </a:rPr>
                <a:t>SJTUClaw</a:t>
              </a:r>
              <a:r>
                <a:rPr lang="en-US" sz="1150" dirty="0">
                  <a:solidFill>
                    <a:srgbClr val="0F172A"/>
                  </a:solidFill>
                  <a:latin typeface="Consolas" pitchFamily="34" charset="0"/>
                  <a:ea typeface="Consolas" pitchFamily="34" charset="-122"/>
                  <a:cs typeface="Consolas" pitchFamily="34" charset="-120"/>
                </a:rPr>
                <a:t>，</a:t>
              </a:r>
              <a:r>
                <a:rPr lang="zh-CN" altLang="en-US" sz="1150" dirty="0">
                  <a:solidFill>
                    <a:srgbClr val="0F172A"/>
                  </a:solidFill>
                  <a:latin typeface="Consolas" pitchFamily="34" charset="0"/>
                  <a:ea typeface="Consolas" pitchFamily="34" charset="-122"/>
                  <a:cs typeface="Consolas" pitchFamily="34" charset="-120"/>
                </a:rPr>
                <a:t>一个帮助本科生学习的教育 </a:t>
              </a:r>
              <a:r>
                <a:rPr lang="en-US" sz="1150" dirty="0">
                  <a:solidFill>
                    <a:srgbClr val="0F172A"/>
                  </a:solidFill>
                  <a:latin typeface="Consolas" pitchFamily="34" charset="0"/>
                  <a:ea typeface="Consolas" pitchFamily="34" charset="-122"/>
                  <a:cs typeface="Consolas" pitchFamily="34" charset="-120"/>
                </a:rPr>
                <a:t>agent。" },
{ role: "user", content: "</a:t>
              </a:r>
              <a:r>
                <a:rPr lang="zh-CN" altLang="en-US" sz="1150" dirty="0">
                  <a:solidFill>
                    <a:srgbClr val="0F172A"/>
                  </a:solidFill>
                  <a:latin typeface="Consolas" pitchFamily="34" charset="0"/>
                  <a:ea typeface="Consolas" pitchFamily="34" charset="-122"/>
                  <a:cs typeface="Consolas" pitchFamily="34" charset="-120"/>
                </a:rPr>
                <a:t>请用一句话解释网络分层。</a:t>
              </a:r>
              <a:r>
                <a:rPr lang="en-US" altLang="zh-CN" sz="1150" dirty="0">
                  <a:solidFill>
                    <a:srgbClr val="0F172A"/>
                  </a:solidFill>
                  <a:latin typeface="Consolas" pitchFamily="34" charset="0"/>
                  <a:ea typeface="Consolas" pitchFamily="34" charset="-122"/>
                  <a:cs typeface="Consolas" pitchFamily="34" charset="-120"/>
                </a:rPr>
                <a:t>" }]</a:t>
              </a:r>
              <a:endParaRPr lang="en-US" sz="1150" dirty="0"/>
            </a:p>
          </p:txBody>
        </p:sp>
      </p:grpSp>
      <p:sp>
        <p:nvSpPr>
          <p:cNvPr id="12" name="Text 10"/>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04 / 26</a:t>
            </a:r>
            <a:endParaRPr lang="en-US" sz="1000" dirty="0"/>
          </a:p>
        </p:txBody>
      </p:sp>
      <p:pic>
        <p:nvPicPr>
          <p:cNvPr id="13" name="图片 12">
            <a:extLst>
              <a:ext uri="{FF2B5EF4-FFF2-40B4-BE49-F238E27FC236}">
                <a16:creationId xmlns:a16="http://schemas.microsoft.com/office/drawing/2014/main" id="{5793F919-9A64-1ED9-FC38-D4BD350CDCBC}"/>
              </a:ext>
            </a:extLst>
          </p:cNvPr>
          <p:cNvPicPr>
            <a:picLocks noChangeAspect="1"/>
          </p:cNvPicPr>
          <p:nvPr/>
        </p:nvPicPr>
        <p:blipFill>
          <a:blip r:embed="rId3"/>
          <a:stretch>
            <a:fillRect/>
          </a:stretch>
        </p:blipFill>
        <p:spPr>
          <a:xfrm>
            <a:off x="3188241" y="3357858"/>
            <a:ext cx="5050112" cy="2228653"/>
          </a:xfrm>
          <a:prstGeom prst="rect">
            <a:avLst/>
          </a:prstGeom>
        </p:spPr>
      </p:pic>
      <p:sp>
        <p:nvSpPr>
          <p:cNvPr id="15" name="文本框 14">
            <a:extLst>
              <a:ext uri="{FF2B5EF4-FFF2-40B4-BE49-F238E27FC236}">
                <a16:creationId xmlns:a16="http://schemas.microsoft.com/office/drawing/2014/main" id="{3558A1CC-0FD7-C4A2-E4CD-F97592D8CD8C}"/>
              </a:ext>
            </a:extLst>
          </p:cNvPr>
          <p:cNvSpPr txBox="1"/>
          <p:nvPr/>
        </p:nvSpPr>
        <p:spPr>
          <a:xfrm>
            <a:off x="8486513" y="4058796"/>
            <a:ext cx="3286092" cy="646331"/>
          </a:xfrm>
          <a:prstGeom prst="rect">
            <a:avLst/>
          </a:prstGeom>
          <a:noFill/>
        </p:spPr>
        <p:txBody>
          <a:bodyPr wrap="square" rtlCol="0">
            <a:spAutoFit/>
          </a:bodyPr>
          <a:lstStyle/>
          <a:p>
            <a:r>
              <a:rPr kumimoji="1" lang="zh-CN" altLang="en-US" dirty="0"/>
              <a:t>上节课</a:t>
            </a:r>
            <a:r>
              <a:rPr kumimoji="1" lang="en-US" altLang="zh-CN" dirty="0"/>
              <a:t> </a:t>
            </a:r>
            <a:r>
              <a:rPr kumimoji="1" lang="en-US" altLang="zh-CN" dirty="0" err="1"/>
              <a:t>Zcode</a:t>
            </a:r>
            <a:r>
              <a:rPr kumimoji="1" lang="en-US" altLang="zh-CN" dirty="0"/>
              <a:t> </a:t>
            </a:r>
            <a:r>
              <a:rPr kumimoji="1" lang="zh-CN" altLang="en-US" dirty="0"/>
              <a:t>写出来的代码中的</a:t>
            </a:r>
            <a:r>
              <a:rPr kumimoji="1" lang="en-US" altLang="zh-CN" dirty="0"/>
              <a:t> </a:t>
            </a:r>
            <a:r>
              <a:rPr kumimoji="1" lang="en-US" altLang="zh-CN" dirty="0" err="1"/>
              <a:t>System_Prompt</a:t>
            </a:r>
            <a:endParaRPr kumimoji="1" lang="zh-CN" altLang="en-US" dirty="0"/>
          </a:p>
        </p:txBody>
      </p:sp>
      <p:sp>
        <p:nvSpPr>
          <p:cNvPr id="16" name="圆角矩形 15">
            <a:extLst>
              <a:ext uri="{FF2B5EF4-FFF2-40B4-BE49-F238E27FC236}">
                <a16:creationId xmlns:a16="http://schemas.microsoft.com/office/drawing/2014/main" id="{93BFE5D3-2712-980F-496E-F9BA6CBFE03B}"/>
              </a:ext>
            </a:extLst>
          </p:cNvPr>
          <p:cNvSpPr/>
          <p:nvPr/>
        </p:nvSpPr>
        <p:spPr>
          <a:xfrm>
            <a:off x="4799856" y="3283843"/>
            <a:ext cx="2952328" cy="289857"/>
          </a:xfrm>
          <a:prstGeom prst="round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03382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3" name="Text 1"/>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消息结构</a:t>
            </a:r>
            <a:endParaRPr lang="en-US" sz="1150" dirty="0"/>
          </a:p>
        </p:txBody>
      </p:sp>
      <p:sp>
        <p:nvSpPr>
          <p:cNvPr id="4" name="Text 2"/>
          <p:cNvSpPr/>
          <p:nvPr/>
        </p:nvSpPr>
        <p:spPr>
          <a:xfrm>
            <a:off x="400039" y="609600"/>
            <a:ext cx="10880529"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为什么</a:t>
            </a:r>
            <a:r>
              <a:rPr lang="en-US" sz="2950" b="1" dirty="0">
                <a:solidFill>
                  <a:srgbClr val="111827"/>
                </a:solidFill>
                <a:latin typeface="Helvetica Neue" pitchFamily="34" charset="0"/>
                <a:ea typeface="Helvetica Neue" pitchFamily="34" charset="-122"/>
                <a:cs typeface="Helvetica Neue" pitchFamily="34" charset="-120"/>
              </a:rPr>
              <a:t> </a:t>
            </a:r>
            <a:r>
              <a:rPr lang="en-US" sz="2950" b="1" dirty="0" err="1">
                <a:solidFill>
                  <a:srgbClr val="111827"/>
                </a:solidFill>
                <a:latin typeface="Helvetica Neue" pitchFamily="34" charset="0"/>
                <a:ea typeface="Helvetica Neue" pitchFamily="34" charset="-122"/>
                <a:cs typeface="Helvetica Neue" pitchFamily="34" charset="-120"/>
              </a:rPr>
              <a:t>Agent不是只把一句话发给模型</a:t>
            </a:r>
            <a:r>
              <a:rPr lang="zh-CN" altLang="en-US" sz="2950" b="1" dirty="0">
                <a:solidFill>
                  <a:srgbClr val="111827"/>
                </a:solidFill>
                <a:latin typeface="Helvetica Neue" pitchFamily="34" charset="0"/>
                <a:ea typeface="Helvetica Neue" pitchFamily="34" charset="-122"/>
                <a:cs typeface="Helvetica Neue" pitchFamily="34" charset="-120"/>
              </a:rPr>
              <a:t>，而是分角色和内容？</a:t>
            </a:r>
            <a:endParaRPr lang="en-US" sz="2950" dirty="0"/>
          </a:p>
        </p:txBody>
      </p:sp>
      <p:sp>
        <p:nvSpPr>
          <p:cNvPr id="5" name="Shape 3"/>
          <p:cNvSpPr/>
          <p:nvPr/>
        </p:nvSpPr>
        <p:spPr>
          <a:xfrm>
            <a:off x="590535" y="1600200"/>
            <a:ext cx="5152896" cy="2090734"/>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6" name="Shape 4"/>
          <p:cNvSpPr/>
          <p:nvPr/>
        </p:nvSpPr>
        <p:spPr>
          <a:xfrm>
            <a:off x="590535" y="1638300"/>
            <a:ext cx="5152896" cy="0"/>
          </a:xfrm>
          <a:prstGeom prst="line">
            <a:avLst/>
          </a:prstGeom>
          <a:solidFill>
            <a:srgbClr val="FFFFFF">
              <a:alpha val="0"/>
            </a:srgbClr>
          </a:solidFill>
          <a:ln w="76200">
            <a:solidFill>
              <a:srgbClr val="1F5F8B"/>
            </a:solidFill>
            <a:prstDash val="solid"/>
          </a:ln>
        </p:spPr>
        <p:txBody>
          <a:bodyPr/>
          <a:lstStyle/>
          <a:p>
            <a:endParaRPr lang="zh-CN" altLang="en-US"/>
          </a:p>
        </p:txBody>
      </p:sp>
      <p:sp>
        <p:nvSpPr>
          <p:cNvPr id="7" name="Shape 5"/>
          <p:cNvSpPr/>
          <p:nvPr/>
        </p:nvSpPr>
        <p:spPr>
          <a:xfrm>
            <a:off x="5738669" y="1600200"/>
            <a:ext cx="0" cy="2090734"/>
          </a:xfrm>
          <a:prstGeom prst="line">
            <a:avLst/>
          </a:prstGeom>
          <a:solidFill>
            <a:srgbClr val="FFFFFF">
              <a:alpha val="0"/>
            </a:srgbClr>
          </a:solidFill>
          <a:ln w="9525">
            <a:solidFill>
              <a:srgbClr val="DBE3EA"/>
            </a:solidFill>
            <a:prstDash val="solid"/>
          </a:ln>
        </p:spPr>
        <p:txBody>
          <a:bodyPr/>
          <a:lstStyle/>
          <a:p>
            <a:endParaRPr lang="zh-CN" altLang="en-US"/>
          </a:p>
        </p:txBody>
      </p:sp>
      <p:sp>
        <p:nvSpPr>
          <p:cNvPr id="8" name="Shape 6"/>
          <p:cNvSpPr/>
          <p:nvPr/>
        </p:nvSpPr>
        <p:spPr>
          <a:xfrm>
            <a:off x="585773" y="3690934"/>
            <a:ext cx="5152896" cy="0"/>
          </a:xfrm>
          <a:prstGeom prst="line">
            <a:avLst/>
          </a:prstGeom>
          <a:solidFill>
            <a:srgbClr val="FFFFFF">
              <a:alpha val="0"/>
            </a:srgbClr>
          </a:solidFill>
          <a:ln w="9525">
            <a:solidFill>
              <a:srgbClr val="DBE3EA"/>
            </a:solidFill>
            <a:prstDash val="solid"/>
          </a:ln>
        </p:spPr>
        <p:txBody>
          <a:bodyPr/>
          <a:lstStyle/>
          <a:p>
            <a:endParaRPr lang="zh-CN" altLang="en-US"/>
          </a:p>
        </p:txBody>
      </p:sp>
      <p:sp>
        <p:nvSpPr>
          <p:cNvPr id="9" name="Shape 7"/>
          <p:cNvSpPr/>
          <p:nvPr/>
        </p:nvSpPr>
        <p:spPr>
          <a:xfrm flipH="1">
            <a:off x="581010" y="1600200"/>
            <a:ext cx="14288" cy="2090733"/>
          </a:xfrm>
          <a:prstGeom prst="line">
            <a:avLst/>
          </a:prstGeom>
          <a:solidFill>
            <a:srgbClr val="FFFFFF">
              <a:alpha val="0"/>
            </a:srgbClr>
          </a:solidFill>
          <a:ln w="9525">
            <a:solidFill>
              <a:srgbClr val="DBE3EA"/>
            </a:solidFill>
            <a:prstDash val="solid"/>
          </a:ln>
        </p:spPr>
        <p:txBody>
          <a:bodyPr/>
          <a:lstStyle/>
          <a:p>
            <a:endParaRPr lang="zh-CN" altLang="en-US"/>
          </a:p>
        </p:txBody>
      </p:sp>
      <p:sp>
        <p:nvSpPr>
          <p:cNvPr id="10" name="Text 8"/>
          <p:cNvSpPr/>
          <p:nvPr/>
        </p:nvSpPr>
        <p:spPr>
          <a:xfrm>
            <a:off x="847704" y="1905000"/>
            <a:ext cx="4638559" cy="323850"/>
          </a:xfrm>
          <a:prstGeom prst="rect">
            <a:avLst/>
          </a:prstGeom>
          <a:noFill/>
          <a:ln/>
        </p:spPr>
        <p:txBody>
          <a:bodyPr wrap="square" lIns="0" tIns="0" rIns="0" bIns="0" rtlCol="0" anchor="t"/>
          <a:lstStyle/>
          <a:p>
            <a:pPr marL="0" indent="0" algn="l">
              <a:buNone/>
            </a:pPr>
            <a:r>
              <a:rPr lang="en-US" sz="2050" b="1" dirty="0">
                <a:solidFill>
                  <a:srgbClr val="111827"/>
                </a:solidFill>
                <a:latin typeface="Helvetica Neue" pitchFamily="34" charset="0"/>
                <a:ea typeface="Helvetica Neue" pitchFamily="34" charset="-122"/>
                <a:cs typeface="Helvetica Neue" pitchFamily="34" charset="-120"/>
              </a:rPr>
              <a:t>system message</a:t>
            </a:r>
            <a:endParaRPr lang="en-US" sz="2050" dirty="0"/>
          </a:p>
        </p:txBody>
      </p:sp>
      <p:sp>
        <p:nvSpPr>
          <p:cNvPr id="11" name="Text 9"/>
          <p:cNvSpPr/>
          <p:nvPr/>
        </p:nvSpPr>
        <p:spPr>
          <a:xfrm>
            <a:off x="847704" y="2228850"/>
            <a:ext cx="4638559" cy="533400"/>
          </a:xfrm>
          <a:prstGeom prst="rect">
            <a:avLst/>
          </a:prstGeom>
          <a:noFill/>
          <a:ln/>
        </p:spPr>
        <p:txBody>
          <a:bodyPr wrap="square" lIns="0" tIns="0" rIns="0" bIns="0" rtlCol="0" anchor="t"/>
          <a:lstStyle/>
          <a:p>
            <a:pPr marL="0" indent="0" algn="l">
              <a:buNone/>
            </a:pPr>
            <a:r>
              <a:rPr lang="en-US" sz="1500" dirty="0">
                <a:solidFill>
                  <a:srgbClr val="334155"/>
                </a:solidFill>
                <a:latin typeface="Helvetica Neue" pitchFamily="34" charset="0"/>
                <a:ea typeface="Helvetica Neue" pitchFamily="34" charset="-122"/>
                <a:cs typeface="Helvetica Neue" pitchFamily="34" charset="-120"/>
              </a:rPr>
              <a:t>程序每次请求中主动放入的行为契约，表达身份、风格、任务边界和模糊问题处理策略。</a:t>
            </a:r>
            <a:endParaRPr lang="en-US" sz="1500" dirty="0"/>
          </a:p>
        </p:txBody>
      </p:sp>
      <p:sp>
        <p:nvSpPr>
          <p:cNvPr id="12" name="Text 10"/>
          <p:cNvSpPr/>
          <p:nvPr/>
        </p:nvSpPr>
        <p:spPr>
          <a:xfrm>
            <a:off x="847704" y="2762250"/>
            <a:ext cx="4638559" cy="742950"/>
          </a:xfrm>
          <a:prstGeom prst="rect">
            <a:avLst/>
          </a:prstGeom>
          <a:noFill/>
          <a:ln/>
        </p:spPr>
        <p:txBody>
          <a:bodyPr wrap="square" lIns="0" tIns="0" rIns="0" bIns="0" rtlCol="0" anchor="t"/>
          <a:lstStyle/>
          <a:p>
            <a:pPr marL="0" indent="0" algn="l">
              <a:buNone/>
            </a:pPr>
            <a:r>
              <a:rPr lang="en-US" sz="1400" dirty="0">
                <a:solidFill>
                  <a:srgbClr val="111827"/>
                </a:solidFill>
                <a:latin typeface="Helvetica Neue" pitchFamily="34" charset="0"/>
                <a:ea typeface="Helvetica Neue" pitchFamily="34" charset="-122"/>
                <a:cs typeface="Helvetica Neue" pitchFamily="34" charset="-120"/>
              </a:rPr>
              <a:t>• 由开发者或项目团队维护</a:t>
            </a:r>
            <a:endParaRPr lang="en-US" sz="1400" dirty="0"/>
          </a:p>
          <a:p>
            <a:pPr marL="0" indent="0" algn="l">
              <a:buNone/>
            </a:pPr>
            <a:r>
              <a:rPr lang="en-US" sz="1400" dirty="0">
                <a:solidFill>
                  <a:srgbClr val="111827"/>
                </a:solidFill>
                <a:latin typeface="Helvetica Neue" pitchFamily="34" charset="0"/>
                <a:ea typeface="Helvetica Neue" pitchFamily="34" charset="-122"/>
                <a:cs typeface="Helvetica Neue" pitchFamily="34" charset="-120"/>
              </a:rPr>
              <a:t>• 每次调用都要主动传入</a:t>
            </a:r>
            <a:endParaRPr lang="en-US" sz="1400" dirty="0"/>
          </a:p>
          <a:p>
            <a:pPr marL="0" indent="0" algn="l">
              <a:buNone/>
            </a:pPr>
            <a:r>
              <a:rPr lang="en-US" sz="1400" dirty="0">
                <a:solidFill>
                  <a:srgbClr val="111827"/>
                </a:solidFill>
                <a:latin typeface="Helvetica Neue" pitchFamily="34" charset="0"/>
                <a:ea typeface="Helvetica Neue" pitchFamily="34" charset="-122"/>
                <a:cs typeface="Helvetica Neue" pitchFamily="34" charset="-120"/>
              </a:rPr>
              <a:t>• 优先级高于用户随口要求</a:t>
            </a:r>
            <a:endParaRPr lang="en-US" sz="1400" dirty="0"/>
          </a:p>
        </p:txBody>
      </p:sp>
      <p:sp>
        <p:nvSpPr>
          <p:cNvPr id="13" name="Shape 11"/>
          <p:cNvSpPr/>
          <p:nvPr/>
        </p:nvSpPr>
        <p:spPr>
          <a:xfrm>
            <a:off x="6010125" y="1600200"/>
            <a:ext cx="5152896" cy="2090734"/>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4" name="Shape 12"/>
          <p:cNvSpPr/>
          <p:nvPr/>
        </p:nvSpPr>
        <p:spPr>
          <a:xfrm>
            <a:off x="6010125" y="1638300"/>
            <a:ext cx="5152896" cy="0"/>
          </a:xfrm>
          <a:prstGeom prst="line">
            <a:avLst/>
          </a:prstGeom>
          <a:solidFill>
            <a:srgbClr val="FFFFFF">
              <a:alpha val="0"/>
            </a:srgbClr>
          </a:solidFill>
          <a:ln w="76200">
            <a:solidFill>
              <a:srgbClr val="58B0A6"/>
            </a:solidFill>
            <a:prstDash val="solid"/>
          </a:ln>
        </p:spPr>
        <p:txBody>
          <a:bodyPr/>
          <a:lstStyle/>
          <a:p>
            <a:endParaRPr lang="zh-CN" altLang="en-US"/>
          </a:p>
        </p:txBody>
      </p:sp>
      <p:sp>
        <p:nvSpPr>
          <p:cNvPr id="15" name="Shape 13"/>
          <p:cNvSpPr/>
          <p:nvPr/>
        </p:nvSpPr>
        <p:spPr>
          <a:xfrm>
            <a:off x="11158259" y="1600200"/>
            <a:ext cx="0" cy="2090726"/>
          </a:xfrm>
          <a:prstGeom prst="line">
            <a:avLst/>
          </a:prstGeom>
          <a:solidFill>
            <a:srgbClr val="FFFFFF">
              <a:alpha val="0"/>
            </a:srgbClr>
          </a:solidFill>
          <a:ln w="9525">
            <a:solidFill>
              <a:srgbClr val="DBE3EA"/>
            </a:solidFill>
            <a:prstDash val="solid"/>
          </a:ln>
        </p:spPr>
        <p:txBody>
          <a:bodyPr/>
          <a:lstStyle/>
          <a:p>
            <a:endParaRPr lang="zh-CN" altLang="en-US"/>
          </a:p>
        </p:txBody>
      </p:sp>
      <p:sp>
        <p:nvSpPr>
          <p:cNvPr id="16" name="Shape 14"/>
          <p:cNvSpPr/>
          <p:nvPr/>
        </p:nvSpPr>
        <p:spPr>
          <a:xfrm>
            <a:off x="6005363" y="3690934"/>
            <a:ext cx="5152896" cy="0"/>
          </a:xfrm>
          <a:prstGeom prst="line">
            <a:avLst/>
          </a:prstGeom>
          <a:solidFill>
            <a:srgbClr val="FFFFFF">
              <a:alpha val="0"/>
            </a:srgbClr>
          </a:solidFill>
          <a:ln w="9525">
            <a:solidFill>
              <a:srgbClr val="DBE3EA"/>
            </a:solidFill>
            <a:prstDash val="solid"/>
          </a:ln>
        </p:spPr>
        <p:txBody>
          <a:bodyPr/>
          <a:lstStyle/>
          <a:p>
            <a:endParaRPr lang="zh-CN" altLang="en-US"/>
          </a:p>
        </p:txBody>
      </p:sp>
      <p:sp>
        <p:nvSpPr>
          <p:cNvPr id="17" name="Shape 15"/>
          <p:cNvSpPr/>
          <p:nvPr/>
        </p:nvSpPr>
        <p:spPr>
          <a:xfrm flipH="1">
            <a:off x="6010124" y="1600200"/>
            <a:ext cx="4763" cy="2090726"/>
          </a:xfrm>
          <a:prstGeom prst="line">
            <a:avLst/>
          </a:prstGeom>
          <a:solidFill>
            <a:srgbClr val="FFFFFF">
              <a:alpha val="0"/>
            </a:srgbClr>
          </a:solidFill>
          <a:ln w="9525">
            <a:solidFill>
              <a:srgbClr val="DBE3EA"/>
            </a:solidFill>
            <a:prstDash val="solid"/>
          </a:ln>
        </p:spPr>
        <p:txBody>
          <a:bodyPr/>
          <a:lstStyle/>
          <a:p>
            <a:endParaRPr lang="zh-CN" altLang="en-US"/>
          </a:p>
        </p:txBody>
      </p:sp>
      <p:sp>
        <p:nvSpPr>
          <p:cNvPr id="18" name="Text 16"/>
          <p:cNvSpPr/>
          <p:nvPr/>
        </p:nvSpPr>
        <p:spPr>
          <a:xfrm>
            <a:off x="6267293" y="1905000"/>
            <a:ext cx="4638559" cy="323850"/>
          </a:xfrm>
          <a:prstGeom prst="rect">
            <a:avLst/>
          </a:prstGeom>
          <a:noFill/>
          <a:ln/>
        </p:spPr>
        <p:txBody>
          <a:bodyPr wrap="square" lIns="0" tIns="0" rIns="0" bIns="0" rtlCol="0" anchor="t"/>
          <a:lstStyle/>
          <a:p>
            <a:pPr marL="0" indent="0" algn="l">
              <a:buNone/>
            </a:pPr>
            <a:r>
              <a:rPr lang="en-US" sz="2050" b="1" dirty="0">
                <a:solidFill>
                  <a:srgbClr val="111827"/>
                </a:solidFill>
                <a:latin typeface="Helvetica Neue" pitchFamily="34" charset="0"/>
                <a:ea typeface="Helvetica Neue" pitchFamily="34" charset="-122"/>
                <a:cs typeface="Helvetica Neue" pitchFamily="34" charset="-120"/>
              </a:rPr>
              <a:t>user message</a:t>
            </a:r>
            <a:endParaRPr lang="en-US" sz="2050" dirty="0"/>
          </a:p>
        </p:txBody>
      </p:sp>
      <p:sp>
        <p:nvSpPr>
          <p:cNvPr id="19" name="Text 17"/>
          <p:cNvSpPr/>
          <p:nvPr/>
        </p:nvSpPr>
        <p:spPr>
          <a:xfrm>
            <a:off x="6267293" y="2228850"/>
            <a:ext cx="4638559" cy="533400"/>
          </a:xfrm>
          <a:prstGeom prst="rect">
            <a:avLst/>
          </a:prstGeom>
          <a:noFill/>
          <a:ln/>
        </p:spPr>
        <p:txBody>
          <a:bodyPr wrap="square" lIns="0" tIns="0" rIns="0" bIns="0" rtlCol="0" anchor="t"/>
          <a:lstStyle/>
          <a:p>
            <a:pPr marL="0" indent="0" algn="l">
              <a:buNone/>
            </a:pPr>
            <a:r>
              <a:rPr lang="en-US" sz="1500" dirty="0">
                <a:solidFill>
                  <a:srgbClr val="334155"/>
                </a:solidFill>
                <a:latin typeface="Helvetica Neue" pitchFamily="34" charset="0"/>
                <a:ea typeface="Helvetica Neue" pitchFamily="34" charset="-122"/>
                <a:cs typeface="Helvetica Neue" pitchFamily="34" charset="-120"/>
              </a:rPr>
              <a:t>用户这一轮真正提出的问题、命令或学习请求，是模型本轮需要回应的直接输入。</a:t>
            </a:r>
            <a:endParaRPr lang="en-US" sz="1500" dirty="0"/>
          </a:p>
        </p:txBody>
      </p:sp>
      <p:sp>
        <p:nvSpPr>
          <p:cNvPr id="20" name="Text 18"/>
          <p:cNvSpPr/>
          <p:nvPr/>
        </p:nvSpPr>
        <p:spPr>
          <a:xfrm>
            <a:off x="6267293" y="2762250"/>
            <a:ext cx="4638559" cy="742950"/>
          </a:xfrm>
          <a:prstGeom prst="rect">
            <a:avLst/>
          </a:prstGeom>
          <a:noFill/>
          <a:ln/>
        </p:spPr>
        <p:txBody>
          <a:bodyPr wrap="square" lIns="0" tIns="0" rIns="0" bIns="0" rtlCol="0" anchor="t"/>
          <a:lstStyle/>
          <a:p>
            <a:pPr marL="0" indent="0" algn="l">
              <a:buNone/>
            </a:pPr>
            <a:r>
              <a:rPr lang="en-US" sz="1400" dirty="0">
                <a:solidFill>
                  <a:srgbClr val="111827"/>
                </a:solidFill>
                <a:latin typeface="Helvetica Neue" pitchFamily="34" charset="0"/>
                <a:ea typeface="Helvetica Neue" pitchFamily="34" charset="-122"/>
                <a:cs typeface="Helvetica Neue" pitchFamily="34" charset="-120"/>
              </a:rPr>
              <a:t>• 随用户每轮输入变化</a:t>
            </a:r>
            <a:endParaRPr lang="en-US" sz="1400" dirty="0"/>
          </a:p>
          <a:p>
            <a:pPr marL="0" indent="0" algn="l">
              <a:buNone/>
            </a:pPr>
            <a:r>
              <a:rPr lang="en-US" sz="1400" dirty="0">
                <a:solidFill>
                  <a:srgbClr val="111827"/>
                </a:solidFill>
                <a:latin typeface="Helvetica Neue" pitchFamily="34" charset="0"/>
                <a:ea typeface="Helvetica Neue" pitchFamily="34" charset="-122"/>
                <a:cs typeface="Helvetica Neue" pitchFamily="34" charset="-120"/>
              </a:rPr>
              <a:t>• 不应覆盖 agent 的边界</a:t>
            </a:r>
            <a:endParaRPr lang="en-US" sz="1400" dirty="0"/>
          </a:p>
          <a:p>
            <a:pPr marL="0" indent="0" algn="l">
              <a:buNone/>
            </a:pPr>
            <a:r>
              <a:rPr lang="en-US" sz="1400" dirty="0">
                <a:solidFill>
                  <a:srgbClr val="111827"/>
                </a:solidFill>
                <a:latin typeface="Helvetica Neue" pitchFamily="34" charset="0"/>
                <a:ea typeface="Helvetica Neue" pitchFamily="34" charset="-122"/>
                <a:cs typeface="Helvetica Neue" pitchFamily="34" charset="-120"/>
              </a:rPr>
              <a:t>• 需要与上下文一起发送</a:t>
            </a:r>
            <a:endParaRPr lang="en-US" sz="1400" dirty="0"/>
          </a:p>
        </p:txBody>
      </p:sp>
      <p:sp>
        <p:nvSpPr>
          <p:cNvPr id="21" name="Shape 19"/>
          <p:cNvSpPr/>
          <p:nvPr/>
        </p:nvSpPr>
        <p:spPr>
          <a:xfrm>
            <a:off x="647686" y="6108062"/>
            <a:ext cx="10572486" cy="609600"/>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22" name="Shape 20"/>
          <p:cNvSpPr/>
          <p:nvPr/>
        </p:nvSpPr>
        <p:spPr>
          <a:xfrm>
            <a:off x="676261" y="6108062"/>
            <a:ext cx="0" cy="60960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23" name="Text 21"/>
          <p:cNvSpPr/>
          <p:nvPr/>
        </p:nvSpPr>
        <p:spPr>
          <a:xfrm>
            <a:off x="904855" y="6269987"/>
            <a:ext cx="10115297" cy="285750"/>
          </a:xfrm>
          <a:prstGeom prst="rect">
            <a:avLst/>
          </a:prstGeom>
          <a:noFill/>
          <a:ln/>
        </p:spPr>
        <p:txBody>
          <a:bodyPr wrap="square" lIns="0" tIns="0" rIns="0" bIns="0" rtlCol="0" anchor="t"/>
          <a:lstStyle/>
          <a:p>
            <a:pPr marL="0" indent="0" algn="l">
              <a:buNone/>
            </a:pPr>
            <a:r>
              <a:rPr lang="en-US" sz="1600" b="1" dirty="0">
                <a:solidFill>
                  <a:srgbClr val="134E4A"/>
                </a:solidFill>
                <a:latin typeface="Helvetica Neue" pitchFamily="34" charset="0"/>
                <a:ea typeface="Helvetica Neue" pitchFamily="34" charset="-122"/>
                <a:cs typeface="Helvetica Neue" pitchFamily="34" charset="-120"/>
              </a:rPr>
              <a:t>关键点：LLM API 调用不是只有“用户输入”一层；程序可以用 system prompt 设计模型角色和行为。</a:t>
            </a:r>
            <a:endParaRPr lang="en-US" sz="1600" dirty="0"/>
          </a:p>
        </p:txBody>
      </p:sp>
      <p:sp>
        <p:nvSpPr>
          <p:cNvPr id="24" name="Text 22"/>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05 / 26</a:t>
            </a:r>
            <a:endParaRPr lang="en-US" sz="1000" dirty="0"/>
          </a:p>
        </p:txBody>
      </p:sp>
      <p:pic>
        <p:nvPicPr>
          <p:cNvPr id="25" name="图片 24">
            <a:extLst>
              <a:ext uri="{FF2B5EF4-FFF2-40B4-BE49-F238E27FC236}">
                <a16:creationId xmlns:a16="http://schemas.microsoft.com/office/drawing/2014/main" id="{274D436B-DC16-54CE-7B85-91670F6B915D}"/>
              </a:ext>
            </a:extLst>
          </p:cNvPr>
          <p:cNvPicPr>
            <a:picLocks noChangeAspect="1"/>
          </p:cNvPicPr>
          <p:nvPr/>
        </p:nvPicPr>
        <p:blipFill>
          <a:blip r:embed="rId3"/>
          <a:stretch>
            <a:fillRect/>
          </a:stretch>
        </p:blipFill>
        <p:spPr>
          <a:xfrm>
            <a:off x="647686" y="3467288"/>
            <a:ext cx="5050112" cy="2228653"/>
          </a:xfrm>
          <a:prstGeom prst="rect">
            <a:avLst/>
          </a:prstGeom>
        </p:spPr>
      </p:pic>
      <p:sp>
        <p:nvSpPr>
          <p:cNvPr id="26" name="文本框 25">
            <a:extLst>
              <a:ext uri="{FF2B5EF4-FFF2-40B4-BE49-F238E27FC236}">
                <a16:creationId xmlns:a16="http://schemas.microsoft.com/office/drawing/2014/main" id="{7AC87FBB-A960-7F68-E8AD-A9FA1355C46C}"/>
              </a:ext>
            </a:extLst>
          </p:cNvPr>
          <p:cNvSpPr txBox="1"/>
          <p:nvPr/>
        </p:nvSpPr>
        <p:spPr>
          <a:xfrm>
            <a:off x="6005363" y="4663168"/>
            <a:ext cx="4081282" cy="646331"/>
          </a:xfrm>
          <a:prstGeom prst="rect">
            <a:avLst/>
          </a:prstGeom>
          <a:noFill/>
        </p:spPr>
        <p:txBody>
          <a:bodyPr wrap="square" rtlCol="0">
            <a:spAutoFit/>
          </a:bodyPr>
          <a:lstStyle/>
          <a:p>
            <a:r>
              <a:rPr kumimoji="1" lang="zh-CN" altLang="en-US" dirty="0"/>
              <a:t>一个消息分为了</a:t>
            </a:r>
            <a:r>
              <a:rPr kumimoji="1" lang="en-US" altLang="zh-CN" dirty="0"/>
              <a:t> role</a:t>
            </a:r>
            <a:r>
              <a:rPr kumimoji="1" lang="zh-CN" altLang="en-US" dirty="0"/>
              <a:t>和</a:t>
            </a:r>
            <a:r>
              <a:rPr kumimoji="1" lang="en-US" altLang="zh-CN" dirty="0"/>
              <a:t> content</a:t>
            </a:r>
            <a:r>
              <a:rPr kumimoji="1" lang="zh-CN" altLang="en-US" dirty="0"/>
              <a:t>，其中，</a:t>
            </a:r>
            <a:r>
              <a:rPr kumimoji="1" lang="en-US" altLang="zh-CN" dirty="0"/>
              <a:t>system </a:t>
            </a:r>
            <a:r>
              <a:rPr kumimoji="1" lang="zh-CN" altLang="en-US" dirty="0"/>
              <a:t>和</a:t>
            </a:r>
            <a:r>
              <a:rPr kumimoji="1" lang="en-US" altLang="zh-CN" dirty="0"/>
              <a:t> user </a:t>
            </a:r>
            <a:r>
              <a:rPr kumimoji="1" lang="zh-CN" altLang="en-US" dirty="0"/>
              <a:t>是两个常见的</a:t>
            </a:r>
            <a:r>
              <a:rPr kumimoji="1" lang="en-US" altLang="zh-CN" dirty="0"/>
              <a:t> role</a:t>
            </a:r>
            <a:endParaRPr kumimoji="1" lang="zh-CN" altLang="en-US" dirty="0"/>
          </a:p>
        </p:txBody>
      </p:sp>
      <p:sp>
        <p:nvSpPr>
          <p:cNvPr id="27" name="圆角矩形 26">
            <a:extLst>
              <a:ext uri="{FF2B5EF4-FFF2-40B4-BE49-F238E27FC236}">
                <a16:creationId xmlns:a16="http://schemas.microsoft.com/office/drawing/2014/main" id="{AD6ABAF8-1CEC-5EF2-54E4-9135CCEAAA65}"/>
              </a:ext>
            </a:extLst>
          </p:cNvPr>
          <p:cNvSpPr/>
          <p:nvPr/>
        </p:nvSpPr>
        <p:spPr>
          <a:xfrm>
            <a:off x="1069062" y="4963613"/>
            <a:ext cx="3010713" cy="556298"/>
          </a:xfrm>
          <a:prstGeom prst="round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049305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3" name="Text 1"/>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行为影响</a:t>
            </a:r>
            <a:endParaRPr lang="en-US" sz="1150" dirty="0"/>
          </a:p>
        </p:txBody>
      </p:sp>
      <p:sp>
        <p:nvSpPr>
          <p:cNvPr id="4" name="Text 2"/>
          <p:cNvSpPr/>
          <p:nvPr/>
        </p:nvSpPr>
        <p:spPr>
          <a:xfrm>
            <a:off x="400040" y="609600"/>
            <a:ext cx="9715257" cy="857250"/>
          </a:xfrm>
          <a:prstGeom prst="rect">
            <a:avLst/>
          </a:prstGeom>
          <a:noFill/>
          <a:ln/>
        </p:spPr>
        <p:txBody>
          <a:bodyPr wrap="square" lIns="0" tIns="0" rIns="0" bIns="0" rtlCol="0" anchor="t"/>
          <a:lstStyle/>
          <a:p>
            <a:pPr marL="0" indent="0" algn="l">
              <a:buNone/>
            </a:pPr>
            <a:r>
              <a:rPr lang="en-US" sz="2950" b="1" dirty="0">
                <a:solidFill>
                  <a:srgbClr val="111827"/>
                </a:solidFill>
                <a:latin typeface="Helvetica Neue" pitchFamily="34" charset="0"/>
                <a:ea typeface="Helvetica Neue" pitchFamily="34" charset="-122"/>
                <a:cs typeface="Helvetica Neue" pitchFamily="34" charset="-120"/>
              </a:rPr>
              <a:t>System Prompt</a:t>
            </a:r>
            <a:r>
              <a:rPr lang="zh-CN" altLang="en-US" sz="2950" b="1" dirty="0">
                <a:solidFill>
                  <a:srgbClr val="111827"/>
                </a:solidFill>
                <a:latin typeface="Helvetica Neue" pitchFamily="34" charset="0"/>
                <a:ea typeface="Helvetica Neue" pitchFamily="34" charset="-122"/>
                <a:cs typeface="Helvetica Neue" pitchFamily="34" charset="-120"/>
              </a:rPr>
              <a:t>：</a:t>
            </a:r>
            <a:r>
              <a:rPr lang="en-US" sz="2950" b="1" dirty="0" err="1">
                <a:solidFill>
                  <a:srgbClr val="111827"/>
                </a:solidFill>
                <a:latin typeface="Helvetica Neue" pitchFamily="34" charset="0"/>
                <a:ea typeface="Helvetica Neue" pitchFamily="34" charset="-122"/>
                <a:cs typeface="Helvetica Neue" pitchFamily="34" charset="-120"/>
              </a:rPr>
              <a:t>把同一问题导向不同的行为</a:t>
            </a:r>
            <a:endParaRPr lang="en-US" sz="2950" dirty="0"/>
          </a:p>
        </p:txBody>
      </p:sp>
      <p:sp>
        <p:nvSpPr>
          <p:cNvPr id="5" name="Shape 3"/>
          <p:cNvSpPr/>
          <p:nvPr/>
        </p:nvSpPr>
        <p:spPr>
          <a:xfrm>
            <a:off x="400040" y="1466850"/>
            <a:ext cx="10762981" cy="638175"/>
          </a:xfrm>
          <a:prstGeom prst="rect">
            <a:avLst/>
          </a:prstGeom>
          <a:solidFill>
            <a:srgbClr val="0F172A"/>
          </a:solidFill>
          <a:ln w="12700">
            <a:solidFill>
              <a:srgbClr val="FFFFFF">
                <a:alpha val="0"/>
              </a:srgbClr>
            </a:solidFill>
            <a:prstDash val="solid"/>
          </a:ln>
        </p:spPr>
        <p:txBody>
          <a:bodyPr/>
          <a:lstStyle/>
          <a:p>
            <a:endParaRPr lang="zh-CN" altLang="en-US"/>
          </a:p>
        </p:txBody>
      </p:sp>
      <p:sp>
        <p:nvSpPr>
          <p:cNvPr id="6" name="Text 4"/>
          <p:cNvSpPr/>
          <p:nvPr/>
        </p:nvSpPr>
        <p:spPr>
          <a:xfrm>
            <a:off x="600060" y="1628775"/>
            <a:ext cx="10362941" cy="314325"/>
          </a:xfrm>
          <a:prstGeom prst="rect">
            <a:avLst/>
          </a:prstGeom>
          <a:noFill/>
          <a:ln/>
        </p:spPr>
        <p:txBody>
          <a:bodyPr wrap="square" lIns="0" tIns="0" rIns="0" bIns="0" rtlCol="0" anchor="t"/>
          <a:lstStyle/>
          <a:p>
            <a:pPr marL="0" indent="0" algn="l">
              <a:buNone/>
            </a:pPr>
            <a:r>
              <a:rPr lang="en-US" sz="1750" dirty="0">
                <a:solidFill>
                  <a:srgbClr val="FFFFFF"/>
                </a:solidFill>
                <a:latin typeface="Helvetica Neue" pitchFamily="34" charset="0"/>
                <a:ea typeface="Helvetica Neue" pitchFamily="34" charset="-122"/>
                <a:cs typeface="Helvetica Neue" pitchFamily="34" charset="-120"/>
              </a:rPr>
              <a:t>User：帮我复习网络分层。</a:t>
            </a:r>
            <a:endParaRPr lang="en-US" sz="1750" dirty="0"/>
          </a:p>
        </p:txBody>
      </p:sp>
      <p:sp>
        <p:nvSpPr>
          <p:cNvPr id="7" name="Shape 5"/>
          <p:cNvSpPr/>
          <p:nvPr/>
        </p:nvSpPr>
        <p:spPr>
          <a:xfrm>
            <a:off x="400040" y="2305050"/>
            <a:ext cx="5267193" cy="2667000"/>
          </a:xfrm>
          <a:prstGeom prst="rect">
            <a:avLst/>
          </a:prstGeom>
          <a:solidFill>
            <a:srgbClr val="F8FAFC"/>
          </a:solidFill>
          <a:ln w="9525">
            <a:solidFill>
              <a:srgbClr val="DBE3EA"/>
            </a:solidFill>
            <a:prstDash val="solid"/>
          </a:ln>
        </p:spPr>
        <p:txBody>
          <a:bodyPr/>
          <a:lstStyle/>
          <a:p>
            <a:endParaRPr lang="zh-CN" altLang="en-US"/>
          </a:p>
        </p:txBody>
      </p:sp>
      <p:sp>
        <p:nvSpPr>
          <p:cNvPr id="8" name="Text 6"/>
          <p:cNvSpPr/>
          <p:nvPr/>
        </p:nvSpPr>
        <p:spPr>
          <a:xfrm>
            <a:off x="657209" y="2543175"/>
            <a:ext cx="4752856" cy="352425"/>
          </a:xfrm>
          <a:prstGeom prst="rect">
            <a:avLst/>
          </a:prstGeom>
          <a:noFill/>
          <a:ln/>
        </p:spPr>
        <p:txBody>
          <a:bodyPr wrap="square" lIns="0" tIns="0" rIns="0" bIns="0" rtlCol="0" anchor="t"/>
          <a:lstStyle/>
          <a:p>
            <a:pPr marL="0" indent="0" algn="l">
              <a:buNone/>
            </a:pPr>
            <a:r>
              <a:rPr lang="en-US" sz="1950" b="1" dirty="0">
                <a:solidFill>
                  <a:srgbClr val="111827"/>
                </a:solidFill>
                <a:latin typeface="Helvetica Neue" pitchFamily="34" charset="0"/>
                <a:ea typeface="Helvetica Neue" pitchFamily="34" charset="-122"/>
                <a:cs typeface="Helvetica Neue" pitchFamily="34" charset="-120"/>
              </a:rPr>
              <a:t>复习教练模式</a:t>
            </a:r>
            <a:endParaRPr lang="en-US" sz="1950" dirty="0"/>
          </a:p>
        </p:txBody>
      </p:sp>
      <p:sp>
        <p:nvSpPr>
          <p:cNvPr id="9" name="Shape 7"/>
          <p:cNvSpPr/>
          <p:nvPr/>
        </p:nvSpPr>
        <p:spPr>
          <a:xfrm>
            <a:off x="657209" y="2895600"/>
            <a:ext cx="4752856" cy="704850"/>
          </a:xfrm>
          <a:prstGeom prst="rect">
            <a:avLst/>
          </a:prstGeom>
          <a:solidFill>
            <a:srgbClr val="EAF2FB"/>
          </a:solidFill>
          <a:ln w="12700">
            <a:solidFill>
              <a:srgbClr val="FFFFFF">
                <a:alpha val="0"/>
              </a:srgbClr>
            </a:solidFill>
            <a:prstDash val="solid"/>
          </a:ln>
        </p:spPr>
        <p:txBody>
          <a:bodyPr/>
          <a:lstStyle/>
          <a:p>
            <a:endParaRPr lang="zh-CN" altLang="en-US" sz="2400"/>
          </a:p>
        </p:txBody>
      </p:sp>
      <p:sp>
        <p:nvSpPr>
          <p:cNvPr id="10" name="Shape 8"/>
          <p:cNvSpPr/>
          <p:nvPr/>
        </p:nvSpPr>
        <p:spPr>
          <a:xfrm>
            <a:off x="681020" y="2895600"/>
            <a:ext cx="1" cy="668238"/>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11" name="Text 9"/>
          <p:cNvSpPr/>
          <p:nvPr/>
        </p:nvSpPr>
        <p:spPr>
          <a:xfrm>
            <a:off x="847703" y="3019424"/>
            <a:ext cx="4790953" cy="428625"/>
          </a:xfrm>
          <a:prstGeom prst="rect">
            <a:avLst/>
          </a:prstGeom>
          <a:noFill/>
          <a:ln/>
        </p:spPr>
        <p:txBody>
          <a:bodyPr wrap="square" lIns="0" tIns="0" rIns="0" bIns="0" rtlCol="0" anchor="t"/>
          <a:lstStyle/>
          <a:p>
            <a:pPr marL="0" indent="0" algn="l">
              <a:buNone/>
            </a:pPr>
            <a:r>
              <a:rPr lang="en-US" sz="1400" dirty="0">
                <a:solidFill>
                  <a:srgbClr val="1E3A5F"/>
                </a:solidFill>
                <a:latin typeface="Helvetica Neue" pitchFamily="34" charset="0"/>
                <a:ea typeface="Helvetica Neue" pitchFamily="34" charset="-122"/>
                <a:cs typeface="Helvetica Neue" pitchFamily="34" charset="-120"/>
              </a:rPr>
              <a:t>“你是一个严谨的考试复习教练。回答要先提问检查理解。”</a:t>
            </a:r>
            <a:endParaRPr lang="en-US" sz="1400" dirty="0"/>
          </a:p>
        </p:txBody>
      </p:sp>
      <p:sp>
        <p:nvSpPr>
          <p:cNvPr id="12" name="Text 10"/>
          <p:cNvSpPr/>
          <p:nvPr/>
        </p:nvSpPr>
        <p:spPr>
          <a:xfrm>
            <a:off x="657209" y="3810744"/>
            <a:ext cx="4752856" cy="552450"/>
          </a:xfrm>
          <a:prstGeom prst="rect">
            <a:avLst/>
          </a:prstGeom>
          <a:noFill/>
          <a:ln/>
        </p:spPr>
        <p:txBody>
          <a:bodyPr wrap="square" lIns="0" tIns="0" rIns="0" bIns="0" rtlCol="0" anchor="t"/>
          <a:lstStyle/>
          <a:p>
            <a:pPr marL="0" indent="0" algn="l">
              <a:buNone/>
            </a:pPr>
            <a:r>
              <a:rPr lang="en-US" sz="1500" dirty="0">
                <a:solidFill>
                  <a:srgbClr val="334155"/>
                </a:solidFill>
                <a:latin typeface="Helvetica Neue" pitchFamily="34" charset="0"/>
                <a:ea typeface="Helvetica Neue" pitchFamily="34" charset="-122"/>
                <a:cs typeface="Helvetica Neue" pitchFamily="34" charset="-120"/>
              </a:rPr>
              <a:t>更可能先问：你能先说出网络分层的每一层吗？哪些层最容易混淆？</a:t>
            </a:r>
            <a:endParaRPr lang="en-US" sz="1500" dirty="0"/>
          </a:p>
        </p:txBody>
      </p:sp>
      <p:sp>
        <p:nvSpPr>
          <p:cNvPr id="13" name="Text 11"/>
          <p:cNvSpPr/>
          <p:nvPr/>
        </p:nvSpPr>
        <p:spPr>
          <a:xfrm>
            <a:off x="657209" y="4363194"/>
            <a:ext cx="1671196" cy="361950"/>
          </a:xfrm>
          <a:prstGeom prst="rect">
            <a:avLst/>
          </a:prstGeom>
          <a:noFill/>
          <a:ln/>
        </p:spPr>
        <p:txBody>
          <a:bodyPr wrap="square" lIns="0" tIns="0" rIns="0" bIns="0" rtlCol="0" anchor="t"/>
          <a:lstStyle/>
          <a:p>
            <a:pPr marL="0" indent="0" algn="l">
              <a:buNone/>
            </a:pPr>
            <a:r>
              <a:rPr lang="en-US" sz="1600" b="1" dirty="0">
                <a:solidFill>
                  <a:srgbClr val="134E4A"/>
                </a:solidFill>
                <a:latin typeface="Helvetica Neue" pitchFamily="34" charset="0"/>
                <a:ea typeface="Helvetica Neue" pitchFamily="34" charset="-122"/>
                <a:cs typeface="Helvetica Neue" pitchFamily="34" charset="-120"/>
              </a:rPr>
              <a:t>先诊断，再讲解</a:t>
            </a:r>
            <a:endParaRPr lang="en-US" sz="1600" dirty="0"/>
          </a:p>
        </p:txBody>
      </p:sp>
      <p:sp>
        <p:nvSpPr>
          <p:cNvPr id="14" name="Shape 12"/>
          <p:cNvSpPr/>
          <p:nvPr/>
        </p:nvSpPr>
        <p:spPr>
          <a:xfrm>
            <a:off x="5895828" y="2305050"/>
            <a:ext cx="5267193" cy="2667000"/>
          </a:xfrm>
          <a:prstGeom prst="rect">
            <a:avLst/>
          </a:prstGeom>
          <a:solidFill>
            <a:srgbClr val="F8FAFC"/>
          </a:solidFill>
          <a:ln w="9525">
            <a:solidFill>
              <a:srgbClr val="DBE3EA"/>
            </a:solidFill>
            <a:prstDash val="solid"/>
          </a:ln>
        </p:spPr>
        <p:txBody>
          <a:bodyPr/>
          <a:lstStyle/>
          <a:p>
            <a:endParaRPr lang="zh-CN" altLang="en-US"/>
          </a:p>
        </p:txBody>
      </p:sp>
      <p:sp>
        <p:nvSpPr>
          <p:cNvPr id="15" name="Text 13"/>
          <p:cNvSpPr/>
          <p:nvPr/>
        </p:nvSpPr>
        <p:spPr>
          <a:xfrm>
            <a:off x="6152996" y="2543175"/>
            <a:ext cx="4752856" cy="352425"/>
          </a:xfrm>
          <a:prstGeom prst="rect">
            <a:avLst/>
          </a:prstGeom>
          <a:noFill/>
          <a:ln/>
        </p:spPr>
        <p:txBody>
          <a:bodyPr wrap="square" lIns="0" tIns="0" rIns="0" bIns="0" rtlCol="0" anchor="t"/>
          <a:lstStyle/>
          <a:p>
            <a:pPr marL="0" indent="0" algn="l">
              <a:buNone/>
            </a:pPr>
            <a:r>
              <a:rPr lang="en-US" sz="1950" b="1" dirty="0">
                <a:solidFill>
                  <a:srgbClr val="111827"/>
                </a:solidFill>
                <a:latin typeface="Helvetica Neue" pitchFamily="34" charset="0"/>
                <a:ea typeface="Helvetica Neue" pitchFamily="34" charset="-122"/>
                <a:cs typeface="Helvetica Neue" pitchFamily="34" charset="-120"/>
              </a:rPr>
              <a:t>初学者助教模式</a:t>
            </a:r>
            <a:endParaRPr lang="en-US" sz="1950" dirty="0"/>
          </a:p>
        </p:txBody>
      </p:sp>
      <p:sp>
        <p:nvSpPr>
          <p:cNvPr id="16" name="Shape 14"/>
          <p:cNvSpPr/>
          <p:nvPr/>
        </p:nvSpPr>
        <p:spPr>
          <a:xfrm>
            <a:off x="6152996" y="2895600"/>
            <a:ext cx="4752856" cy="704850"/>
          </a:xfrm>
          <a:prstGeom prst="rect">
            <a:avLst/>
          </a:prstGeom>
          <a:solidFill>
            <a:srgbClr val="EAF2FB"/>
          </a:solidFill>
          <a:ln w="12700">
            <a:solidFill>
              <a:srgbClr val="FFFFFF">
                <a:alpha val="0"/>
              </a:srgbClr>
            </a:solidFill>
            <a:prstDash val="solid"/>
          </a:ln>
        </p:spPr>
        <p:txBody>
          <a:bodyPr/>
          <a:lstStyle/>
          <a:p>
            <a:endParaRPr lang="zh-CN" altLang="en-US"/>
          </a:p>
        </p:txBody>
      </p:sp>
      <p:sp>
        <p:nvSpPr>
          <p:cNvPr id="17" name="Shape 15"/>
          <p:cNvSpPr/>
          <p:nvPr/>
        </p:nvSpPr>
        <p:spPr>
          <a:xfrm>
            <a:off x="6176808" y="2895600"/>
            <a:ext cx="0" cy="704850"/>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18" name="Text 16"/>
          <p:cNvSpPr/>
          <p:nvPr/>
        </p:nvSpPr>
        <p:spPr>
          <a:xfrm>
            <a:off x="6343491" y="3019425"/>
            <a:ext cx="4419490" cy="457200"/>
          </a:xfrm>
          <a:prstGeom prst="rect">
            <a:avLst/>
          </a:prstGeom>
          <a:noFill/>
          <a:ln/>
        </p:spPr>
        <p:txBody>
          <a:bodyPr wrap="square" lIns="0" tIns="0" rIns="0" bIns="0" rtlCol="0" anchor="t"/>
          <a:lstStyle/>
          <a:p>
            <a:pPr marL="0" indent="0" algn="l">
              <a:buNone/>
            </a:pPr>
            <a:r>
              <a:rPr lang="en-US" sz="1400" dirty="0">
                <a:solidFill>
                  <a:srgbClr val="1E3A5F"/>
                </a:solidFill>
                <a:latin typeface="Helvetica Neue" pitchFamily="34" charset="0"/>
                <a:ea typeface="Helvetica Neue" pitchFamily="34" charset="-122"/>
                <a:cs typeface="Helvetica Neue" pitchFamily="34" charset="-120"/>
              </a:rPr>
              <a:t>“你是一个适合初学者的助教。回答要先给生活类比，再给定义。”</a:t>
            </a:r>
            <a:endParaRPr lang="en-US" sz="1400" dirty="0"/>
          </a:p>
        </p:txBody>
      </p:sp>
      <p:sp>
        <p:nvSpPr>
          <p:cNvPr id="19" name="Text 17"/>
          <p:cNvSpPr/>
          <p:nvPr/>
        </p:nvSpPr>
        <p:spPr>
          <a:xfrm>
            <a:off x="6152996" y="3771900"/>
            <a:ext cx="4752856" cy="552450"/>
          </a:xfrm>
          <a:prstGeom prst="rect">
            <a:avLst/>
          </a:prstGeom>
          <a:noFill/>
          <a:ln/>
        </p:spPr>
        <p:txBody>
          <a:bodyPr wrap="square" lIns="0" tIns="0" rIns="0" bIns="0" rtlCol="0" anchor="t"/>
          <a:lstStyle/>
          <a:p>
            <a:pPr marL="0" indent="0" algn="l">
              <a:buNone/>
            </a:pPr>
            <a:r>
              <a:rPr lang="en-US" sz="1500" dirty="0">
                <a:solidFill>
                  <a:srgbClr val="334155"/>
                </a:solidFill>
                <a:latin typeface="Helvetica Neue" pitchFamily="34" charset="0"/>
                <a:ea typeface="Helvetica Neue" pitchFamily="34" charset="-122"/>
                <a:cs typeface="Helvetica Neue" pitchFamily="34" charset="-120"/>
              </a:rPr>
              <a:t>更可能先用快递、楼层或邮政系统类比，再引出分层的正式定义。</a:t>
            </a:r>
            <a:endParaRPr lang="en-US" sz="1500" dirty="0"/>
          </a:p>
        </p:txBody>
      </p:sp>
      <p:sp>
        <p:nvSpPr>
          <p:cNvPr id="20" name="Text 18"/>
          <p:cNvSpPr/>
          <p:nvPr/>
        </p:nvSpPr>
        <p:spPr>
          <a:xfrm>
            <a:off x="6152996" y="4324350"/>
            <a:ext cx="1671196" cy="361950"/>
          </a:xfrm>
          <a:prstGeom prst="rect">
            <a:avLst/>
          </a:prstGeom>
          <a:noFill/>
          <a:ln/>
        </p:spPr>
        <p:txBody>
          <a:bodyPr wrap="square" lIns="0" tIns="0" rIns="0" bIns="0" rtlCol="0" anchor="t"/>
          <a:lstStyle/>
          <a:p>
            <a:pPr marL="0" indent="0" algn="l">
              <a:buNone/>
            </a:pPr>
            <a:r>
              <a:rPr lang="en-US" sz="1600" b="1" dirty="0">
                <a:solidFill>
                  <a:srgbClr val="134E4A"/>
                </a:solidFill>
                <a:latin typeface="Helvetica Neue" pitchFamily="34" charset="0"/>
                <a:ea typeface="Helvetica Neue" pitchFamily="34" charset="-122"/>
                <a:cs typeface="Helvetica Neue" pitchFamily="34" charset="-120"/>
              </a:rPr>
              <a:t>先类比，再定义</a:t>
            </a:r>
            <a:endParaRPr lang="en-US" sz="1600" dirty="0"/>
          </a:p>
        </p:txBody>
      </p:sp>
      <p:sp>
        <p:nvSpPr>
          <p:cNvPr id="21" name="Text 19"/>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06 / 26</a:t>
            </a:r>
            <a:endParaRPr lang="en-US" sz="1000" dirty="0"/>
          </a:p>
        </p:txBody>
      </p:sp>
    </p:spTree>
    <p:extLst>
      <p:ext uri="{BB962C8B-B14F-4D97-AF65-F5344CB8AC3E}">
        <p14:creationId xmlns:p14="http://schemas.microsoft.com/office/powerpoint/2010/main" val="1105648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400040" y="609600"/>
            <a:ext cx="10381990" cy="371475"/>
          </a:xfrm>
          <a:prstGeom prst="rect">
            <a:avLst/>
          </a:prstGeom>
          <a:noFill/>
          <a:ln/>
        </p:spPr>
        <p:txBody>
          <a:bodyPr wrap="square" lIns="0" tIns="0" rIns="0" bIns="0" rtlCol="0" anchor="t"/>
          <a:lstStyle/>
          <a:p>
            <a:pPr marL="0" indent="0" algn="l">
              <a:buNone/>
            </a:pPr>
            <a:r>
              <a:rPr lang="en-US" sz="2650" b="1" dirty="0">
                <a:solidFill>
                  <a:srgbClr val="111827"/>
                </a:solidFill>
                <a:latin typeface="Helvetica Neue" pitchFamily="34" charset="0"/>
                <a:ea typeface="Helvetica Neue" pitchFamily="34" charset="-122"/>
                <a:cs typeface="Helvetica Neue" pitchFamily="34" charset="-120"/>
              </a:rPr>
              <a:t>System</a:t>
            </a:r>
            <a:r>
              <a:rPr lang="zh-CN" altLang="en-US" sz="2650" b="1" dirty="0">
                <a:solidFill>
                  <a:srgbClr val="111827"/>
                </a:solidFill>
                <a:latin typeface="Helvetica Neue" pitchFamily="34" charset="0"/>
                <a:ea typeface="Helvetica Neue" pitchFamily="34" charset="-122"/>
                <a:cs typeface="Helvetica Neue" pitchFamily="34" charset="-120"/>
              </a:rPr>
              <a:t> </a:t>
            </a:r>
            <a:r>
              <a:rPr lang="en-US" altLang="zh-CN" sz="2650" b="1" dirty="0">
                <a:solidFill>
                  <a:srgbClr val="111827"/>
                </a:solidFill>
                <a:latin typeface="Helvetica Neue" pitchFamily="34" charset="0"/>
                <a:ea typeface="Helvetica Neue" pitchFamily="34" charset="-122"/>
                <a:cs typeface="Helvetica Neue" pitchFamily="34" charset="-120"/>
              </a:rPr>
              <a:t>Prompt </a:t>
            </a:r>
            <a:r>
              <a:rPr lang="zh-CN" altLang="en-US" sz="2650" b="1" dirty="0">
                <a:solidFill>
                  <a:srgbClr val="111827"/>
                </a:solidFill>
                <a:latin typeface="Helvetica Neue" pitchFamily="34" charset="0"/>
                <a:ea typeface="Helvetica Neue" pitchFamily="34" charset="-122"/>
                <a:cs typeface="Helvetica Neue" pitchFamily="34" charset="-120"/>
              </a:rPr>
              <a:t>的局限性</a:t>
            </a:r>
            <a:endParaRPr lang="en-US" sz="2650" dirty="0"/>
          </a:p>
        </p:txBody>
      </p:sp>
      <p:sp>
        <p:nvSpPr>
          <p:cNvPr id="37" name="Text 35"/>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07 / 26</a:t>
            </a:r>
            <a:endParaRPr lang="en-US" sz="1000" dirty="0"/>
          </a:p>
        </p:txBody>
      </p:sp>
      <p:sp>
        <p:nvSpPr>
          <p:cNvPr id="38" name="文本框 37">
            <a:extLst>
              <a:ext uri="{FF2B5EF4-FFF2-40B4-BE49-F238E27FC236}">
                <a16:creationId xmlns:a16="http://schemas.microsoft.com/office/drawing/2014/main" id="{F853EEA3-176C-2AB9-4FDD-566F2DA846E0}"/>
              </a:ext>
            </a:extLst>
          </p:cNvPr>
          <p:cNvSpPr txBox="1"/>
          <p:nvPr/>
        </p:nvSpPr>
        <p:spPr>
          <a:xfrm>
            <a:off x="827118" y="1844824"/>
            <a:ext cx="10537763" cy="2308324"/>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t>它会影响模型输出，但不能保证模型永远 </a:t>
            </a:r>
            <a:r>
              <a:rPr lang="en-US" altLang="zh-CN" sz="2400" dirty="0"/>
              <a:t>100% </a:t>
            </a:r>
            <a:r>
              <a:rPr lang="zh-CN" altLang="en-US" sz="2400" dirty="0"/>
              <a:t>遵守</a:t>
            </a: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它只存在于本次请求中；如果下一次请求不再发送，模型不会自动记住</a:t>
            </a: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它适合表达身份、风格和边界，但不适合塞入所有用户历史和数据（如所有的课程资料）</a:t>
            </a:r>
            <a:endParaRPr kumimoji="1"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1"/>
          <p:cNvSpPr/>
          <p:nvPr/>
        </p:nvSpPr>
        <p:spPr>
          <a:xfrm>
            <a:off x="0" y="0"/>
            <a:ext cx="2857429" cy="6858000"/>
          </a:xfrm>
          <a:prstGeom prst="rect">
            <a:avLst/>
          </a:prstGeom>
          <a:solidFill>
            <a:srgbClr val="134E4A"/>
          </a:solidFill>
          <a:ln w="12700">
            <a:solidFill>
              <a:srgbClr val="FFFFFF">
                <a:alpha val="0"/>
              </a:srgbClr>
            </a:solidFill>
            <a:prstDash val="solid"/>
          </a:ln>
        </p:spPr>
        <p:txBody>
          <a:bodyPr/>
          <a:lstStyle/>
          <a:p>
            <a:endParaRPr lang="zh-CN" altLang="en-US"/>
          </a:p>
        </p:txBody>
      </p:sp>
      <p:sp>
        <p:nvSpPr>
          <p:cNvPr id="4" name="Text 2"/>
          <p:cNvSpPr/>
          <p:nvPr/>
        </p:nvSpPr>
        <p:spPr>
          <a:xfrm>
            <a:off x="400040" y="552450"/>
            <a:ext cx="2095448" cy="1057275"/>
          </a:xfrm>
          <a:prstGeom prst="rect">
            <a:avLst/>
          </a:prstGeom>
          <a:noFill/>
          <a:ln/>
        </p:spPr>
        <p:txBody>
          <a:bodyPr wrap="square" lIns="0" tIns="0" rIns="0" bIns="0" rtlCol="0" anchor="t"/>
          <a:lstStyle/>
          <a:p>
            <a:pPr marL="0" indent="0" algn="l">
              <a:buNone/>
            </a:pPr>
            <a:r>
              <a:rPr lang="en-US" altLang="zh-CN" sz="2400" b="1" dirty="0">
                <a:solidFill>
                  <a:srgbClr val="FFFFFF"/>
                </a:solidFill>
                <a:latin typeface="Helvetica Neue" pitchFamily="34" charset="0"/>
                <a:ea typeface="Helvetica Neue" pitchFamily="34" charset="-122"/>
                <a:cs typeface="Helvetica Neue" pitchFamily="34" charset="-120"/>
              </a:rPr>
              <a:t>2</a:t>
            </a:r>
            <a:endParaRPr lang="en-US" sz="2400" dirty="0"/>
          </a:p>
          <a:p>
            <a:pPr marL="0" indent="0" algn="l">
              <a:buNone/>
            </a:pPr>
            <a:r>
              <a:rPr lang="en-US" sz="2400" b="1" dirty="0" err="1">
                <a:solidFill>
                  <a:srgbClr val="FFFFFF"/>
                </a:solidFill>
                <a:latin typeface="Helvetica Neue" pitchFamily="34" charset="0"/>
                <a:ea typeface="Helvetica Neue" pitchFamily="34" charset="-122"/>
                <a:cs typeface="Helvetica Neue" pitchFamily="34" charset="-120"/>
              </a:rPr>
              <a:t>多轮会话</a:t>
            </a:r>
            <a:endParaRPr lang="en-US" sz="2400" dirty="0"/>
          </a:p>
        </p:txBody>
      </p:sp>
      <p:sp>
        <p:nvSpPr>
          <p:cNvPr id="5" name="Text 3"/>
          <p:cNvSpPr/>
          <p:nvPr/>
        </p:nvSpPr>
        <p:spPr>
          <a:xfrm>
            <a:off x="400040" y="1838325"/>
            <a:ext cx="2095448" cy="476250"/>
          </a:xfrm>
          <a:prstGeom prst="rect">
            <a:avLst/>
          </a:prstGeom>
          <a:noFill/>
          <a:ln/>
        </p:spPr>
        <p:txBody>
          <a:bodyPr wrap="square" lIns="0" tIns="0" rIns="0" bIns="0" rtlCol="0" anchor="t"/>
          <a:lstStyle/>
          <a:p>
            <a:pPr marL="0" indent="0" algn="l">
              <a:buNone/>
            </a:pPr>
            <a:r>
              <a:rPr lang="en-US" sz="1350" dirty="0">
                <a:solidFill>
                  <a:srgbClr val="CCE7E3"/>
                </a:solidFill>
                <a:latin typeface="Helvetica Neue" pitchFamily="34" charset="0"/>
                <a:ea typeface="Helvetica Neue" pitchFamily="34" charset="-122"/>
                <a:cs typeface="Helvetica Neue" pitchFamily="34" charset="-120"/>
              </a:rPr>
              <a:t>从单轮调用升级到持续 CLI 对话。</a:t>
            </a:r>
            <a:endParaRPr lang="en-US" sz="1350" dirty="0"/>
          </a:p>
        </p:txBody>
      </p:sp>
      <p:sp>
        <p:nvSpPr>
          <p:cNvPr id="6" name="Text 4"/>
          <p:cNvSpPr/>
          <p:nvPr/>
        </p:nvSpPr>
        <p:spPr>
          <a:xfrm>
            <a:off x="3333666" y="514350"/>
            <a:ext cx="8234941" cy="819150"/>
          </a:xfrm>
          <a:prstGeom prst="rect">
            <a:avLst/>
          </a:prstGeom>
          <a:noFill/>
          <a:ln/>
        </p:spPr>
        <p:txBody>
          <a:bodyPr wrap="square" lIns="0" tIns="0" rIns="0" bIns="0" rtlCol="0" anchor="t"/>
          <a:lstStyle/>
          <a:p>
            <a:pPr marL="0" indent="0" algn="l">
              <a:buNone/>
            </a:pPr>
            <a:r>
              <a:rPr lang="en-US" sz="2850" b="1" dirty="0" err="1">
                <a:solidFill>
                  <a:srgbClr val="111827"/>
                </a:solidFill>
                <a:latin typeface="Helvetica Neue" pitchFamily="34" charset="0"/>
                <a:ea typeface="Helvetica Neue" pitchFamily="34" charset="-122"/>
                <a:cs typeface="Helvetica Neue" pitchFamily="34" charset="-120"/>
              </a:rPr>
              <a:t>从简单的</a:t>
            </a:r>
            <a:r>
              <a:rPr lang="en-US" sz="2850" b="1" dirty="0">
                <a:solidFill>
                  <a:srgbClr val="111827"/>
                </a:solidFill>
                <a:latin typeface="Helvetica Neue" pitchFamily="34" charset="0"/>
                <a:ea typeface="Helvetica Neue" pitchFamily="34" charset="-122"/>
                <a:cs typeface="Helvetica Neue" pitchFamily="34" charset="-120"/>
              </a:rPr>
              <a:t> LLM</a:t>
            </a:r>
            <a:r>
              <a:rPr lang="zh-CN" altLang="en-US" sz="2850" b="1" dirty="0">
                <a:solidFill>
                  <a:srgbClr val="111827"/>
                </a:solidFill>
                <a:latin typeface="Helvetica Neue" pitchFamily="34" charset="0"/>
                <a:ea typeface="Helvetica Neue" pitchFamily="34" charset="-122"/>
                <a:cs typeface="Helvetica Neue" pitchFamily="34" charset="-120"/>
              </a:rPr>
              <a:t> </a:t>
            </a:r>
            <a:r>
              <a:rPr lang="en-US" altLang="zh-CN" sz="2850" b="1" dirty="0">
                <a:solidFill>
                  <a:srgbClr val="111827"/>
                </a:solidFill>
                <a:latin typeface="Helvetica Neue" pitchFamily="34" charset="0"/>
                <a:ea typeface="Helvetica Neue" pitchFamily="34" charset="-122"/>
                <a:cs typeface="Helvetica Neue" pitchFamily="34" charset="-120"/>
              </a:rPr>
              <a:t>API </a:t>
            </a:r>
            <a:r>
              <a:rPr lang="zh-CN" altLang="en-US" sz="2850" b="1" dirty="0">
                <a:solidFill>
                  <a:srgbClr val="111827"/>
                </a:solidFill>
                <a:latin typeface="Helvetica Neue" pitchFamily="34" charset="0"/>
                <a:ea typeface="Helvetica Neue" pitchFamily="34" charset="-122"/>
                <a:cs typeface="Helvetica Neue" pitchFamily="34" charset="-120"/>
              </a:rPr>
              <a:t>调用，到最小的多轮会话</a:t>
            </a:r>
            <a:r>
              <a:rPr lang="en-US" altLang="zh-CN" sz="2850" b="1" dirty="0">
                <a:solidFill>
                  <a:srgbClr val="111827"/>
                </a:solidFill>
                <a:latin typeface="Helvetica Neue" pitchFamily="34" charset="0"/>
                <a:ea typeface="Helvetica Neue" pitchFamily="34" charset="-122"/>
                <a:cs typeface="Helvetica Neue" pitchFamily="34" charset="-120"/>
              </a:rPr>
              <a:t> Loop</a:t>
            </a:r>
            <a:endParaRPr lang="en-US" sz="2850" dirty="0"/>
          </a:p>
        </p:txBody>
      </p:sp>
      <p:sp>
        <p:nvSpPr>
          <p:cNvPr id="7" name="Shape 5"/>
          <p:cNvSpPr/>
          <p:nvPr/>
        </p:nvSpPr>
        <p:spPr>
          <a:xfrm>
            <a:off x="3445848" y="3201293"/>
            <a:ext cx="3881340" cy="8191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8" name="Shape 6"/>
          <p:cNvSpPr/>
          <p:nvPr/>
        </p:nvSpPr>
        <p:spPr>
          <a:xfrm>
            <a:off x="3469660" y="3201293"/>
            <a:ext cx="0" cy="8191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9" name="Text 7"/>
          <p:cNvSpPr/>
          <p:nvPr/>
        </p:nvSpPr>
        <p:spPr>
          <a:xfrm>
            <a:off x="3664917" y="3353693"/>
            <a:ext cx="3490825"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持续运行的 CLI</a:t>
            </a:r>
            <a:endParaRPr lang="en-US" sz="1600" dirty="0"/>
          </a:p>
        </p:txBody>
      </p:sp>
      <p:sp>
        <p:nvSpPr>
          <p:cNvPr id="10" name="Text 8"/>
          <p:cNvSpPr/>
          <p:nvPr/>
        </p:nvSpPr>
        <p:spPr>
          <a:xfrm>
            <a:off x="3664917" y="3639443"/>
            <a:ext cx="3490825"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启动后持续接收用户输入。</a:t>
            </a:r>
            <a:endParaRPr lang="en-US" sz="1350" dirty="0"/>
          </a:p>
        </p:txBody>
      </p:sp>
      <p:sp>
        <p:nvSpPr>
          <p:cNvPr id="11" name="Shape 9"/>
          <p:cNvSpPr/>
          <p:nvPr/>
        </p:nvSpPr>
        <p:spPr>
          <a:xfrm>
            <a:off x="7470060" y="3201293"/>
            <a:ext cx="3881340" cy="8191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2" name="Shape 10"/>
          <p:cNvSpPr/>
          <p:nvPr/>
        </p:nvSpPr>
        <p:spPr>
          <a:xfrm>
            <a:off x="7493871" y="3201293"/>
            <a:ext cx="0" cy="8191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3" name="Text 11"/>
          <p:cNvSpPr/>
          <p:nvPr/>
        </p:nvSpPr>
        <p:spPr>
          <a:xfrm>
            <a:off x="7689129" y="3353693"/>
            <a:ext cx="3490825"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维护当前会话历史</a:t>
            </a:r>
            <a:endParaRPr lang="en-US" sz="1600" dirty="0"/>
          </a:p>
        </p:txBody>
      </p:sp>
      <p:sp>
        <p:nvSpPr>
          <p:cNvPr id="14" name="Text 12"/>
          <p:cNvSpPr/>
          <p:nvPr/>
        </p:nvSpPr>
        <p:spPr>
          <a:xfrm>
            <a:off x="7689129" y="3639443"/>
            <a:ext cx="3490825"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保存 user 与 assistant 消息列表。</a:t>
            </a:r>
            <a:endParaRPr lang="en-US" sz="1350" dirty="0"/>
          </a:p>
        </p:txBody>
      </p:sp>
      <p:sp>
        <p:nvSpPr>
          <p:cNvPr id="15" name="Shape 13"/>
          <p:cNvSpPr/>
          <p:nvPr/>
        </p:nvSpPr>
        <p:spPr>
          <a:xfrm>
            <a:off x="3445848" y="4163318"/>
            <a:ext cx="3881340" cy="8191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6" name="Shape 14"/>
          <p:cNvSpPr/>
          <p:nvPr/>
        </p:nvSpPr>
        <p:spPr>
          <a:xfrm>
            <a:off x="3469660" y="4163318"/>
            <a:ext cx="0" cy="8191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7" name="Text 15"/>
          <p:cNvSpPr/>
          <p:nvPr/>
        </p:nvSpPr>
        <p:spPr>
          <a:xfrm>
            <a:off x="3664917" y="4315718"/>
            <a:ext cx="3490825"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每轮发送完整上下文</a:t>
            </a:r>
            <a:endParaRPr lang="en-US" sz="1600" dirty="0"/>
          </a:p>
        </p:txBody>
      </p:sp>
      <p:sp>
        <p:nvSpPr>
          <p:cNvPr id="18" name="Text 16"/>
          <p:cNvSpPr/>
          <p:nvPr/>
        </p:nvSpPr>
        <p:spPr>
          <a:xfrm>
            <a:off x="3664917" y="4601468"/>
            <a:ext cx="3490825"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历史消息和本轮输入一起发给 LLM。</a:t>
            </a:r>
            <a:endParaRPr lang="en-US" sz="1350" dirty="0"/>
          </a:p>
        </p:txBody>
      </p:sp>
      <p:sp>
        <p:nvSpPr>
          <p:cNvPr id="19" name="Shape 17"/>
          <p:cNvSpPr/>
          <p:nvPr/>
        </p:nvSpPr>
        <p:spPr>
          <a:xfrm>
            <a:off x="7470060" y="4163318"/>
            <a:ext cx="3881340" cy="8191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20" name="Shape 18"/>
          <p:cNvSpPr/>
          <p:nvPr/>
        </p:nvSpPr>
        <p:spPr>
          <a:xfrm>
            <a:off x="7493871" y="4163318"/>
            <a:ext cx="0" cy="8191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21" name="Text 19"/>
          <p:cNvSpPr/>
          <p:nvPr/>
        </p:nvSpPr>
        <p:spPr>
          <a:xfrm>
            <a:off x="7689129" y="4315718"/>
            <a:ext cx="3490825"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追加 assistant 回复</a:t>
            </a:r>
            <a:endParaRPr lang="en-US" sz="1600" dirty="0"/>
          </a:p>
        </p:txBody>
      </p:sp>
      <p:sp>
        <p:nvSpPr>
          <p:cNvPr id="22" name="Text 20"/>
          <p:cNvSpPr/>
          <p:nvPr/>
        </p:nvSpPr>
        <p:spPr>
          <a:xfrm>
            <a:off x="7689129" y="4601468"/>
            <a:ext cx="3490825"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成功且非空的回复才进入历史。</a:t>
            </a:r>
            <a:endParaRPr lang="en-US" sz="1350" dirty="0"/>
          </a:p>
        </p:txBody>
      </p:sp>
      <p:sp>
        <p:nvSpPr>
          <p:cNvPr id="23" name="Shape 21"/>
          <p:cNvSpPr/>
          <p:nvPr/>
        </p:nvSpPr>
        <p:spPr>
          <a:xfrm>
            <a:off x="3445848" y="5125343"/>
            <a:ext cx="3881340" cy="8191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24" name="Shape 22"/>
          <p:cNvSpPr/>
          <p:nvPr/>
        </p:nvSpPr>
        <p:spPr>
          <a:xfrm>
            <a:off x="3469660" y="5125343"/>
            <a:ext cx="0" cy="8191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25" name="Text 23"/>
          <p:cNvSpPr/>
          <p:nvPr/>
        </p:nvSpPr>
        <p:spPr>
          <a:xfrm>
            <a:off x="3664917" y="5277743"/>
            <a:ext cx="3490825"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拆出核心逻辑</a:t>
            </a:r>
            <a:endParaRPr lang="en-US" sz="1600" dirty="0"/>
          </a:p>
        </p:txBody>
      </p:sp>
      <p:sp>
        <p:nvSpPr>
          <p:cNvPr id="26" name="Text 24"/>
          <p:cNvSpPr/>
          <p:nvPr/>
        </p:nvSpPr>
        <p:spPr>
          <a:xfrm>
            <a:off x="3664917" y="5563493"/>
            <a:ext cx="3490825"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CLI 不直接组织 LLM messages。</a:t>
            </a:r>
            <a:endParaRPr lang="en-US" sz="1350" dirty="0"/>
          </a:p>
        </p:txBody>
      </p:sp>
      <p:sp>
        <p:nvSpPr>
          <p:cNvPr id="27" name="Shape 25"/>
          <p:cNvSpPr/>
          <p:nvPr/>
        </p:nvSpPr>
        <p:spPr>
          <a:xfrm>
            <a:off x="7470060" y="5125343"/>
            <a:ext cx="3881340" cy="8191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28" name="Shape 26"/>
          <p:cNvSpPr/>
          <p:nvPr/>
        </p:nvSpPr>
        <p:spPr>
          <a:xfrm>
            <a:off x="7493871" y="5125343"/>
            <a:ext cx="0" cy="8191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29" name="Text 27"/>
          <p:cNvSpPr/>
          <p:nvPr/>
        </p:nvSpPr>
        <p:spPr>
          <a:xfrm>
            <a:off x="7689129" y="5277743"/>
            <a:ext cx="3490825" cy="285750"/>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支持 /exit</a:t>
            </a:r>
            <a:endParaRPr lang="en-US" sz="1600" dirty="0"/>
          </a:p>
        </p:txBody>
      </p:sp>
      <p:sp>
        <p:nvSpPr>
          <p:cNvPr id="30" name="Text 28"/>
          <p:cNvSpPr/>
          <p:nvPr/>
        </p:nvSpPr>
        <p:spPr>
          <a:xfrm>
            <a:off x="7689129" y="5563493"/>
            <a:ext cx="3490825"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让用户能正常退出。</a:t>
            </a:r>
            <a:endParaRPr lang="en-US" sz="1350" dirty="0"/>
          </a:p>
        </p:txBody>
      </p:sp>
      <p:sp>
        <p:nvSpPr>
          <p:cNvPr id="34" name="Text 32"/>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08 / 26</a:t>
            </a:r>
            <a:endParaRPr lang="en-US" sz="1000" dirty="0"/>
          </a:p>
        </p:txBody>
      </p:sp>
      <p:sp>
        <p:nvSpPr>
          <p:cNvPr id="35" name="文本框 34">
            <a:extLst>
              <a:ext uri="{FF2B5EF4-FFF2-40B4-BE49-F238E27FC236}">
                <a16:creationId xmlns:a16="http://schemas.microsoft.com/office/drawing/2014/main" id="{CA7B1F66-A619-A0E5-1A40-82F0B90BFC4F}"/>
              </a:ext>
            </a:extLst>
          </p:cNvPr>
          <p:cNvSpPr txBox="1"/>
          <p:nvPr/>
        </p:nvSpPr>
        <p:spPr>
          <a:xfrm>
            <a:off x="3222885" y="1257657"/>
            <a:ext cx="8154294" cy="1200329"/>
          </a:xfrm>
          <a:prstGeom prst="rect">
            <a:avLst/>
          </a:prstGeom>
          <a:noFill/>
        </p:spPr>
        <p:txBody>
          <a:bodyPr wrap="square" rtlCol="0">
            <a:spAutoFit/>
          </a:bodyPr>
          <a:lstStyle/>
          <a:p>
            <a:r>
              <a:rPr lang="zh-CN" altLang="en-US" b="1" dirty="0"/>
              <a:t>当前阶段</a:t>
            </a:r>
            <a:r>
              <a:rPr lang="zh-CN" altLang="en-US" dirty="0"/>
              <a:t>：我们已经完成了最小 </a:t>
            </a:r>
            <a:r>
              <a:rPr lang="en" altLang="zh-CN" dirty="0"/>
              <a:t>LLM API </a:t>
            </a:r>
            <a:r>
              <a:rPr lang="zh-CN" altLang="en-US" dirty="0"/>
              <a:t>调用，</a:t>
            </a:r>
            <a:r>
              <a:rPr lang="en-US" altLang="zh-CN" dirty="0"/>
              <a:t>Agent</a:t>
            </a:r>
            <a:r>
              <a:rPr lang="zh-CN" altLang="en-US" dirty="0"/>
              <a:t>程序可以向模型发送一条消息，并打印模型返回的回复。</a:t>
            </a:r>
          </a:p>
          <a:p>
            <a:r>
              <a:rPr lang="zh-CN" altLang="en-US" b="1" dirty="0"/>
              <a:t>多轮会话的目标</a:t>
            </a:r>
            <a:r>
              <a:rPr lang="zh-CN" altLang="en-US" dirty="0"/>
              <a:t>：实现一个最小多轮对话 </a:t>
            </a:r>
            <a:r>
              <a:rPr lang="en" altLang="zh-CN" dirty="0"/>
              <a:t>loop</a:t>
            </a:r>
            <a:r>
              <a:rPr lang="zh-CN" altLang="en" dirty="0"/>
              <a:t>，</a:t>
            </a:r>
            <a:r>
              <a:rPr lang="zh-CN" altLang="en-US" dirty="0"/>
              <a:t>使 </a:t>
            </a:r>
            <a:r>
              <a:rPr lang="en" altLang="zh-CN" dirty="0" err="1"/>
              <a:t>SJTUClaw</a:t>
            </a:r>
            <a:r>
              <a:rPr lang="en" altLang="zh-CN" dirty="0"/>
              <a:t> </a:t>
            </a:r>
            <a:r>
              <a:rPr lang="zh-CN" altLang="en-US" dirty="0"/>
              <a:t>能够在终端中持续接收用户输入，并把当前会话中的历史消息一并发送给模型。</a:t>
            </a:r>
          </a:p>
        </p:txBody>
      </p:sp>
    </p:spTree>
    <p:extLst>
      <p:ext uri="{BB962C8B-B14F-4D97-AF65-F5344CB8AC3E}">
        <p14:creationId xmlns:p14="http://schemas.microsoft.com/office/powerpoint/2010/main" val="1111579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400040" y="609600"/>
            <a:ext cx="9905752"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多轮对话</a:t>
            </a:r>
            <a:r>
              <a:rPr lang="zh-CN" altLang="en-US" sz="2950" b="1" dirty="0">
                <a:solidFill>
                  <a:srgbClr val="111827"/>
                </a:solidFill>
                <a:latin typeface="Helvetica Neue" pitchFamily="34" charset="0"/>
                <a:ea typeface="Helvetica Neue" pitchFamily="34" charset="-122"/>
                <a:cs typeface="Helvetica Neue" pitchFamily="34" charset="-120"/>
              </a:rPr>
              <a:t>的基本思想：</a:t>
            </a:r>
            <a:r>
              <a:rPr lang="en-US" altLang="zh-CN" sz="2950" b="1" dirty="0">
                <a:solidFill>
                  <a:srgbClr val="111827"/>
                </a:solidFill>
                <a:latin typeface="Helvetica Neue" pitchFamily="34" charset="0"/>
                <a:ea typeface="Helvetica Neue" pitchFamily="34" charset="-122"/>
                <a:cs typeface="Helvetica Neue" pitchFamily="34" charset="-120"/>
              </a:rPr>
              <a:t>Agent</a:t>
            </a:r>
            <a:r>
              <a:rPr lang="zh-CN" altLang="en-US" sz="3200" dirty="0"/>
              <a:t>在每一轮请求中主动携带当前会话历史，而不是依赖模型自动记住历史</a:t>
            </a:r>
            <a:endParaRPr lang="en-US" sz="2950" dirty="0"/>
          </a:p>
        </p:txBody>
      </p:sp>
      <p:sp>
        <p:nvSpPr>
          <p:cNvPr id="5" name="Shape 3"/>
          <p:cNvSpPr/>
          <p:nvPr/>
        </p:nvSpPr>
        <p:spPr>
          <a:xfrm>
            <a:off x="539938" y="2274829"/>
            <a:ext cx="4165446" cy="2495550"/>
          </a:xfrm>
          <a:prstGeom prst="rect">
            <a:avLst/>
          </a:prstGeom>
          <a:solidFill>
            <a:srgbClr val="FFFFFF"/>
          </a:solidFill>
          <a:ln w="9525">
            <a:solidFill>
              <a:srgbClr val="DBE3EA"/>
            </a:solidFill>
            <a:prstDash val="solid"/>
          </a:ln>
        </p:spPr>
        <p:txBody>
          <a:bodyPr/>
          <a:lstStyle/>
          <a:p>
            <a:endParaRPr lang="zh-CN" altLang="en-US"/>
          </a:p>
        </p:txBody>
      </p:sp>
      <p:sp>
        <p:nvSpPr>
          <p:cNvPr id="6" name="Text 4"/>
          <p:cNvSpPr/>
          <p:nvPr/>
        </p:nvSpPr>
        <p:spPr>
          <a:xfrm>
            <a:off x="759008" y="2493904"/>
            <a:ext cx="3727307"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用户看到的对话</a:t>
            </a:r>
            <a:endParaRPr lang="en-US" sz="1800" dirty="0"/>
          </a:p>
        </p:txBody>
      </p:sp>
      <p:sp>
        <p:nvSpPr>
          <p:cNvPr id="7" name="Shape 5"/>
          <p:cNvSpPr/>
          <p:nvPr/>
        </p:nvSpPr>
        <p:spPr>
          <a:xfrm>
            <a:off x="759008" y="2808229"/>
            <a:ext cx="3727307" cy="466725"/>
          </a:xfrm>
          <a:prstGeom prst="rect">
            <a:avLst/>
          </a:prstGeom>
          <a:solidFill>
            <a:srgbClr val="EAF2FB"/>
          </a:solidFill>
          <a:ln w="12700">
            <a:solidFill>
              <a:srgbClr val="FFFFFF">
                <a:alpha val="0"/>
              </a:srgbClr>
            </a:solidFill>
            <a:prstDash val="solid"/>
          </a:ln>
        </p:spPr>
        <p:txBody>
          <a:bodyPr/>
          <a:lstStyle/>
          <a:p>
            <a:endParaRPr lang="zh-CN" altLang="en-US"/>
          </a:p>
        </p:txBody>
      </p:sp>
      <p:sp>
        <p:nvSpPr>
          <p:cNvPr id="8" name="Text 6"/>
          <p:cNvSpPr/>
          <p:nvPr/>
        </p:nvSpPr>
        <p:spPr>
          <a:xfrm>
            <a:off x="901879" y="2922529"/>
            <a:ext cx="3441564" cy="238125"/>
          </a:xfrm>
          <a:prstGeom prst="rect">
            <a:avLst/>
          </a:prstGeom>
          <a:noFill/>
          <a:ln/>
        </p:spPr>
        <p:txBody>
          <a:bodyPr wrap="square" lIns="0" tIns="0" rIns="0" bIns="0" rtlCol="0" anchor="t"/>
          <a:lstStyle/>
          <a:p>
            <a:pPr marL="0" indent="0" algn="l">
              <a:buNone/>
            </a:pPr>
            <a:r>
              <a:rPr lang="en-US" sz="1350" dirty="0">
                <a:solidFill>
                  <a:srgbClr val="1E3A5F"/>
                </a:solidFill>
                <a:latin typeface="Helvetica Neue" pitchFamily="34" charset="0"/>
                <a:ea typeface="Helvetica Neue" pitchFamily="34" charset="-122"/>
                <a:cs typeface="Helvetica Neue" pitchFamily="34" charset="-120"/>
              </a:rPr>
              <a:t>User：你好，我叫小明。</a:t>
            </a:r>
            <a:endParaRPr lang="en-US" sz="1350" dirty="0"/>
          </a:p>
        </p:txBody>
      </p:sp>
      <p:sp>
        <p:nvSpPr>
          <p:cNvPr id="9" name="Shape 7"/>
          <p:cNvSpPr/>
          <p:nvPr/>
        </p:nvSpPr>
        <p:spPr>
          <a:xfrm>
            <a:off x="759008" y="3389254"/>
            <a:ext cx="3727307" cy="466725"/>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10" name="Text 8"/>
          <p:cNvSpPr/>
          <p:nvPr/>
        </p:nvSpPr>
        <p:spPr>
          <a:xfrm>
            <a:off x="901879" y="3503554"/>
            <a:ext cx="3441564" cy="238125"/>
          </a:xfrm>
          <a:prstGeom prst="rect">
            <a:avLst/>
          </a:prstGeom>
          <a:noFill/>
          <a:ln/>
        </p:spPr>
        <p:txBody>
          <a:bodyPr wrap="square" lIns="0" tIns="0" rIns="0" bIns="0" rtlCol="0" anchor="t"/>
          <a:lstStyle/>
          <a:p>
            <a:pPr marL="0" indent="0" algn="l">
              <a:buNone/>
            </a:pPr>
            <a:r>
              <a:rPr lang="en-US" sz="1350" dirty="0">
                <a:solidFill>
                  <a:srgbClr val="134E4A"/>
                </a:solidFill>
                <a:latin typeface="Helvetica Neue" pitchFamily="34" charset="0"/>
                <a:ea typeface="Helvetica Neue" pitchFamily="34" charset="-122"/>
                <a:cs typeface="Helvetica Neue" pitchFamily="34" charset="-120"/>
              </a:rPr>
              <a:t>Assistant：你好，小明。</a:t>
            </a:r>
            <a:endParaRPr lang="en-US" sz="1350" dirty="0"/>
          </a:p>
        </p:txBody>
      </p:sp>
      <p:sp>
        <p:nvSpPr>
          <p:cNvPr id="11" name="Shape 9"/>
          <p:cNvSpPr/>
          <p:nvPr/>
        </p:nvSpPr>
        <p:spPr>
          <a:xfrm>
            <a:off x="759008" y="3970279"/>
            <a:ext cx="3727307" cy="466725"/>
          </a:xfrm>
          <a:prstGeom prst="rect">
            <a:avLst/>
          </a:prstGeom>
          <a:solidFill>
            <a:srgbClr val="EAF2FB"/>
          </a:solidFill>
          <a:ln w="12700">
            <a:solidFill>
              <a:srgbClr val="FFFFFF">
                <a:alpha val="0"/>
              </a:srgbClr>
            </a:solidFill>
            <a:prstDash val="solid"/>
          </a:ln>
        </p:spPr>
        <p:txBody>
          <a:bodyPr/>
          <a:lstStyle/>
          <a:p>
            <a:endParaRPr lang="zh-CN" altLang="en-US"/>
          </a:p>
        </p:txBody>
      </p:sp>
      <p:sp>
        <p:nvSpPr>
          <p:cNvPr id="12" name="Text 10"/>
          <p:cNvSpPr/>
          <p:nvPr/>
        </p:nvSpPr>
        <p:spPr>
          <a:xfrm>
            <a:off x="901879" y="4084579"/>
            <a:ext cx="3441564" cy="238125"/>
          </a:xfrm>
          <a:prstGeom prst="rect">
            <a:avLst/>
          </a:prstGeom>
          <a:noFill/>
          <a:ln/>
        </p:spPr>
        <p:txBody>
          <a:bodyPr wrap="square" lIns="0" tIns="0" rIns="0" bIns="0" rtlCol="0" anchor="t"/>
          <a:lstStyle/>
          <a:p>
            <a:pPr marL="0" indent="0" algn="l">
              <a:buNone/>
            </a:pPr>
            <a:r>
              <a:rPr lang="en-US" sz="1350" dirty="0">
                <a:solidFill>
                  <a:srgbClr val="1E3A5F"/>
                </a:solidFill>
                <a:latin typeface="Helvetica Neue" pitchFamily="34" charset="0"/>
                <a:ea typeface="Helvetica Neue" pitchFamily="34" charset="-122"/>
                <a:cs typeface="Helvetica Neue" pitchFamily="34" charset="-120"/>
              </a:rPr>
              <a:t>User：我刚才说我叫什么？</a:t>
            </a:r>
            <a:endParaRPr lang="en-US" sz="1350" dirty="0"/>
          </a:p>
        </p:txBody>
      </p:sp>
      <p:grpSp>
        <p:nvGrpSpPr>
          <p:cNvPr id="24" name="组合 23">
            <a:extLst>
              <a:ext uri="{FF2B5EF4-FFF2-40B4-BE49-F238E27FC236}">
                <a16:creationId xmlns:a16="http://schemas.microsoft.com/office/drawing/2014/main" id="{31DA5C46-79B9-2FF5-E110-32F34C755848}"/>
              </a:ext>
            </a:extLst>
          </p:cNvPr>
          <p:cNvGrpSpPr/>
          <p:nvPr/>
        </p:nvGrpSpPr>
        <p:grpSpPr>
          <a:xfrm>
            <a:off x="552436" y="5695950"/>
            <a:ext cx="10762981" cy="609600"/>
            <a:chOff x="552436" y="5695950"/>
            <a:chExt cx="10762981" cy="609600"/>
          </a:xfrm>
        </p:grpSpPr>
        <p:sp>
          <p:nvSpPr>
            <p:cNvPr id="17" name="Shape 15"/>
            <p:cNvSpPr/>
            <p:nvPr/>
          </p:nvSpPr>
          <p:spPr>
            <a:xfrm>
              <a:off x="552436" y="5695950"/>
              <a:ext cx="10762981" cy="609600"/>
            </a:xfrm>
            <a:prstGeom prst="rect">
              <a:avLst/>
            </a:prstGeom>
            <a:solidFill>
              <a:srgbClr val="10233C"/>
            </a:solidFill>
            <a:ln w="12700">
              <a:solidFill>
                <a:srgbClr val="FFFFFF">
                  <a:alpha val="0"/>
                </a:srgbClr>
              </a:solidFill>
              <a:prstDash val="solid"/>
            </a:ln>
          </p:spPr>
          <p:txBody>
            <a:bodyPr/>
            <a:lstStyle/>
            <a:p>
              <a:endParaRPr lang="zh-CN" altLang="en-US"/>
            </a:p>
          </p:txBody>
        </p:sp>
        <p:sp>
          <p:nvSpPr>
            <p:cNvPr id="18" name="Text 16"/>
            <p:cNvSpPr/>
            <p:nvPr/>
          </p:nvSpPr>
          <p:spPr>
            <a:xfrm>
              <a:off x="752456" y="5857875"/>
              <a:ext cx="10362941" cy="285750"/>
            </a:xfrm>
            <a:prstGeom prst="rect">
              <a:avLst/>
            </a:prstGeom>
            <a:noFill/>
            <a:ln/>
          </p:spPr>
          <p:txBody>
            <a:bodyPr wrap="square" lIns="0" tIns="0" rIns="0" bIns="0" rtlCol="0" anchor="t"/>
            <a:lstStyle/>
            <a:p>
              <a:pPr marL="0" indent="0" algn="l">
                <a:buNone/>
              </a:pPr>
              <a:r>
                <a:rPr lang="en-US" sz="1600" b="1" dirty="0">
                  <a:solidFill>
                    <a:srgbClr val="FFFFFF"/>
                  </a:solidFill>
                  <a:latin typeface="Helvetica Neue" pitchFamily="34" charset="0"/>
                  <a:ea typeface="Helvetica Neue" pitchFamily="34" charset="-122"/>
                  <a:cs typeface="Helvetica Neue" pitchFamily="34" charset="-120"/>
                </a:rPr>
                <a:t>只发送最后一句问题是不够的；多轮对话的第一原理是“程序携带上下文”。</a:t>
              </a:r>
              <a:endParaRPr lang="en-US" sz="1600" dirty="0"/>
            </a:p>
          </p:txBody>
        </p:sp>
      </p:grpSp>
      <p:sp>
        <p:nvSpPr>
          <p:cNvPr id="19" name="Text 17"/>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09 / 26</a:t>
            </a:r>
            <a:endParaRPr lang="en-US" sz="1000" dirty="0"/>
          </a:p>
        </p:txBody>
      </p:sp>
      <p:sp>
        <p:nvSpPr>
          <p:cNvPr id="20" name="右箭头 19">
            <a:extLst>
              <a:ext uri="{FF2B5EF4-FFF2-40B4-BE49-F238E27FC236}">
                <a16:creationId xmlns:a16="http://schemas.microsoft.com/office/drawing/2014/main" id="{F51B6984-9AAF-019E-DCCB-D0B71AE2BACD}"/>
              </a:ext>
            </a:extLst>
          </p:cNvPr>
          <p:cNvSpPr/>
          <p:nvPr/>
        </p:nvSpPr>
        <p:spPr>
          <a:xfrm rot="20581876">
            <a:off x="5078318" y="2896401"/>
            <a:ext cx="702022" cy="6555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Shape 12">
            <a:extLst>
              <a:ext uri="{FF2B5EF4-FFF2-40B4-BE49-F238E27FC236}">
                <a16:creationId xmlns:a16="http://schemas.microsoft.com/office/drawing/2014/main" id="{14CFE229-C962-DDCE-2AB7-FD7DF3661413}"/>
              </a:ext>
            </a:extLst>
          </p:cNvPr>
          <p:cNvSpPr/>
          <p:nvPr/>
        </p:nvSpPr>
        <p:spPr>
          <a:xfrm>
            <a:off x="6153274" y="1718744"/>
            <a:ext cx="5206919" cy="1743075"/>
          </a:xfrm>
          <a:prstGeom prst="rect">
            <a:avLst/>
          </a:prstGeom>
          <a:solidFill>
            <a:srgbClr val="FFFFFF"/>
          </a:solidFill>
          <a:ln w="9525">
            <a:solidFill>
              <a:srgbClr val="DBE3EA"/>
            </a:solidFill>
            <a:prstDash val="solid"/>
          </a:ln>
        </p:spPr>
        <p:txBody>
          <a:bodyPr/>
          <a:lstStyle/>
          <a:p>
            <a:endParaRPr lang="zh-CN" altLang="en-US"/>
          </a:p>
        </p:txBody>
      </p:sp>
      <p:sp>
        <p:nvSpPr>
          <p:cNvPr id="22" name="Text 13">
            <a:extLst>
              <a:ext uri="{FF2B5EF4-FFF2-40B4-BE49-F238E27FC236}">
                <a16:creationId xmlns:a16="http://schemas.microsoft.com/office/drawing/2014/main" id="{CD0B791B-00BB-74F8-CA89-831850C6456A}"/>
              </a:ext>
            </a:extLst>
          </p:cNvPr>
          <p:cNvSpPr/>
          <p:nvPr/>
        </p:nvSpPr>
        <p:spPr>
          <a:xfrm>
            <a:off x="6372343" y="1937818"/>
            <a:ext cx="4768780"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发给 LLM 的 messages</a:t>
            </a:r>
            <a:endParaRPr lang="en-US" sz="1800" dirty="0"/>
          </a:p>
        </p:txBody>
      </p:sp>
      <p:sp>
        <p:nvSpPr>
          <p:cNvPr id="23" name="Text 14">
            <a:extLst>
              <a:ext uri="{FF2B5EF4-FFF2-40B4-BE49-F238E27FC236}">
                <a16:creationId xmlns:a16="http://schemas.microsoft.com/office/drawing/2014/main" id="{DAFC25FA-DF09-D3A2-2C76-3123349B01C0}"/>
              </a:ext>
            </a:extLst>
          </p:cNvPr>
          <p:cNvSpPr/>
          <p:nvPr/>
        </p:nvSpPr>
        <p:spPr>
          <a:xfrm>
            <a:off x="6372343" y="2252143"/>
            <a:ext cx="4768780" cy="990600"/>
          </a:xfrm>
          <a:prstGeom prst="rect">
            <a:avLst/>
          </a:prstGeom>
          <a:noFill/>
          <a:ln/>
        </p:spPr>
        <p:txBody>
          <a:bodyPr wrap="square" lIns="0" tIns="0" rIns="0" bIns="0" rtlCol="0" anchor="t"/>
          <a:lstStyle/>
          <a:p>
            <a:pPr marL="0" indent="0" algn="l">
              <a:buNone/>
            </a:pPr>
            <a:r>
              <a:rPr lang="en-US" sz="1350" dirty="0">
                <a:solidFill>
                  <a:srgbClr val="334155"/>
                </a:solidFill>
                <a:latin typeface="Consolas" pitchFamily="34" charset="0"/>
                <a:ea typeface="Consolas" pitchFamily="34" charset="-122"/>
                <a:cs typeface="Consolas" pitchFamily="34" charset="-120"/>
              </a:rPr>
              <a:t>[system: </a:t>
            </a:r>
            <a:r>
              <a:rPr lang="en-US" sz="1350" dirty="0" err="1">
                <a:solidFill>
                  <a:srgbClr val="334155"/>
                </a:solidFill>
                <a:latin typeface="Consolas" pitchFamily="34" charset="0"/>
                <a:ea typeface="Consolas" pitchFamily="34" charset="-122"/>
                <a:cs typeface="Consolas" pitchFamily="34" charset="-120"/>
              </a:rPr>
              <a:t>SJTUClaw的一些说明</a:t>
            </a:r>
            <a:r>
              <a:rPr lang="en-US" altLang="zh-CN" sz="1350" dirty="0">
                <a:solidFill>
                  <a:srgbClr val="334155"/>
                </a:solidFill>
                <a:latin typeface="Consolas" pitchFamily="34" charset="0"/>
                <a:ea typeface="Consolas" pitchFamily="34" charset="-122"/>
                <a:cs typeface="Consolas" pitchFamily="34" charset="-120"/>
              </a:rPr>
              <a:t>……]
[</a:t>
            </a:r>
            <a:r>
              <a:rPr lang="en-US" sz="1350" dirty="0">
                <a:solidFill>
                  <a:srgbClr val="334155"/>
                </a:solidFill>
                <a:latin typeface="Consolas" pitchFamily="34" charset="0"/>
                <a:ea typeface="Consolas" pitchFamily="34" charset="-122"/>
                <a:cs typeface="Consolas" pitchFamily="34" charset="-120"/>
              </a:rPr>
              <a:t>user: </a:t>
            </a:r>
            <a:r>
              <a:rPr lang="zh-CN" altLang="en-US" sz="1350" dirty="0">
                <a:solidFill>
                  <a:srgbClr val="334155"/>
                </a:solidFill>
                <a:latin typeface="Consolas" pitchFamily="34" charset="0"/>
                <a:ea typeface="Consolas" pitchFamily="34" charset="-122"/>
                <a:cs typeface="Consolas" pitchFamily="34" charset="-120"/>
              </a:rPr>
              <a:t>我刚才说我叫什么？</a:t>
            </a:r>
            <a:r>
              <a:rPr lang="en-US" altLang="zh-CN" sz="1350" dirty="0">
                <a:solidFill>
                  <a:srgbClr val="334155"/>
                </a:solidFill>
                <a:latin typeface="Consolas" pitchFamily="34" charset="0"/>
                <a:ea typeface="Consolas" pitchFamily="34" charset="-122"/>
                <a:cs typeface="Consolas" pitchFamily="34" charset="-120"/>
              </a:rPr>
              <a:t>]</a:t>
            </a:r>
            <a:endParaRPr lang="en-US" sz="1350" dirty="0"/>
          </a:p>
        </p:txBody>
      </p:sp>
      <p:pic>
        <p:nvPicPr>
          <p:cNvPr id="1026" name="Picture 2">
            <a:extLst>
              <a:ext uri="{FF2B5EF4-FFF2-40B4-BE49-F238E27FC236}">
                <a16:creationId xmlns:a16="http://schemas.microsoft.com/office/drawing/2014/main" id="{84602253-E216-2E1A-92EF-091AD93F6E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13769">
            <a:off x="9568443" y="1772684"/>
            <a:ext cx="1450879" cy="1460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59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F31C9-DF74-81FF-D6EB-525BCECC5AD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FCD1C5A-4484-04C9-A496-B4E15992F374}"/>
              </a:ext>
            </a:extLst>
          </p:cNvPr>
          <p:cNvSpPr/>
          <p:nvPr/>
        </p:nvSpPr>
        <p:spPr>
          <a:xfrm>
            <a:off x="400040" y="609600"/>
            <a:ext cx="9905752"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多轮对话</a:t>
            </a:r>
            <a:r>
              <a:rPr lang="zh-CN" altLang="en-US" sz="2950" b="1" dirty="0">
                <a:solidFill>
                  <a:srgbClr val="111827"/>
                </a:solidFill>
                <a:latin typeface="Helvetica Neue" pitchFamily="34" charset="0"/>
                <a:ea typeface="Helvetica Neue" pitchFamily="34" charset="-122"/>
                <a:cs typeface="Helvetica Neue" pitchFamily="34" charset="-120"/>
              </a:rPr>
              <a:t>的基本思想：</a:t>
            </a:r>
            <a:r>
              <a:rPr lang="en-US" altLang="zh-CN" sz="2950" b="1" dirty="0">
                <a:solidFill>
                  <a:srgbClr val="111827"/>
                </a:solidFill>
                <a:latin typeface="Helvetica Neue" pitchFamily="34" charset="0"/>
                <a:ea typeface="Helvetica Neue" pitchFamily="34" charset="-122"/>
                <a:cs typeface="Helvetica Neue" pitchFamily="34" charset="-120"/>
              </a:rPr>
              <a:t>Agent</a:t>
            </a:r>
            <a:r>
              <a:rPr lang="zh-CN" altLang="en-US" sz="3200" dirty="0"/>
              <a:t>在每一轮请求中主动携带当前会话历史，而不是依赖模型自动记住历史</a:t>
            </a:r>
            <a:endParaRPr lang="en-US" sz="2950" dirty="0"/>
          </a:p>
        </p:txBody>
      </p:sp>
      <p:sp>
        <p:nvSpPr>
          <p:cNvPr id="5" name="Shape 3">
            <a:extLst>
              <a:ext uri="{FF2B5EF4-FFF2-40B4-BE49-F238E27FC236}">
                <a16:creationId xmlns:a16="http://schemas.microsoft.com/office/drawing/2014/main" id="{BAE469C9-F648-3904-FC54-F32AD2C0862B}"/>
              </a:ext>
            </a:extLst>
          </p:cNvPr>
          <p:cNvSpPr/>
          <p:nvPr/>
        </p:nvSpPr>
        <p:spPr>
          <a:xfrm>
            <a:off x="539938" y="2274829"/>
            <a:ext cx="4165446" cy="2495550"/>
          </a:xfrm>
          <a:prstGeom prst="rect">
            <a:avLst/>
          </a:prstGeom>
          <a:solidFill>
            <a:srgbClr val="FFFFFF"/>
          </a:solidFill>
          <a:ln w="9525">
            <a:solidFill>
              <a:srgbClr val="DBE3EA"/>
            </a:solidFill>
            <a:prstDash val="solid"/>
          </a:ln>
        </p:spPr>
        <p:txBody>
          <a:bodyPr/>
          <a:lstStyle/>
          <a:p>
            <a:endParaRPr lang="zh-CN" altLang="en-US"/>
          </a:p>
        </p:txBody>
      </p:sp>
      <p:sp>
        <p:nvSpPr>
          <p:cNvPr id="6" name="Text 4">
            <a:extLst>
              <a:ext uri="{FF2B5EF4-FFF2-40B4-BE49-F238E27FC236}">
                <a16:creationId xmlns:a16="http://schemas.microsoft.com/office/drawing/2014/main" id="{DFBB8F39-276B-D25C-F814-D7D5D8277D2A}"/>
              </a:ext>
            </a:extLst>
          </p:cNvPr>
          <p:cNvSpPr/>
          <p:nvPr/>
        </p:nvSpPr>
        <p:spPr>
          <a:xfrm>
            <a:off x="759008" y="2493904"/>
            <a:ext cx="3727307"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用户看到的对话</a:t>
            </a:r>
            <a:endParaRPr lang="en-US" sz="1800" dirty="0"/>
          </a:p>
        </p:txBody>
      </p:sp>
      <p:sp>
        <p:nvSpPr>
          <p:cNvPr id="7" name="Shape 5">
            <a:extLst>
              <a:ext uri="{FF2B5EF4-FFF2-40B4-BE49-F238E27FC236}">
                <a16:creationId xmlns:a16="http://schemas.microsoft.com/office/drawing/2014/main" id="{D8D88D80-15DF-FF22-554C-FF6E35483AA3}"/>
              </a:ext>
            </a:extLst>
          </p:cNvPr>
          <p:cNvSpPr/>
          <p:nvPr/>
        </p:nvSpPr>
        <p:spPr>
          <a:xfrm>
            <a:off x="759008" y="2808229"/>
            <a:ext cx="3727307" cy="466725"/>
          </a:xfrm>
          <a:prstGeom prst="rect">
            <a:avLst/>
          </a:prstGeom>
          <a:solidFill>
            <a:srgbClr val="EAF2FB"/>
          </a:solidFill>
          <a:ln w="12700">
            <a:solidFill>
              <a:srgbClr val="FFFFFF">
                <a:alpha val="0"/>
              </a:srgbClr>
            </a:solidFill>
            <a:prstDash val="solid"/>
          </a:ln>
        </p:spPr>
        <p:txBody>
          <a:bodyPr/>
          <a:lstStyle/>
          <a:p>
            <a:endParaRPr lang="zh-CN" altLang="en-US"/>
          </a:p>
        </p:txBody>
      </p:sp>
      <p:sp>
        <p:nvSpPr>
          <p:cNvPr id="8" name="Text 6">
            <a:extLst>
              <a:ext uri="{FF2B5EF4-FFF2-40B4-BE49-F238E27FC236}">
                <a16:creationId xmlns:a16="http://schemas.microsoft.com/office/drawing/2014/main" id="{F11B1EF0-A69E-8BCB-1EF3-6EC85B2823A9}"/>
              </a:ext>
            </a:extLst>
          </p:cNvPr>
          <p:cNvSpPr/>
          <p:nvPr/>
        </p:nvSpPr>
        <p:spPr>
          <a:xfrm>
            <a:off x="901879" y="2922529"/>
            <a:ext cx="3441564" cy="238125"/>
          </a:xfrm>
          <a:prstGeom prst="rect">
            <a:avLst/>
          </a:prstGeom>
          <a:noFill/>
          <a:ln/>
        </p:spPr>
        <p:txBody>
          <a:bodyPr wrap="square" lIns="0" tIns="0" rIns="0" bIns="0" rtlCol="0" anchor="t"/>
          <a:lstStyle/>
          <a:p>
            <a:pPr marL="0" indent="0" algn="l">
              <a:buNone/>
            </a:pPr>
            <a:r>
              <a:rPr lang="en-US" sz="1350" dirty="0">
                <a:solidFill>
                  <a:srgbClr val="1E3A5F"/>
                </a:solidFill>
                <a:latin typeface="Helvetica Neue" pitchFamily="34" charset="0"/>
                <a:ea typeface="Helvetica Neue" pitchFamily="34" charset="-122"/>
                <a:cs typeface="Helvetica Neue" pitchFamily="34" charset="-120"/>
              </a:rPr>
              <a:t>User：你好，我叫小明。</a:t>
            </a:r>
            <a:endParaRPr lang="en-US" sz="1350" dirty="0"/>
          </a:p>
        </p:txBody>
      </p:sp>
      <p:sp>
        <p:nvSpPr>
          <p:cNvPr id="9" name="Shape 7">
            <a:extLst>
              <a:ext uri="{FF2B5EF4-FFF2-40B4-BE49-F238E27FC236}">
                <a16:creationId xmlns:a16="http://schemas.microsoft.com/office/drawing/2014/main" id="{D8106A68-1FDB-A024-CDAF-5BB85A3154A6}"/>
              </a:ext>
            </a:extLst>
          </p:cNvPr>
          <p:cNvSpPr/>
          <p:nvPr/>
        </p:nvSpPr>
        <p:spPr>
          <a:xfrm>
            <a:off x="759008" y="3389254"/>
            <a:ext cx="3727307" cy="466725"/>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10" name="Text 8">
            <a:extLst>
              <a:ext uri="{FF2B5EF4-FFF2-40B4-BE49-F238E27FC236}">
                <a16:creationId xmlns:a16="http://schemas.microsoft.com/office/drawing/2014/main" id="{53E8BCA6-6A11-6BBE-581D-9A1A716B1801}"/>
              </a:ext>
            </a:extLst>
          </p:cNvPr>
          <p:cNvSpPr/>
          <p:nvPr/>
        </p:nvSpPr>
        <p:spPr>
          <a:xfrm>
            <a:off x="901879" y="3503554"/>
            <a:ext cx="3441564" cy="238125"/>
          </a:xfrm>
          <a:prstGeom prst="rect">
            <a:avLst/>
          </a:prstGeom>
          <a:noFill/>
          <a:ln/>
        </p:spPr>
        <p:txBody>
          <a:bodyPr wrap="square" lIns="0" tIns="0" rIns="0" bIns="0" rtlCol="0" anchor="t"/>
          <a:lstStyle/>
          <a:p>
            <a:pPr marL="0" indent="0" algn="l">
              <a:buNone/>
            </a:pPr>
            <a:r>
              <a:rPr lang="en-US" sz="1350" dirty="0">
                <a:solidFill>
                  <a:srgbClr val="134E4A"/>
                </a:solidFill>
                <a:latin typeface="Helvetica Neue" pitchFamily="34" charset="0"/>
                <a:ea typeface="Helvetica Neue" pitchFamily="34" charset="-122"/>
                <a:cs typeface="Helvetica Neue" pitchFamily="34" charset="-120"/>
              </a:rPr>
              <a:t>Assistant：你好，小明。</a:t>
            </a:r>
            <a:endParaRPr lang="en-US" sz="1350" dirty="0"/>
          </a:p>
        </p:txBody>
      </p:sp>
      <p:sp>
        <p:nvSpPr>
          <p:cNvPr id="11" name="Shape 9">
            <a:extLst>
              <a:ext uri="{FF2B5EF4-FFF2-40B4-BE49-F238E27FC236}">
                <a16:creationId xmlns:a16="http://schemas.microsoft.com/office/drawing/2014/main" id="{8BB18624-3BE7-7C00-6639-0216256A6652}"/>
              </a:ext>
            </a:extLst>
          </p:cNvPr>
          <p:cNvSpPr/>
          <p:nvPr/>
        </p:nvSpPr>
        <p:spPr>
          <a:xfrm>
            <a:off x="759008" y="3970279"/>
            <a:ext cx="3727307" cy="466725"/>
          </a:xfrm>
          <a:prstGeom prst="rect">
            <a:avLst/>
          </a:prstGeom>
          <a:solidFill>
            <a:srgbClr val="EAF2FB"/>
          </a:solidFill>
          <a:ln w="12700">
            <a:solidFill>
              <a:srgbClr val="FFFFFF">
                <a:alpha val="0"/>
              </a:srgbClr>
            </a:solidFill>
            <a:prstDash val="solid"/>
          </a:ln>
        </p:spPr>
        <p:txBody>
          <a:bodyPr/>
          <a:lstStyle/>
          <a:p>
            <a:endParaRPr lang="zh-CN" altLang="en-US"/>
          </a:p>
        </p:txBody>
      </p:sp>
      <p:sp>
        <p:nvSpPr>
          <p:cNvPr id="12" name="Text 10">
            <a:extLst>
              <a:ext uri="{FF2B5EF4-FFF2-40B4-BE49-F238E27FC236}">
                <a16:creationId xmlns:a16="http://schemas.microsoft.com/office/drawing/2014/main" id="{840739B2-77DC-F309-A6D8-219F41BE24BB}"/>
              </a:ext>
            </a:extLst>
          </p:cNvPr>
          <p:cNvSpPr/>
          <p:nvPr/>
        </p:nvSpPr>
        <p:spPr>
          <a:xfrm>
            <a:off x="901879" y="4084579"/>
            <a:ext cx="3441564" cy="238125"/>
          </a:xfrm>
          <a:prstGeom prst="rect">
            <a:avLst/>
          </a:prstGeom>
          <a:noFill/>
          <a:ln/>
        </p:spPr>
        <p:txBody>
          <a:bodyPr wrap="square" lIns="0" tIns="0" rIns="0" bIns="0" rtlCol="0" anchor="t"/>
          <a:lstStyle/>
          <a:p>
            <a:pPr marL="0" indent="0" algn="l">
              <a:buNone/>
            </a:pPr>
            <a:r>
              <a:rPr lang="en-US" sz="1350" dirty="0">
                <a:solidFill>
                  <a:srgbClr val="1E3A5F"/>
                </a:solidFill>
                <a:latin typeface="Helvetica Neue" pitchFamily="34" charset="0"/>
                <a:ea typeface="Helvetica Neue" pitchFamily="34" charset="-122"/>
                <a:cs typeface="Helvetica Neue" pitchFamily="34" charset="-120"/>
              </a:rPr>
              <a:t>User：我刚才说我叫什么？</a:t>
            </a:r>
            <a:endParaRPr lang="en-US" sz="1350" dirty="0"/>
          </a:p>
        </p:txBody>
      </p:sp>
      <p:sp>
        <p:nvSpPr>
          <p:cNvPr id="14" name="Shape 12">
            <a:extLst>
              <a:ext uri="{FF2B5EF4-FFF2-40B4-BE49-F238E27FC236}">
                <a16:creationId xmlns:a16="http://schemas.microsoft.com/office/drawing/2014/main" id="{D48BAECA-6802-201F-37A6-ED8A09B32895}"/>
              </a:ext>
            </a:extLst>
          </p:cNvPr>
          <p:cNvSpPr/>
          <p:nvPr/>
        </p:nvSpPr>
        <p:spPr>
          <a:xfrm>
            <a:off x="6170260" y="3711188"/>
            <a:ext cx="5206919" cy="1743075"/>
          </a:xfrm>
          <a:prstGeom prst="rect">
            <a:avLst/>
          </a:prstGeom>
          <a:solidFill>
            <a:srgbClr val="FFFFFF"/>
          </a:solidFill>
          <a:ln w="9525">
            <a:solidFill>
              <a:srgbClr val="DBE3EA"/>
            </a:solidFill>
            <a:prstDash val="solid"/>
          </a:ln>
        </p:spPr>
        <p:txBody>
          <a:bodyPr/>
          <a:lstStyle/>
          <a:p>
            <a:endParaRPr lang="zh-CN" altLang="en-US"/>
          </a:p>
        </p:txBody>
      </p:sp>
      <p:sp>
        <p:nvSpPr>
          <p:cNvPr id="15" name="Text 13">
            <a:extLst>
              <a:ext uri="{FF2B5EF4-FFF2-40B4-BE49-F238E27FC236}">
                <a16:creationId xmlns:a16="http://schemas.microsoft.com/office/drawing/2014/main" id="{2B98725C-590D-BE5E-70C3-FBFA741050A6}"/>
              </a:ext>
            </a:extLst>
          </p:cNvPr>
          <p:cNvSpPr/>
          <p:nvPr/>
        </p:nvSpPr>
        <p:spPr>
          <a:xfrm>
            <a:off x="6389329" y="3930262"/>
            <a:ext cx="4768780"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发给 LLM 的 messages</a:t>
            </a:r>
            <a:endParaRPr lang="en-US" sz="1800" dirty="0"/>
          </a:p>
        </p:txBody>
      </p:sp>
      <p:sp>
        <p:nvSpPr>
          <p:cNvPr id="16" name="Text 14">
            <a:extLst>
              <a:ext uri="{FF2B5EF4-FFF2-40B4-BE49-F238E27FC236}">
                <a16:creationId xmlns:a16="http://schemas.microsoft.com/office/drawing/2014/main" id="{2A40067A-4F17-856E-A030-69C38CE12F84}"/>
              </a:ext>
            </a:extLst>
          </p:cNvPr>
          <p:cNvSpPr/>
          <p:nvPr/>
        </p:nvSpPr>
        <p:spPr>
          <a:xfrm>
            <a:off x="6389329" y="4244587"/>
            <a:ext cx="4768780" cy="990600"/>
          </a:xfrm>
          <a:prstGeom prst="rect">
            <a:avLst/>
          </a:prstGeom>
          <a:noFill/>
          <a:ln/>
        </p:spPr>
        <p:txBody>
          <a:bodyPr wrap="square" lIns="0" tIns="0" rIns="0" bIns="0" rtlCol="0" anchor="t"/>
          <a:lstStyle/>
          <a:p>
            <a:pPr marL="0" indent="0" algn="l">
              <a:buNone/>
            </a:pPr>
            <a:r>
              <a:rPr lang="en-US" sz="1350" dirty="0">
                <a:solidFill>
                  <a:srgbClr val="334155"/>
                </a:solidFill>
                <a:latin typeface="Consolas" pitchFamily="34" charset="0"/>
                <a:ea typeface="Consolas" pitchFamily="34" charset="-122"/>
                <a:cs typeface="Consolas" pitchFamily="34" charset="-120"/>
              </a:rPr>
              <a:t>[system: </a:t>
            </a:r>
            <a:r>
              <a:rPr lang="en-US" sz="1350" dirty="0" err="1">
                <a:solidFill>
                  <a:srgbClr val="334155"/>
                </a:solidFill>
                <a:latin typeface="Consolas" pitchFamily="34" charset="0"/>
                <a:ea typeface="Consolas" pitchFamily="34" charset="-122"/>
                <a:cs typeface="Consolas" pitchFamily="34" charset="-120"/>
              </a:rPr>
              <a:t>SJTUClaw的一些说明</a:t>
            </a:r>
            <a:r>
              <a:rPr lang="en-US" altLang="zh-CN" sz="1350" dirty="0">
                <a:solidFill>
                  <a:srgbClr val="334155"/>
                </a:solidFill>
                <a:latin typeface="Consolas" pitchFamily="34" charset="0"/>
                <a:ea typeface="Consolas" pitchFamily="34" charset="-122"/>
                <a:cs typeface="Consolas" pitchFamily="34" charset="-120"/>
              </a:rPr>
              <a:t>……]
[</a:t>
            </a:r>
            <a:r>
              <a:rPr lang="en-US" sz="1350" dirty="0">
                <a:solidFill>
                  <a:srgbClr val="334155"/>
                </a:solidFill>
                <a:latin typeface="Consolas" pitchFamily="34" charset="0"/>
                <a:ea typeface="Consolas" pitchFamily="34" charset="-122"/>
                <a:cs typeface="Consolas" pitchFamily="34" charset="-120"/>
              </a:rPr>
              <a:t>user: </a:t>
            </a:r>
            <a:r>
              <a:rPr lang="zh-CN" altLang="en-US" sz="1350" dirty="0">
                <a:solidFill>
                  <a:srgbClr val="334155"/>
                </a:solidFill>
                <a:latin typeface="Consolas" pitchFamily="34" charset="0"/>
                <a:ea typeface="Consolas" pitchFamily="34" charset="-122"/>
                <a:cs typeface="Consolas" pitchFamily="34" charset="-120"/>
              </a:rPr>
              <a:t>你好，我叫小明。</a:t>
            </a:r>
            <a:r>
              <a:rPr lang="en-US" altLang="zh-CN" sz="1350" dirty="0">
                <a:solidFill>
                  <a:srgbClr val="334155"/>
                </a:solidFill>
                <a:latin typeface="Consolas" pitchFamily="34" charset="0"/>
                <a:ea typeface="Consolas" pitchFamily="34" charset="-122"/>
                <a:cs typeface="Consolas" pitchFamily="34" charset="-120"/>
              </a:rPr>
              <a:t>]
[</a:t>
            </a:r>
            <a:r>
              <a:rPr lang="en-US" sz="1350" dirty="0">
                <a:solidFill>
                  <a:srgbClr val="334155"/>
                </a:solidFill>
                <a:latin typeface="Consolas" pitchFamily="34" charset="0"/>
                <a:ea typeface="Consolas" pitchFamily="34" charset="-122"/>
                <a:cs typeface="Consolas" pitchFamily="34" charset="-120"/>
              </a:rPr>
              <a:t>assistant: </a:t>
            </a:r>
            <a:r>
              <a:rPr lang="zh-CN" altLang="en-US" sz="1350" dirty="0">
                <a:solidFill>
                  <a:srgbClr val="334155"/>
                </a:solidFill>
                <a:latin typeface="Consolas" pitchFamily="34" charset="0"/>
                <a:ea typeface="Consolas" pitchFamily="34" charset="-122"/>
                <a:cs typeface="Consolas" pitchFamily="34" charset="-120"/>
              </a:rPr>
              <a:t>你好，小明。</a:t>
            </a:r>
            <a:r>
              <a:rPr lang="en-US" altLang="zh-CN" sz="1350" dirty="0">
                <a:solidFill>
                  <a:srgbClr val="334155"/>
                </a:solidFill>
                <a:latin typeface="Consolas" pitchFamily="34" charset="0"/>
                <a:ea typeface="Consolas" pitchFamily="34" charset="-122"/>
                <a:cs typeface="Consolas" pitchFamily="34" charset="-120"/>
              </a:rPr>
              <a:t>]
[</a:t>
            </a:r>
            <a:r>
              <a:rPr lang="en-US" sz="1350" dirty="0">
                <a:solidFill>
                  <a:srgbClr val="334155"/>
                </a:solidFill>
                <a:latin typeface="Consolas" pitchFamily="34" charset="0"/>
                <a:ea typeface="Consolas" pitchFamily="34" charset="-122"/>
                <a:cs typeface="Consolas" pitchFamily="34" charset="-120"/>
              </a:rPr>
              <a:t>user: </a:t>
            </a:r>
            <a:r>
              <a:rPr lang="zh-CN" altLang="en-US" sz="1350" dirty="0">
                <a:solidFill>
                  <a:srgbClr val="334155"/>
                </a:solidFill>
                <a:latin typeface="Consolas" pitchFamily="34" charset="0"/>
                <a:ea typeface="Consolas" pitchFamily="34" charset="-122"/>
                <a:cs typeface="Consolas" pitchFamily="34" charset="-120"/>
              </a:rPr>
              <a:t>我刚才说我叫什么？</a:t>
            </a:r>
            <a:r>
              <a:rPr lang="en-US" altLang="zh-CN" sz="1350" dirty="0">
                <a:solidFill>
                  <a:srgbClr val="334155"/>
                </a:solidFill>
                <a:latin typeface="Consolas" pitchFamily="34" charset="0"/>
                <a:ea typeface="Consolas" pitchFamily="34" charset="-122"/>
                <a:cs typeface="Consolas" pitchFamily="34" charset="-120"/>
              </a:rPr>
              <a:t>]</a:t>
            </a:r>
            <a:endParaRPr lang="en-US" sz="1350" dirty="0"/>
          </a:p>
        </p:txBody>
      </p:sp>
      <p:sp>
        <p:nvSpPr>
          <p:cNvPr id="17" name="Shape 15">
            <a:extLst>
              <a:ext uri="{FF2B5EF4-FFF2-40B4-BE49-F238E27FC236}">
                <a16:creationId xmlns:a16="http://schemas.microsoft.com/office/drawing/2014/main" id="{15166241-83D7-6507-2A0F-942CBCE626A1}"/>
              </a:ext>
            </a:extLst>
          </p:cNvPr>
          <p:cNvSpPr/>
          <p:nvPr/>
        </p:nvSpPr>
        <p:spPr>
          <a:xfrm>
            <a:off x="552436" y="5695950"/>
            <a:ext cx="10762981" cy="609600"/>
          </a:xfrm>
          <a:prstGeom prst="rect">
            <a:avLst/>
          </a:prstGeom>
          <a:solidFill>
            <a:srgbClr val="10233C"/>
          </a:solidFill>
          <a:ln w="12700">
            <a:solidFill>
              <a:srgbClr val="FFFFFF">
                <a:alpha val="0"/>
              </a:srgbClr>
            </a:solidFill>
            <a:prstDash val="solid"/>
          </a:ln>
        </p:spPr>
        <p:txBody>
          <a:bodyPr/>
          <a:lstStyle/>
          <a:p>
            <a:endParaRPr lang="zh-CN" altLang="en-US"/>
          </a:p>
        </p:txBody>
      </p:sp>
      <p:sp>
        <p:nvSpPr>
          <p:cNvPr id="18" name="Text 16">
            <a:extLst>
              <a:ext uri="{FF2B5EF4-FFF2-40B4-BE49-F238E27FC236}">
                <a16:creationId xmlns:a16="http://schemas.microsoft.com/office/drawing/2014/main" id="{EAFDD4DB-CF1C-C016-446B-44AD605E21CE}"/>
              </a:ext>
            </a:extLst>
          </p:cNvPr>
          <p:cNvSpPr/>
          <p:nvPr/>
        </p:nvSpPr>
        <p:spPr>
          <a:xfrm>
            <a:off x="752456" y="5857875"/>
            <a:ext cx="10362941" cy="285750"/>
          </a:xfrm>
          <a:prstGeom prst="rect">
            <a:avLst/>
          </a:prstGeom>
          <a:noFill/>
          <a:ln/>
        </p:spPr>
        <p:txBody>
          <a:bodyPr wrap="square" lIns="0" tIns="0" rIns="0" bIns="0" rtlCol="0" anchor="t"/>
          <a:lstStyle/>
          <a:p>
            <a:pPr marL="0" indent="0" algn="l">
              <a:buNone/>
            </a:pPr>
            <a:r>
              <a:rPr lang="en-US" sz="1600" b="1" dirty="0">
                <a:solidFill>
                  <a:srgbClr val="FFFFFF"/>
                </a:solidFill>
                <a:latin typeface="Helvetica Neue" pitchFamily="34" charset="0"/>
                <a:ea typeface="Helvetica Neue" pitchFamily="34" charset="-122"/>
                <a:cs typeface="Helvetica Neue" pitchFamily="34" charset="-120"/>
              </a:rPr>
              <a:t>只发送最后一句问题是不够的；多轮对话的第一原理是“程序携带上下文”。</a:t>
            </a:r>
            <a:endParaRPr lang="en-US" sz="1600" dirty="0"/>
          </a:p>
        </p:txBody>
      </p:sp>
      <p:sp>
        <p:nvSpPr>
          <p:cNvPr id="19" name="Text 17">
            <a:extLst>
              <a:ext uri="{FF2B5EF4-FFF2-40B4-BE49-F238E27FC236}">
                <a16:creationId xmlns:a16="http://schemas.microsoft.com/office/drawing/2014/main" id="{A986DA85-FC4F-3EB4-2E7A-79BD1331B8DD}"/>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10 / 26</a:t>
            </a:r>
            <a:endParaRPr lang="en-US" sz="1000" dirty="0"/>
          </a:p>
        </p:txBody>
      </p:sp>
      <p:sp>
        <p:nvSpPr>
          <p:cNvPr id="20" name="右箭头 19">
            <a:extLst>
              <a:ext uri="{FF2B5EF4-FFF2-40B4-BE49-F238E27FC236}">
                <a16:creationId xmlns:a16="http://schemas.microsoft.com/office/drawing/2014/main" id="{F0F70E18-58E1-F4EE-4FD4-4FDCB4CF74B7}"/>
              </a:ext>
            </a:extLst>
          </p:cNvPr>
          <p:cNvSpPr/>
          <p:nvPr/>
        </p:nvSpPr>
        <p:spPr>
          <a:xfrm rot="1895813">
            <a:off x="5370020" y="4059601"/>
            <a:ext cx="702022" cy="6555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Shape 12">
            <a:extLst>
              <a:ext uri="{FF2B5EF4-FFF2-40B4-BE49-F238E27FC236}">
                <a16:creationId xmlns:a16="http://schemas.microsoft.com/office/drawing/2014/main" id="{9E796266-1FFD-3EC8-B2FF-42CE74AB9112}"/>
              </a:ext>
            </a:extLst>
          </p:cNvPr>
          <p:cNvSpPr/>
          <p:nvPr/>
        </p:nvSpPr>
        <p:spPr>
          <a:xfrm>
            <a:off x="6153274" y="1718744"/>
            <a:ext cx="5206919" cy="1743075"/>
          </a:xfrm>
          <a:prstGeom prst="rect">
            <a:avLst/>
          </a:prstGeom>
          <a:solidFill>
            <a:srgbClr val="FFFFFF"/>
          </a:solidFill>
          <a:ln w="9525">
            <a:solidFill>
              <a:srgbClr val="DBE3EA"/>
            </a:solidFill>
            <a:prstDash val="solid"/>
          </a:ln>
        </p:spPr>
        <p:txBody>
          <a:bodyPr/>
          <a:lstStyle/>
          <a:p>
            <a:endParaRPr lang="zh-CN" altLang="en-US"/>
          </a:p>
        </p:txBody>
      </p:sp>
      <p:sp>
        <p:nvSpPr>
          <p:cNvPr id="22" name="Text 13">
            <a:extLst>
              <a:ext uri="{FF2B5EF4-FFF2-40B4-BE49-F238E27FC236}">
                <a16:creationId xmlns:a16="http://schemas.microsoft.com/office/drawing/2014/main" id="{504E1854-0087-CF6A-4D66-F8FFCE42F8C7}"/>
              </a:ext>
            </a:extLst>
          </p:cNvPr>
          <p:cNvSpPr/>
          <p:nvPr/>
        </p:nvSpPr>
        <p:spPr>
          <a:xfrm>
            <a:off x="6372343" y="1937818"/>
            <a:ext cx="4768780"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发给 LLM 的 messages</a:t>
            </a:r>
            <a:endParaRPr lang="en-US" sz="1800" dirty="0"/>
          </a:p>
        </p:txBody>
      </p:sp>
      <p:sp>
        <p:nvSpPr>
          <p:cNvPr id="23" name="Text 14">
            <a:extLst>
              <a:ext uri="{FF2B5EF4-FFF2-40B4-BE49-F238E27FC236}">
                <a16:creationId xmlns:a16="http://schemas.microsoft.com/office/drawing/2014/main" id="{61217158-9B31-4C80-4353-162478BC2C8A}"/>
              </a:ext>
            </a:extLst>
          </p:cNvPr>
          <p:cNvSpPr/>
          <p:nvPr/>
        </p:nvSpPr>
        <p:spPr>
          <a:xfrm>
            <a:off x="6372343" y="2252143"/>
            <a:ext cx="4768780" cy="990600"/>
          </a:xfrm>
          <a:prstGeom prst="rect">
            <a:avLst/>
          </a:prstGeom>
          <a:noFill/>
          <a:ln/>
        </p:spPr>
        <p:txBody>
          <a:bodyPr wrap="square" lIns="0" tIns="0" rIns="0" bIns="0" rtlCol="0" anchor="t"/>
          <a:lstStyle/>
          <a:p>
            <a:pPr marL="0" indent="0" algn="l">
              <a:buNone/>
            </a:pPr>
            <a:r>
              <a:rPr lang="en-US" sz="1350" dirty="0">
                <a:solidFill>
                  <a:srgbClr val="334155"/>
                </a:solidFill>
                <a:latin typeface="Consolas" pitchFamily="34" charset="0"/>
                <a:ea typeface="Consolas" pitchFamily="34" charset="-122"/>
                <a:cs typeface="Consolas" pitchFamily="34" charset="-120"/>
              </a:rPr>
              <a:t>[system: </a:t>
            </a:r>
            <a:r>
              <a:rPr lang="en-US" sz="1350" dirty="0" err="1">
                <a:solidFill>
                  <a:srgbClr val="334155"/>
                </a:solidFill>
                <a:latin typeface="Consolas" pitchFamily="34" charset="0"/>
                <a:ea typeface="Consolas" pitchFamily="34" charset="-122"/>
                <a:cs typeface="Consolas" pitchFamily="34" charset="-120"/>
              </a:rPr>
              <a:t>SJTUClaw的一些说明</a:t>
            </a:r>
            <a:r>
              <a:rPr lang="en-US" altLang="zh-CN" sz="1350" dirty="0">
                <a:solidFill>
                  <a:srgbClr val="334155"/>
                </a:solidFill>
                <a:latin typeface="Consolas" pitchFamily="34" charset="0"/>
                <a:ea typeface="Consolas" pitchFamily="34" charset="-122"/>
                <a:cs typeface="Consolas" pitchFamily="34" charset="-120"/>
              </a:rPr>
              <a:t>……]
[</a:t>
            </a:r>
            <a:r>
              <a:rPr lang="en-US" sz="1350" dirty="0">
                <a:solidFill>
                  <a:srgbClr val="334155"/>
                </a:solidFill>
                <a:latin typeface="Consolas" pitchFamily="34" charset="0"/>
                <a:ea typeface="Consolas" pitchFamily="34" charset="-122"/>
                <a:cs typeface="Consolas" pitchFamily="34" charset="-120"/>
              </a:rPr>
              <a:t>user: </a:t>
            </a:r>
            <a:r>
              <a:rPr lang="zh-CN" altLang="en-US" sz="1350" dirty="0">
                <a:solidFill>
                  <a:srgbClr val="334155"/>
                </a:solidFill>
                <a:latin typeface="Consolas" pitchFamily="34" charset="0"/>
                <a:ea typeface="Consolas" pitchFamily="34" charset="-122"/>
                <a:cs typeface="Consolas" pitchFamily="34" charset="-120"/>
              </a:rPr>
              <a:t>我刚才说我叫什么？</a:t>
            </a:r>
            <a:r>
              <a:rPr lang="en-US" altLang="zh-CN" sz="1350" dirty="0">
                <a:solidFill>
                  <a:srgbClr val="334155"/>
                </a:solidFill>
                <a:latin typeface="Consolas" pitchFamily="34" charset="0"/>
                <a:ea typeface="Consolas" pitchFamily="34" charset="-122"/>
                <a:cs typeface="Consolas" pitchFamily="34" charset="-120"/>
              </a:rPr>
              <a:t>]</a:t>
            </a:r>
            <a:endParaRPr lang="en-US" sz="1350" dirty="0"/>
          </a:p>
        </p:txBody>
      </p:sp>
      <p:pic>
        <p:nvPicPr>
          <p:cNvPr id="1026" name="Picture 2">
            <a:extLst>
              <a:ext uri="{FF2B5EF4-FFF2-40B4-BE49-F238E27FC236}">
                <a16:creationId xmlns:a16="http://schemas.microsoft.com/office/drawing/2014/main" id="{A002AA28-0B01-3A62-7D2A-57B3F2A88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13769">
            <a:off x="9568443" y="1772684"/>
            <a:ext cx="1450879" cy="146000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440419ED-AF0D-ED16-0494-C61D7DADB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2115" y="4084579"/>
            <a:ext cx="1603533" cy="124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649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AF76A-3945-F075-2341-353612A6E0B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0B08F347-B729-A41C-38D7-A55B6037F9C9}"/>
              </a:ext>
            </a:extLst>
          </p:cNvPr>
          <p:cNvSpPr/>
          <p:nvPr/>
        </p:nvSpPr>
        <p:spPr>
          <a:xfrm>
            <a:off x="400040" y="609600"/>
            <a:ext cx="9905752"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多轮对话</a:t>
            </a:r>
            <a:r>
              <a:rPr lang="zh-CN" altLang="en-US" sz="2950" b="1" dirty="0">
                <a:solidFill>
                  <a:srgbClr val="111827"/>
                </a:solidFill>
                <a:latin typeface="Helvetica Neue" pitchFamily="34" charset="0"/>
                <a:ea typeface="Helvetica Neue" pitchFamily="34" charset="-122"/>
                <a:cs typeface="Helvetica Neue" pitchFamily="34" charset="-120"/>
              </a:rPr>
              <a:t>的基本思想：</a:t>
            </a:r>
            <a:r>
              <a:rPr lang="en-US" altLang="zh-CN" sz="2950" b="1" dirty="0">
                <a:solidFill>
                  <a:srgbClr val="111827"/>
                </a:solidFill>
                <a:latin typeface="Helvetica Neue" pitchFamily="34" charset="0"/>
                <a:ea typeface="Helvetica Neue" pitchFamily="34" charset="-122"/>
                <a:cs typeface="Helvetica Neue" pitchFamily="34" charset="-120"/>
              </a:rPr>
              <a:t>Agent</a:t>
            </a:r>
            <a:r>
              <a:rPr lang="zh-CN" altLang="en-US" sz="3200" dirty="0"/>
              <a:t>在每一轮请求中主动携带当前会话历史，而不是依赖模型自动记住历史</a:t>
            </a:r>
            <a:endParaRPr lang="en-US" sz="2950" dirty="0"/>
          </a:p>
        </p:txBody>
      </p:sp>
      <p:sp>
        <p:nvSpPr>
          <p:cNvPr id="19" name="Text 17">
            <a:extLst>
              <a:ext uri="{FF2B5EF4-FFF2-40B4-BE49-F238E27FC236}">
                <a16:creationId xmlns:a16="http://schemas.microsoft.com/office/drawing/2014/main" id="{734065B0-BF13-D0F4-4C50-B9F718D9E3F5}"/>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11 / 26</a:t>
            </a:r>
            <a:endParaRPr lang="en-US" sz="1000" dirty="0"/>
          </a:p>
        </p:txBody>
      </p:sp>
      <p:sp>
        <p:nvSpPr>
          <p:cNvPr id="2" name="文本框 1">
            <a:extLst>
              <a:ext uri="{FF2B5EF4-FFF2-40B4-BE49-F238E27FC236}">
                <a16:creationId xmlns:a16="http://schemas.microsoft.com/office/drawing/2014/main" id="{BB139945-104D-1FF3-0D1B-B7AC81885C37}"/>
              </a:ext>
            </a:extLst>
          </p:cNvPr>
          <p:cNvSpPr txBox="1"/>
          <p:nvPr/>
        </p:nvSpPr>
        <p:spPr>
          <a:xfrm>
            <a:off x="400041" y="1988840"/>
            <a:ext cx="5263912" cy="2677656"/>
          </a:xfrm>
          <a:prstGeom prst="rect">
            <a:avLst/>
          </a:prstGeom>
          <a:noFill/>
        </p:spPr>
        <p:txBody>
          <a:bodyPr wrap="square" rtlCol="0">
            <a:spAutoFit/>
          </a:bodyPr>
          <a:lstStyle/>
          <a:p>
            <a:r>
              <a:rPr lang="zh-CN" altLang="en-US" sz="2400" dirty="0"/>
              <a:t>你需要为消息和当前会话设计清晰的数据结构。具体字段名可以自行决定，但至少需要表达：</a:t>
            </a:r>
            <a:endParaRPr kumimoji="1" lang="en-US" altLang="zh-CN" sz="2400" dirty="0"/>
          </a:p>
          <a:p>
            <a:pPr marL="285750" indent="-285750">
              <a:buFont typeface="Arial" panose="020B0604020202020204" pitchFamily="34" charset="0"/>
              <a:buChar char="•"/>
            </a:pPr>
            <a:r>
              <a:rPr lang="zh-CN" altLang="en-US" sz="2400" dirty="0"/>
              <a:t>消息角色</a:t>
            </a:r>
            <a:endParaRPr lang="en-US" altLang="zh-CN" sz="2400" dirty="0"/>
          </a:p>
          <a:p>
            <a:pPr marL="285750" indent="-285750">
              <a:buFont typeface="Arial" panose="020B0604020202020204" pitchFamily="34" charset="0"/>
              <a:buChar char="•"/>
            </a:pPr>
            <a:r>
              <a:rPr lang="zh-CN" altLang="en-US" sz="2400" dirty="0"/>
              <a:t>消息内容</a:t>
            </a:r>
            <a:endParaRPr lang="en-US" altLang="zh-CN" sz="2400" dirty="0"/>
          </a:p>
          <a:p>
            <a:pPr marL="285750" indent="-285750">
              <a:buFont typeface="Arial" panose="020B0604020202020204" pitchFamily="34" charset="0"/>
              <a:buChar char="•"/>
            </a:pPr>
            <a:r>
              <a:rPr lang="zh-CN" altLang="en-US" sz="2400" b="1" dirty="0">
                <a:solidFill>
                  <a:srgbClr val="FF0000"/>
                </a:solidFill>
              </a:rPr>
              <a:t>当前 </a:t>
            </a:r>
            <a:r>
              <a:rPr lang="en" altLang="zh-CN" sz="2400" b="1" dirty="0">
                <a:solidFill>
                  <a:srgbClr val="FF0000"/>
                </a:solidFill>
              </a:rPr>
              <a:t>session </a:t>
            </a:r>
            <a:r>
              <a:rPr lang="zh-CN" altLang="en-US" sz="2400" b="1" dirty="0">
                <a:solidFill>
                  <a:srgbClr val="FF0000"/>
                </a:solidFill>
              </a:rPr>
              <a:t>的历史消息列表（很关键，让模型知道之前发生了什么）</a:t>
            </a:r>
          </a:p>
        </p:txBody>
      </p:sp>
      <p:pic>
        <p:nvPicPr>
          <p:cNvPr id="3" name="图片 2">
            <a:extLst>
              <a:ext uri="{FF2B5EF4-FFF2-40B4-BE49-F238E27FC236}">
                <a16:creationId xmlns:a16="http://schemas.microsoft.com/office/drawing/2014/main" id="{906176DE-D9F9-6079-06AB-E9C82BBBB830}"/>
              </a:ext>
            </a:extLst>
          </p:cNvPr>
          <p:cNvPicPr>
            <a:picLocks noChangeAspect="1"/>
          </p:cNvPicPr>
          <p:nvPr/>
        </p:nvPicPr>
        <p:blipFill>
          <a:blip r:embed="rId3"/>
          <a:stretch>
            <a:fillRect/>
          </a:stretch>
        </p:blipFill>
        <p:spPr>
          <a:xfrm>
            <a:off x="6088337" y="1918893"/>
            <a:ext cx="5832648" cy="4558107"/>
          </a:xfrm>
          <a:prstGeom prst="rect">
            <a:avLst/>
          </a:prstGeom>
        </p:spPr>
      </p:pic>
      <p:sp>
        <p:nvSpPr>
          <p:cNvPr id="13" name="矩形 12">
            <a:extLst>
              <a:ext uri="{FF2B5EF4-FFF2-40B4-BE49-F238E27FC236}">
                <a16:creationId xmlns:a16="http://schemas.microsoft.com/office/drawing/2014/main" id="{C4C2FD86-7A8A-AA4B-6B23-605A13E46DBC}"/>
              </a:ext>
            </a:extLst>
          </p:cNvPr>
          <p:cNvSpPr/>
          <p:nvPr/>
        </p:nvSpPr>
        <p:spPr>
          <a:xfrm>
            <a:off x="6240016" y="2276872"/>
            <a:ext cx="5680969" cy="29523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EBE02232-85A5-1013-4E0F-6DDADBB99462}"/>
              </a:ext>
            </a:extLst>
          </p:cNvPr>
          <p:cNvSpPr txBox="1"/>
          <p:nvPr/>
        </p:nvSpPr>
        <p:spPr>
          <a:xfrm>
            <a:off x="6359352" y="1630541"/>
            <a:ext cx="5832648" cy="646331"/>
          </a:xfrm>
          <a:prstGeom prst="rect">
            <a:avLst/>
          </a:prstGeom>
          <a:noFill/>
        </p:spPr>
        <p:txBody>
          <a:bodyPr wrap="square" rtlCol="0">
            <a:spAutoFit/>
          </a:bodyPr>
          <a:lstStyle/>
          <a:p>
            <a:r>
              <a:rPr kumimoji="1" lang="zh-CN" altLang="en-US" b="1" dirty="0">
                <a:solidFill>
                  <a:srgbClr val="FF0000"/>
                </a:solidFill>
              </a:rPr>
              <a:t>历史消息列表，其中每一项都包括一个角色及其突出的消息内容</a:t>
            </a:r>
          </a:p>
        </p:txBody>
      </p:sp>
    </p:spTree>
    <p:extLst>
      <p:ext uri="{BB962C8B-B14F-4D97-AF65-F5344CB8AC3E}">
        <p14:creationId xmlns:p14="http://schemas.microsoft.com/office/powerpoint/2010/main" val="1423090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数据结构</a:t>
            </a:r>
            <a:endParaRPr lang="en-US" sz="1150" dirty="0"/>
          </a:p>
        </p:txBody>
      </p:sp>
      <p:sp>
        <p:nvSpPr>
          <p:cNvPr id="4" name="Text 2"/>
          <p:cNvSpPr/>
          <p:nvPr/>
        </p:nvSpPr>
        <p:spPr>
          <a:xfrm>
            <a:off x="400040" y="609600"/>
            <a:ext cx="9905752" cy="800100"/>
          </a:xfrm>
          <a:prstGeom prst="rect">
            <a:avLst/>
          </a:prstGeom>
          <a:noFill/>
          <a:ln/>
        </p:spPr>
        <p:txBody>
          <a:bodyPr wrap="square" lIns="0" tIns="0" rIns="0" bIns="0" rtlCol="0" anchor="t"/>
          <a:lstStyle/>
          <a:p>
            <a:pPr marL="0" indent="0" algn="l">
              <a:buNone/>
            </a:pPr>
            <a:r>
              <a:rPr lang="en-US" sz="2850" b="1" dirty="0" err="1">
                <a:solidFill>
                  <a:srgbClr val="111827"/>
                </a:solidFill>
                <a:latin typeface="Helvetica Neue" pitchFamily="34" charset="0"/>
                <a:ea typeface="Helvetica Neue" pitchFamily="34" charset="-122"/>
                <a:cs typeface="Helvetica Neue" pitchFamily="34" charset="-120"/>
              </a:rPr>
              <a:t>最小设计</a:t>
            </a:r>
            <a:r>
              <a:rPr lang="zh-CN" altLang="en-US" sz="2850" b="1" dirty="0">
                <a:solidFill>
                  <a:srgbClr val="111827"/>
                </a:solidFill>
                <a:latin typeface="Helvetica Neue" pitchFamily="34" charset="0"/>
                <a:ea typeface="Helvetica Neue" pitchFamily="34" charset="-122"/>
                <a:cs typeface="Helvetica Neue" pitchFamily="34" charset="-120"/>
              </a:rPr>
              <a:t>（</a:t>
            </a:r>
            <a:r>
              <a:rPr lang="en-US" altLang="zh-CN" sz="2850" b="1" dirty="0">
                <a:solidFill>
                  <a:srgbClr val="111827"/>
                </a:solidFill>
                <a:latin typeface="Helvetica Neue" pitchFamily="34" charset="0"/>
                <a:ea typeface="Helvetica Neue" pitchFamily="34" charset="-122"/>
                <a:cs typeface="Helvetica Neue" pitchFamily="34" charset="-120"/>
              </a:rPr>
              <a:t>MVP</a:t>
            </a:r>
            <a:r>
              <a:rPr lang="zh-CN" altLang="en-US" sz="2850" b="1" dirty="0">
                <a:solidFill>
                  <a:srgbClr val="111827"/>
                </a:solidFill>
                <a:latin typeface="Helvetica Neue" pitchFamily="34" charset="0"/>
                <a:ea typeface="Helvetica Neue" pitchFamily="34" charset="-122"/>
                <a:cs typeface="Helvetica Neue" pitchFamily="34" charset="-120"/>
              </a:rPr>
              <a:t>）</a:t>
            </a:r>
            <a:r>
              <a:rPr lang="en-US" sz="2850" b="1" dirty="0">
                <a:solidFill>
                  <a:srgbClr val="111827"/>
                </a:solidFill>
                <a:latin typeface="Helvetica Neue" pitchFamily="34" charset="0"/>
                <a:ea typeface="Helvetica Neue" pitchFamily="34" charset="-122"/>
                <a:cs typeface="Helvetica Neue" pitchFamily="34" charset="-120"/>
              </a:rPr>
              <a:t>：Message + ChatSession + to_llm_messages()</a:t>
            </a:r>
            <a:endParaRPr lang="en-US" sz="2850" dirty="0"/>
          </a:p>
        </p:txBody>
      </p:sp>
      <p:sp>
        <p:nvSpPr>
          <p:cNvPr id="19" name="Text 17"/>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12 / 26</a:t>
            </a:r>
            <a:endParaRPr lang="en-US" sz="1000" dirty="0"/>
          </a:p>
        </p:txBody>
      </p:sp>
      <p:sp>
        <p:nvSpPr>
          <p:cNvPr id="20" name="文本框 19">
            <a:extLst>
              <a:ext uri="{FF2B5EF4-FFF2-40B4-BE49-F238E27FC236}">
                <a16:creationId xmlns:a16="http://schemas.microsoft.com/office/drawing/2014/main" id="{B4C09E2C-F97B-CD95-9838-D5A535D74658}"/>
              </a:ext>
            </a:extLst>
          </p:cNvPr>
          <p:cNvSpPr txBox="1"/>
          <p:nvPr/>
        </p:nvSpPr>
        <p:spPr>
          <a:xfrm>
            <a:off x="2207568" y="57541"/>
            <a:ext cx="3409908" cy="369332"/>
          </a:xfrm>
          <a:prstGeom prst="rect">
            <a:avLst/>
          </a:prstGeom>
          <a:noFill/>
        </p:spPr>
        <p:txBody>
          <a:bodyPr wrap="none" rtlCol="0">
            <a:spAutoFit/>
          </a:bodyPr>
          <a:lstStyle/>
          <a:p>
            <a:r>
              <a:rPr kumimoji="1" lang="zh-CN" altLang="en-US" dirty="0"/>
              <a:t>全称：</a:t>
            </a:r>
            <a:r>
              <a:rPr lang="en" altLang="zh-CN" b="0" i="0" dirty="0">
                <a:solidFill>
                  <a:srgbClr val="474747"/>
                </a:solidFill>
                <a:effectLst/>
                <a:latin typeface="Roboto" panose="02000000000000000000" pitchFamily="2" charset="0"/>
              </a:rPr>
              <a:t>Minimum Viable Product</a:t>
            </a:r>
            <a:endParaRPr kumimoji="1" lang="zh-CN" altLang="en-US" dirty="0"/>
          </a:p>
        </p:txBody>
      </p:sp>
      <p:cxnSp>
        <p:nvCxnSpPr>
          <p:cNvPr id="22" name="直线连接符 21">
            <a:extLst>
              <a:ext uri="{FF2B5EF4-FFF2-40B4-BE49-F238E27FC236}">
                <a16:creationId xmlns:a16="http://schemas.microsoft.com/office/drawing/2014/main" id="{ED364058-2087-DD1B-2ACB-8EA072E2AB30}"/>
              </a:ext>
            </a:extLst>
          </p:cNvPr>
          <p:cNvCxnSpPr>
            <a:cxnSpLocks/>
          </p:cNvCxnSpPr>
          <p:nvPr/>
        </p:nvCxnSpPr>
        <p:spPr>
          <a:xfrm flipH="1">
            <a:off x="3143672" y="376918"/>
            <a:ext cx="447163" cy="526596"/>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7381D939-CFF8-078F-AB9D-C190C6B53963}"/>
              </a:ext>
            </a:extLst>
          </p:cNvPr>
          <p:cNvSpPr txBox="1"/>
          <p:nvPr/>
        </p:nvSpPr>
        <p:spPr>
          <a:xfrm>
            <a:off x="400040" y="1700808"/>
            <a:ext cx="11372565" cy="3785652"/>
          </a:xfrm>
          <a:prstGeom prst="rect">
            <a:avLst/>
          </a:prstGeom>
          <a:noFill/>
        </p:spPr>
        <p:txBody>
          <a:bodyPr wrap="square" rtlCol="0">
            <a:spAutoFit/>
          </a:bodyPr>
          <a:lstStyle/>
          <a:p>
            <a:r>
              <a:rPr kumimoji="1" lang="zh-CN" altLang="en-US" sz="2400" dirty="0"/>
              <a:t>基本的</a:t>
            </a:r>
            <a:r>
              <a:rPr kumimoji="1" lang="en-US" altLang="zh-CN" sz="2400" dirty="0"/>
              <a:t> Agent </a:t>
            </a:r>
            <a:r>
              <a:rPr kumimoji="1" lang="zh-CN" altLang="en-US" sz="2400" dirty="0"/>
              <a:t>能实现多轮对话的流程：</a:t>
            </a:r>
            <a:endParaRPr kumimoji="1" lang="en-US" altLang="zh-CN" sz="2400" dirty="0"/>
          </a:p>
          <a:p>
            <a:endParaRPr kumimoji="1" lang="en-US" altLang="zh-CN" sz="2400" dirty="0"/>
          </a:p>
          <a:p>
            <a:pPr marL="342900" indent="-342900">
              <a:buFont typeface="+mj-lt"/>
              <a:buAutoNum type="arabicPeriod"/>
            </a:pPr>
            <a:r>
              <a:rPr kumimoji="1" lang="zh-CN" altLang="en-US" sz="2400" dirty="0"/>
              <a:t>启动时创建当前 </a:t>
            </a:r>
            <a:r>
              <a:rPr kumimoji="1" lang="en" altLang="zh-CN" sz="2400" dirty="0"/>
              <a:t>session</a:t>
            </a:r>
          </a:p>
          <a:p>
            <a:pPr marL="342900" indent="-342900">
              <a:buFont typeface="+mj-lt"/>
              <a:buAutoNum type="arabicPeriod"/>
            </a:pPr>
            <a:r>
              <a:rPr kumimoji="1" lang="zh-CN" altLang="en-US" sz="2400" dirty="0"/>
              <a:t>等待用户输入</a:t>
            </a:r>
          </a:p>
          <a:p>
            <a:pPr marL="342900" indent="-342900">
              <a:buFont typeface="+mj-lt"/>
              <a:buAutoNum type="arabicPeriod"/>
            </a:pPr>
            <a:r>
              <a:rPr kumimoji="1" lang="zh-CN" altLang="en-US" sz="2400" dirty="0"/>
              <a:t>识别退出命令（如</a:t>
            </a:r>
            <a:r>
              <a:rPr kumimoji="1" lang="en-US" altLang="zh-CN" sz="2400" dirty="0"/>
              <a:t>/exit</a:t>
            </a:r>
            <a:r>
              <a:rPr kumimoji="1" lang="zh-CN" altLang="en-US" sz="2400" dirty="0"/>
              <a:t>）</a:t>
            </a:r>
          </a:p>
          <a:p>
            <a:pPr marL="342900" indent="-342900">
              <a:buFont typeface="+mj-lt"/>
              <a:buAutoNum type="arabicPeriod"/>
            </a:pPr>
            <a:r>
              <a:rPr kumimoji="1" lang="zh-CN" altLang="en-US" sz="2400" dirty="0"/>
              <a:t>将普通用户输入追加到当前 </a:t>
            </a:r>
            <a:r>
              <a:rPr kumimoji="1" lang="en" altLang="zh-CN" sz="2400" dirty="0"/>
              <a:t>session</a:t>
            </a:r>
          </a:p>
          <a:p>
            <a:pPr marL="342900" indent="-342900">
              <a:buFont typeface="+mj-lt"/>
              <a:buAutoNum type="arabicPeriod"/>
            </a:pPr>
            <a:r>
              <a:rPr kumimoji="1" lang="zh-CN" altLang="en-US" sz="2400" dirty="0"/>
              <a:t>调用 </a:t>
            </a:r>
            <a:r>
              <a:rPr kumimoji="1" lang="en" altLang="zh-CN" sz="2400" dirty="0"/>
              <a:t>LLM</a:t>
            </a:r>
          </a:p>
          <a:p>
            <a:pPr marL="342900" indent="-342900">
              <a:buFont typeface="+mj-lt"/>
              <a:buAutoNum type="arabicPeriod"/>
            </a:pPr>
            <a:r>
              <a:rPr kumimoji="1" lang="zh-CN" altLang="en-US" sz="2400" dirty="0"/>
              <a:t>将 </a:t>
            </a:r>
            <a:r>
              <a:rPr kumimoji="1" lang="en" altLang="zh-CN" sz="2400" dirty="0"/>
              <a:t>assistant </a:t>
            </a:r>
            <a:r>
              <a:rPr kumimoji="1" lang="zh-CN" altLang="en-US" sz="2400" dirty="0"/>
              <a:t>回复追加到当前 </a:t>
            </a:r>
            <a:r>
              <a:rPr kumimoji="1" lang="en" altLang="zh-CN" sz="2400" dirty="0"/>
              <a:t>session</a:t>
            </a:r>
          </a:p>
          <a:p>
            <a:pPr marL="342900" indent="-342900">
              <a:buFont typeface="+mj-lt"/>
              <a:buAutoNum type="arabicPeriod"/>
            </a:pPr>
            <a:r>
              <a:rPr kumimoji="1" lang="zh-CN" altLang="en-US" sz="2400" dirty="0"/>
              <a:t>打印 </a:t>
            </a:r>
            <a:r>
              <a:rPr kumimoji="1" lang="en" altLang="zh-CN" sz="2400" dirty="0"/>
              <a:t>assistant </a:t>
            </a:r>
            <a:r>
              <a:rPr kumimoji="1" lang="zh-CN" altLang="en-US" sz="2400" dirty="0"/>
              <a:t>回复</a:t>
            </a:r>
          </a:p>
          <a:p>
            <a:pPr marL="342900" indent="-342900">
              <a:buFont typeface="+mj-lt"/>
              <a:buAutoNum type="arabicPeriod"/>
            </a:pPr>
            <a:r>
              <a:rPr kumimoji="1" lang="zh-CN" altLang="en-US" sz="2400" dirty="0"/>
              <a:t>继续等待下一轮输入</a:t>
            </a:r>
          </a:p>
        </p:txBody>
      </p:sp>
    </p:spTree>
    <p:extLst>
      <p:ext uri="{BB962C8B-B14F-4D97-AF65-F5344CB8AC3E}">
        <p14:creationId xmlns:p14="http://schemas.microsoft.com/office/powerpoint/2010/main" val="331029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CB4D1-94E2-6A39-0DB1-187A336E112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044EA7A-B2DA-1F09-616A-AA82AA2B0387}"/>
              </a:ext>
            </a:extLst>
          </p:cNvPr>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数据结构</a:t>
            </a:r>
            <a:endParaRPr lang="en-US" sz="1150" dirty="0"/>
          </a:p>
        </p:txBody>
      </p:sp>
      <p:sp>
        <p:nvSpPr>
          <p:cNvPr id="4" name="Text 2">
            <a:extLst>
              <a:ext uri="{FF2B5EF4-FFF2-40B4-BE49-F238E27FC236}">
                <a16:creationId xmlns:a16="http://schemas.microsoft.com/office/drawing/2014/main" id="{DBAFE70F-240E-F320-C0B9-E48CBFB35882}"/>
              </a:ext>
            </a:extLst>
          </p:cNvPr>
          <p:cNvSpPr/>
          <p:nvPr/>
        </p:nvSpPr>
        <p:spPr>
          <a:xfrm>
            <a:off x="400040" y="609600"/>
            <a:ext cx="9905752" cy="800100"/>
          </a:xfrm>
          <a:prstGeom prst="rect">
            <a:avLst/>
          </a:prstGeom>
          <a:noFill/>
          <a:ln/>
        </p:spPr>
        <p:txBody>
          <a:bodyPr wrap="square" lIns="0" tIns="0" rIns="0" bIns="0" rtlCol="0" anchor="t"/>
          <a:lstStyle/>
          <a:p>
            <a:pPr marL="0" indent="0" algn="l">
              <a:buNone/>
            </a:pPr>
            <a:r>
              <a:rPr lang="en-US" sz="2850" b="1" dirty="0" err="1">
                <a:solidFill>
                  <a:srgbClr val="111827"/>
                </a:solidFill>
                <a:latin typeface="Helvetica Neue" pitchFamily="34" charset="0"/>
                <a:ea typeface="Helvetica Neue" pitchFamily="34" charset="-122"/>
                <a:cs typeface="Helvetica Neue" pitchFamily="34" charset="-120"/>
              </a:rPr>
              <a:t>最小设计</a:t>
            </a:r>
            <a:r>
              <a:rPr lang="zh-CN" altLang="en-US" sz="2850" b="1" dirty="0">
                <a:solidFill>
                  <a:srgbClr val="111827"/>
                </a:solidFill>
                <a:latin typeface="Helvetica Neue" pitchFamily="34" charset="0"/>
                <a:ea typeface="Helvetica Neue" pitchFamily="34" charset="-122"/>
                <a:cs typeface="Helvetica Neue" pitchFamily="34" charset="-120"/>
              </a:rPr>
              <a:t>（</a:t>
            </a:r>
            <a:r>
              <a:rPr lang="en-US" altLang="zh-CN" sz="2850" b="1" dirty="0">
                <a:solidFill>
                  <a:srgbClr val="111827"/>
                </a:solidFill>
                <a:latin typeface="Helvetica Neue" pitchFamily="34" charset="0"/>
                <a:ea typeface="Helvetica Neue" pitchFamily="34" charset="-122"/>
                <a:cs typeface="Helvetica Neue" pitchFamily="34" charset="-120"/>
              </a:rPr>
              <a:t>MVP</a:t>
            </a:r>
            <a:r>
              <a:rPr lang="zh-CN" altLang="en-US" sz="2850" b="1" dirty="0">
                <a:solidFill>
                  <a:srgbClr val="111827"/>
                </a:solidFill>
                <a:latin typeface="Helvetica Neue" pitchFamily="34" charset="0"/>
                <a:ea typeface="Helvetica Neue" pitchFamily="34" charset="-122"/>
                <a:cs typeface="Helvetica Neue" pitchFamily="34" charset="-120"/>
              </a:rPr>
              <a:t>）</a:t>
            </a:r>
            <a:r>
              <a:rPr lang="en-US" sz="2850" b="1" dirty="0">
                <a:solidFill>
                  <a:srgbClr val="111827"/>
                </a:solidFill>
                <a:latin typeface="Helvetica Neue" pitchFamily="34" charset="0"/>
                <a:ea typeface="Helvetica Neue" pitchFamily="34" charset="-122"/>
                <a:cs typeface="Helvetica Neue" pitchFamily="34" charset="-120"/>
              </a:rPr>
              <a:t>：Message + ChatSession + to_llm_messages()</a:t>
            </a:r>
            <a:endParaRPr lang="en-US" sz="2850" dirty="0"/>
          </a:p>
        </p:txBody>
      </p:sp>
      <p:sp>
        <p:nvSpPr>
          <p:cNvPr id="5" name="Shape 3">
            <a:extLst>
              <a:ext uri="{FF2B5EF4-FFF2-40B4-BE49-F238E27FC236}">
                <a16:creationId xmlns:a16="http://schemas.microsoft.com/office/drawing/2014/main" id="{6B8296CB-2368-381A-1C05-C690A78F69F4}"/>
              </a:ext>
            </a:extLst>
          </p:cNvPr>
          <p:cNvSpPr/>
          <p:nvPr/>
        </p:nvSpPr>
        <p:spPr>
          <a:xfrm>
            <a:off x="400040" y="2144486"/>
            <a:ext cx="6381590" cy="4095750"/>
          </a:xfrm>
          <a:prstGeom prst="rect">
            <a:avLst/>
          </a:prstGeom>
          <a:solidFill>
            <a:srgbClr val="0F172A"/>
          </a:solidFill>
          <a:ln w="12700">
            <a:solidFill>
              <a:srgbClr val="FFFFFF">
                <a:alpha val="0"/>
              </a:srgbClr>
            </a:solidFill>
            <a:prstDash val="solid"/>
          </a:ln>
        </p:spPr>
        <p:txBody>
          <a:bodyPr/>
          <a:lstStyle/>
          <a:p>
            <a:endParaRPr lang="zh-CN" altLang="en-US"/>
          </a:p>
        </p:txBody>
      </p:sp>
      <p:sp>
        <p:nvSpPr>
          <p:cNvPr id="6" name="Text 4">
            <a:extLst>
              <a:ext uri="{FF2B5EF4-FFF2-40B4-BE49-F238E27FC236}">
                <a16:creationId xmlns:a16="http://schemas.microsoft.com/office/drawing/2014/main" id="{D50E513D-4AE2-DF6F-1FA2-85749E4DFA76}"/>
              </a:ext>
            </a:extLst>
          </p:cNvPr>
          <p:cNvSpPr/>
          <p:nvPr/>
        </p:nvSpPr>
        <p:spPr>
          <a:xfrm>
            <a:off x="628634" y="2334986"/>
            <a:ext cx="5924402" cy="3619500"/>
          </a:xfrm>
          <a:prstGeom prst="rect">
            <a:avLst/>
          </a:prstGeom>
          <a:noFill/>
          <a:ln/>
        </p:spPr>
        <p:txBody>
          <a:bodyPr wrap="square" lIns="0" tIns="0" rIns="0" bIns="0" rtlCol="0" anchor="t"/>
          <a:lstStyle/>
          <a:p>
            <a:pPr marL="0" indent="0" algn="l">
              <a:buNone/>
            </a:pPr>
            <a:r>
              <a:rPr lang="en-US" sz="1150" dirty="0">
                <a:solidFill>
                  <a:srgbClr val="DBEAFE"/>
                </a:solidFill>
                <a:latin typeface="Consolas" pitchFamily="34" charset="0"/>
                <a:ea typeface="Consolas" pitchFamily="34" charset="-122"/>
                <a:cs typeface="Consolas" pitchFamily="34" charset="-120"/>
              </a:rPr>
              <a:t>@dataclass</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class Message:</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role: str</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content: str</a:t>
            </a:r>
            <a:endParaRPr lang="en-US" sz="1150" dirty="0"/>
          </a:p>
          <a:p>
            <a:pPr marL="0" indent="0" algn="l">
              <a:buNone/>
            </a:pP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class ChatSession:</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def __init__(self):</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self.messages = []</a:t>
            </a:r>
            <a:endParaRPr lang="en-US" sz="1150" dirty="0"/>
          </a:p>
          <a:p>
            <a:pPr marL="0" indent="0" algn="l">
              <a:buNone/>
            </a:pP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def add_user_message(self, content):</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self.messages.append(Message("user", content))</a:t>
            </a:r>
            <a:endParaRPr lang="en-US" sz="1150" dirty="0"/>
          </a:p>
          <a:p>
            <a:pPr marL="0" indent="0" algn="l">
              <a:buNone/>
            </a:pP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def add_assistant_message(self, content):</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self.messages.append(Message("assistant", content))</a:t>
            </a:r>
            <a:endParaRPr lang="en-US" sz="1150" dirty="0"/>
          </a:p>
          <a:p>
            <a:pPr marL="0" indent="0" algn="l">
              <a:buNone/>
            </a:pP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def to_llm_messages(self, system_prompt):</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return [{"role":"system", "content":system_prompt}] + [</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{"role": m.role, "content": m.content}</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for m in self.messages</a:t>
            </a:r>
            <a:endParaRPr lang="en-US" sz="1150" dirty="0"/>
          </a:p>
          <a:p>
            <a:pPr marL="0" indent="0" algn="l">
              <a:buNone/>
            </a:pPr>
            <a:r>
              <a:rPr lang="en-US" sz="1150" dirty="0">
                <a:solidFill>
                  <a:srgbClr val="DBEAFE"/>
                </a:solidFill>
                <a:latin typeface="Consolas" pitchFamily="34" charset="0"/>
                <a:ea typeface="Consolas" pitchFamily="34" charset="-122"/>
                <a:cs typeface="Consolas" pitchFamily="34" charset="-120"/>
              </a:rPr>
              <a:t>        ]</a:t>
            </a:r>
            <a:endParaRPr lang="en-US" sz="1150" dirty="0"/>
          </a:p>
        </p:txBody>
      </p:sp>
      <p:sp>
        <p:nvSpPr>
          <p:cNvPr id="7" name="Shape 5">
            <a:extLst>
              <a:ext uri="{FF2B5EF4-FFF2-40B4-BE49-F238E27FC236}">
                <a16:creationId xmlns:a16="http://schemas.microsoft.com/office/drawing/2014/main" id="{ED716E09-CACB-BB64-B1FD-FE1DB75BA611}"/>
              </a:ext>
            </a:extLst>
          </p:cNvPr>
          <p:cNvSpPr/>
          <p:nvPr/>
        </p:nvSpPr>
        <p:spPr>
          <a:xfrm>
            <a:off x="7467718" y="2327346"/>
            <a:ext cx="4095648" cy="1038225"/>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8" name="Shape 6">
            <a:extLst>
              <a:ext uri="{FF2B5EF4-FFF2-40B4-BE49-F238E27FC236}">
                <a16:creationId xmlns:a16="http://schemas.microsoft.com/office/drawing/2014/main" id="{28A4FF62-F502-3F43-55CA-F840BB405FEB}"/>
              </a:ext>
            </a:extLst>
          </p:cNvPr>
          <p:cNvSpPr/>
          <p:nvPr/>
        </p:nvSpPr>
        <p:spPr>
          <a:xfrm>
            <a:off x="7491530" y="2327346"/>
            <a:ext cx="0" cy="1038225"/>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9" name="Text 7">
            <a:extLst>
              <a:ext uri="{FF2B5EF4-FFF2-40B4-BE49-F238E27FC236}">
                <a16:creationId xmlns:a16="http://schemas.microsoft.com/office/drawing/2014/main" id="{AC41564D-11C4-3F8A-0015-308DBDE93B5A}"/>
              </a:ext>
            </a:extLst>
          </p:cNvPr>
          <p:cNvSpPr/>
          <p:nvPr/>
        </p:nvSpPr>
        <p:spPr>
          <a:xfrm>
            <a:off x="7696313" y="2489271"/>
            <a:ext cx="3686083" cy="257175"/>
          </a:xfrm>
          <a:prstGeom prst="rect">
            <a:avLst/>
          </a:prstGeom>
          <a:noFill/>
          <a:ln/>
        </p:spPr>
        <p:txBody>
          <a:bodyPr wrap="square" lIns="0" tIns="0" rIns="0" bIns="0" rtlCol="0" anchor="t"/>
          <a:lstStyle/>
          <a:p>
            <a:pPr marL="0" indent="0" algn="l">
              <a:buNone/>
            </a:pPr>
            <a:r>
              <a:rPr lang="en-US" sz="1650" b="1" dirty="0">
                <a:solidFill>
                  <a:srgbClr val="111827"/>
                </a:solidFill>
                <a:latin typeface="Helvetica Neue" pitchFamily="34" charset="0"/>
                <a:ea typeface="Helvetica Neue" pitchFamily="34" charset="-122"/>
                <a:cs typeface="Helvetica Neue" pitchFamily="34" charset="-120"/>
              </a:rPr>
              <a:t>Message</a:t>
            </a:r>
            <a:endParaRPr lang="en-US" sz="1650" dirty="0"/>
          </a:p>
        </p:txBody>
      </p:sp>
      <p:sp>
        <p:nvSpPr>
          <p:cNvPr id="10" name="Text 8">
            <a:extLst>
              <a:ext uri="{FF2B5EF4-FFF2-40B4-BE49-F238E27FC236}">
                <a16:creationId xmlns:a16="http://schemas.microsoft.com/office/drawing/2014/main" id="{E5D3F4F3-5AD5-6B88-1426-31950D26AA90}"/>
              </a:ext>
            </a:extLst>
          </p:cNvPr>
          <p:cNvSpPr/>
          <p:nvPr/>
        </p:nvSpPr>
        <p:spPr>
          <a:xfrm>
            <a:off x="7696313" y="2746446"/>
            <a:ext cx="3686083" cy="4572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至少包含 role 与 content，表达一条 user 或 assistant 消息。</a:t>
            </a:r>
            <a:endParaRPr lang="en-US" sz="1350" dirty="0"/>
          </a:p>
        </p:txBody>
      </p:sp>
      <p:sp>
        <p:nvSpPr>
          <p:cNvPr id="11" name="Shape 9">
            <a:extLst>
              <a:ext uri="{FF2B5EF4-FFF2-40B4-BE49-F238E27FC236}">
                <a16:creationId xmlns:a16="http://schemas.microsoft.com/office/drawing/2014/main" id="{76AAD10F-3589-1DE2-D39A-10C20CD8627D}"/>
              </a:ext>
            </a:extLst>
          </p:cNvPr>
          <p:cNvSpPr/>
          <p:nvPr/>
        </p:nvSpPr>
        <p:spPr>
          <a:xfrm>
            <a:off x="7467718" y="3517971"/>
            <a:ext cx="4095648" cy="1038225"/>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2" name="Shape 10">
            <a:extLst>
              <a:ext uri="{FF2B5EF4-FFF2-40B4-BE49-F238E27FC236}">
                <a16:creationId xmlns:a16="http://schemas.microsoft.com/office/drawing/2014/main" id="{AD46F913-77EF-FF4D-0112-384262F4EFA2}"/>
              </a:ext>
            </a:extLst>
          </p:cNvPr>
          <p:cNvSpPr/>
          <p:nvPr/>
        </p:nvSpPr>
        <p:spPr>
          <a:xfrm>
            <a:off x="7491530" y="3517971"/>
            <a:ext cx="0" cy="1038225"/>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13" name="Text 11">
            <a:extLst>
              <a:ext uri="{FF2B5EF4-FFF2-40B4-BE49-F238E27FC236}">
                <a16:creationId xmlns:a16="http://schemas.microsoft.com/office/drawing/2014/main" id="{89FFE49F-D3AF-7518-221F-9BDB4E8357B0}"/>
              </a:ext>
            </a:extLst>
          </p:cNvPr>
          <p:cNvSpPr/>
          <p:nvPr/>
        </p:nvSpPr>
        <p:spPr>
          <a:xfrm>
            <a:off x="7696313" y="3679896"/>
            <a:ext cx="3686083" cy="257175"/>
          </a:xfrm>
          <a:prstGeom prst="rect">
            <a:avLst/>
          </a:prstGeom>
          <a:noFill/>
          <a:ln/>
        </p:spPr>
        <p:txBody>
          <a:bodyPr wrap="square" lIns="0" tIns="0" rIns="0" bIns="0" rtlCol="0" anchor="t"/>
          <a:lstStyle/>
          <a:p>
            <a:pPr marL="0" indent="0" algn="l">
              <a:buNone/>
            </a:pPr>
            <a:r>
              <a:rPr lang="en-US" sz="1650" b="1" dirty="0">
                <a:solidFill>
                  <a:srgbClr val="111827"/>
                </a:solidFill>
                <a:latin typeface="Helvetica Neue" pitchFamily="34" charset="0"/>
                <a:ea typeface="Helvetica Neue" pitchFamily="34" charset="-122"/>
                <a:cs typeface="Helvetica Neue" pitchFamily="34" charset="-120"/>
              </a:rPr>
              <a:t>ChatSession</a:t>
            </a:r>
            <a:endParaRPr lang="en-US" sz="1650" dirty="0"/>
          </a:p>
        </p:txBody>
      </p:sp>
      <p:sp>
        <p:nvSpPr>
          <p:cNvPr id="14" name="Text 12">
            <a:extLst>
              <a:ext uri="{FF2B5EF4-FFF2-40B4-BE49-F238E27FC236}">
                <a16:creationId xmlns:a16="http://schemas.microsoft.com/office/drawing/2014/main" id="{517F06CA-97D1-7FC3-CA36-83F425A11F28}"/>
              </a:ext>
            </a:extLst>
          </p:cNvPr>
          <p:cNvSpPr/>
          <p:nvPr/>
        </p:nvSpPr>
        <p:spPr>
          <a:xfrm>
            <a:off x="7696313" y="3937071"/>
            <a:ext cx="3686083" cy="4572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保存当前运行中的历史消息列表，退出后可以先丢失。</a:t>
            </a:r>
            <a:endParaRPr lang="en-US" sz="1350" dirty="0"/>
          </a:p>
        </p:txBody>
      </p:sp>
      <p:sp>
        <p:nvSpPr>
          <p:cNvPr id="15" name="Shape 13">
            <a:extLst>
              <a:ext uri="{FF2B5EF4-FFF2-40B4-BE49-F238E27FC236}">
                <a16:creationId xmlns:a16="http://schemas.microsoft.com/office/drawing/2014/main" id="{472E3042-20A4-B95B-9A36-7C299F12B9F2}"/>
              </a:ext>
            </a:extLst>
          </p:cNvPr>
          <p:cNvSpPr/>
          <p:nvPr/>
        </p:nvSpPr>
        <p:spPr>
          <a:xfrm>
            <a:off x="7467718" y="4708596"/>
            <a:ext cx="4095648" cy="1038225"/>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16" name="Shape 14">
            <a:extLst>
              <a:ext uri="{FF2B5EF4-FFF2-40B4-BE49-F238E27FC236}">
                <a16:creationId xmlns:a16="http://schemas.microsoft.com/office/drawing/2014/main" id="{ABDCAE3A-1371-BA5B-155F-02E972A011FE}"/>
              </a:ext>
            </a:extLst>
          </p:cNvPr>
          <p:cNvSpPr/>
          <p:nvPr/>
        </p:nvSpPr>
        <p:spPr>
          <a:xfrm>
            <a:off x="7491530" y="4708596"/>
            <a:ext cx="0" cy="1038225"/>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7" name="Text 15">
            <a:extLst>
              <a:ext uri="{FF2B5EF4-FFF2-40B4-BE49-F238E27FC236}">
                <a16:creationId xmlns:a16="http://schemas.microsoft.com/office/drawing/2014/main" id="{AE753080-DB32-9CEC-EC4A-84154F28DF94}"/>
              </a:ext>
            </a:extLst>
          </p:cNvPr>
          <p:cNvSpPr/>
          <p:nvPr/>
        </p:nvSpPr>
        <p:spPr>
          <a:xfrm>
            <a:off x="7696313" y="4870521"/>
            <a:ext cx="3686083" cy="257175"/>
          </a:xfrm>
          <a:prstGeom prst="rect">
            <a:avLst/>
          </a:prstGeom>
          <a:noFill/>
          <a:ln/>
        </p:spPr>
        <p:txBody>
          <a:bodyPr wrap="square" lIns="0" tIns="0" rIns="0" bIns="0" rtlCol="0" anchor="t"/>
          <a:lstStyle/>
          <a:p>
            <a:pPr marL="0" indent="0" algn="l">
              <a:buNone/>
            </a:pPr>
            <a:r>
              <a:rPr lang="en-US" sz="1650" b="1" dirty="0">
                <a:solidFill>
                  <a:srgbClr val="111827"/>
                </a:solidFill>
                <a:latin typeface="Helvetica Neue" pitchFamily="34" charset="0"/>
                <a:ea typeface="Helvetica Neue" pitchFamily="34" charset="-122"/>
                <a:cs typeface="Helvetica Neue" pitchFamily="34" charset="-120"/>
              </a:rPr>
              <a:t>to_llm_messages()</a:t>
            </a:r>
            <a:endParaRPr lang="en-US" sz="1650" dirty="0"/>
          </a:p>
        </p:txBody>
      </p:sp>
      <p:sp>
        <p:nvSpPr>
          <p:cNvPr id="18" name="Text 16">
            <a:extLst>
              <a:ext uri="{FF2B5EF4-FFF2-40B4-BE49-F238E27FC236}">
                <a16:creationId xmlns:a16="http://schemas.microsoft.com/office/drawing/2014/main" id="{1621DE24-BBB7-D1BA-5786-08AE797B559F}"/>
              </a:ext>
            </a:extLst>
          </p:cNvPr>
          <p:cNvSpPr/>
          <p:nvPr/>
        </p:nvSpPr>
        <p:spPr>
          <a:xfrm>
            <a:off x="7696313" y="5127696"/>
            <a:ext cx="3686083" cy="4572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system prompt 放在最前面，再拼接 session 中所有历史消息。</a:t>
            </a:r>
            <a:endParaRPr lang="en-US" sz="1350" dirty="0"/>
          </a:p>
        </p:txBody>
      </p:sp>
      <p:sp>
        <p:nvSpPr>
          <p:cNvPr id="19" name="Text 17">
            <a:extLst>
              <a:ext uri="{FF2B5EF4-FFF2-40B4-BE49-F238E27FC236}">
                <a16:creationId xmlns:a16="http://schemas.microsoft.com/office/drawing/2014/main" id="{DD8930DA-3035-F432-DD40-2D925A4BF5EA}"/>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13 / 26</a:t>
            </a:r>
            <a:endParaRPr lang="en-US" sz="1000" dirty="0"/>
          </a:p>
        </p:txBody>
      </p:sp>
      <p:sp>
        <p:nvSpPr>
          <p:cNvPr id="20" name="文本框 19">
            <a:extLst>
              <a:ext uri="{FF2B5EF4-FFF2-40B4-BE49-F238E27FC236}">
                <a16:creationId xmlns:a16="http://schemas.microsoft.com/office/drawing/2014/main" id="{2A2EB011-6EED-FD69-504B-4DE782EA2DA4}"/>
              </a:ext>
            </a:extLst>
          </p:cNvPr>
          <p:cNvSpPr txBox="1"/>
          <p:nvPr/>
        </p:nvSpPr>
        <p:spPr>
          <a:xfrm>
            <a:off x="2207568" y="57541"/>
            <a:ext cx="3409908" cy="369332"/>
          </a:xfrm>
          <a:prstGeom prst="rect">
            <a:avLst/>
          </a:prstGeom>
          <a:noFill/>
        </p:spPr>
        <p:txBody>
          <a:bodyPr wrap="none" rtlCol="0">
            <a:spAutoFit/>
          </a:bodyPr>
          <a:lstStyle/>
          <a:p>
            <a:r>
              <a:rPr kumimoji="1" lang="zh-CN" altLang="en-US" dirty="0"/>
              <a:t>全称：</a:t>
            </a:r>
            <a:r>
              <a:rPr lang="en" altLang="zh-CN" b="0" i="0" dirty="0">
                <a:solidFill>
                  <a:srgbClr val="474747"/>
                </a:solidFill>
                <a:effectLst/>
                <a:latin typeface="Roboto" panose="02000000000000000000" pitchFamily="2" charset="0"/>
              </a:rPr>
              <a:t>Minimum Viable Product</a:t>
            </a:r>
            <a:endParaRPr kumimoji="1" lang="zh-CN" altLang="en-US" dirty="0"/>
          </a:p>
        </p:txBody>
      </p:sp>
      <p:cxnSp>
        <p:nvCxnSpPr>
          <p:cNvPr id="22" name="直线连接符 21">
            <a:extLst>
              <a:ext uri="{FF2B5EF4-FFF2-40B4-BE49-F238E27FC236}">
                <a16:creationId xmlns:a16="http://schemas.microsoft.com/office/drawing/2014/main" id="{E358FF24-B5FF-B855-A495-C08A2BA3CA05}"/>
              </a:ext>
            </a:extLst>
          </p:cNvPr>
          <p:cNvCxnSpPr>
            <a:cxnSpLocks/>
          </p:cNvCxnSpPr>
          <p:nvPr/>
        </p:nvCxnSpPr>
        <p:spPr>
          <a:xfrm flipH="1">
            <a:off x="3143672" y="376918"/>
            <a:ext cx="447163" cy="52659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374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程序分层</a:t>
            </a:r>
            <a:endParaRPr lang="en-US" sz="1150" dirty="0"/>
          </a:p>
        </p:txBody>
      </p:sp>
      <p:sp>
        <p:nvSpPr>
          <p:cNvPr id="4" name="Text 2"/>
          <p:cNvSpPr/>
          <p:nvPr/>
        </p:nvSpPr>
        <p:spPr>
          <a:xfrm>
            <a:off x="400040" y="609600"/>
            <a:ext cx="10001000" cy="857250"/>
          </a:xfrm>
          <a:prstGeom prst="rect">
            <a:avLst/>
          </a:prstGeom>
          <a:noFill/>
          <a:ln/>
        </p:spPr>
        <p:txBody>
          <a:bodyPr wrap="square" lIns="0" tIns="0" rIns="0" bIns="0" rtlCol="0" anchor="t"/>
          <a:lstStyle/>
          <a:p>
            <a:pPr marL="0" indent="0" algn="l">
              <a:buNone/>
            </a:pPr>
            <a:r>
              <a:rPr lang="en-US" altLang="zh-CN" sz="3200" b="1" dirty="0" err="1">
                <a:solidFill>
                  <a:srgbClr val="111827"/>
                </a:solidFill>
                <a:latin typeface="Helvetica Neue" pitchFamily="34" charset="0"/>
                <a:ea typeface="Helvetica Neue" pitchFamily="34" charset="-122"/>
                <a:cs typeface="Helvetica Neue" pitchFamily="34" charset="-120"/>
              </a:rPr>
              <a:t>最小设计</a:t>
            </a:r>
            <a:r>
              <a:rPr lang="zh-CN" altLang="en-US" sz="3200" b="1" dirty="0">
                <a:solidFill>
                  <a:srgbClr val="111827"/>
                </a:solidFill>
                <a:latin typeface="Helvetica Neue" pitchFamily="34" charset="0"/>
                <a:ea typeface="Helvetica Neue" pitchFamily="34" charset="-122"/>
                <a:cs typeface="Helvetica Neue" pitchFamily="34" charset="-120"/>
              </a:rPr>
              <a:t>（</a:t>
            </a:r>
            <a:r>
              <a:rPr lang="en-US" altLang="zh-CN" sz="3200" b="1" dirty="0">
                <a:solidFill>
                  <a:srgbClr val="111827"/>
                </a:solidFill>
                <a:latin typeface="Helvetica Neue" pitchFamily="34" charset="0"/>
                <a:ea typeface="Helvetica Neue" pitchFamily="34" charset="-122"/>
                <a:cs typeface="Helvetica Neue" pitchFamily="34" charset="-120"/>
              </a:rPr>
              <a:t>MVP</a:t>
            </a:r>
            <a:r>
              <a:rPr lang="zh-CN" altLang="en-US" sz="3200" b="1" dirty="0">
                <a:solidFill>
                  <a:srgbClr val="111827"/>
                </a:solidFill>
                <a:latin typeface="Helvetica Neue" pitchFamily="34" charset="0"/>
                <a:ea typeface="Helvetica Neue" pitchFamily="34" charset="-122"/>
                <a:cs typeface="Helvetica Neue" pitchFamily="34" charset="-120"/>
              </a:rPr>
              <a:t>）</a:t>
            </a:r>
            <a:r>
              <a:rPr lang="en-US" altLang="zh-CN" sz="3200" b="1" dirty="0">
                <a:solidFill>
                  <a:srgbClr val="111827"/>
                </a:solidFill>
                <a:latin typeface="Helvetica Neue" pitchFamily="34" charset="0"/>
                <a:ea typeface="Helvetica Neue" pitchFamily="34" charset="-122"/>
                <a:cs typeface="Helvetica Neue" pitchFamily="34" charset="-120"/>
              </a:rPr>
              <a:t>：Message + </a:t>
            </a:r>
            <a:r>
              <a:rPr lang="en-US" altLang="zh-CN" sz="3200" b="1" dirty="0" err="1">
                <a:solidFill>
                  <a:srgbClr val="111827"/>
                </a:solidFill>
                <a:latin typeface="Helvetica Neue" pitchFamily="34" charset="0"/>
                <a:ea typeface="Helvetica Neue" pitchFamily="34" charset="-122"/>
                <a:cs typeface="Helvetica Neue" pitchFamily="34" charset="-120"/>
              </a:rPr>
              <a:t>ChatSession</a:t>
            </a:r>
            <a:r>
              <a:rPr lang="en-US" altLang="zh-CN" sz="3200" b="1" dirty="0">
                <a:solidFill>
                  <a:srgbClr val="111827"/>
                </a:solidFill>
                <a:latin typeface="Helvetica Neue" pitchFamily="34" charset="0"/>
                <a:ea typeface="Helvetica Neue" pitchFamily="34" charset="-122"/>
                <a:cs typeface="Helvetica Neue" pitchFamily="34" charset="-120"/>
              </a:rPr>
              <a:t> + </a:t>
            </a:r>
            <a:r>
              <a:rPr lang="en-US" altLang="zh-CN" sz="3200" b="1" dirty="0" err="1">
                <a:solidFill>
                  <a:srgbClr val="111827"/>
                </a:solidFill>
                <a:latin typeface="Helvetica Neue" pitchFamily="34" charset="0"/>
                <a:ea typeface="Helvetica Neue" pitchFamily="34" charset="-122"/>
                <a:cs typeface="Helvetica Neue" pitchFamily="34" charset="-120"/>
              </a:rPr>
              <a:t>to_llm_messages</a:t>
            </a:r>
            <a:r>
              <a:rPr lang="en-US" altLang="zh-CN" sz="3200" b="1" dirty="0">
                <a:solidFill>
                  <a:srgbClr val="111827"/>
                </a:solidFill>
                <a:latin typeface="Helvetica Neue" pitchFamily="34" charset="0"/>
                <a:ea typeface="Helvetica Neue" pitchFamily="34" charset="-122"/>
                <a:cs typeface="Helvetica Neue" pitchFamily="34" charset="-120"/>
              </a:rPr>
              <a:t>()</a:t>
            </a:r>
            <a:endParaRPr lang="en-US" altLang="zh-CN" sz="3200" dirty="0"/>
          </a:p>
        </p:txBody>
      </p:sp>
      <p:sp>
        <p:nvSpPr>
          <p:cNvPr id="5" name="Shape 3"/>
          <p:cNvSpPr/>
          <p:nvPr/>
        </p:nvSpPr>
        <p:spPr>
          <a:xfrm>
            <a:off x="689390" y="2544762"/>
            <a:ext cx="4952876" cy="866775"/>
          </a:xfrm>
          <a:prstGeom prst="rect">
            <a:avLst/>
          </a:prstGeom>
          <a:solidFill>
            <a:srgbClr val="FFFFFF"/>
          </a:solidFill>
          <a:ln w="9525">
            <a:solidFill>
              <a:srgbClr val="DBE3EA"/>
            </a:solidFill>
            <a:prstDash val="solid"/>
          </a:ln>
        </p:spPr>
        <p:txBody>
          <a:bodyPr/>
          <a:lstStyle/>
          <a:p>
            <a:endParaRPr lang="zh-CN" altLang="en-US"/>
          </a:p>
        </p:txBody>
      </p:sp>
      <p:sp>
        <p:nvSpPr>
          <p:cNvPr id="6" name="Text 4"/>
          <p:cNvSpPr/>
          <p:nvPr/>
        </p:nvSpPr>
        <p:spPr>
          <a:xfrm>
            <a:off x="908459" y="2725737"/>
            <a:ext cx="4514737" cy="2762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cli.py</a:t>
            </a:r>
            <a:endParaRPr lang="en-US" sz="1800" dirty="0"/>
          </a:p>
        </p:txBody>
      </p:sp>
      <p:sp>
        <p:nvSpPr>
          <p:cNvPr id="7" name="Text 5"/>
          <p:cNvSpPr/>
          <p:nvPr/>
        </p:nvSpPr>
        <p:spPr>
          <a:xfrm>
            <a:off x="908459" y="3001962"/>
            <a:ext cx="4514737" cy="2286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input()、print()、/exit、/memory、/index 等命令分发。</a:t>
            </a:r>
            <a:endParaRPr lang="en-US" sz="1350" dirty="0"/>
          </a:p>
        </p:txBody>
      </p:sp>
      <p:sp>
        <p:nvSpPr>
          <p:cNvPr id="8" name="Shape 6"/>
          <p:cNvSpPr/>
          <p:nvPr/>
        </p:nvSpPr>
        <p:spPr>
          <a:xfrm>
            <a:off x="689390" y="3563937"/>
            <a:ext cx="4952876" cy="1095375"/>
          </a:xfrm>
          <a:prstGeom prst="rect">
            <a:avLst/>
          </a:prstGeom>
          <a:solidFill>
            <a:srgbClr val="FFFFFF"/>
          </a:solidFill>
          <a:ln w="9525">
            <a:solidFill>
              <a:srgbClr val="DBE3EA"/>
            </a:solidFill>
            <a:prstDash val="solid"/>
          </a:ln>
        </p:spPr>
        <p:txBody>
          <a:bodyPr/>
          <a:lstStyle/>
          <a:p>
            <a:endParaRPr lang="zh-CN" altLang="en-US"/>
          </a:p>
        </p:txBody>
      </p:sp>
      <p:sp>
        <p:nvSpPr>
          <p:cNvPr id="9" name="Text 7"/>
          <p:cNvSpPr/>
          <p:nvPr/>
        </p:nvSpPr>
        <p:spPr>
          <a:xfrm>
            <a:off x="908459" y="3744912"/>
            <a:ext cx="4514737" cy="2762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agent/loop.py</a:t>
            </a:r>
            <a:endParaRPr lang="en-US" sz="1800" dirty="0"/>
          </a:p>
        </p:txBody>
      </p:sp>
      <p:sp>
        <p:nvSpPr>
          <p:cNvPr id="10" name="Text 8"/>
          <p:cNvSpPr/>
          <p:nvPr/>
        </p:nvSpPr>
        <p:spPr>
          <a:xfrm>
            <a:off x="908459" y="4021137"/>
            <a:ext cx="4514737" cy="4572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ChatSession 与 EduClawAgent.answer()，负责组织上下文。</a:t>
            </a:r>
            <a:endParaRPr lang="en-US" sz="1350" dirty="0"/>
          </a:p>
        </p:txBody>
      </p:sp>
      <p:sp>
        <p:nvSpPr>
          <p:cNvPr id="11" name="Shape 9"/>
          <p:cNvSpPr/>
          <p:nvPr/>
        </p:nvSpPr>
        <p:spPr>
          <a:xfrm>
            <a:off x="689390" y="4811712"/>
            <a:ext cx="4952876" cy="1095375"/>
          </a:xfrm>
          <a:prstGeom prst="rect">
            <a:avLst/>
          </a:prstGeom>
          <a:solidFill>
            <a:srgbClr val="FFFFFF"/>
          </a:solidFill>
          <a:ln w="9525">
            <a:solidFill>
              <a:srgbClr val="DBE3EA"/>
            </a:solidFill>
            <a:prstDash val="solid"/>
          </a:ln>
        </p:spPr>
        <p:txBody>
          <a:bodyPr/>
          <a:lstStyle/>
          <a:p>
            <a:endParaRPr lang="zh-CN" altLang="en-US"/>
          </a:p>
        </p:txBody>
      </p:sp>
      <p:sp>
        <p:nvSpPr>
          <p:cNvPr id="12" name="Text 10"/>
          <p:cNvSpPr/>
          <p:nvPr/>
        </p:nvSpPr>
        <p:spPr>
          <a:xfrm>
            <a:off x="908459" y="4992687"/>
            <a:ext cx="4514737" cy="2762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agent/model.py</a:t>
            </a:r>
            <a:endParaRPr lang="en-US" sz="1800" dirty="0"/>
          </a:p>
        </p:txBody>
      </p:sp>
      <p:sp>
        <p:nvSpPr>
          <p:cNvPr id="13" name="Text 11"/>
          <p:cNvSpPr/>
          <p:nvPr/>
        </p:nvSpPr>
        <p:spPr>
          <a:xfrm>
            <a:off x="908459" y="5268912"/>
            <a:ext cx="4514737" cy="457200"/>
          </a:xfrm>
          <a:prstGeom prst="rect">
            <a:avLst/>
          </a:prstGeom>
          <a:noFill/>
          <a:ln/>
        </p:spPr>
        <p:txBody>
          <a:bodyPr wrap="square" lIns="0" tIns="0" rIns="0" bIns="0" rtlCol="0" anchor="t"/>
          <a:lstStyle/>
          <a:p>
            <a:pPr marL="0" indent="0" algn="l">
              <a:buNone/>
            </a:pPr>
            <a:r>
              <a:rPr lang="en-US" sz="1350" dirty="0">
                <a:solidFill>
                  <a:srgbClr val="334155"/>
                </a:solidFill>
                <a:latin typeface="Helvetica Neue" pitchFamily="34" charset="0"/>
                <a:ea typeface="Helvetica Neue" pitchFamily="34" charset="-122"/>
                <a:cs typeface="Helvetica Neue" pitchFamily="34" charset="-120"/>
              </a:rPr>
              <a:t>MockModel 与 DeepSeekChatModel，封装离线或真实模型调用。</a:t>
            </a:r>
            <a:endParaRPr lang="en-US" sz="1350" dirty="0"/>
          </a:p>
        </p:txBody>
      </p:sp>
      <p:sp>
        <p:nvSpPr>
          <p:cNvPr id="20" name="Text 18"/>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14 / 26</a:t>
            </a:r>
            <a:endParaRPr lang="en-US" sz="1000" dirty="0"/>
          </a:p>
        </p:txBody>
      </p:sp>
      <p:sp>
        <p:nvSpPr>
          <p:cNvPr id="22" name="文本框 21">
            <a:extLst>
              <a:ext uri="{FF2B5EF4-FFF2-40B4-BE49-F238E27FC236}">
                <a16:creationId xmlns:a16="http://schemas.microsoft.com/office/drawing/2014/main" id="{AEA7D0F4-4659-12EB-CFDB-2613D8F0696F}"/>
              </a:ext>
            </a:extLst>
          </p:cNvPr>
          <p:cNvSpPr txBox="1"/>
          <p:nvPr/>
        </p:nvSpPr>
        <p:spPr>
          <a:xfrm>
            <a:off x="659567" y="2008682"/>
            <a:ext cx="2492990" cy="369332"/>
          </a:xfrm>
          <a:prstGeom prst="rect">
            <a:avLst/>
          </a:prstGeom>
          <a:noFill/>
        </p:spPr>
        <p:txBody>
          <a:bodyPr wrap="none" rtlCol="0">
            <a:spAutoFit/>
          </a:bodyPr>
          <a:lstStyle/>
          <a:p>
            <a:r>
              <a:rPr kumimoji="1" lang="zh-CN" altLang="en-US" dirty="0"/>
              <a:t>推荐的一个项目分层：</a:t>
            </a:r>
          </a:p>
        </p:txBody>
      </p:sp>
      <p:pic>
        <p:nvPicPr>
          <p:cNvPr id="23" name="图片 22">
            <a:extLst>
              <a:ext uri="{FF2B5EF4-FFF2-40B4-BE49-F238E27FC236}">
                <a16:creationId xmlns:a16="http://schemas.microsoft.com/office/drawing/2014/main" id="{1A6ABE0C-34BE-E34A-CB9B-18FA078A2939}"/>
              </a:ext>
            </a:extLst>
          </p:cNvPr>
          <p:cNvPicPr>
            <a:picLocks noChangeAspect="1"/>
          </p:cNvPicPr>
          <p:nvPr/>
        </p:nvPicPr>
        <p:blipFill>
          <a:blip r:embed="rId3"/>
          <a:stretch>
            <a:fillRect/>
          </a:stretch>
        </p:blipFill>
        <p:spPr>
          <a:xfrm>
            <a:off x="6385145" y="2346760"/>
            <a:ext cx="5308600" cy="3683000"/>
          </a:xfrm>
          <a:prstGeom prst="rect">
            <a:avLst/>
          </a:prstGeom>
        </p:spPr>
      </p:pic>
      <p:sp>
        <p:nvSpPr>
          <p:cNvPr id="24" name="文本框 23">
            <a:extLst>
              <a:ext uri="{FF2B5EF4-FFF2-40B4-BE49-F238E27FC236}">
                <a16:creationId xmlns:a16="http://schemas.microsoft.com/office/drawing/2014/main" id="{E64FCD9B-E530-D5BE-9517-F89492A7D29B}"/>
              </a:ext>
            </a:extLst>
          </p:cNvPr>
          <p:cNvSpPr txBox="1"/>
          <p:nvPr/>
        </p:nvSpPr>
        <p:spPr>
          <a:xfrm>
            <a:off x="6385145" y="1839006"/>
            <a:ext cx="3877985" cy="369332"/>
          </a:xfrm>
          <a:prstGeom prst="rect">
            <a:avLst/>
          </a:prstGeom>
          <a:noFill/>
        </p:spPr>
        <p:txBody>
          <a:bodyPr wrap="none" rtlCol="0">
            <a:spAutoFit/>
          </a:bodyPr>
          <a:lstStyle/>
          <a:p>
            <a:r>
              <a:rPr kumimoji="1" lang="zh-CN" altLang="en-US" b="1" dirty="0"/>
              <a:t>一个期望的运行效果截图（终端中）</a:t>
            </a:r>
          </a:p>
        </p:txBody>
      </p:sp>
    </p:spTree>
    <p:extLst>
      <p:ext uri="{BB962C8B-B14F-4D97-AF65-F5344CB8AC3E}">
        <p14:creationId xmlns:p14="http://schemas.microsoft.com/office/powerpoint/2010/main" val="200698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错误处理</a:t>
            </a:r>
            <a:endParaRPr lang="en-US" sz="1150" dirty="0"/>
          </a:p>
        </p:txBody>
      </p:sp>
      <p:sp>
        <p:nvSpPr>
          <p:cNvPr id="4" name="Text 2"/>
          <p:cNvSpPr/>
          <p:nvPr/>
        </p:nvSpPr>
        <p:spPr>
          <a:xfrm>
            <a:off x="400040" y="609600"/>
            <a:ext cx="9905752"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SJTUClaw</a:t>
            </a:r>
            <a:r>
              <a:rPr lang="en-US" sz="2950" b="1" dirty="0">
                <a:solidFill>
                  <a:srgbClr val="111827"/>
                </a:solidFill>
                <a:latin typeface="Helvetica Neue" pitchFamily="34" charset="0"/>
                <a:ea typeface="Helvetica Neue" pitchFamily="34" charset="-122"/>
                <a:cs typeface="Helvetica Neue" pitchFamily="34" charset="-120"/>
              </a:rPr>
              <a:t> agent 应该允许用户在失败后继续下一轮输入</a:t>
            </a:r>
            <a:endParaRPr lang="en-US" sz="2950" dirty="0"/>
          </a:p>
        </p:txBody>
      </p:sp>
      <p:sp>
        <p:nvSpPr>
          <p:cNvPr id="5" name="Shape 3"/>
          <p:cNvSpPr/>
          <p:nvPr/>
        </p:nvSpPr>
        <p:spPr>
          <a:xfrm>
            <a:off x="400040" y="1600200"/>
            <a:ext cx="3473264" cy="14287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6" name="Shape 4"/>
          <p:cNvSpPr/>
          <p:nvPr/>
        </p:nvSpPr>
        <p:spPr>
          <a:xfrm>
            <a:off x="428614" y="1600200"/>
            <a:ext cx="0" cy="1428750"/>
          </a:xfrm>
          <a:prstGeom prst="line">
            <a:avLst/>
          </a:prstGeom>
          <a:solidFill>
            <a:srgbClr val="FFFFFF">
              <a:alpha val="0"/>
            </a:srgbClr>
          </a:solidFill>
          <a:ln w="57150">
            <a:solidFill>
              <a:srgbClr val="1F5F8B"/>
            </a:solidFill>
            <a:prstDash val="solid"/>
          </a:ln>
        </p:spPr>
        <p:txBody>
          <a:bodyPr/>
          <a:lstStyle/>
          <a:p>
            <a:endParaRPr lang="zh-CN" altLang="en-US"/>
          </a:p>
        </p:txBody>
      </p:sp>
      <p:sp>
        <p:nvSpPr>
          <p:cNvPr id="7" name="Text 5"/>
          <p:cNvSpPr/>
          <p:nvPr/>
        </p:nvSpPr>
        <p:spPr>
          <a:xfrm>
            <a:off x="666733" y="1790700"/>
            <a:ext cx="2997026" cy="3143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空输入</a:t>
            </a:r>
            <a:endParaRPr lang="en-US" sz="1750" dirty="0"/>
          </a:p>
        </p:txBody>
      </p:sp>
      <p:sp>
        <p:nvSpPr>
          <p:cNvPr id="8" name="Text 6"/>
          <p:cNvSpPr/>
          <p:nvPr/>
        </p:nvSpPr>
        <p:spPr>
          <a:xfrm>
            <a:off x="666733" y="2105025"/>
            <a:ext cx="2997026" cy="457200"/>
          </a:xfrm>
          <a:prstGeom prst="rect">
            <a:avLst/>
          </a:prstGeom>
          <a:noFill/>
          <a:ln/>
        </p:spPr>
        <p:txBody>
          <a:bodyPr wrap="square" lIns="0" tIns="0" rIns="0" bIns="0" rtlCol="0" anchor="t"/>
          <a:lstStyle/>
          <a:p>
            <a:pPr marL="0" indent="0" algn="l">
              <a:buNone/>
            </a:pPr>
            <a:r>
              <a:rPr lang="en-US" sz="1600" dirty="0">
                <a:solidFill>
                  <a:srgbClr val="334155"/>
                </a:solidFill>
                <a:latin typeface="Helvetica Neue" pitchFamily="34" charset="0"/>
                <a:ea typeface="Helvetica Neue" pitchFamily="34" charset="-122"/>
                <a:cs typeface="Helvetica Neue" pitchFamily="34" charset="-120"/>
              </a:rPr>
              <a:t>直接 continue，不触发 LLM 调用，也不写入 session。</a:t>
            </a:r>
            <a:endParaRPr lang="en-US" sz="1600" dirty="0"/>
          </a:p>
        </p:txBody>
      </p:sp>
      <p:sp>
        <p:nvSpPr>
          <p:cNvPr id="9" name="Shape 7"/>
          <p:cNvSpPr/>
          <p:nvPr/>
        </p:nvSpPr>
        <p:spPr>
          <a:xfrm>
            <a:off x="4044750" y="1600200"/>
            <a:ext cx="3473413" cy="14287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0" name="Shape 8"/>
          <p:cNvSpPr/>
          <p:nvPr/>
        </p:nvSpPr>
        <p:spPr>
          <a:xfrm>
            <a:off x="4073324" y="1600200"/>
            <a:ext cx="0" cy="14287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11" name="Text 9"/>
          <p:cNvSpPr/>
          <p:nvPr/>
        </p:nvSpPr>
        <p:spPr>
          <a:xfrm>
            <a:off x="4311443" y="1790700"/>
            <a:ext cx="2997175" cy="2762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/exit</a:t>
            </a:r>
            <a:endParaRPr lang="en-US" sz="1750" dirty="0"/>
          </a:p>
        </p:txBody>
      </p:sp>
      <p:sp>
        <p:nvSpPr>
          <p:cNvPr id="12" name="Text 10"/>
          <p:cNvSpPr/>
          <p:nvPr/>
        </p:nvSpPr>
        <p:spPr>
          <a:xfrm>
            <a:off x="4311443" y="2066925"/>
            <a:ext cx="2997175" cy="457200"/>
          </a:xfrm>
          <a:prstGeom prst="rect">
            <a:avLst/>
          </a:prstGeom>
          <a:noFill/>
          <a:ln/>
        </p:spPr>
        <p:txBody>
          <a:bodyPr wrap="square" lIns="0" tIns="0" rIns="0" bIns="0" rtlCol="0" anchor="t"/>
          <a:lstStyle/>
          <a:p>
            <a:pPr marL="0" indent="0" algn="l">
              <a:buNone/>
            </a:pPr>
            <a:r>
              <a:rPr lang="en-US" sz="1600" dirty="0">
                <a:solidFill>
                  <a:srgbClr val="334155"/>
                </a:solidFill>
                <a:latin typeface="Helvetica Neue" pitchFamily="34" charset="0"/>
                <a:ea typeface="Helvetica Neue" pitchFamily="34" charset="-122"/>
                <a:cs typeface="Helvetica Neue" pitchFamily="34" charset="-120"/>
              </a:rPr>
              <a:t>打印 bye. 后退出，形成清晰的用户控制边界。</a:t>
            </a:r>
            <a:endParaRPr lang="en-US" sz="1600" dirty="0"/>
          </a:p>
        </p:txBody>
      </p:sp>
      <p:sp>
        <p:nvSpPr>
          <p:cNvPr id="13" name="Shape 11"/>
          <p:cNvSpPr/>
          <p:nvPr/>
        </p:nvSpPr>
        <p:spPr>
          <a:xfrm>
            <a:off x="7689608" y="1600200"/>
            <a:ext cx="3473413" cy="14287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4" name="Shape 12"/>
          <p:cNvSpPr/>
          <p:nvPr/>
        </p:nvSpPr>
        <p:spPr>
          <a:xfrm>
            <a:off x="7718182" y="1600200"/>
            <a:ext cx="0" cy="14287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15" name="Text 13"/>
          <p:cNvSpPr/>
          <p:nvPr/>
        </p:nvSpPr>
        <p:spPr>
          <a:xfrm>
            <a:off x="7956301" y="1790700"/>
            <a:ext cx="2997175" cy="2762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Ctrl+C</a:t>
            </a:r>
            <a:endParaRPr lang="en-US" sz="1750" dirty="0"/>
          </a:p>
        </p:txBody>
      </p:sp>
      <p:sp>
        <p:nvSpPr>
          <p:cNvPr id="16" name="Text 14"/>
          <p:cNvSpPr/>
          <p:nvPr/>
        </p:nvSpPr>
        <p:spPr>
          <a:xfrm>
            <a:off x="7956301" y="2066925"/>
            <a:ext cx="2997175" cy="457200"/>
          </a:xfrm>
          <a:prstGeom prst="rect">
            <a:avLst/>
          </a:prstGeom>
          <a:noFill/>
          <a:ln/>
        </p:spPr>
        <p:txBody>
          <a:bodyPr wrap="square" lIns="0" tIns="0" rIns="0" bIns="0" rtlCol="0" anchor="t"/>
          <a:lstStyle/>
          <a:p>
            <a:pPr marL="0" indent="0" algn="l">
              <a:buNone/>
            </a:pPr>
            <a:r>
              <a:rPr lang="en-US" sz="1600" dirty="0">
                <a:solidFill>
                  <a:srgbClr val="334155"/>
                </a:solidFill>
                <a:latin typeface="Helvetica Neue" pitchFamily="34" charset="0"/>
                <a:ea typeface="Helvetica Neue" pitchFamily="34" charset="-122"/>
                <a:cs typeface="Helvetica Neue" pitchFamily="34" charset="-120"/>
              </a:rPr>
              <a:t>捕获 KeyboardInterrupt，友好退出，不打印 traceback。</a:t>
            </a:r>
            <a:endParaRPr lang="en-US" sz="1600" dirty="0"/>
          </a:p>
        </p:txBody>
      </p:sp>
      <p:sp>
        <p:nvSpPr>
          <p:cNvPr id="17" name="Shape 15"/>
          <p:cNvSpPr/>
          <p:nvPr/>
        </p:nvSpPr>
        <p:spPr>
          <a:xfrm>
            <a:off x="400040" y="3200400"/>
            <a:ext cx="3473264" cy="14287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8" name="Shape 16"/>
          <p:cNvSpPr/>
          <p:nvPr/>
        </p:nvSpPr>
        <p:spPr>
          <a:xfrm>
            <a:off x="428614" y="3200400"/>
            <a:ext cx="0" cy="1428750"/>
          </a:xfrm>
          <a:prstGeom prst="line">
            <a:avLst/>
          </a:prstGeom>
          <a:solidFill>
            <a:srgbClr val="FFFFFF">
              <a:alpha val="0"/>
            </a:srgbClr>
          </a:solidFill>
          <a:ln w="57150">
            <a:solidFill>
              <a:srgbClr val="1F5F8B"/>
            </a:solidFill>
            <a:prstDash val="solid"/>
          </a:ln>
        </p:spPr>
        <p:txBody>
          <a:bodyPr/>
          <a:lstStyle/>
          <a:p>
            <a:endParaRPr lang="zh-CN" altLang="en-US"/>
          </a:p>
        </p:txBody>
      </p:sp>
      <p:sp>
        <p:nvSpPr>
          <p:cNvPr id="19" name="Text 17"/>
          <p:cNvSpPr/>
          <p:nvPr/>
        </p:nvSpPr>
        <p:spPr>
          <a:xfrm>
            <a:off x="666733" y="3390900"/>
            <a:ext cx="2997026" cy="3143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LLM 调用失败</a:t>
            </a:r>
            <a:endParaRPr lang="en-US" sz="1750" dirty="0"/>
          </a:p>
        </p:txBody>
      </p:sp>
      <p:sp>
        <p:nvSpPr>
          <p:cNvPr id="20" name="Text 18"/>
          <p:cNvSpPr/>
          <p:nvPr/>
        </p:nvSpPr>
        <p:spPr>
          <a:xfrm>
            <a:off x="666733" y="3705225"/>
            <a:ext cx="2997026" cy="457200"/>
          </a:xfrm>
          <a:prstGeom prst="rect">
            <a:avLst/>
          </a:prstGeom>
          <a:noFill/>
          <a:ln/>
        </p:spPr>
        <p:txBody>
          <a:bodyPr wrap="square" lIns="0" tIns="0" rIns="0" bIns="0" rtlCol="0" anchor="t"/>
          <a:lstStyle/>
          <a:p>
            <a:pPr marL="0" indent="0" algn="l">
              <a:buNone/>
            </a:pPr>
            <a:r>
              <a:rPr lang="en-US" sz="1600" dirty="0">
                <a:solidFill>
                  <a:srgbClr val="334155"/>
                </a:solidFill>
                <a:latin typeface="Helvetica Neue" pitchFamily="34" charset="0"/>
                <a:ea typeface="Helvetica Neue" pitchFamily="34" charset="-122"/>
                <a:cs typeface="Helvetica Neue" pitchFamily="34" charset="-120"/>
              </a:rPr>
              <a:t>输出“模型调用失败：…”；不追加空 assistant 回复。</a:t>
            </a:r>
            <a:endParaRPr lang="en-US" sz="1600" dirty="0"/>
          </a:p>
        </p:txBody>
      </p:sp>
      <p:sp>
        <p:nvSpPr>
          <p:cNvPr id="21" name="Shape 19"/>
          <p:cNvSpPr/>
          <p:nvPr/>
        </p:nvSpPr>
        <p:spPr>
          <a:xfrm>
            <a:off x="4044750" y="3200400"/>
            <a:ext cx="3473413" cy="14287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22" name="Shape 20"/>
          <p:cNvSpPr/>
          <p:nvPr/>
        </p:nvSpPr>
        <p:spPr>
          <a:xfrm>
            <a:off x="4073324" y="3200400"/>
            <a:ext cx="0" cy="1428750"/>
          </a:xfrm>
          <a:prstGeom prst="line">
            <a:avLst/>
          </a:prstGeom>
          <a:solidFill>
            <a:srgbClr val="FFFFFF">
              <a:alpha val="0"/>
            </a:srgbClr>
          </a:solidFill>
          <a:ln w="57150">
            <a:solidFill>
              <a:srgbClr val="1F5F8B"/>
            </a:solidFill>
            <a:prstDash val="solid"/>
          </a:ln>
        </p:spPr>
        <p:txBody>
          <a:bodyPr/>
          <a:lstStyle/>
          <a:p>
            <a:endParaRPr lang="zh-CN" altLang="en-US"/>
          </a:p>
        </p:txBody>
      </p:sp>
      <p:sp>
        <p:nvSpPr>
          <p:cNvPr id="23" name="Text 21"/>
          <p:cNvSpPr/>
          <p:nvPr/>
        </p:nvSpPr>
        <p:spPr>
          <a:xfrm>
            <a:off x="4311443" y="3390900"/>
            <a:ext cx="2997175" cy="3143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assistant 回复为空</a:t>
            </a:r>
            <a:endParaRPr lang="en-US" sz="1750" dirty="0"/>
          </a:p>
        </p:txBody>
      </p:sp>
      <p:sp>
        <p:nvSpPr>
          <p:cNvPr id="24" name="Text 22"/>
          <p:cNvSpPr/>
          <p:nvPr/>
        </p:nvSpPr>
        <p:spPr>
          <a:xfrm>
            <a:off x="4311443" y="3705225"/>
            <a:ext cx="2997175" cy="457200"/>
          </a:xfrm>
          <a:prstGeom prst="rect">
            <a:avLst/>
          </a:prstGeom>
          <a:noFill/>
          <a:ln/>
        </p:spPr>
        <p:txBody>
          <a:bodyPr wrap="square" lIns="0" tIns="0" rIns="0" bIns="0" rtlCol="0" anchor="t"/>
          <a:lstStyle/>
          <a:p>
            <a:pPr marL="0" indent="0" algn="l">
              <a:buNone/>
            </a:pPr>
            <a:r>
              <a:rPr lang="en-US" sz="1600" dirty="0">
                <a:solidFill>
                  <a:srgbClr val="334155"/>
                </a:solidFill>
                <a:latin typeface="Helvetica Neue" pitchFamily="34" charset="0"/>
                <a:ea typeface="Helvetica Neue" pitchFamily="34" charset="-122"/>
                <a:cs typeface="Helvetica Neue" pitchFamily="34" charset="-120"/>
              </a:rPr>
              <a:t>提示空回复，不写入历史，允许用户重试。</a:t>
            </a:r>
            <a:endParaRPr lang="en-US" sz="1600" dirty="0"/>
          </a:p>
        </p:txBody>
      </p:sp>
      <p:sp>
        <p:nvSpPr>
          <p:cNvPr id="25" name="Shape 23"/>
          <p:cNvSpPr/>
          <p:nvPr/>
        </p:nvSpPr>
        <p:spPr>
          <a:xfrm>
            <a:off x="7689608" y="3200400"/>
            <a:ext cx="3473413" cy="142875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26" name="Shape 24"/>
          <p:cNvSpPr/>
          <p:nvPr/>
        </p:nvSpPr>
        <p:spPr>
          <a:xfrm>
            <a:off x="7718182" y="3200400"/>
            <a:ext cx="0" cy="14287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27" name="Text 25"/>
          <p:cNvSpPr/>
          <p:nvPr/>
        </p:nvSpPr>
        <p:spPr>
          <a:xfrm>
            <a:off x="7956301" y="3390900"/>
            <a:ext cx="2997175" cy="3143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验收观察</a:t>
            </a:r>
            <a:endParaRPr lang="en-US" sz="1750" dirty="0"/>
          </a:p>
        </p:txBody>
      </p:sp>
      <p:sp>
        <p:nvSpPr>
          <p:cNvPr id="28" name="Text 26"/>
          <p:cNvSpPr/>
          <p:nvPr/>
        </p:nvSpPr>
        <p:spPr>
          <a:xfrm>
            <a:off x="7956301" y="3705225"/>
            <a:ext cx="2997175" cy="457200"/>
          </a:xfrm>
          <a:prstGeom prst="rect">
            <a:avLst/>
          </a:prstGeom>
          <a:noFill/>
          <a:ln/>
        </p:spPr>
        <p:txBody>
          <a:bodyPr wrap="square" lIns="0" tIns="0" rIns="0" bIns="0" rtlCol="0" anchor="t"/>
          <a:lstStyle/>
          <a:p>
            <a:pPr marL="0" indent="0" algn="l">
              <a:buNone/>
            </a:pPr>
            <a:r>
              <a:rPr lang="en-US" sz="1600" dirty="0">
                <a:solidFill>
                  <a:srgbClr val="334155"/>
                </a:solidFill>
                <a:latin typeface="Helvetica Neue" pitchFamily="34" charset="0"/>
                <a:ea typeface="Helvetica Neue" pitchFamily="34" charset="-122"/>
                <a:cs typeface="Helvetica Neue" pitchFamily="34" charset="-120"/>
              </a:rPr>
              <a:t>python -m </a:t>
            </a:r>
            <a:r>
              <a:rPr lang="en-US" sz="1600" dirty="0" err="1">
                <a:solidFill>
                  <a:srgbClr val="334155"/>
                </a:solidFill>
                <a:latin typeface="Helvetica Neue" pitchFamily="34" charset="0"/>
                <a:ea typeface="Helvetica Neue" pitchFamily="34" charset="-122"/>
                <a:cs typeface="Helvetica Neue" pitchFamily="34" charset="-120"/>
              </a:rPr>
              <a:t>sjtuclaw.integrations.cli</a:t>
            </a:r>
            <a:r>
              <a:rPr lang="en-US" sz="1600" dirty="0">
                <a:solidFill>
                  <a:srgbClr val="334155"/>
                </a:solidFill>
                <a:latin typeface="Helvetica Neue" pitchFamily="34" charset="0"/>
                <a:ea typeface="Helvetica Neue" pitchFamily="34" charset="-122"/>
                <a:cs typeface="Helvetica Neue" pitchFamily="34" charset="-120"/>
              </a:rPr>
              <a:t> 能连续输入多轮。</a:t>
            </a:r>
            <a:endParaRPr lang="en-US" sz="1600" dirty="0"/>
          </a:p>
        </p:txBody>
      </p:sp>
      <p:sp>
        <p:nvSpPr>
          <p:cNvPr id="29" name="Shape 27"/>
          <p:cNvSpPr/>
          <p:nvPr/>
        </p:nvSpPr>
        <p:spPr>
          <a:xfrm>
            <a:off x="400040" y="5734050"/>
            <a:ext cx="10762981" cy="590550"/>
          </a:xfrm>
          <a:prstGeom prst="rect">
            <a:avLst/>
          </a:prstGeom>
          <a:solidFill>
            <a:srgbClr val="10233C"/>
          </a:solidFill>
          <a:ln w="12700">
            <a:solidFill>
              <a:srgbClr val="FFFFFF">
                <a:alpha val="0"/>
              </a:srgbClr>
            </a:solidFill>
            <a:prstDash val="solid"/>
          </a:ln>
        </p:spPr>
        <p:txBody>
          <a:bodyPr/>
          <a:lstStyle/>
          <a:p>
            <a:endParaRPr lang="zh-CN" altLang="en-US"/>
          </a:p>
        </p:txBody>
      </p:sp>
      <p:sp>
        <p:nvSpPr>
          <p:cNvPr id="30" name="Text 28"/>
          <p:cNvSpPr/>
          <p:nvPr/>
        </p:nvSpPr>
        <p:spPr>
          <a:xfrm>
            <a:off x="600060" y="5895975"/>
            <a:ext cx="10362941" cy="266700"/>
          </a:xfrm>
          <a:prstGeom prst="rect">
            <a:avLst/>
          </a:prstGeom>
          <a:noFill/>
          <a:ln/>
        </p:spPr>
        <p:txBody>
          <a:bodyPr wrap="square" lIns="0" tIns="0" rIns="0" bIns="0" rtlCol="0" anchor="t"/>
          <a:lstStyle/>
          <a:p>
            <a:pPr marL="0" indent="0" algn="l">
              <a:buNone/>
            </a:pPr>
            <a:r>
              <a:rPr lang="en-US" sz="1600" b="1" dirty="0" err="1">
                <a:solidFill>
                  <a:srgbClr val="FFFFFF"/>
                </a:solidFill>
                <a:latin typeface="Helvetica Neue" pitchFamily="34" charset="0"/>
                <a:ea typeface="Helvetica Neue" pitchFamily="34" charset="-122"/>
                <a:cs typeface="Helvetica Neue" pitchFamily="34" charset="-120"/>
              </a:rPr>
              <a:t>核心要求：失败不能污染</a:t>
            </a:r>
            <a:r>
              <a:rPr lang="en-US" sz="1600" b="1" dirty="0">
                <a:solidFill>
                  <a:srgbClr val="FFFFFF"/>
                </a:solidFill>
                <a:latin typeface="Helvetica Neue" pitchFamily="34" charset="0"/>
                <a:ea typeface="Helvetica Neue" pitchFamily="34" charset="-122"/>
                <a:cs typeface="Helvetica Neue" pitchFamily="34" charset="-120"/>
              </a:rPr>
              <a:t> session</a:t>
            </a:r>
            <a:r>
              <a:rPr lang="zh-CN" altLang="en-US" sz="1600" b="1" dirty="0">
                <a:solidFill>
                  <a:srgbClr val="FFFFFF"/>
                </a:solidFill>
                <a:latin typeface="Helvetica Neue" pitchFamily="34" charset="0"/>
                <a:ea typeface="Helvetica Neue" pitchFamily="34" charset="-122"/>
                <a:cs typeface="Helvetica Neue" pitchFamily="34" charset="-120"/>
              </a:rPr>
              <a:t>（错误处理的细节直接决定了用户使用的体验）</a:t>
            </a:r>
            <a:endParaRPr lang="en-US" sz="1600" dirty="0"/>
          </a:p>
        </p:txBody>
      </p:sp>
      <p:sp>
        <p:nvSpPr>
          <p:cNvPr id="31" name="Text 29"/>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15 / 26</a:t>
            </a:r>
            <a:endParaRPr lang="en-US" sz="1000" dirty="0"/>
          </a:p>
        </p:txBody>
      </p:sp>
    </p:spTree>
    <p:extLst>
      <p:ext uri="{BB962C8B-B14F-4D97-AF65-F5344CB8AC3E}">
        <p14:creationId xmlns:p14="http://schemas.microsoft.com/office/powerpoint/2010/main" val="151343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400040" y="323850"/>
            <a:ext cx="642624"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验收标准</a:t>
            </a:r>
            <a:endParaRPr lang="en-US" sz="1150" dirty="0"/>
          </a:p>
        </p:txBody>
      </p:sp>
      <p:sp>
        <p:nvSpPr>
          <p:cNvPr id="4" name="Text 2"/>
          <p:cNvSpPr/>
          <p:nvPr/>
        </p:nvSpPr>
        <p:spPr>
          <a:xfrm>
            <a:off x="400040" y="609600"/>
            <a:ext cx="10001000"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一个自测验收的标准</a:t>
            </a:r>
            <a:endParaRPr lang="en-US" sz="2950" dirty="0"/>
          </a:p>
        </p:txBody>
      </p:sp>
      <p:sp>
        <p:nvSpPr>
          <p:cNvPr id="5" name="Shape 3"/>
          <p:cNvSpPr/>
          <p:nvPr/>
        </p:nvSpPr>
        <p:spPr>
          <a:xfrm>
            <a:off x="552436" y="1543050"/>
            <a:ext cx="5048124" cy="3543300"/>
          </a:xfrm>
          <a:prstGeom prst="rect">
            <a:avLst/>
          </a:prstGeom>
          <a:solidFill>
            <a:srgbClr val="0F172A"/>
          </a:solidFill>
          <a:ln w="12700">
            <a:solidFill>
              <a:srgbClr val="FFFFFF">
                <a:alpha val="0"/>
              </a:srgbClr>
            </a:solidFill>
            <a:prstDash val="solid"/>
          </a:ln>
        </p:spPr>
        <p:txBody>
          <a:bodyPr/>
          <a:lstStyle/>
          <a:p>
            <a:endParaRPr lang="zh-CN" altLang="en-US"/>
          </a:p>
        </p:txBody>
      </p:sp>
      <p:sp>
        <p:nvSpPr>
          <p:cNvPr id="6" name="Text 4"/>
          <p:cNvSpPr/>
          <p:nvPr/>
        </p:nvSpPr>
        <p:spPr>
          <a:xfrm>
            <a:off x="800080" y="1771650"/>
            <a:ext cx="4552836" cy="3086100"/>
          </a:xfrm>
          <a:prstGeom prst="rect">
            <a:avLst/>
          </a:prstGeom>
          <a:noFill/>
          <a:ln/>
        </p:spPr>
        <p:txBody>
          <a:bodyPr wrap="square" lIns="0" tIns="0" rIns="0" bIns="0" rtlCol="0" anchor="t"/>
          <a:lstStyle/>
          <a:p>
            <a:pPr marL="0" indent="0" algn="l">
              <a:buNone/>
            </a:pPr>
            <a:r>
              <a:rPr lang="en-US" sz="1350" dirty="0">
                <a:solidFill>
                  <a:srgbClr val="DBEAFE"/>
                </a:solidFill>
                <a:latin typeface="Consolas" pitchFamily="34" charset="0"/>
                <a:ea typeface="Consolas" pitchFamily="34" charset="-122"/>
                <a:cs typeface="Consolas" pitchFamily="34" charset="-120"/>
              </a:rPr>
              <a:t>$ python -m </a:t>
            </a:r>
            <a:r>
              <a:rPr lang="en-US" sz="1350" dirty="0" err="1">
                <a:solidFill>
                  <a:srgbClr val="DBEAFE"/>
                </a:solidFill>
                <a:latin typeface="Consolas" pitchFamily="34" charset="0"/>
                <a:ea typeface="Consolas" pitchFamily="34" charset="-122"/>
                <a:cs typeface="Consolas" pitchFamily="34" charset="-120"/>
              </a:rPr>
              <a:t>sjtuclaw.integrations.cli</a:t>
            </a:r>
            <a:endParaRPr lang="en-US" sz="1350" dirty="0"/>
          </a:p>
          <a:p>
            <a:pPr marL="0" indent="0" algn="l">
              <a:buNone/>
            </a:pP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claw started. Type /exit to quit.</a:t>
            </a:r>
            <a:endParaRPr lang="en-US" sz="1350" dirty="0"/>
          </a:p>
          <a:p>
            <a:pPr marL="0" indent="0" algn="l">
              <a:buNone/>
            </a:pP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User&gt; 你好，我叫小明。</a:t>
            </a: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Assistant&gt; 你好，小明！</a:t>
            </a:r>
            <a:endParaRPr lang="en-US" sz="1350" dirty="0"/>
          </a:p>
          <a:p>
            <a:pPr marL="0" indent="0" algn="l">
              <a:buNone/>
            </a:pP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User&gt; 我刚才说我叫什么？</a:t>
            </a: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Assistant&gt; 你刚才说你叫小明。</a:t>
            </a:r>
            <a:endParaRPr lang="en-US" sz="1350" dirty="0"/>
          </a:p>
          <a:p>
            <a:pPr marL="0" indent="0" algn="l">
              <a:buNone/>
            </a:pP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User&gt; /exit</a:t>
            </a:r>
            <a:endParaRPr lang="en-US" sz="1350" dirty="0"/>
          </a:p>
          <a:p>
            <a:pPr marL="0" indent="0" algn="l">
              <a:buNone/>
            </a:pPr>
            <a:r>
              <a:rPr lang="en-US" sz="1350" dirty="0">
                <a:solidFill>
                  <a:srgbClr val="DBEAFE"/>
                </a:solidFill>
                <a:latin typeface="Consolas" pitchFamily="34" charset="0"/>
                <a:ea typeface="Consolas" pitchFamily="34" charset="-122"/>
                <a:cs typeface="Consolas" pitchFamily="34" charset="-120"/>
              </a:rPr>
              <a:t>bye.</a:t>
            </a:r>
            <a:endParaRPr lang="en-US" sz="1350" dirty="0"/>
          </a:p>
        </p:txBody>
      </p:sp>
      <p:sp>
        <p:nvSpPr>
          <p:cNvPr id="7" name="Shape 5"/>
          <p:cNvSpPr/>
          <p:nvPr/>
        </p:nvSpPr>
        <p:spPr>
          <a:xfrm>
            <a:off x="6533987" y="1543050"/>
            <a:ext cx="5048124" cy="51435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8" name="Shape 6"/>
          <p:cNvSpPr/>
          <p:nvPr/>
        </p:nvSpPr>
        <p:spPr>
          <a:xfrm>
            <a:off x="6557799" y="1543050"/>
            <a:ext cx="0" cy="5143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9" name="Text 7"/>
          <p:cNvSpPr/>
          <p:nvPr/>
        </p:nvSpPr>
        <p:spPr>
          <a:xfrm>
            <a:off x="6762581" y="1685925"/>
            <a:ext cx="4638559" cy="228600"/>
          </a:xfrm>
          <a:prstGeom prst="rect">
            <a:avLst/>
          </a:prstGeom>
          <a:noFill/>
          <a:ln/>
        </p:spPr>
        <p:txBody>
          <a:bodyPr wrap="square" lIns="0" tIns="0" rIns="0" bIns="0" rtlCol="0" anchor="t"/>
          <a:lstStyle/>
          <a:p>
            <a:pPr marL="0" indent="0" algn="l">
              <a:buNone/>
            </a:pPr>
            <a:r>
              <a:rPr lang="en-US" sz="1400" dirty="0">
                <a:solidFill>
                  <a:srgbClr val="334155"/>
                </a:solidFill>
                <a:latin typeface="Helvetica Neue" pitchFamily="34" charset="0"/>
                <a:ea typeface="Helvetica Neue" pitchFamily="34" charset="-122"/>
                <a:cs typeface="Helvetica Neue" pitchFamily="34" charset="-120"/>
              </a:rPr>
              <a:t>每轮 user 输入追加到当前 session。</a:t>
            </a:r>
            <a:endParaRPr lang="en-US" sz="1400" dirty="0"/>
          </a:p>
        </p:txBody>
      </p:sp>
      <p:sp>
        <p:nvSpPr>
          <p:cNvPr id="10" name="Shape 8"/>
          <p:cNvSpPr/>
          <p:nvPr/>
        </p:nvSpPr>
        <p:spPr>
          <a:xfrm>
            <a:off x="6533987" y="2171700"/>
            <a:ext cx="5048124" cy="51435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1" name="Shape 9"/>
          <p:cNvSpPr/>
          <p:nvPr/>
        </p:nvSpPr>
        <p:spPr>
          <a:xfrm>
            <a:off x="6557799" y="2171700"/>
            <a:ext cx="0" cy="5143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2" name="Text 10"/>
          <p:cNvSpPr/>
          <p:nvPr/>
        </p:nvSpPr>
        <p:spPr>
          <a:xfrm>
            <a:off x="6762581" y="2314575"/>
            <a:ext cx="4638559" cy="228600"/>
          </a:xfrm>
          <a:prstGeom prst="rect">
            <a:avLst/>
          </a:prstGeom>
          <a:noFill/>
          <a:ln/>
        </p:spPr>
        <p:txBody>
          <a:bodyPr wrap="square" lIns="0" tIns="0" rIns="0" bIns="0" rtlCol="0" anchor="t"/>
          <a:lstStyle/>
          <a:p>
            <a:pPr marL="0" indent="0" algn="l">
              <a:buNone/>
            </a:pPr>
            <a:r>
              <a:rPr lang="en-US" sz="1400" dirty="0">
                <a:solidFill>
                  <a:srgbClr val="334155"/>
                </a:solidFill>
                <a:latin typeface="Helvetica Neue" pitchFamily="34" charset="0"/>
                <a:ea typeface="Helvetica Neue" pitchFamily="34" charset="-122"/>
                <a:cs typeface="Helvetica Neue" pitchFamily="34" charset="-120"/>
              </a:rPr>
              <a:t>每轮 assistant 回复追加到当前 session。</a:t>
            </a:r>
            <a:endParaRPr lang="en-US" sz="1400" dirty="0"/>
          </a:p>
        </p:txBody>
      </p:sp>
      <p:sp>
        <p:nvSpPr>
          <p:cNvPr id="13" name="Shape 11"/>
          <p:cNvSpPr/>
          <p:nvPr/>
        </p:nvSpPr>
        <p:spPr>
          <a:xfrm>
            <a:off x="6533987" y="2800350"/>
            <a:ext cx="5048124" cy="51435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4" name="Shape 12"/>
          <p:cNvSpPr/>
          <p:nvPr/>
        </p:nvSpPr>
        <p:spPr>
          <a:xfrm>
            <a:off x="6557799" y="2800350"/>
            <a:ext cx="0" cy="5143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5" name="Text 13"/>
          <p:cNvSpPr/>
          <p:nvPr/>
        </p:nvSpPr>
        <p:spPr>
          <a:xfrm>
            <a:off x="6762581" y="2943225"/>
            <a:ext cx="4638559" cy="228600"/>
          </a:xfrm>
          <a:prstGeom prst="rect">
            <a:avLst/>
          </a:prstGeom>
          <a:noFill/>
          <a:ln/>
        </p:spPr>
        <p:txBody>
          <a:bodyPr wrap="square" lIns="0" tIns="0" rIns="0" bIns="0" rtlCol="0" anchor="t"/>
          <a:lstStyle/>
          <a:p>
            <a:pPr marL="0" indent="0" algn="l">
              <a:buNone/>
            </a:pPr>
            <a:r>
              <a:rPr lang="en-US" sz="1400" dirty="0">
                <a:solidFill>
                  <a:srgbClr val="334155"/>
                </a:solidFill>
                <a:latin typeface="Helvetica Neue" pitchFamily="34" charset="0"/>
                <a:ea typeface="Helvetica Neue" pitchFamily="34" charset="-122"/>
                <a:cs typeface="Helvetica Neue" pitchFamily="34" charset="-120"/>
              </a:rPr>
              <a:t>发送给模型的是完整 session messages。</a:t>
            </a:r>
            <a:endParaRPr lang="en-US" sz="1400" dirty="0"/>
          </a:p>
        </p:txBody>
      </p:sp>
      <p:sp>
        <p:nvSpPr>
          <p:cNvPr id="16" name="Shape 14"/>
          <p:cNvSpPr/>
          <p:nvPr/>
        </p:nvSpPr>
        <p:spPr>
          <a:xfrm>
            <a:off x="6533987" y="3429000"/>
            <a:ext cx="5048124" cy="51435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7" name="Shape 15"/>
          <p:cNvSpPr/>
          <p:nvPr/>
        </p:nvSpPr>
        <p:spPr>
          <a:xfrm>
            <a:off x="6557799" y="3429000"/>
            <a:ext cx="0" cy="5143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8" name="Text 16"/>
          <p:cNvSpPr/>
          <p:nvPr/>
        </p:nvSpPr>
        <p:spPr>
          <a:xfrm>
            <a:off x="6762581" y="3571875"/>
            <a:ext cx="4638559" cy="228600"/>
          </a:xfrm>
          <a:prstGeom prst="rect">
            <a:avLst/>
          </a:prstGeom>
          <a:noFill/>
          <a:ln/>
        </p:spPr>
        <p:txBody>
          <a:bodyPr wrap="square" lIns="0" tIns="0" rIns="0" bIns="0" rtlCol="0" anchor="t"/>
          <a:lstStyle/>
          <a:p>
            <a:pPr marL="0" indent="0" algn="l">
              <a:buNone/>
            </a:pPr>
            <a:r>
              <a:rPr lang="en-US" sz="1400" dirty="0">
                <a:solidFill>
                  <a:srgbClr val="334155"/>
                </a:solidFill>
                <a:latin typeface="Helvetica Neue" pitchFamily="34" charset="0"/>
                <a:ea typeface="Helvetica Neue" pitchFamily="34" charset="-122"/>
                <a:cs typeface="Helvetica Neue" pitchFamily="34" charset="-120"/>
              </a:rPr>
              <a:t>CLI 不直接组织 LLM 请求细节。</a:t>
            </a:r>
            <a:endParaRPr lang="en-US" sz="1400" dirty="0"/>
          </a:p>
        </p:txBody>
      </p:sp>
      <p:sp>
        <p:nvSpPr>
          <p:cNvPr id="19" name="Shape 17"/>
          <p:cNvSpPr/>
          <p:nvPr/>
        </p:nvSpPr>
        <p:spPr>
          <a:xfrm>
            <a:off x="6533987" y="4057650"/>
            <a:ext cx="5048124" cy="51435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20" name="Shape 18"/>
          <p:cNvSpPr/>
          <p:nvPr/>
        </p:nvSpPr>
        <p:spPr>
          <a:xfrm>
            <a:off x="6557799" y="4057650"/>
            <a:ext cx="0" cy="51435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21" name="Text 19"/>
          <p:cNvSpPr/>
          <p:nvPr/>
        </p:nvSpPr>
        <p:spPr>
          <a:xfrm>
            <a:off x="6762581" y="4200525"/>
            <a:ext cx="4638559" cy="228600"/>
          </a:xfrm>
          <a:prstGeom prst="rect">
            <a:avLst/>
          </a:prstGeom>
          <a:noFill/>
          <a:ln/>
        </p:spPr>
        <p:txBody>
          <a:bodyPr wrap="square" lIns="0" tIns="0" rIns="0" bIns="0" rtlCol="0" anchor="t"/>
          <a:lstStyle/>
          <a:p>
            <a:pPr marL="0" indent="0" algn="l">
              <a:buNone/>
            </a:pPr>
            <a:r>
              <a:rPr lang="en-US" sz="1400" dirty="0">
                <a:solidFill>
                  <a:srgbClr val="334155"/>
                </a:solidFill>
                <a:latin typeface="Helvetica Neue" pitchFamily="34" charset="0"/>
                <a:ea typeface="Helvetica Neue" pitchFamily="34" charset="-122"/>
                <a:cs typeface="Helvetica Neue" pitchFamily="34" charset="-120"/>
              </a:rPr>
              <a:t>程序退出后历史可先丢失，运行期间必须生效。</a:t>
            </a:r>
            <a:endParaRPr lang="en-US" sz="1400" dirty="0"/>
          </a:p>
        </p:txBody>
      </p:sp>
      <p:sp>
        <p:nvSpPr>
          <p:cNvPr id="22" name="Shape 20"/>
          <p:cNvSpPr/>
          <p:nvPr/>
        </p:nvSpPr>
        <p:spPr>
          <a:xfrm>
            <a:off x="552436" y="5715000"/>
            <a:ext cx="10667733" cy="590550"/>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23" name="Shape 21"/>
          <p:cNvSpPr/>
          <p:nvPr/>
        </p:nvSpPr>
        <p:spPr>
          <a:xfrm>
            <a:off x="581010" y="5715000"/>
            <a:ext cx="0" cy="5905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24" name="Text 22"/>
          <p:cNvSpPr/>
          <p:nvPr/>
        </p:nvSpPr>
        <p:spPr>
          <a:xfrm>
            <a:off x="800080" y="5867400"/>
            <a:ext cx="10229594" cy="285750"/>
          </a:xfrm>
          <a:prstGeom prst="rect">
            <a:avLst/>
          </a:prstGeom>
          <a:noFill/>
          <a:ln/>
        </p:spPr>
        <p:txBody>
          <a:bodyPr wrap="square" lIns="0" tIns="0" rIns="0" bIns="0" rtlCol="0" anchor="t"/>
          <a:lstStyle/>
          <a:p>
            <a:pPr marL="0" indent="0" algn="l">
              <a:buNone/>
            </a:pPr>
            <a:r>
              <a:rPr lang="en-US" sz="1600" b="1" dirty="0">
                <a:solidFill>
                  <a:srgbClr val="134E4A"/>
                </a:solidFill>
                <a:latin typeface="Helvetica Neue" pitchFamily="34" charset="0"/>
                <a:ea typeface="Helvetica Neue" pitchFamily="34" charset="-122"/>
                <a:cs typeface="Helvetica Neue" pitchFamily="34" charset="-120"/>
              </a:rPr>
              <a:t>常见错误：第二轮记不住第一轮，通常是因为只发送了最后一句 user message。</a:t>
            </a:r>
            <a:endParaRPr lang="en-US" sz="1600" dirty="0"/>
          </a:p>
        </p:txBody>
      </p:sp>
      <p:sp>
        <p:nvSpPr>
          <p:cNvPr id="25" name="Text 23"/>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16 / 26</a:t>
            </a:r>
            <a:endParaRPr lang="en-US" sz="1000" dirty="0"/>
          </a:p>
        </p:txBody>
      </p:sp>
      <p:sp>
        <p:nvSpPr>
          <p:cNvPr id="26" name="文本框 25">
            <a:extLst>
              <a:ext uri="{FF2B5EF4-FFF2-40B4-BE49-F238E27FC236}">
                <a16:creationId xmlns:a16="http://schemas.microsoft.com/office/drawing/2014/main" id="{51E1BA2A-C7A3-626A-C1F6-34197BB17B4E}"/>
              </a:ext>
            </a:extLst>
          </p:cNvPr>
          <p:cNvSpPr txBox="1"/>
          <p:nvPr/>
        </p:nvSpPr>
        <p:spPr>
          <a:xfrm>
            <a:off x="491829" y="5124450"/>
            <a:ext cx="9927205" cy="369332"/>
          </a:xfrm>
          <a:prstGeom prst="rect">
            <a:avLst/>
          </a:prstGeom>
          <a:noFill/>
        </p:spPr>
        <p:txBody>
          <a:bodyPr wrap="none" rtlCol="0">
            <a:spAutoFit/>
          </a:bodyPr>
          <a:lstStyle/>
          <a:p>
            <a:r>
              <a:rPr kumimoji="1" lang="zh-CN" altLang="en-US" dirty="0"/>
              <a:t>大家和自己的</a:t>
            </a:r>
            <a:r>
              <a:rPr kumimoji="1" lang="en-US" altLang="zh-CN" dirty="0"/>
              <a:t> AI</a:t>
            </a:r>
            <a:r>
              <a:rPr kumimoji="1" lang="zh-CN" altLang="en-US" dirty="0"/>
              <a:t> </a:t>
            </a:r>
            <a:r>
              <a:rPr kumimoji="1" lang="en-US" altLang="zh-CN" dirty="0"/>
              <a:t>IDE </a:t>
            </a:r>
            <a:r>
              <a:rPr kumimoji="1" lang="zh-CN" altLang="en-US" dirty="0"/>
              <a:t>配合，大概能够实现类似上面的效果，就说明已经能够保持住会话的内容了</a:t>
            </a:r>
          </a:p>
        </p:txBody>
      </p:sp>
    </p:spTree>
    <p:extLst>
      <p:ext uri="{BB962C8B-B14F-4D97-AF65-F5344CB8AC3E}">
        <p14:creationId xmlns:p14="http://schemas.microsoft.com/office/powerpoint/2010/main" val="2911690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4864A-87A5-36EB-880C-3CF496672CF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2E5D0EC-8BDF-88B7-87D1-317477921ED1}"/>
              </a:ext>
            </a:extLst>
          </p:cNvPr>
          <p:cNvSpPr/>
          <p:nvPr/>
        </p:nvSpPr>
        <p:spPr>
          <a:xfrm>
            <a:off x="400040" y="609600"/>
            <a:ext cx="9905752" cy="800100"/>
          </a:xfrm>
          <a:prstGeom prst="rect">
            <a:avLst/>
          </a:prstGeom>
          <a:noFill/>
          <a:ln/>
        </p:spPr>
        <p:txBody>
          <a:bodyPr wrap="square" lIns="0" tIns="0" rIns="0" bIns="0" rtlCol="0" anchor="t"/>
          <a:lstStyle/>
          <a:p>
            <a:pPr marL="0" indent="0" algn="l">
              <a:buNone/>
            </a:pPr>
            <a:r>
              <a:rPr lang="zh-CN" altLang="en-US" sz="2850" b="1" dirty="0">
                <a:solidFill>
                  <a:srgbClr val="111827"/>
                </a:solidFill>
                <a:latin typeface="Helvetica Neue" pitchFamily="34" charset="0"/>
                <a:ea typeface="Helvetica Neue" pitchFamily="34" charset="-122"/>
                <a:cs typeface="Helvetica Neue" pitchFamily="34" charset="-120"/>
              </a:rPr>
              <a:t>会话（</a:t>
            </a:r>
            <a:r>
              <a:rPr lang="en-US" altLang="zh-CN" sz="2850" dirty="0">
                <a:solidFill>
                  <a:srgbClr val="111827"/>
                </a:solidFill>
                <a:latin typeface="Helvetica Neue" pitchFamily="34" charset="0"/>
                <a:ea typeface="Helvetica Neue" pitchFamily="34" charset="-122"/>
                <a:cs typeface="Helvetica Neue" pitchFamily="34" charset="-120"/>
              </a:rPr>
              <a:t>Session</a:t>
            </a:r>
            <a:r>
              <a:rPr lang="zh-CN" altLang="en-US" sz="2850" b="1" dirty="0">
                <a:solidFill>
                  <a:srgbClr val="111827"/>
                </a:solidFill>
                <a:latin typeface="Helvetica Neue" pitchFamily="34" charset="0"/>
                <a:ea typeface="Helvetica Neue" pitchFamily="34" charset="-122"/>
                <a:cs typeface="Helvetica Neue" pitchFamily="34" charset="-120"/>
              </a:rPr>
              <a:t>）与多会话管理</a:t>
            </a:r>
            <a:endParaRPr lang="en-US" sz="2850" dirty="0"/>
          </a:p>
        </p:txBody>
      </p:sp>
      <p:sp>
        <p:nvSpPr>
          <p:cNvPr id="19" name="Text 17">
            <a:extLst>
              <a:ext uri="{FF2B5EF4-FFF2-40B4-BE49-F238E27FC236}">
                <a16:creationId xmlns:a16="http://schemas.microsoft.com/office/drawing/2014/main" id="{914AE8FC-520A-E8D9-FF42-8E8B050908F0}"/>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12 / 26</a:t>
            </a:r>
            <a:endParaRPr lang="en-US" sz="1000" dirty="0"/>
          </a:p>
        </p:txBody>
      </p:sp>
      <p:sp>
        <p:nvSpPr>
          <p:cNvPr id="24" name="文本框 23">
            <a:extLst>
              <a:ext uri="{FF2B5EF4-FFF2-40B4-BE49-F238E27FC236}">
                <a16:creationId xmlns:a16="http://schemas.microsoft.com/office/drawing/2014/main" id="{9DEB0EDC-72B7-BC28-8905-5F8FFE8392E5}"/>
              </a:ext>
            </a:extLst>
          </p:cNvPr>
          <p:cNvSpPr txBox="1"/>
          <p:nvPr/>
        </p:nvSpPr>
        <p:spPr>
          <a:xfrm>
            <a:off x="400040" y="1700808"/>
            <a:ext cx="11372565" cy="461665"/>
          </a:xfrm>
          <a:prstGeom prst="rect">
            <a:avLst/>
          </a:prstGeom>
          <a:noFill/>
        </p:spPr>
        <p:txBody>
          <a:bodyPr wrap="square" rtlCol="0">
            <a:spAutoFit/>
          </a:bodyPr>
          <a:lstStyle/>
          <a:p>
            <a:r>
              <a:rPr kumimoji="1" lang="zh-CN" altLang="en-US" sz="2400" dirty="0"/>
              <a:t>什么是一个会话（</a:t>
            </a:r>
            <a:r>
              <a:rPr kumimoji="1" lang="en-US" altLang="zh-CN" sz="2400" dirty="0"/>
              <a:t>Session</a:t>
            </a:r>
            <a:r>
              <a:rPr kumimoji="1" lang="zh-CN" altLang="en-US" sz="2400" dirty="0"/>
              <a:t>）？</a:t>
            </a:r>
          </a:p>
        </p:txBody>
      </p:sp>
      <p:pic>
        <p:nvPicPr>
          <p:cNvPr id="2" name="图片 1">
            <a:extLst>
              <a:ext uri="{FF2B5EF4-FFF2-40B4-BE49-F238E27FC236}">
                <a16:creationId xmlns:a16="http://schemas.microsoft.com/office/drawing/2014/main" id="{140AE666-0F26-B70E-26F0-4C448EEBB4FE}"/>
              </a:ext>
            </a:extLst>
          </p:cNvPr>
          <p:cNvPicPr>
            <a:picLocks noChangeAspect="1"/>
          </p:cNvPicPr>
          <p:nvPr/>
        </p:nvPicPr>
        <p:blipFill>
          <a:blip r:embed="rId3"/>
          <a:stretch>
            <a:fillRect/>
          </a:stretch>
        </p:blipFill>
        <p:spPr>
          <a:xfrm>
            <a:off x="1466716" y="3089895"/>
            <a:ext cx="7772400" cy="3158505"/>
          </a:xfrm>
          <a:prstGeom prst="rect">
            <a:avLst/>
          </a:prstGeom>
        </p:spPr>
      </p:pic>
      <p:sp>
        <p:nvSpPr>
          <p:cNvPr id="5" name="圆角矩形 4">
            <a:extLst>
              <a:ext uri="{FF2B5EF4-FFF2-40B4-BE49-F238E27FC236}">
                <a16:creationId xmlns:a16="http://schemas.microsoft.com/office/drawing/2014/main" id="{B1B51BE1-92AA-E722-267B-B5B775673617}"/>
              </a:ext>
            </a:extLst>
          </p:cNvPr>
          <p:cNvSpPr/>
          <p:nvPr/>
        </p:nvSpPr>
        <p:spPr>
          <a:xfrm>
            <a:off x="1127448" y="3717032"/>
            <a:ext cx="1872208" cy="2531368"/>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633E4B70-147B-8C5E-EE5E-8598228E776F}"/>
              </a:ext>
            </a:extLst>
          </p:cNvPr>
          <p:cNvSpPr txBox="1"/>
          <p:nvPr/>
        </p:nvSpPr>
        <p:spPr>
          <a:xfrm>
            <a:off x="817057" y="6292334"/>
            <a:ext cx="2492990" cy="369332"/>
          </a:xfrm>
          <a:prstGeom prst="rect">
            <a:avLst/>
          </a:prstGeom>
          <a:noFill/>
        </p:spPr>
        <p:txBody>
          <a:bodyPr wrap="none" rtlCol="0">
            <a:spAutoFit/>
          </a:bodyPr>
          <a:lstStyle/>
          <a:p>
            <a:r>
              <a:rPr kumimoji="1" lang="zh-CN" altLang="en-US" dirty="0"/>
              <a:t>每一个，都是一个会话</a:t>
            </a:r>
          </a:p>
        </p:txBody>
      </p:sp>
      <p:pic>
        <p:nvPicPr>
          <p:cNvPr id="7" name="图片 6">
            <a:extLst>
              <a:ext uri="{FF2B5EF4-FFF2-40B4-BE49-F238E27FC236}">
                <a16:creationId xmlns:a16="http://schemas.microsoft.com/office/drawing/2014/main" id="{FAC532AA-710E-3B18-7BB0-988B2FC9B693}"/>
              </a:ext>
            </a:extLst>
          </p:cNvPr>
          <p:cNvPicPr>
            <a:picLocks noChangeAspect="1"/>
          </p:cNvPicPr>
          <p:nvPr/>
        </p:nvPicPr>
        <p:blipFill>
          <a:blip r:embed="rId4"/>
          <a:stretch>
            <a:fillRect/>
          </a:stretch>
        </p:blipFill>
        <p:spPr>
          <a:xfrm>
            <a:off x="5793002" y="1707087"/>
            <a:ext cx="6120680" cy="2009945"/>
          </a:xfrm>
          <a:prstGeom prst="rect">
            <a:avLst/>
          </a:prstGeom>
        </p:spPr>
      </p:pic>
      <p:sp>
        <p:nvSpPr>
          <p:cNvPr id="8" name="矩形 7">
            <a:extLst>
              <a:ext uri="{FF2B5EF4-FFF2-40B4-BE49-F238E27FC236}">
                <a16:creationId xmlns:a16="http://schemas.microsoft.com/office/drawing/2014/main" id="{F645D832-885D-7535-C763-15D4848E30ED}"/>
              </a:ext>
            </a:extLst>
          </p:cNvPr>
          <p:cNvSpPr/>
          <p:nvPr/>
        </p:nvSpPr>
        <p:spPr>
          <a:xfrm>
            <a:off x="419395" y="5265395"/>
            <a:ext cx="3084317" cy="458832"/>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0" name="直线连接符 9">
            <a:extLst>
              <a:ext uri="{FF2B5EF4-FFF2-40B4-BE49-F238E27FC236}">
                <a16:creationId xmlns:a16="http://schemas.microsoft.com/office/drawing/2014/main" id="{D8D8988E-04C4-9D41-6656-A51E3DA1B1E8}"/>
              </a:ext>
            </a:extLst>
          </p:cNvPr>
          <p:cNvCxnSpPr>
            <a:endCxn id="7" idx="1"/>
          </p:cNvCxnSpPr>
          <p:nvPr/>
        </p:nvCxnSpPr>
        <p:spPr>
          <a:xfrm flipV="1">
            <a:off x="3503712" y="2712060"/>
            <a:ext cx="2289290" cy="2827501"/>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9073F520-9FE1-505B-2B2A-9EFCAA1C6A03}"/>
              </a:ext>
            </a:extLst>
          </p:cNvPr>
          <p:cNvSpPr txBox="1"/>
          <p:nvPr/>
        </p:nvSpPr>
        <p:spPr>
          <a:xfrm>
            <a:off x="6816080" y="1185922"/>
            <a:ext cx="3877985" cy="369332"/>
          </a:xfrm>
          <a:prstGeom prst="rect">
            <a:avLst/>
          </a:prstGeom>
          <a:noFill/>
        </p:spPr>
        <p:txBody>
          <a:bodyPr wrap="none" rtlCol="0">
            <a:spAutoFit/>
          </a:bodyPr>
          <a:lstStyle/>
          <a:p>
            <a:r>
              <a:rPr kumimoji="1" lang="zh-CN" altLang="en-US" dirty="0"/>
              <a:t>不同的会话中的历史信息是不共享的</a:t>
            </a:r>
          </a:p>
        </p:txBody>
      </p:sp>
    </p:spTree>
    <p:extLst>
      <p:ext uri="{BB962C8B-B14F-4D97-AF65-F5344CB8AC3E}">
        <p14:creationId xmlns:p14="http://schemas.microsoft.com/office/powerpoint/2010/main" val="352288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CBCFA-1CC8-06AD-0FC4-A4AF707B470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A026DBF-91AF-6CE3-3A1A-95BDAB44FDD9}"/>
              </a:ext>
            </a:extLst>
          </p:cNvPr>
          <p:cNvSpPr/>
          <p:nvPr/>
        </p:nvSpPr>
        <p:spPr>
          <a:xfrm>
            <a:off x="400040" y="609600"/>
            <a:ext cx="9905752" cy="800100"/>
          </a:xfrm>
          <a:prstGeom prst="rect">
            <a:avLst/>
          </a:prstGeom>
          <a:noFill/>
          <a:ln/>
        </p:spPr>
        <p:txBody>
          <a:bodyPr wrap="square" lIns="0" tIns="0" rIns="0" bIns="0" rtlCol="0" anchor="t"/>
          <a:lstStyle/>
          <a:p>
            <a:pPr marL="0" indent="0" algn="l">
              <a:buNone/>
            </a:pPr>
            <a:r>
              <a:rPr lang="zh-CN" altLang="en-US" sz="2850" b="1" dirty="0">
                <a:solidFill>
                  <a:srgbClr val="111827"/>
                </a:solidFill>
                <a:latin typeface="Helvetica Neue" pitchFamily="34" charset="0"/>
                <a:ea typeface="Helvetica Neue" pitchFamily="34" charset="-122"/>
                <a:cs typeface="Helvetica Neue" pitchFamily="34" charset="-120"/>
              </a:rPr>
              <a:t>会话（</a:t>
            </a:r>
            <a:r>
              <a:rPr lang="en-US" altLang="zh-CN" sz="2850" dirty="0">
                <a:solidFill>
                  <a:srgbClr val="111827"/>
                </a:solidFill>
                <a:latin typeface="Helvetica Neue" pitchFamily="34" charset="0"/>
                <a:ea typeface="Helvetica Neue" pitchFamily="34" charset="-122"/>
                <a:cs typeface="Helvetica Neue" pitchFamily="34" charset="-120"/>
              </a:rPr>
              <a:t>Session</a:t>
            </a:r>
            <a:r>
              <a:rPr lang="zh-CN" altLang="en-US" sz="2850" b="1" dirty="0">
                <a:solidFill>
                  <a:srgbClr val="111827"/>
                </a:solidFill>
                <a:latin typeface="Helvetica Neue" pitchFamily="34" charset="0"/>
                <a:ea typeface="Helvetica Neue" pitchFamily="34" charset="-122"/>
                <a:cs typeface="Helvetica Neue" pitchFamily="34" charset="-120"/>
              </a:rPr>
              <a:t>）与多会话管理</a:t>
            </a:r>
            <a:endParaRPr lang="en-US" sz="2850" dirty="0"/>
          </a:p>
        </p:txBody>
      </p:sp>
      <p:sp>
        <p:nvSpPr>
          <p:cNvPr id="19" name="Text 17">
            <a:extLst>
              <a:ext uri="{FF2B5EF4-FFF2-40B4-BE49-F238E27FC236}">
                <a16:creationId xmlns:a16="http://schemas.microsoft.com/office/drawing/2014/main" id="{FD6CDEA6-8D86-686B-A860-D974E1DE3ECA}"/>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12 / 26</a:t>
            </a:r>
            <a:endParaRPr lang="en-US" sz="1000" dirty="0"/>
          </a:p>
        </p:txBody>
      </p:sp>
      <p:sp>
        <p:nvSpPr>
          <p:cNvPr id="24" name="文本框 23">
            <a:extLst>
              <a:ext uri="{FF2B5EF4-FFF2-40B4-BE49-F238E27FC236}">
                <a16:creationId xmlns:a16="http://schemas.microsoft.com/office/drawing/2014/main" id="{DDE97762-9C15-AF5F-DC8F-42A42A7E1651}"/>
              </a:ext>
            </a:extLst>
          </p:cNvPr>
          <p:cNvSpPr txBox="1"/>
          <p:nvPr/>
        </p:nvSpPr>
        <p:spPr>
          <a:xfrm>
            <a:off x="400040" y="1700808"/>
            <a:ext cx="11372565" cy="1200329"/>
          </a:xfrm>
          <a:prstGeom prst="rect">
            <a:avLst/>
          </a:prstGeom>
          <a:noFill/>
        </p:spPr>
        <p:txBody>
          <a:bodyPr wrap="square" rtlCol="0">
            <a:spAutoFit/>
          </a:bodyPr>
          <a:lstStyle/>
          <a:p>
            <a:r>
              <a:rPr kumimoji="1" lang="zh-CN" altLang="en-US" sz="2400" dirty="0"/>
              <a:t>什么是一个会话（</a:t>
            </a:r>
            <a:r>
              <a:rPr kumimoji="1" lang="en-US" altLang="zh-CN" sz="2400" dirty="0"/>
              <a:t>Session</a:t>
            </a:r>
            <a:r>
              <a:rPr kumimoji="1" lang="zh-CN" altLang="en-US" sz="2400" dirty="0"/>
              <a:t>）？</a:t>
            </a:r>
            <a:endParaRPr kumimoji="1" lang="en-US" altLang="zh-CN" sz="2400" dirty="0"/>
          </a:p>
          <a:p>
            <a:r>
              <a:rPr kumimoji="1" lang="zh-CN" altLang="en-US" sz="2400" dirty="0"/>
              <a:t>智能体和</a:t>
            </a:r>
            <a:r>
              <a:rPr kumimoji="1" lang="en-US" altLang="zh-CN" sz="2400" dirty="0"/>
              <a:t> </a:t>
            </a:r>
            <a:r>
              <a:rPr kumimoji="1" lang="en-US" altLang="zh-CN" sz="2400" dirty="0" err="1"/>
              <a:t>ChatBot</a:t>
            </a:r>
            <a:r>
              <a:rPr kumimoji="1" lang="en-US" altLang="zh-CN" sz="2400" dirty="0"/>
              <a:t> </a:t>
            </a:r>
            <a:r>
              <a:rPr kumimoji="1" lang="zh-CN" altLang="en-US" sz="2400" dirty="0"/>
              <a:t>类似，同样需要通过</a:t>
            </a:r>
            <a:r>
              <a:rPr kumimoji="1" lang="en-US" altLang="zh-CN" sz="2400" dirty="0"/>
              <a:t> Session </a:t>
            </a:r>
            <a:r>
              <a:rPr kumimoji="1" lang="zh-CN" altLang="en-US" sz="2400" dirty="0"/>
              <a:t>来管理不同的历史交互（不仅仅是对话，还可能包括一些后续我们会介绍到的工具调用等操作）</a:t>
            </a:r>
          </a:p>
        </p:txBody>
      </p:sp>
      <p:sp>
        <p:nvSpPr>
          <p:cNvPr id="9" name="文本框 8">
            <a:extLst>
              <a:ext uri="{FF2B5EF4-FFF2-40B4-BE49-F238E27FC236}">
                <a16:creationId xmlns:a16="http://schemas.microsoft.com/office/drawing/2014/main" id="{98FEC0F3-ECC9-B05C-32FC-67ED63AC475D}"/>
              </a:ext>
            </a:extLst>
          </p:cNvPr>
          <p:cNvSpPr txBox="1"/>
          <p:nvPr/>
        </p:nvSpPr>
        <p:spPr>
          <a:xfrm>
            <a:off x="400040" y="3501008"/>
            <a:ext cx="6100354" cy="1477328"/>
          </a:xfrm>
          <a:prstGeom prst="rect">
            <a:avLst/>
          </a:prstGeom>
          <a:noFill/>
        </p:spPr>
        <p:txBody>
          <a:bodyPr wrap="square">
            <a:spAutoFit/>
          </a:bodyPr>
          <a:lstStyle/>
          <a:p>
            <a:r>
              <a:rPr lang="zh-CN" altLang="en" dirty="0"/>
              <a:t>一个</a:t>
            </a:r>
            <a:r>
              <a:rPr lang="en-US" altLang="zh-CN" dirty="0"/>
              <a:t> </a:t>
            </a:r>
            <a:r>
              <a:rPr lang="en-US" altLang="zh-CN" dirty="0" err="1"/>
              <a:t>SJTUClaw</a:t>
            </a:r>
            <a:r>
              <a:rPr lang="en-US" altLang="zh-CN" dirty="0"/>
              <a:t> </a:t>
            </a:r>
            <a:r>
              <a:rPr lang="zh-CN" altLang="en-US" dirty="0"/>
              <a:t>中可能的会话包括（仅示例）：</a:t>
            </a:r>
            <a:endParaRPr lang="en-US" altLang="zh-CN" dirty="0"/>
          </a:p>
          <a:p>
            <a:endParaRPr lang="en" altLang="zh-CN" dirty="0"/>
          </a:p>
          <a:p>
            <a:r>
              <a:rPr lang="en" altLang="zh-CN" dirty="0"/>
              <a:t>session_001</a:t>
            </a:r>
            <a:r>
              <a:rPr lang="zh-CN" altLang="en" dirty="0"/>
              <a:t>：</a:t>
            </a:r>
            <a:r>
              <a:rPr lang="zh-CN" altLang="en-US" dirty="0"/>
              <a:t>实现 </a:t>
            </a:r>
            <a:r>
              <a:rPr lang="en" altLang="zh-CN" dirty="0"/>
              <a:t>claw </a:t>
            </a:r>
            <a:r>
              <a:rPr lang="zh-CN" altLang="en-US" dirty="0"/>
              <a:t>课程项目 </a:t>
            </a:r>
            <a:endParaRPr lang="en-US" altLang="zh-CN" dirty="0"/>
          </a:p>
          <a:p>
            <a:r>
              <a:rPr lang="en" altLang="zh-CN" dirty="0"/>
              <a:t>session_002</a:t>
            </a:r>
            <a:r>
              <a:rPr lang="zh-CN" altLang="en" dirty="0"/>
              <a:t>：</a:t>
            </a:r>
            <a:r>
              <a:rPr lang="zh-CN" altLang="en-US" dirty="0"/>
              <a:t>复习算法作业 </a:t>
            </a:r>
            <a:endParaRPr lang="en-US" altLang="zh-CN" dirty="0"/>
          </a:p>
          <a:p>
            <a:r>
              <a:rPr lang="en" altLang="zh-CN" dirty="0"/>
              <a:t>session_003</a:t>
            </a:r>
            <a:r>
              <a:rPr lang="zh-CN" altLang="en" dirty="0"/>
              <a:t>：</a:t>
            </a:r>
            <a:r>
              <a:rPr lang="zh-CN" altLang="en-US" dirty="0"/>
              <a:t>整理实习经历</a:t>
            </a:r>
          </a:p>
        </p:txBody>
      </p:sp>
    </p:spTree>
    <p:extLst>
      <p:ext uri="{BB962C8B-B14F-4D97-AF65-F5344CB8AC3E}">
        <p14:creationId xmlns:p14="http://schemas.microsoft.com/office/powerpoint/2010/main" val="1370703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1"/>
          <p:cNvSpPr/>
          <p:nvPr/>
        </p:nvSpPr>
        <p:spPr>
          <a:xfrm>
            <a:off x="0" y="0"/>
            <a:ext cx="2857429" cy="6858000"/>
          </a:xfrm>
          <a:prstGeom prst="rect">
            <a:avLst/>
          </a:prstGeom>
          <a:solidFill>
            <a:srgbClr val="10233C"/>
          </a:solidFill>
          <a:ln w="12700">
            <a:solidFill>
              <a:srgbClr val="FFFFFF">
                <a:alpha val="0"/>
              </a:srgbClr>
            </a:solidFill>
            <a:prstDash val="solid"/>
          </a:ln>
        </p:spPr>
        <p:txBody>
          <a:bodyPr/>
          <a:lstStyle/>
          <a:p>
            <a:endParaRPr lang="zh-CN" altLang="en-US"/>
          </a:p>
        </p:txBody>
      </p:sp>
      <p:sp>
        <p:nvSpPr>
          <p:cNvPr id="4" name="Text 2"/>
          <p:cNvSpPr/>
          <p:nvPr/>
        </p:nvSpPr>
        <p:spPr>
          <a:xfrm>
            <a:off x="400040" y="552450"/>
            <a:ext cx="2095448" cy="704850"/>
          </a:xfrm>
          <a:prstGeom prst="rect">
            <a:avLst/>
          </a:prstGeom>
          <a:noFill/>
          <a:ln/>
        </p:spPr>
        <p:txBody>
          <a:bodyPr wrap="square" lIns="0" tIns="0" rIns="0" bIns="0" rtlCol="0" anchor="t"/>
          <a:lstStyle/>
          <a:p>
            <a:pPr marL="0" indent="0" algn="l">
              <a:buNone/>
            </a:pPr>
            <a:r>
              <a:rPr lang="en-US" altLang="zh-CN" sz="2400" b="1" dirty="0">
                <a:solidFill>
                  <a:srgbClr val="FFFFFF"/>
                </a:solidFill>
                <a:latin typeface="Helvetica Neue" pitchFamily="34" charset="0"/>
                <a:ea typeface="Helvetica Neue" pitchFamily="34" charset="-122"/>
                <a:cs typeface="Helvetica Neue" pitchFamily="34" charset="-120"/>
              </a:rPr>
              <a:t>3</a:t>
            </a:r>
            <a:endParaRPr lang="en-US" sz="2400" dirty="0"/>
          </a:p>
          <a:p>
            <a:pPr marL="0" indent="0" algn="l">
              <a:buNone/>
            </a:pPr>
            <a:r>
              <a:rPr lang="en-US" sz="2400" b="1" dirty="0">
                <a:solidFill>
                  <a:srgbClr val="FFFFFF"/>
                </a:solidFill>
                <a:latin typeface="Helvetica Neue" pitchFamily="34" charset="0"/>
                <a:ea typeface="Helvetica Neue" pitchFamily="34" charset="-122"/>
                <a:cs typeface="Helvetica Neue" pitchFamily="34" charset="-120"/>
              </a:rPr>
              <a:t>SOUL.md</a:t>
            </a:r>
            <a:endParaRPr lang="en-US" sz="2400" dirty="0"/>
          </a:p>
        </p:txBody>
      </p:sp>
      <p:sp>
        <p:nvSpPr>
          <p:cNvPr id="5" name="Text 3"/>
          <p:cNvSpPr/>
          <p:nvPr/>
        </p:nvSpPr>
        <p:spPr>
          <a:xfrm>
            <a:off x="400040" y="1581150"/>
            <a:ext cx="2095448" cy="476250"/>
          </a:xfrm>
          <a:prstGeom prst="rect">
            <a:avLst/>
          </a:prstGeom>
          <a:noFill/>
          <a:ln/>
        </p:spPr>
        <p:txBody>
          <a:bodyPr wrap="square" lIns="0" tIns="0" rIns="0" bIns="0" rtlCol="0" anchor="t"/>
          <a:lstStyle/>
          <a:p>
            <a:pPr marL="0" indent="0" algn="l">
              <a:buNone/>
            </a:pPr>
            <a:r>
              <a:rPr lang="en-US" sz="1350" dirty="0">
                <a:solidFill>
                  <a:srgbClr val="BCD5EA"/>
                </a:solidFill>
                <a:latin typeface="Helvetica Neue" pitchFamily="34" charset="0"/>
                <a:ea typeface="Helvetica Neue" pitchFamily="34" charset="-122"/>
                <a:cs typeface="Helvetica Neue" pitchFamily="34" charset="-120"/>
              </a:rPr>
              <a:t>把 agent 的身份、边界和风格从程序逻辑里拆出来。</a:t>
            </a:r>
            <a:endParaRPr lang="en-US" sz="1350" dirty="0"/>
          </a:p>
        </p:txBody>
      </p:sp>
      <p:sp>
        <p:nvSpPr>
          <p:cNvPr id="6" name="Text 4"/>
          <p:cNvSpPr/>
          <p:nvPr/>
        </p:nvSpPr>
        <p:spPr>
          <a:xfrm>
            <a:off x="3333667" y="514350"/>
            <a:ext cx="7905552" cy="819150"/>
          </a:xfrm>
          <a:prstGeom prst="rect">
            <a:avLst/>
          </a:prstGeom>
          <a:noFill/>
          <a:ln/>
        </p:spPr>
        <p:txBody>
          <a:bodyPr wrap="square" lIns="0" tIns="0" rIns="0" bIns="0" rtlCol="0" anchor="t"/>
          <a:lstStyle/>
          <a:p>
            <a:pPr marL="0" indent="0" algn="l">
              <a:buNone/>
            </a:pPr>
            <a:r>
              <a:rPr lang="en-US" sz="2850" dirty="0" err="1"/>
              <a:t>什么是</a:t>
            </a:r>
            <a:r>
              <a:rPr lang="en-US" sz="2850" dirty="0"/>
              <a:t> </a:t>
            </a:r>
            <a:r>
              <a:rPr lang="en-US" sz="2850" dirty="0" err="1"/>
              <a:t>SOUL.md</a:t>
            </a:r>
            <a:r>
              <a:rPr lang="en-US" sz="2850" dirty="0"/>
              <a:t>?</a:t>
            </a:r>
          </a:p>
        </p:txBody>
      </p:sp>
      <p:sp>
        <p:nvSpPr>
          <p:cNvPr id="18" name="Text 16"/>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17 / 26</a:t>
            </a:r>
            <a:endParaRPr lang="en-US" sz="1000" dirty="0"/>
          </a:p>
        </p:txBody>
      </p:sp>
      <p:sp>
        <p:nvSpPr>
          <p:cNvPr id="19" name="文本框 18">
            <a:extLst>
              <a:ext uri="{FF2B5EF4-FFF2-40B4-BE49-F238E27FC236}">
                <a16:creationId xmlns:a16="http://schemas.microsoft.com/office/drawing/2014/main" id="{3E6656B9-E44F-A7E2-9F61-3E35D5B90499}"/>
              </a:ext>
            </a:extLst>
          </p:cNvPr>
          <p:cNvSpPr txBox="1"/>
          <p:nvPr/>
        </p:nvSpPr>
        <p:spPr>
          <a:xfrm>
            <a:off x="3333668" y="1581150"/>
            <a:ext cx="8438938" cy="1569660"/>
          </a:xfrm>
          <a:prstGeom prst="rect">
            <a:avLst/>
          </a:prstGeom>
          <a:noFill/>
        </p:spPr>
        <p:txBody>
          <a:bodyPr wrap="square" rtlCol="0">
            <a:spAutoFit/>
          </a:bodyPr>
          <a:lstStyle/>
          <a:p>
            <a:pPr marL="342900" indent="-342900">
              <a:buAutoNum type="arabicPeriod"/>
            </a:pPr>
            <a:r>
              <a:rPr kumimoji="1" lang="zh-CN" altLang="en-US" sz="2400" dirty="0"/>
              <a:t>一个特殊的文件，用来表示当前的智能体的设定</a:t>
            </a:r>
            <a:endParaRPr kumimoji="1" lang="en-US" altLang="zh-CN" sz="2400" dirty="0"/>
          </a:p>
          <a:p>
            <a:pPr marL="342900" indent="-342900">
              <a:buAutoNum type="arabicPeriod"/>
            </a:pPr>
            <a:r>
              <a:rPr kumimoji="1" lang="en-US" altLang="zh-CN" sz="2400" dirty="0"/>
              <a:t> Agent </a:t>
            </a:r>
            <a:r>
              <a:rPr kumimoji="1" lang="zh-CN" altLang="en-US" sz="2400" dirty="0"/>
              <a:t>需要将</a:t>
            </a:r>
            <a:r>
              <a:rPr kumimoji="1" lang="en-US" altLang="zh-CN" sz="2400" dirty="0"/>
              <a:t> </a:t>
            </a:r>
            <a:r>
              <a:rPr kumimoji="1" lang="en-US" altLang="zh-CN" sz="2400" dirty="0" err="1"/>
              <a:t>SOUL.md</a:t>
            </a:r>
            <a:r>
              <a:rPr kumimoji="1" lang="en-US" altLang="zh-CN" sz="2400" dirty="0"/>
              <a:t> </a:t>
            </a:r>
            <a:r>
              <a:rPr kumimoji="1" lang="zh-CN" altLang="en-US" sz="2400" dirty="0"/>
              <a:t>中的内容读取出来，并且作为</a:t>
            </a:r>
            <a:r>
              <a:rPr kumimoji="1" lang="en-US" altLang="zh-CN" sz="2400" dirty="0"/>
              <a:t> System</a:t>
            </a:r>
            <a:r>
              <a:rPr kumimoji="1" lang="zh-CN" altLang="en-US" sz="2400" dirty="0"/>
              <a:t> </a:t>
            </a:r>
            <a:r>
              <a:rPr kumimoji="1" lang="en-US" altLang="zh-CN" sz="2400" dirty="0"/>
              <a:t>Prompt </a:t>
            </a:r>
            <a:r>
              <a:rPr kumimoji="1" lang="zh-CN" altLang="en-US" sz="2400" dirty="0"/>
              <a:t>的一部分放在对话中，从而保证</a:t>
            </a:r>
            <a:r>
              <a:rPr kumimoji="1" lang="en-US" altLang="zh-CN" sz="2400" dirty="0"/>
              <a:t> </a:t>
            </a:r>
            <a:r>
              <a:rPr kumimoji="1" lang="en-US" altLang="zh-CN" sz="2400" dirty="0" err="1"/>
              <a:t>SOUL.md</a:t>
            </a:r>
            <a:r>
              <a:rPr kumimoji="1" lang="en-US" altLang="zh-CN" sz="2400" dirty="0"/>
              <a:t> </a:t>
            </a:r>
            <a:r>
              <a:rPr kumimoji="1" lang="zh-CN" altLang="en-US" sz="2400" dirty="0"/>
              <a:t>中对于智能体的设定能够生效</a:t>
            </a:r>
          </a:p>
        </p:txBody>
      </p:sp>
    </p:spTree>
    <p:extLst>
      <p:ext uri="{BB962C8B-B14F-4D97-AF65-F5344CB8AC3E}">
        <p14:creationId xmlns:p14="http://schemas.microsoft.com/office/powerpoint/2010/main" val="3049318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4" name="Text 2"/>
          <p:cNvSpPr/>
          <p:nvPr/>
        </p:nvSpPr>
        <p:spPr>
          <a:xfrm>
            <a:off x="400040" y="609600"/>
            <a:ext cx="9905752"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一个简单的</a:t>
            </a:r>
            <a:r>
              <a:rPr lang="en-US" sz="2950" b="1" dirty="0">
                <a:solidFill>
                  <a:srgbClr val="111827"/>
                </a:solidFill>
                <a:latin typeface="Helvetica Neue" pitchFamily="34" charset="0"/>
                <a:ea typeface="Helvetica Neue" pitchFamily="34" charset="-122"/>
                <a:cs typeface="Helvetica Neue" pitchFamily="34" charset="-120"/>
              </a:rPr>
              <a:t> </a:t>
            </a:r>
            <a:r>
              <a:rPr lang="en-US" sz="2950" b="1" dirty="0" err="1">
                <a:solidFill>
                  <a:srgbClr val="111827"/>
                </a:solidFill>
                <a:latin typeface="Helvetica Neue" pitchFamily="34" charset="0"/>
                <a:ea typeface="Helvetica Neue" pitchFamily="34" charset="-122"/>
                <a:cs typeface="Helvetica Neue" pitchFamily="34" charset="-120"/>
              </a:rPr>
              <a:t>SOUL.md</a:t>
            </a:r>
            <a:r>
              <a:rPr lang="en-US" sz="2950" b="1" dirty="0">
                <a:solidFill>
                  <a:srgbClr val="111827"/>
                </a:solidFill>
                <a:latin typeface="Helvetica Neue" pitchFamily="34" charset="0"/>
                <a:ea typeface="Helvetica Neue" pitchFamily="34" charset="-122"/>
                <a:cs typeface="Helvetica Neue" pitchFamily="34" charset="-120"/>
              </a:rPr>
              <a:t> </a:t>
            </a:r>
            <a:r>
              <a:rPr lang="en-US" sz="2950" b="1" dirty="0" err="1">
                <a:solidFill>
                  <a:srgbClr val="111827"/>
                </a:solidFill>
                <a:latin typeface="Helvetica Neue" pitchFamily="34" charset="0"/>
                <a:ea typeface="Helvetica Neue" pitchFamily="34" charset="-122"/>
                <a:cs typeface="Helvetica Neue" pitchFamily="34" charset="-120"/>
              </a:rPr>
              <a:t>的案例</a:t>
            </a:r>
            <a:endParaRPr lang="en-US" sz="2950" dirty="0"/>
          </a:p>
        </p:txBody>
      </p:sp>
      <p:sp>
        <p:nvSpPr>
          <p:cNvPr id="5" name="Shape 3"/>
          <p:cNvSpPr/>
          <p:nvPr/>
        </p:nvSpPr>
        <p:spPr>
          <a:xfrm>
            <a:off x="476238" y="1466850"/>
            <a:ext cx="5333867" cy="4476750"/>
          </a:xfrm>
          <a:prstGeom prst="rect">
            <a:avLst/>
          </a:prstGeom>
          <a:solidFill>
            <a:srgbClr val="0F172A"/>
          </a:solidFill>
          <a:ln w="12700">
            <a:solidFill>
              <a:srgbClr val="FFFFFF">
                <a:alpha val="0"/>
              </a:srgbClr>
            </a:solidFill>
            <a:prstDash val="solid"/>
          </a:ln>
        </p:spPr>
        <p:txBody>
          <a:bodyPr/>
          <a:lstStyle/>
          <a:p>
            <a:endParaRPr lang="zh-CN" altLang="en-US"/>
          </a:p>
        </p:txBody>
      </p:sp>
      <p:sp>
        <p:nvSpPr>
          <p:cNvPr id="6" name="Text 4"/>
          <p:cNvSpPr/>
          <p:nvPr/>
        </p:nvSpPr>
        <p:spPr>
          <a:xfrm>
            <a:off x="685783" y="1676400"/>
            <a:ext cx="4914777" cy="4128864"/>
          </a:xfrm>
          <a:prstGeom prst="rect">
            <a:avLst/>
          </a:prstGeom>
          <a:noFill/>
          <a:ln/>
        </p:spPr>
        <p:txBody>
          <a:bodyPr wrap="square" lIns="0" tIns="0" rIns="0" bIns="0" rtlCol="0" anchor="t"/>
          <a:lstStyle/>
          <a:p>
            <a:pPr marL="0" indent="0" algn="l">
              <a:buNone/>
            </a:pPr>
            <a:r>
              <a:rPr lang="en-US" sz="1400" dirty="0">
                <a:solidFill>
                  <a:srgbClr val="DBEAFE"/>
                </a:solidFill>
                <a:latin typeface="Consolas" pitchFamily="34" charset="0"/>
                <a:ea typeface="Consolas" pitchFamily="34" charset="-122"/>
                <a:cs typeface="Consolas" pitchFamily="34" charset="-120"/>
              </a:rPr>
              <a:t># </a:t>
            </a:r>
            <a:r>
              <a:rPr lang="en-US" sz="1400" dirty="0" err="1">
                <a:solidFill>
                  <a:srgbClr val="DBEAFE"/>
                </a:solidFill>
                <a:latin typeface="Consolas" pitchFamily="34" charset="0"/>
                <a:ea typeface="Consolas" pitchFamily="34" charset="-122"/>
                <a:cs typeface="Consolas" pitchFamily="34" charset="-120"/>
              </a:rPr>
              <a:t>SJTUClaw</a:t>
            </a:r>
            <a:r>
              <a:rPr lang="en-US" sz="1400" dirty="0">
                <a:solidFill>
                  <a:srgbClr val="DBEAFE"/>
                </a:solidFill>
                <a:latin typeface="Consolas" pitchFamily="34" charset="0"/>
                <a:ea typeface="Consolas" pitchFamily="34" charset="-122"/>
                <a:cs typeface="Consolas" pitchFamily="34" charset="-120"/>
              </a:rPr>
              <a:t> SOUL
## Identity
</a:t>
            </a:r>
            <a:r>
              <a:rPr lang="zh-CN" altLang="en-US" sz="1400" dirty="0">
                <a:solidFill>
                  <a:srgbClr val="DBEAFE"/>
                </a:solidFill>
                <a:latin typeface="Consolas" pitchFamily="34" charset="0"/>
                <a:ea typeface="Consolas" pitchFamily="34" charset="-122"/>
                <a:cs typeface="Consolas" pitchFamily="34" charset="-120"/>
              </a:rPr>
              <a:t>你是 </a:t>
            </a:r>
            <a:r>
              <a:rPr lang="en-US" sz="1400" dirty="0" err="1">
                <a:solidFill>
                  <a:srgbClr val="DBEAFE"/>
                </a:solidFill>
                <a:latin typeface="Consolas" pitchFamily="34" charset="0"/>
                <a:ea typeface="Consolas" pitchFamily="34" charset="-122"/>
                <a:cs typeface="Consolas" pitchFamily="34" charset="-120"/>
              </a:rPr>
              <a:t>SJTUClaw</a:t>
            </a:r>
            <a:r>
              <a:rPr lang="en-US" sz="1400" dirty="0">
                <a:solidFill>
                  <a:srgbClr val="DBEAFE"/>
                </a:solidFill>
                <a:latin typeface="Consolas" pitchFamily="34" charset="0"/>
                <a:ea typeface="Consolas" pitchFamily="34" charset="-122"/>
                <a:cs typeface="Consolas" pitchFamily="34" charset="-120"/>
              </a:rPr>
              <a:t>，</a:t>
            </a:r>
            <a:r>
              <a:rPr lang="zh-CN" altLang="en-US" sz="1400" dirty="0">
                <a:solidFill>
                  <a:srgbClr val="DBEAFE"/>
                </a:solidFill>
                <a:latin typeface="Consolas" pitchFamily="34" charset="0"/>
                <a:ea typeface="Consolas" pitchFamily="34" charset="-122"/>
                <a:cs typeface="Consolas" pitchFamily="34" charset="-120"/>
              </a:rPr>
              <a:t>一个面向本科生的教育版 </a:t>
            </a:r>
            <a:r>
              <a:rPr lang="en-US" sz="1400" dirty="0">
                <a:solidFill>
                  <a:srgbClr val="DBEAFE"/>
                </a:solidFill>
                <a:latin typeface="Consolas" pitchFamily="34" charset="0"/>
                <a:ea typeface="Consolas" pitchFamily="34" charset="-122"/>
                <a:cs typeface="Consolas" pitchFamily="34" charset="-120"/>
              </a:rPr>
              <a:t>Claw-style </a:t>
            </a:r>
            <a:r>
              <a:rPr lang="zh-CN" altLang="en-US" sz="1400" dirty="0">
                <a:solidFill>
                  <a:srgbClr val="DBEAFE"/>
                </a:solidFill>
                <a:latin typeface="Consolas" pitchFamily="34" charset="0"/>
                <a:ea typeface="Consolas" pitchFamily="34" charset="-122"/>
                <a:cs typeface="Consolas" pitchFamily="34" charset="-120"/>
              </a:rPr>
              <a:t>学习助手。
</a:t>
            </a:r>
            <a:r>
              <a:rPr lang="en-US" altLang="zh-CN" sz="1400" dirty="0">
                <a:solidFill>
                  <a:srgbClr val="DBEAFE"/>
                </a:solidFill>
                <a:latin typeface="Consolas" pitchFamily="34" charset="0"/>
                <a:ea typeface="Consolas" pitchFamily="34" charset="-122"/>
                <a:cs typeface="Consolas" pitchFamily="34" charset="-120"/>
              </a:rPr>
              <a:t>## </a:t>
            </a:r>
            <a:r>
              <a:rPr lang="en-US" sz="1400" dirty="0">
                <a:solidFill>
                  <a:srgbClr val="DBEAFE"/>
                </a:solidFill>
                <a:latin typeface="Consolas" pitchFamily="34" charset="0"/>
                <a:ea typeface="Consolas" pitchFamily="34" charset="-122"/>
                <a:cs typeface="Consolas" pitchFamily="34" charset="-120"/>
              </a:rPr>
              <a:t>Boundaries
</a:t>
            </a:r>
            <a:r>
              <a:rPr lang="zh-CN" altLang="en-US" sz="1400" dirty="0">
                <a:solidFill>
                  <a:srgbClr val="DBEAFE"/>
                </a:solidFill>
                <a:latin typeface="Consolas" pitchFamily="34" charset="0"/>
                <a:ea typeface="Consolas" pitchFamily="34" charset="-122"/>
                <a:cs typeface="Consolas" pitchFamily="34" charset="-120"/>
              </a:rPr>
              <a:t>你不能替学生完成违反课程规则的作业或考试。
</a:t>
            </a:r>
            <a:r>
              <a:rPr lang="en-US" altLang="zh-CN" sz="1400" dirty="0">
                <a:solidFill>
                  <a:srgbClr val="DBEAFE"/>
                </a:solidFill>
                <a:latin typeface="Consolas" pitchFamily="34" charset="0"/>
                <a:ea typeface="Consolas" pitchFamily="34" charset="-122"/>
                <a:cs typeface="Consolas" pitchFamily="34" charset="-120"/>
              </a:rPr>
              <a:t>## </a:t>
            </a:r>
            <a:r>
              <a:rPr lang="en-US" sz="1400" dirty="0">
                <a:solidFill>
                  <a:srgbClr val="DBEAFE"/>
                </a:solidFill>
                <a:latin typeface="Consolas" pitchFamily="34" charset="0"/>
                <a:ea typeface="Consolas" pitchFamily="34" charset="-122"/>
                <a:cs typeface="Consolas" pitchFamily="34" charset="-120"/>
              </a:rPr>
              <a:t>Style
</a:t>
            </a:r>
            <a:r>
              <a:rPr lang="zh-CN" altLang="en-US" sz="1400" dirty="0">
                <a:solidFill>
                  <a:srgbClr val="DBEAFE"/>
                </a:solidFill>
                <a:latin typeface="Consolas" pitchFamily="34" charset="0"/>
                <a:ea typeface="Consolas" pitchFamily="34" charset="-122"/>
                <a:cs typeface="Consolas" pitchFamily="34" charset="-120"/>
              </a:rPr>
              <a:t>回答要清楚、具体，优先使用中文，先给例子再讲定义。
</a:t>
            </a:r>
            <a:r>
              <a:rPr lang="en-US" altLang="zh-CN" sz="1400" dirty="0">
                <a:solidFill>
                  <a:srgbClr val="DBEAFE"/>
                </a:solidFill>
                <a:latin typeface="Consolas" pitchFamily="34" charset="0"/>
                <a:ea typeface="Consolas" pitchFamily="34" charset="-122"/>
                <a:cs typeface="Consolas" pitchFamily="34" charset="-120"/>
              </a:rPr>
              <a:t>## </a:t>
            </a:r>
            <a:r>
              <a:rPr lang="en-US" sz="1400" dirty="0">
                <a:solidFill>
                  <a:srgbClr val="DBEAFE"/>
                </a:solidFill>
                <a:latin typeface="Consolas" pitchFamily="34" charset="0"/>
                <a:ea typeface="Consolas" pitchFamily="34" charset="-122"/>
                <a:cs typeface="Consolas" pitchFamily="34" charset="-120"/>
              </a:rPr>
              <a:t>Learning Contract
</a:t>
            </a:r>
            <a:r>
              <a:rPr lang="zh-CN" altLang="en-US" sz="1400" dirty="0">
                <a:solidFill>
                  <a:srgbClr val="DBEAFE"/>
                </a:solidFill>
                <a:latin typeface="Consolas" pitchFamily="34" charset="0"/>
                <a:ea typeface="Consolas" pitchFamily="34" charset="-122"/>
                <a:cs typeface="Consolas" pitchFamily="34" charset="-120"/>
              </a:rPr>
              <a:t>帮助学生理解问题、建立计划、检查结果，而不是直接替他们学习。
</a:t>
            </a:r>
            <a:r>
              <a:rPr lang="en-US" altLang="zh-CN" sz="1400" dirty="0">
                <a:solidFill>
                  <a:srgbClr val="DBEAFE"/>
                </a:solidFill>
                <a:latin typeface="Consolas" pitchFamily="34" charset="0"/>
                <a:ea typeface="Consolas" pitchFamily="34" charset="-122"/>
                <a:cs typeface="Consolas" pitchFamily="34" charset="-120"/>
              </a:rPr>
              <a:t>## </a:t>
            </a:r>
            <a:r>
              <a:rPr lang="en-US" sz="1400" dirty="0">
                <a:solidFill>
                  <a:srgbClr val="DBEAFE"/>
                </a:solidFill>
                <a:latin typeface="Consolas" pitchFamily="34" charset="0"/>
                <a:ea typeface="Consolas" pitchFamily="34" charset="-122"/>
                <a:cs typeface="Consolas" pitchFamily="34" charset="-120"/>
              </a:rPr>
              <a:t>Tool Policy
</a:t>
            </a:r>
            <a:r>
              <a:rPr lang="zh-CN" altLang="en-US" sz="1400" dirty="0">
                <a:solidFill>
                  <a:srgbClr val="DBEAFE"/>
                </a:solidFill>
                <a:latin typeface="Consolas" pitchFamily="34" charset="0"/>
                <a:ea typeface="Consolas" pitchFamily="34" charset="-122"/>
                <a:cs typeface="Consolas" pitchFamily="34" charset="-120"/>
              </a:rPr>
              <a:t>涉及课程文件、</a:t>
            </a:r>
            <a:r>
              <a:rPr lang="en-US" sz="1400" dirty="0">
                <a:solidFill>
                  <a:srgbClr val="DBEAFE"/>
                </a:solidFill>
                <a:latin typeface="Consolas" pitchFamily="34" charset="0"/>
                <a:ea typeface="Consolas" pitchFamily="34" charset="-122"/>
                <a:cs typeface="Consolas" pitchFamily="34" charset="-120"/>
              </a:rPr>
              <a:t>PPT、</a:t>
            </a:r>
            <a:r>
              <a:rPr lang="zh-CN" altLang="en-US" sz="1400" dirty="0">
                <a:solidFill>
                  <a:srgbClr val="DBEAFE"/>
                </a:solidFill>
                <a:latin typeface="Consolas" pitchFamily="34" charset="0"/>
                <a:ea typeface="Consolas" pitchFamily="34" charset="-122"/>
                <a:cs typeface="Consolas" pitchFamily="34" charset="-120"/>
              </a:rPr>
              <a:t>测验、编程任务时，优先调用工具并说明 </a:t>
            </a:r>
            <a:r>
              <a:rPr lang="en-US" sz="1400" dirty="0">
                <a:solidFill>
                  <a:srgbClr val="DBEAFE"/>
                </a:solidFill>
                <a:latin typeface="Consolas" pitchFamily="34" charset="0"/>
                <a:ea typeface="Consolas" pitchFamily="34" charset="-122"/>
                <a:cs typeface="Consolas" pitchFamily="34" charset="-120"/>
              </a:rPr>
              <a:t>trace。</a:t>
            </a:r>
            <a:endParaRPr lang="en-US" sz="1400" dirty="0"/>
          </a:p>
        </p:txBody>
      </p:sp>
      <p:sp>
        <p:nvSpPr>
          <p:cNvPr id="7" name="Shape 5"/>
          <p:cNvSpPr/>
          <p:nvPr/>
        </p:nvSpPr>
        <p:spPr>
          <a:xfrm>
            <a:off x="6495888" y="1466850"/>
            <a:ext cx="2500250" cy="11049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8" name="Shape 6"/>
          <p:cNvSpPr/>
          <p:nvPr/>
        </p:nvSpPr>
        <p:spPr>
          <a:xfrm>
            <a:off x="6519700" y="1466850"/>
            <a:ext cx="0" cy="1104900"/>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9" name="Text 7"/>
          <p:cNvSpPr/>
          <p:nvPr/>
        </p:nvSpPr>
        <p:spPr>
          <a:xfrm>
            <a:off x="6705432" y="1609725"/>
            <a:ext cx="2128784" cy="257175"/>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Identity</a:t>
            </a:r>
            <a:endParaRPr lang="en-US" sz="1600" dirty="0"/>
          </a:p>
        </p:txBody>
      </p:sp>
      <p:sp>
        <p:nvSpPr>
          <p:cNvPr id="10" name="Text 8"/>
          <p:cNvSpPr/>
          <p:nvPr/>
        </p:nvSpPr>
        <p:spPr>
          <a:xfrm>
            <a:off x="6705432" y="1866900"/>
            <a:ext cx="2128784" cy="419100"/>
          </a:xfrm>
          <a:prstGeom prst="rect">
            <a:avLst/>
          </a:prstGeom>
          <a:noFill/>
          <a:ln/>
        </p:spPr>
        <p:txBody>
          <a:bodyPr wrap="square" lIns="0" tIns="0" rIns="0" bIns="0" rtlCol="0" anchor="t"/>
          <a:lstStyle/>
          <a:p>
            <a:pPr marL="0" indent="0" algn="l">
              <a:buNone/>
            </a:pPr>
            <a:r>
              <a:rPr lang="en-US" sz="1300" dirty="0">
                <a:solidFill>
                  <a:srgbClr val="334155"/>
                </a:solidFill>
                <a:latin typeface="Helvetica Neue" pitchFamily="34" charset="0"/>
                <a:ea typeface="Helvetica Neue" pitchFamily="34" charset="-122"/>
                <a:cs typeface="Helvetica Neue" pitchFamily="34" charset="-120"/>
              </a:rPr>
              <a:t>说明“你是谁”，例如教育版学习助手。</a:t>
            </a:r>
            <a:endParaRPr lang="en-US" sz="1300" dirty="0"/>
          </a:p>
        </p:txBody>
      </p:sp>
      <p:sp>
        <p:nvSpPr>
          <p:cNvPr id="11" name="Shape 9"/>
          <p:cNvSpPr/>
          <p:nvPr/>
        </p:nvSpPr>
        <p:spPr>
          <a:xfrm>
            <a:off x="9139009" y="1466850"/>
            <a:ext cx="2500250" cy="11049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2" name="Shape 10"/>
          <p:cNvSpPr/>
          <p:nvPr/>
        </p:nvSpPr>
        <p:spPr>
          <a:xfrm>
            <a:off x="9162821" y="1466850"/>
            <a:ext cx="0" cy="110490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13" name="Text 11"/>
          <p:cNvSpPr/>
          <p:nvPr/>
        </p:nvSpPr>
        <p:spPr>
          <a:xfrm>
            <a:off x="9348554" y="1609725"/>
            <a:ext cx="2128784" cy="257175"/>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Boundaries</a:t>
            </a:r>
            <a:endParaRPr lang="en-US" sz="1600" dirty="0"/>
          </a:p>
        </p:txBody>
      </p:sp>
      <p:sp>
        <p:nvSpPr>
          <p:cNvPr id="14" name="Text 12"/>
          <p:cNvSpPr/>
          <p:nvPr/>
        </p:nvSpPr>
        <p:spPr>
          <a:xfrm>
            <a:off x="9348554" y="1866900"/>
            <a:ext cx="2128784" cy="419100"/>
          </a:xfrm>
          <a:prstGeom prst="rect">
            <a:avLst/>
          </a:prstGeom>
          <a:noFill/>
          <a:ln/>
        </p:spPr>
        <p:txBody>
          <a:bodyPr wrap="square" lIns="0" tIns="0" rIns="0" bIns="0" rtlCol="0" anchor="t"/>
          <a:lstStyle/>
          <a:p>
            <a:pPr marL="0" indent="0" algn="l">
              <a:buNone/>
            </a:pPr>
            <a:r>
              <a:rPr lang="en-US" sz="1300" dirty="0">
                <a:solidFill>
                  <a:srgbClr val="334155"/>
                </a:solidFill>
                <a:latin typeface="Helvetica Neue" pitchFamily="34" charset="0"/>
                <a:ea typeface="Helvetica Neue" pitchFamily="34" charset="-122"/>
                <a:cs typeface="Helvetica Neue" pitchFamily="34" charset="-120"/>
              </a:rPr>
              <a:t>说明不能做什么，尤其是课程规则与代写边界。</a:t>
            </a:r>
            <a:endParaRPr lang="en-US" sz="1300" dirty="0"/>
          </a:p>
        </p:txBody>
      </p:sp>
      <p:sp>
        <p:nvSpPr>
          <p:cNvPr id="15" name="Shape 13"/>
          <p:cNvSpPr/>
          <p:nvPr/>
        </p:nvSpPr>
        <p:spPr>
          <a:xfrm>
            <a:off x="6495888" y="2714625"/>
            <a:ext cx="2500250" cy="11049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6" name="Shape 14"/>
          <p:cNvSpPr/>
          <p:nvPr/>
        </p:nvSpPr>
        <p:spPr>
          <a:xfrm>
            <a:off x="6519700" y="2714625"/>
            <a:ext cx="0" cy="1104900"/>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17" name="Text 15"/>
          <p:cNvSpPr/>
          <p:nvPr/>
        </p:nvSpPr>
        <p:spPr>
          <a:xfrm>
            <a:off x="6705432" y="2857500"/>
            <a:ext cx="2128784" cy="257175"/>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Style</a:t>
            </a:r>
            <a:endParaRPr lang="en-US" sz="1600" dirty="0"/>
          </a:p>
        </p:txBody>
      </p:sp>
      <p:sp>
        <p:nvSpPr>
          <p:cNvPr id="18" name="Text 16"/>
          <p:cNvSpPr/>
          <p:nvPr/>
        </p:nvSpPr>
        <p:spPr>
          <a:xfrm>
            <a:off x="6705432" y="3114675"/>
            <a:ext cx="2128784" cy="419100"/>
          </a:xfrm>
          <a:prstGeom prst="rect">
            <a:avLst/>
          </a:prstGeom>
          <a:noFill/>
          <a:ln/>
        </p:spPr>
        <p:txBody>
          <a:bodyPr wrap="square" lIns="0" tIns="0" rIns="0" bIns="0" rtlCol="0" anchor="t"/>
          <a:lstStyle/>
          <a:p>
            <a:pPr marL="0" indent="0" algn="l">
              <a:buNone/>
            </a:pPr>
            <a:r>
              <a:rPr lang="en-US" sz="1300" dirty="0">
                <a:solidFill>
                  <a:srgbClr val="334155"/>
                </a:solidFill>
                <a:latin typeface="Helvetica Neue" pitchFamily="34" charset="0"/>
                <a:ea typeface="Helvetica Neue" pitchFamily="34" charset="-122"/>
                <a:cs typeface="Helvetica Neue" pitchFamily="34" charset="-120"/>
              </a:rPr>
              <a:t>回答语言、解释顺序和教学风格。</a:t>
            </a:r>
            <a:endParaRPr lang="en-US" sz="1300" dirty="0"/>
          </a:p>
        </p:txBody>
      </p:sp>
      <p:sp>
        <p:nvSpPr>
          <p:cNvPr id="19" name="Shape 17"/>
          <p:cNvSpPr/>
          <p:nvPr/>
        </p:nvSpPr>
        <p:spPr>
          <a:xfrm>
            <a:off x="9139009" y="2714625"/>
            <a:ext cx="2500250" cy="11049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20" name="Shape 18"/>
          <p:cNvSpPr/>
          <p:nvPr/>
        </p:nvSpPr>
        <p:spPr>
          <a:xfrm>
            <a:off x="9162821" y="2714625"/>
            <a:ext cx="0" cy="1104900"/>
          </a:xfrm>
          <a:prstGeom prst="line">
            <a:avLst/>
          </a:prstGeom>
          <a:solidFill>
            <a:srgbClr val="FFFFFF">
              <a:alpha val="0"/>
            </a:srgbClr>
          </a:solidFill>
          <a:ln w="47625">
            <a:solidFill>
              <a:srgbClr val="58B0A6"/>
            </a:solidFill>
            <a:prstDash val="solid"/>
          </a:ln>
        </p:spPr>
        <p:txBody>
          <a:bodyPr/>
          <a:lstStyle/>
          <a:p>
            <a:endParaRPr lang="zh-CN" altLang="en-US"/>
          </a:p>
        </p:txBody>
      </p:sp>
      <p:sp>
        <p:nvSpPr>
          <p:cNvPr id="21" name="Text 19"/>
          <p:cNvSpPr/>
          <p:nvPr/>
        </p:nvSpPr>
        <p:spPr>
          <a:xfrm>
            <a:off x="9348554" y="2857500"/>
            <a:ext cx="2128784" cy="257175"/>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Learning Contract</a:t>
            </a:r>
            <a:endParaRPr lang="en-US" sz="1600" dirty="0"/>
          </a:p>
        </p:txBody>
      </p:sp>
      <p:sp>
        <p:nvSpPr>
          <p:cNvPr id="22" name="Text 20"/>
          <p:cNvSpPr/>
          <p:nvPr/>
        </p:nvSpPr>
        <p:spPr>
          <a:xfrm>
            <a:off x="9348554" y="3114675"/>
            <a:ext cx="2128784" cy="419100"/>
          </a:xfrm>
          <a:prstGeom prst="rect">
            <a:avLst/>
          </a:prstGeom>
          <a:noFill/>
          <a:ln/>
        </p:spPr>
        <p:txBody>
          <a:bodyPr wrap="square" lIns="0" tIns="0" rIns="0" bIns="0" rtlCol="0" anchor="t"/>
          <a:lstStyle/>
          <a:p>
            <a:pPr marL="0" indent="0" algn="l">
              <a:buNone/>
            </a:pPr>
            <a:r>
              <a:rPr lang="en-US" sz="1300" dirty="0">
                <a:solidFill>
                  <a:srgbClr val="334155"/>
                </a:solidFill>
                <a:latin typeface="Helvetica Neue" pitchFamily="34" charset="0"/>
                <a:ea typeface="Helvetica Neue" pitchFamily="34" charset="-122"/>
                <a:cs typeface="Helvetica Neue" pitchFamily="34" charset="-120"/>
              </a:rPr>
              <a:t>帮助理解、计划、检查，而不是替学生学习。</a:t>
            </a:r>
            <a:endParaRPr lang="en-US" sz="1300" dirty="0"/>
          </a:p>
        </p:txBody>
      </p:sp>
      <p:sp>
        <p:nvSpPr>
          <p:cNvPr id="23" name="Shape 21"/>
          <p:cNvSpPr/>
          <p:nvPr/>
        </p:nvSpPr>
        <p:spPr>
          <a:xfrm>
            <a:off x="6495888" y="3962400"/>
            <a:ext cx="2500250" cy="11049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24" name="Shape 22"/>
          <p:cNvSpPr/>
          <p:nvPr/>
        </p:nvSpPr>
        <p:spPr>
          <a:xfrm>
            <a:off x="6519700" y="3962400"/>
            <a:ext cx="0" cy="1104900"/>
          </a:xfrm>
          <a:prstGeom prst="line">
            <a:avLst/>
          </a:prstGeom>
          <a:solidFill>
            <a:srgbClr val="FFFFFF">
              <a:alpha val="0"/>
            </a:srgbClr>
          </a:solidFill>
          <a:ln w="47625">
            <a:solidFill>
              <a:srgbClr val="1F5F8B"/>
            </a:solidFill>
            <a:prstDash val="solid"/>
          </a:ln>
        </p:spPr>
        <p:txBody>
          <a:bodyPr/>
          <a:lstStyle/>
          <a:p>
            <a:endParaRPr lang="zh-CN" altLang="en-US"/>
          </a:p>
        </p:txBody>
      </p:sp>
      <p:sp>
        <p:nvSpPr>
          <p:cNvPr id="25" name="Text 23"/>
          <p:cNvSpPr/>
          <p:nvPr/>
        </p:nvSpPr>
        <p:spPr>
          <a:xfrm>
            <a:off x="6705432" y="4105275"/>
            <a:ext cx="2128784" cy="257175"/>
          </a:xfrm>
          <a:prstGeom prst="rect">
            <a:avLst/>
          </a:prstGeom>
          <a:noFill/>
          <a:ln/>
        </p:spPr>
        <p:txBody>
          <a:bodyPr wrap="square" lIns="0" tIns="0" rIns="0" bIns="0" rtlCol="0" anchor="t"/>
          <a:lstStyle/>
          <a:p>
            <a:pPr marL="0" indent="0" algn="l">
              <a:buNone/>
            </a:pPr>
            <a:r>
              <a:rPr lang="en-US" sz="1600" b="1" dirty="0">
                <a:solidFill>
                  <a:srgbClr val="111827"/>
                </a:solidFill>
                <a:latin typeface="Helvetica Neue" pitchFamily="34" charset="0"/>
                <a:ea typeface="Helvetica Neue" pitchFamily="34" charset="-122"/>
                <a:cs typeface="Helvetica Neue" pitchFamily="34" charset="-120"/>
              </a:rPr>
              <a:t>Tool Policy</a:t>
            </a:r>
            <a:endParaRPr lang="en-US" sz="1600" dirty="0"/>
          </a:p>
        </p:txBody>
      </p:sp>
      <p:sp>
        <p:nvSpPr>
          <p:cNvPr id="26" name="Text 24"/>
          <p:cNvSpPr/>
          <p:nvPr/>
        </p:nvSpPr>
        <p:spPr>
          <a:xfrm>
            <a:off x="6705432" y="4362450"/>
            <a:ext cx="2128784" cy="419100"/>
          </a:xfrm>
          <a:prstGeom prst="rect">
            <a:avLst/>
          </a:prstGeom>
          <a:noFill/>
          <a:ln/>
        </p:spPr>
        <p:txBody>
          <a:bodyPr wrap="square" lIns="0" tIns="0" rIns="0" bIns="0" rtlCol="0" anchor="t"/>
          <a:lstStyle/>
          <a:p>
            <a:pPr marL="0" indent="0" algn="l">
              <a:buNone/>
            </a:pPr>
            <a:r>
              <a:rPr lang="en-US" sz="1300" dirty="0">
                <a:solidFill>
                  <a:srgbClr val="334155"/>
                </a:solidFill>
                <a:latin typeface="Helvetica Neue" pitchFamily="34" charset="0"/>
                <a:ea typeface="Helvetica Neue" pitchFamily="34" charset="-122"/>
                <a:cs typeface="Helvetica Neue" pitchFamily="34" charset="-120"/>
              </a:rPr>
              <a:t>遇到课程文件、PPT、测验、编程任务时如何用工具。</a:t>
            </a:r>
            <a:endParaRPr lang="en-US" sz="1300" dirty="0"/>
          </a:p>
        </p:txBody>
      </p:sp>
      <p:sp>
        <p:nvSpPr>
          <p:cNvPr id="27" name="Text 25"/>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18 / 26</a:t>
            </a:r>
            <a:endParaRPr lang="en-US" sz="1000" dirty="0"/>
          </a:p>
        </p:txBody>
      </p:sp>
      <p:sp>
        <p:nvSpPr>
          <p:cNvPr id="29" name="文本框 28">
            <a:extLst>
              <a:ext uri="{FF2B5EF4-FFF2-40B4-BE49-F238E27FC236}">
                <a16:creationId xmlns:a16="http://schemas.microsoft.com/office/drawing/2014/main" id="{4A2963BF-992E-30A1-E35F-5FDB2FA43579}"/>
              </a:ext>
            </a:extLst>
          </p:cNvPr>
          <p:cNvSpPr txBox="1"/>
          <p:nvPr/>
        </p:nvSpPr>
        <p:spPr>
          <a:xfrm>
            <a:off x="6495888" y="5448984"/>
            <a:ext cx="5464620" cy="646331"/>
          </a:xfrm>
          <a:prstGeom prst="rect">
            <a:avLst/>
          </a:prstGeom>
          <a:noFill/>
        </p:spPr>
        <p:txBody>
          <a:bodyPr wrap="square" rtlCol="0">
            <a:spAutoFit/>
          </a:bodyPr>
          <a:lstStyle/>
          <a:p>
            <a:r>
              <a:rPr kumimoji="1" lang="zh-CN" altLang="en-US" dirty="0"/>
              <a:t>注意：这里，大家可以根据自己的设计，自主考虑一个</a:t>
            </a:r>
            <a:r>
              <a:rPr kumimoji="1" lang="en-US" altLang="zh-CN" dirty="0"/>
              <a:t> </a:t>
            </a:r>
            <a:r>
              <a:rPr kumimoji="1" lang="en-US" altLang="zh-CN" dirty="0" err="1"/>
              <a:t>SOUL.md</a:t>
            </a:r>
            <a:r>
              <a:rPr kumimoji="1" lang="en-US" altLang="zh-CN" dirty="0"/>
              <a:t> </a:t>
            </a:r>
            <a:r>
              <a:rPr kumimoji="1" lang="zh-CN" altLang="en-US" dirty="0"/>
              <a:t>中需要囊括的内容</a:t>
            </a:r>
          </a:p>
        </p:txBody>
      </p:sp>
    </p:spTree>
    <p:extLst>
      <p:ext uri="{BB962C8B-B14F-4D97-AF65-F5344CB8AC3E}">
        <p14:creationId xmlns:p14="http://schemas.microsoft.com/office/powerpoint/2010/main" val="1826331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3" name="Text 1"/>
          <p:cNvSpPr/>
          <p:nvPr/>
        </p:nvSpPr>
        <p:spPr>
          <a:xfrm>
            <a:off x="400040" y="323850"/>
            <a:ext cx="838179" cy="200025"/>
          </a:xfrm>
          <a:prstGeom prst="rect">
            <a:avLst/>
          </a:prstGeom>
          <a:noFill/>
          <a:ln/>
        </p:spPr>
        <p:txBody>
          <a:bodyPr wrap="square" lIns="0" tIns="0" rIns="0" bIns="0" rtlCol="0" anchor="t"/>
          <a:lstStyle/>
          <a:p>
            <a:pPr marL="0" indent="0" algn="l">
              <a:buNone/>
            </a:pPr>
            <a:r>
              <a:rPr lang="en-US" sz="1150" b="1" dirty="0" err="1">
                <a:solidFill>
                  <a:srgbClr val="1F5F8B"/>
                </a:solidFill>
                <a:latin typeface="Helvetica Neue" pitchFamily="34" charset="0"/>
                <a:ea typeface="Helvetica Neue" pitchFamily="34" charset="-122"/>
                <a:cs typeface="Helvetica Neue" pitchFamily="34" charset="-120"/>
              </a:rPr>
              <a:t>实验</a:t>
            </a:r>
            <a:endParaRPr lang="en-US" sz="1150" dirty="0"/>
          </a:p>
        </p:txBody>
      </p:sp>
      <p:sp>
        <p:nvSpPr>
          <p:cNvPr id="4" name="Text 2"/>
          <p:cNvSpPr/>
          <p:nvPr/>
        </p:nvSpPr>
        <p:spPr>
          <a:xfrm>
            <a:off x="400040" y="609600"/>
            <a:ext cx="10096248" cy="857250"/>
          </a:xfrm>
          <a:prstGeom prst="rect">
            <a:avLst/>
          </a:prstGeom>
          <a:noFill/>
          <a:ln/>
        </p:spPr>
        <p:txBody>
          <a:bodyPr wrap="square" lIns="0" tIns="0" rIns="0" bIns="0" rtlCol="0" anchor="t"/>
          <a:lstStyle/>
          <a:p>
            <a:pPr marL="0" indent="0" algn="l">
              <a:buNone/>
            </a:pPr>
            <a:r>
              <a:rPr lang="en-US" altLang="zh-CN" sz="2950" b="1" dirty="0" err="1">
                <a:solidFill>
                  <a:srgbClr val="111827"/>
                </a:solidFill>
                <a:latin typeface="Helvetica Neue" pitchFamily="34" charset="0"/>
                <a:ea typeface="Helvetica Neue" pitchFamily="34" charset="-122"/>
                <a:cs typeface="Helvetica Neue" pitchFamily="34" charset="-120"/>
              </a:rPr>
              <a:t>SOUL.md</a:t>
            </a:r>
            <a:r>
              <a:rPr lang="zh-CN" altLang="en-US" sz="2950" b="1" dirty="0">
                <a:solidFill>
                  <a:srgbClr val="111827"/>
                </a:solidFill>
                <a:latin typeface="Helvetica Neue" pitchFamily="34" charset="0"/>
                <a:ea typeface="Helvetica Neue" pitchFamily="34" charset="-122"/>
                <a:cs typeface="Helvetica Neue" pitchFamily="34" charset="-120"/>
              </a:rPr>
              <a:t>的实验</a:t>
            </a:r>
            <a:endParaRPr lang="en-US" altLang="zh-CN" sz="2950" dirty="0"/>
          </a:p>
        </p:txBody>
      </p:sp>
      <p:sp>
        <p:nvSpPr>
          <p:cNvPr id="20" name="Shape 18"/>
          <p:cNvSpPr/>
          <p:nvPr/>
        </p:nvSpPr>
        <p:spPr>
          <a:xfrm>
            <a:off x="476238" y="5715000"/>
            <a:ext cx="11048724" cy="590550"/>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21" name="Shape 19"/>
          <p:cNvSpPr/>
          <p:nvPr/>
        </p:nvSpPr>
        <p:spPr>
          <a:xfrm>
            <a:off x="504812" y="5715000"/>
            <a:ext cx="0" cy="5905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22" name="Text 20"/>
          <p:cNvSpPr/>
          <p:nvPr/>
        </p:nvSpPr>
        <p:spPr>
          <a:xfrm>
            <a:off x="723882" y="5867400"/>
            <a:ext cx="10610585" cy="285750"/>
          </a:xfrm>
          <a:prstGeom prst="rect">
            <a:avLst/>
          </a:prstGeom>
          <a:noFill/>
          <a:ln/>
        </p:spPr>
        <p:txBody>
          <a:bodyPr wrap="square" lIns="0" tIns="0" rIns="0" bIns="0" rtlCol="0" anchor="t"/>
          <a:lstStyle/>
          <a:p>
            <a:pPr marL="0" indent="0" algn="l">
              <a:buNone/>
            </a:pPr>
            <a:r>
              <a:rPr lang="en-US" sz="1600" b="1" dirty="0" err="1">
                <a:solidFill>
                  <a:srgbClr val="134E4A"/>
                </a:solidFill>
                <a:latin typeface="Helvetica Neue" pitchFamily="34" charset="0"/>
                <a:ea typeface="Helvetica Neue" pitchFamily="34" charset="-122"/>
                <a:cs typeface="Helvetica Neue" pitchFamily="34" charset="-120"/>
              </a:rPr>
              <a:t>实验目的：system</a:t>
            </a:r>
            <a:r>
              <a:rPr lang="zh-CN" altLang="en-US" sz="1600" b="1" dirty="0">
                <a:solidFill>
                  <a:srgbClr val="134E4A"/>
                </a:solidFill>
                <a:latin typeface="Helvetica Neue" pitchFamily="34" charset="0"/>
                <a:ea typeface="Helvetica Neue" pitchFamily="34" charset="-122"/>
                <a:cs typeface="Helvetica Neue" pitchFamily="34" charset="-120"/>
              </a:rPr>
              <a:t> </a:t>
            </a:r>
            <a:r>
              <a:rPr lang="en-US" altLang="zh-CN" sz="1600" b="1" dirty="0">
                <a:solidFill>
                  <a:srgbClr val="134E4A"/>
                </a:solidFill>
                <a:latin typeface="Helvetica Neue" pitchFamily="34" charset="0"/>
                <a:ea typeface="Helvetica Neue" pitchFamily="34" charset="-122"/>
                <a:cs typeface="Helvetica Neue" pitchFamily="34" charset="-120"/>
              </a:rPr>
              <a:t>prompt</a:t>
            </a:r>
            <a:r>
              <a:rPr lang="en-US" sz="1600" b="1" dirty="0">
                <a:solidFill>
                  <a:srgbClr val="134E4A"/>
                </a:solidFill>
                <a:latin typeface="Helvetica Neue" pitchFamily="34" charset="0"/>
                <a:ea typeface="Helvetica Neue" pitchFamily="34" charset="-122"/>
                <a:cs typeface="Helvetica Neue" pitchFamily="34" charset="-120"/>
              </a:rPr>
              <a:t>/SOUL 是上下文输入，不是隐藏魔法。</a:t>
            </a:r>
            <a:endParaRPr lang="en-US" sz="1600" dirty="0"/>
          </a:p>
        </p:txBody>
      </p:sp>
      <p:sp>
        <p:nvSpPr>
          <p:cNvPr id="23" name="Text 21"/>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19 / 26</a:t>
            </a:r>
            <a:endParaRPr lang="en-US" sz="1000" dirty="0"/>
          </a:p>
        </p:txBody>
      </p:sp>
      <p:sp>
        <p:nvSpPr>
          <p:cNvPr id="24" name="文本框 23">
            <a:extLst>
              <a:ext uri="{FF2B5EF4-FFF2-40B4-BE49-F238E27FC236}">
                <a16:creationId xmlns:a16="http://schemas.microsoft.com/office/drawing/2014/main" id="{FAAA6F57-D2FD-1230-EE2F-DA2EA7C776DC}"/>
              </a:ext>
            </a:extLst>
          </p:cNvPr>
          <p:cNvSpPr txBox="1"/>
          <p:nvPr/>
        </p:nvSpPr>
        <p:spPr>
          <a:xfrm>
            <a:off x="819129" y="1338281"/>
            <a:ext cx="10558050" cy="1938992"/>
          </a:xfrm>
          <a:prstGeom prst="rect">
            <a:avLst/>
          </a:prstGeom>
          <a:noFill/>
        </p:spPr>
        <p:txBody>
          <a:bodyPr wrap="square" rtlCol="0">
            <a:spAutoFit/>
          </a:bodyPr>
          <a:lstStyle/>
          <a:p>
            <a:pPr marL="342900" indent="-342900">
              <a:buAutoNum type="arabicPeriod"/>
            </a:pPr>
            <a:r>
              <a:rPr kumimoji="1" lang="zh-CN" altLang="en-US" sz="2400" dirty="0"/>
              <a:t>请尝试修改你的</a:t>
            </a:r>
            <a:r>
              <a:rPr kumimoji="1" lang="en-US" altLang="zh-CN" sz="2400" dirty="0"/>
              <a:t> Agent </a:t>
            </a:r>
            <a:r>
              <a:rPr kumimoji="1" lang="zh-CN" altLang="en-US" sz="2400" dirty="0"/>
              <a:t>代码实现，使其</a:t>
            </a:r>
            <a:r>
              <a:rPr kumimoji="1" lang="en-US" altLang="zh-CN" sz="2400" dirty="0"/>
              <a:t> System</a:t>
            </a:r>
            <a:r>
              <a:rPr kumimoji="1" lang="zh-CN" altLang="en-US" sz="2400" dirty="0"/>
              <a:t> </a:t>
            </a:r>
            <a:r>
              <a:rPr kumimoji="1" lang="en-US" altLang="zh-CN" sz="2400" dirty="0"/>
              <a:t>Prompt </a:t>
            </a:r>
            <a:r>
              <a:rPr kumimoji="1" lang="zh-CN" altLang="en-US" sz="2400" dirty="0"/>
              <a:t>的一部分从本地的</a:t>
            </a:r>
            <a:r>
              <a:rPr kumimoji="1" lang="en-US" altLang="zh-CN" sz="2400" dirty="0"/>
              <a:t> </a:t>
            </a:r>
            <a:r>
              <a:rPr kumimoji="1" lang="en-US" altLang="zh-CN" sz="2400" dirty="0" err="1"/>
              <a:t>SOUL.md</a:t>
            </a:r>
            <a:r>
              <a:rPr kumimoji="1" lang="en-US" altLang="zh-CN" sz="2400" dirty="0"/>
              <a:t> </a:t>
            </a:r>
            <a:r>
              <a:rPr kumimoji="1" lang="zh-CN" altLang="en-US" sz="2400" dirty="0"/>
              <a:t>中读取</a:t>
            </a:r>
            <a:endParaRPr kumimoji="1" lang="en-US" altLang="zh-CN" sz="2400" dirty="0"/>
          </a:p>
          <a:p>
            <a:pPr marL="342900" indent="-342900">
              <a:buAutoNum type="arabicPeriod"/>
            </a:pPr>
            <a:r>
              <a:rPr kumimoji="1" lang="zh-CN" altLang="en-US" sz="2400" dirty="0"/>
              <a:t>在</a:t>
            </a:r>
            <a:r>
              <a:rPr kumimoji="1" lang="en-US" altLang="zh-CN" sz="2400" dirty="0"/>
              <a:t> </a:t>
            </a:r>
            <a:r>
              <a:rPr kumimoji="1" lang="en-US" altLang="zh-CN" sz="2400" dirty="0" err="1"/>
              <a:t>SOUL.md</a:t>
            </a:r>
            <a:r>
              <a:rPr kumimoji="1" lang="en-US" altLang="zh-CN" sz="2400" dirty="0"/>
              <a:t> </a:t>
            </a:r>
            <a:r>
              <a:rPr kumimoji="1" lang="zh-CN" altLang="en-US" sz="2400" dirty="0"/>
              <a:t>中进行初步的</a:t>
            </a:r>
            <a:r>
              <a:rPr kumimoji="1" lang="en-US" altLang="zh-CN" sz="2400" dirty="0"/>
              <a:t> Agent</a:t>
            </a:r>
            <a:r>
              <a:rPr kumimoji="1" lang="zh-CN" altLang="en-US" sz="2400" dirty="0"/>
              <a:t>人格设计（包括说话风格，对你的称呼等等）</a:t>
            </a:r>
            <a:endParaRPr kumimoji="1" lang="en-US" altLang="zh-CN" sz="2400" dirty="0"/>
          </a:p>
          <a:p>
            <a:pPr marL="342900" indent="-342900">
              <a:buAutoNum type="arabicPeriod"/>
            </a:pPr>
            <a:r>
              <a:rPr kumimoji="1" lang="zh-CN" altLang="en-US" sz="2400" dirty="0"/>
              <a:t>尝试不同的</a:t>
            </a:r>
            <a:r>
              <a:rPr kumimoji="1" lang="en-US" altLang="zh-CN" sz="2400" dirty="0"/>
              <a:t> </a:t>
            </a:r>
            <a:r>
              <a:rPr kumimoji="1" lang="en-US" altLang="zh-CN" sz="2400" dirty="0" err="1"/>
              <a:t>SOUL.md</a:t>
            </a:r>
            <a:r>
              <a:rPr kumimoji="1" lang="zh-CN" altLang="en-US" sz="2400" dirty="0"/>
              <a:t>，看看不同的</a:t>
            </a:r>
            <a:r>
              <a:rPr kumimoji="1" lang="en-US" altLang="zh-CN" sz="2400" dirty="0"/>
              <a:t> </a:t>
            </a:r>
            <a:r>
              <a:rPr kumimoji="1" lang="en-US" altLang="zh-CN" sz="2400" dirty="0" err="1"/>
              <a:t>SOUL.md</a:t>
            </a:r>
            <a:r>
              <a:rPr kumimoji="1" lang="en-US" altLang="zh-CN" sz="2400" dirty="0"/>
              <a:t> </a:t>
            </a:r>
            <a:r>
              <a:rPr kumimoji="1" lang="zh-CN" altLang="en-US" sz="2400" dirty="0"/>
              <a:t>对于你发起的同一个问题，</a:t>
            </a:r>
            <a:r>
              <a:rPr kumimoji="1" lang="en-US" altLang="zh-CN" sz="2400" dirty="0"/>
              <a:t>Agent </a:t>
            </a:r>
            <a:r>
              <a:rPr kumimoji="1" lang="zh-CN" altLang="en-US" sz="2400" dirty="0"/>
              <a:t>会有怎样不同的反应</a:t>
            </a:r>
          </a:p>
        </p:txBody>
      </p:sp>
    </p:spTree>
    <p:extLst>
      <p:ext uri="{BB962C8B-B14F-4D97-AF65-F5344CB8AC3E}">
        <p14:creationId xmlns:p14="http://schemas.microsoft.com/office/powerpoint/2010/main" val="935316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3" name="Shape 1"/>
          <p:cNvSpPr/>
          <p:nvPr/>
        </p:nvSpPr>
        <p:spPr>
          <a:xfrm>
            <a:off x="0" y="0"/>
            <a:ext cx="2857429" cy="6858000"/>
          </a:xfrm>
          <a:prstGeom prst="rect">
            <a:avLst/>
          </a:prstGeom>
          <a:solidFill>
            <a:srgbClr val="134E4A"/>
          </a:solidFill>
          <a:ln w="12700">
            <a:solidFill>
              <a:srgbClr val="FFFFFF">
                <a:alpha val="0"/>
              </a:srgbClr>
            </a:solidFill>
            <a:prstDash val="solid"/>
          </a:ln>
        </p:spPr>
        <p:txBody>
          <a:bodyPr/>
          <a:lstStyle/>
          <a:p>
            <a:endParaRPr lang="zh-CN" altLang="en-US"/>
          </a:p>
        </p:txBody>
      </p:sp>
      <p:sp>
        <p:nvSpPr>
          <p:cNvPr id="4" name="Text 2"/>
          <p:cNvSpPr/>
          <p:nvPr/>
        </p:nvSpPr>
        <p:spPr>
          <a:xfrm>
            <a:off x="400040" y="552450"/>
            <a:ext cx="2095448" cy="704850"/>
          </a:xfrm>
          <a:prstGeom prst="rect">
            <a:avLst/>
          </a:prstGeom>
          <a:noFill/>
          <a:ln/>
        </p:spPr>
        <p:txBody>
          <a:bodyPr wrap="square" lIns="0" tIns="0" rIns="0" bIns="0" rtlCol="0" anchor="t"/>
          <a:lstStyle/>
          <a:p>
            <a:pPr marL="0" indent="0" algn="l">
              <a:buNone/>
            </a:pPr>
            <a:r>
              <a:rPr lang="en-US" altLang="zh-CN" sz="2400" b="1" dirty="0">
                <a:solidFill>
                  <a:srgbClr val="FFFFFF"/>
                </a:solidFill>
                <a:latin typeface="Helvetica Neue" pitchFamily="34" charset="0"/>
                <a:ea typeface="Helvetica Neue" pitchFamily="34" charset="-122"/>
                <a:cs typeface="Helvetica Neue" pitchFamily="34" charset="-120"/>
              </a:rPr>
              <a:t>4</a:t>
            </a:r>
            <a:endParaRPr lang="en-US" sz="2400" dirty="0"/>
          </a:p>
          <a:p>
            <a:pPr marL="0" indent="0" algn="l">
              <a:buNone/>
            </a:pPr>
            <a:r>
              <a:rPr lang="en-US" sz="2400" b="1" dirty="0">
                <a:solidFill>
                  <a:srgbClr val="FFFFFF"/>
                </a:solidFill>
                <a:latin typeface="Helvetica Neue" pitchFamily="34" charset="0"/>
                <a:ea typeface="Helvetica Neue" pitchFamily="34" charset="-122"/>
                <a:cs typeface="Helvetica Neue" pitchFamily="34" charset="-120"/>
              </a:rPr>
              <a:t>Agent</a:t>
            </a:r>
            <a:r>
              <a:rPr lang="zh-CN" altLang="en-US" sz="2400" b="1" dirty="0">
                <a:solidFill>
                  <a:srgbClr val="FFFFFF"/>
                </a:solidFill>
                <a:latin typeface="Helvetica Neue" pitchFamily="34" charset="0"/>
                <a:ea typeface="Helvetica Neue" pitchFamily="34" charset="-122"/>
                <a:cs typeface="Helvetica Neue" pitchFamily="34" charset="-120"/>
              </a:rPr>
              <a:t> </a:t>
            </a:r>
            <a:r>
              <a:rPr lang="en-US" sz="2400" b="1" dirty="0">
                <a:solidFill>
                  <a:srgbClr val="FFFFFF"/>
                </a:solidFill>
                <a:latin typeface="Helvetica Neue" pitchFamily="34" charset="0"/>
                <a:ea typeface="Helvetica Neue" pitchFamily="34" charset="-122"/>
                <a:cs typeface="Helvetica Neue" pitchFamily="34" charset="-120"/>
              </a:rPr>
              <a:t>Memory</a:t>
            </a:r>
            <a:endParaRPr lang="en-US" sz="2400" dirty="0"/>
          </a:p>
        </p:txBody>
      </p:sp>
      <p:sp>
        <p:nvSpPr>
          <p:cNvPr id="6" name="Text 4"/>
          <p:cNvSpPr/>
          <p:nvPr/>
        </p:nvSpPr>
        <p:spPr>
          <a:xfrm>
            <a:off x="3333667" y="514350"/>
            <a:ext cx="7953176" cy="819150"/>
          </a:xfrm>
          <a:prstGeom prst="rect">
            <a:avLst/>
          </a:prstGeom>
          <a:noFill/>
          <a:ln/>
        </p:spPr>
        <p:txBody>
          <a:bodyPr wrap="square" lIns="0" tIns="0" rIns="0" bIns="0" rtlCol="0" anchor="t"/>
          <a:lstStyle/>
          <a:p>
            <a:pPr marL="0" indent="0" algn="l">
              <a:buNone/>
            </a:pPr>
            <a:r>
              <a:rPr lang="en-US" sz="2850" dirty="0" err="1"/>
              <a:t>我们对于智能体的期望不仅仅是在一轮对话中能记住信息</a:t>
            </a:r>
            <a:r>
              <a:rPr lang="zh-CN" altLang="en-US" sz="2850" dirty="0"/>
              <a:t>，而是在常年累月的使用中越来越懂你</a:t>
            </a:r>
            <a:endParaRPr lang="en-US" sz="2850" dirty="0"/>
          </a:p>
        </p:txBody>
      </p:sp>
      <p:sp>
        <p:nvSpPr>
          <p:cNvPr id="7" name="Shape 5"/>
          <p:cNvSpPr/>
          <p:nvPr/>
        </p:nvSpPr>
        <p:spPr>
          <a:xfrm>
            <a:off x="3333667" y="1485900"/>
            <a:ext cx="7953176" cy="904875"/>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8" name="Shape 6"/>
          <p:cNvSpPr/>
          <p:nvPr/>
        </p:nvSpPr>
        <p:spPr>
          <a:xfrm>
            <a:off x="3362241" y="1485900"/>
            <a:ext cx="0" cy="90487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9" name="Text 7"/>
          <p:cNvSpPr/>
          <p:nvPr/>
        </p:nvSpPr>
        <p:spPr>
          <a:xfrm>
            <a:off x="3600360" y="1657350"/>
            <a:ext cx="7476938"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什么值得长期保存？</a:t>
            </a:r>
            <a:endParaRPr lang="en-US" sz="1800" dirty="0"/>
          </a:p>
        </p:txBody>
      </p:sp>
      <p:sp>
        <p:nvSpPr>
          <p:cNvPr id="10" name="Text 8"/>
          <p:cNvSpPr/>
          <p:nvPr/>
        </p:nvSpPr>
        <p:spPr>
          <a:xfrm>
            <a:off x="3600360" y="1971675"/>
            <a:ext cx="7476938" cy="247650"/>
          </a:xfrm>
          <a:prstGeom prst="rect">
            <a:avLst/>
          </a:prstGeom>
          <a:noFill/>
          <a:ln/>
        </p:spPr>
        <p:txBody>
          <a:bodyPr wrap="square" lIns="0" tIns="0" rIns="0" bIns="0" rtlCol="0" anchor="t"/>
          <a:lstStyle/>
          <a:p>
            <a:pPr marL="0" indent="0" algn="l">
              <a:buNone/>
            </a:pPr>
            <a:r>
              <a:rPr lang="en-US" sz="1450" dirty="0" err="1">
                <a:solidFill>
                  <a:srgbClr val="334155"/>
                </a:solidFill>
                <a:latin typeface="Helvetica Neue" pitchFamily="34" charset="0"/>
                <a:ea typeface="Helvetica Neue" pitchFamily="34" charset="-122"/>
                <a:cs typeface="Helvetica Neue" pitchFamily="34" charset="-120"/>
              </a:rPr>
              <a:t>稳定偏好、长期目标等会反复影响回答的内容</a:t>
            </a:r>
            <a:r>
              <a:rPr lang="en-US" sz="1450" dirty="0">
                <a:solidFill>
                  <a:srgbClr val="334155"/>
                </a:solidFill>
                <a:latin typeface="Helvetica Neue" pitchFamily="34" charset="0"/>
                <a:ea typeface="Helvetica Neue" pitchFamily="34" charset="-122"/>
                <a:cs typeface="Helvetica Neue" pitchFamily="34" charset="-120"/>
              </a:rPr>
              <a:t>。</a:t>
            </a:r>
            <a:endParaRPr lang="en-US" sz="1450" dirty="0"/>
          </a:p>
        </p:txBody>
      </p:sp>
      <p:sp>
        <p:nvSpPr>
          <p:cNvPr id="11" name="Shape 9"/>
          <p:cNvSpPr/>
          <p:nvPr/>
        </p:nvSpPr>
        <p:spPr>
          <a:xfrm>
            <a:off x="3333667" y="2543175"/>
            <a:ext cx="7953176" cy="904875"/>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2" name="Shape 10"/>
          <p:cNvSpPr/>
          <p:nvPr/>
        </p:nvSpPr>
        <p:spPr>
          <a:xfrm>
            <a:off x="3362241" y="2543175"/>
            <a:ext cx="0" cy="90487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13" name="Text 11"/>
          <p:cNvSpPr/>
          <p:nvPr/>
        </p:nvSpPr>
        <p:spPr>
          <a:xfrm>
            <a:off x="3600360" y="2714625"/>
            <a:ext cx="7476938" cy="314325"/>
          </a:xfrm>
          <a:prstGeom prst="rect">
            <a:avLst/>
          </a:prstGeom>
          <a:noFill/>
          <a:ln/>
        </p:spPr>
        <p:txBody>
          <a:bodyPr wrap="square" lIns="0" tIns="0" rIns="0" bIns="0" rtlCol="0" anchor="t"/>
          <a:lstStyle/>
          <a:p>
            <a:pPr marL="0" indent="0" algn="l">
              <a:buNone/>
            </a:pPr>
            <a:r>
              <a:rPr lang="en-US" sz="1800" b="1" dirty="0">
                <a:solidFill>
                  <a:srgbClr val="111827"/>
                </a:solidFill>
                <a:latin typeface="Helvetica Neue" pitchFamily="34" charset="0"/>
                <a:ea typeface="Helvetica Neue" pitchFamily="34" charset="-122"/>
                <a:cs typeface="Helvetica Neue" pitchFamily="34" charset="-120"/>
              </a:rPr>
              <a:t>什么只属于本次会话？</a:t>
            </a:r>
            <a:endParaRPr lang="en-US" sz="1800" dirty="0"/>
          </a:p>
        </p:txBody>
      </p:sp>
      <p:sp>
        <p:nvSpPr>
          <p:cNvPr id="14" name="Text 12"/>
          <p:cNvSpPr/>
          <p:nvPr/>
        </p:nvSpPr>
        <p:spPr>
          <a:xfrm>
            <a:off x="3600360" y="3028950"/>
            <a:ext cx="7476938" cy="247650"/>
          </a:xfrm>
          <a:prstGeom prst="rect">
            <a:avLst/>
          </a:prstGeom>
          <a:noFill/>
          <a:ln/>
        </p:spPr>
        <p:txBody>
          <a:bodyPr wrap="square" lIns="0" tIns="0" rIns="0" bIns="0" rtlCol="0" anchor="t"/>
          <a:lstStyle/>
          <a:p>
            <a:pPr marL="0" indent="0" algn="l">
              <a:buNone/>
            </a:pPr>
            <a:r>
              <a:rPr lang="en-US" sz="1450" dirty="0">
                <a:solidFill>
                  <a:srgbClr val="334155"/>
                </a:solidFill>
                <a:latin typeface="Helvetica Neue" pitchFamily="34" charset="0"/>
                <a:ea typeface="Helvetica Neue" pitchFamily="34" charset="-122"/>
                <a:cs typeface="Helvetica Neue" pitchFamily="34" charset="-120"/>
              </a:rPr>
              <a:t>一次性问题、临时情绪、当晚问过什么等更适合 session log</a:t>
            </a:r>
            <a:endParaRPr lang="en-US" sz="1450" dirty="0"/>
          </a:p>
        </p:txBody>
      </p:sp>
      <p:sp>
        <p:nvSpPr>
          <p:cNvPr id="15" name="Shape 13"/>
          <p:cNvSpPr/>
          <p:nvPr/>
        </p:nvSpPr>
        <p:spPr>
          <a:xfrm>
            <a:off x="3333667" y="3600450"/>
            <a:ext cx="7953176" cy="904875"/>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16" name="Shape 14"/>
          <p:cNvSpPr/>
          <p:nvPr/>
        </p:nvSpPr>
        <p:spPr>
          <a:xfrm>
            <a:off x="3362241" y="3600450"/>
            <a:ext cx="0" cy="90487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17" name="Text 15"/>
          <p:cNvSpPr/>
          <p:nvPr/>
        </p:nvSpPr>
        <p:spPr>
          <a:xfrm>
            <a:off x="3600360" y="3771900"/>
            <a:ext cx="7476938" cy="314325"/>
          </a:xfrm>
          <a:prstGeom prst="rect">
            <a:avLst/>
          </a:prstGeom>
          <a:noFill/>
          <a:ln/>
        </p:spPr>
        <p:txBody>
          <a:bodyPr wrap="square" lIns="0" tIns="0" rIns="0" bIns="0" rtlCol="0" anchor="t"/>
          <a:lstStyle/>
          <a:p>
            <a:pPr marL="0" indent="0" algn="l">
              <a:buNone/>
            </a:pPr>
            <a:r>
              <a:rPr lang="en-US" sz="1800" b="1" dirty="0" err="1">
                <a:solidFill>
                  <a:srgbClr val="111827"/>
                </a:solidFill>
                <a:latin typeface="Helvetica Neue" pitchFamily="34" charset="0"/>
                <a:ea typeface="Helvetica Neue" pitchFamily="34" charset="-122"/>
                <a:cs typeface="Helvetica Neue" pitchFamily="34" charset="-120"/>
              </a:rPr>
              <a:t>用户如何查看和删除记忆</a:t>
            </a:r>
            <a:r>
              <a:rPr lang="en-US" sz="1800" b="1" dirty="0">
                <a:solidFill>
                  <a:srgbClr val="111827"/>
                </a:solidFill>
                <a:latin typeface="Helvetica Neue" pitchFamily="34" charset="0"/>
                <a:ea typeface="Helvetica Neue" pitchFamily="34" charset="-122"/>
                <a:cs typeface="Helvetica Neue" pitchFamily="34" charset="-120"/>
              </a:rPr>
              <a:t>？</a:t>
            </a:r>
            <a:endParaRPr lang="en-US" sz="1800" dirty="0"/>
          </a:p>
        </p:txBody>
      </p:sp>
      <p:sp>
        <p:nvSpPr>
          <p:cNvPr id="18" name="Text 16"/>
          <p:cNvSpPr/>
          <p:nvPr/>
        </p:nvSpPr>
        <p:spPr>
          <a:xfrm>
            <a:off x="3600360" y="4086225"/>
            <a:ext cx="7476938" cy="247650"/>
          </a:xfrm>
          <a:prstGeom prst="rect">
            <a:avLst/>
          </a:prstGeom>
          <a:noFill/>
          <a:ln/>
        </p:spPr>
        <p:txBody>
          <a:bodyPr wrap="square" lIns="0" tIns="0" rIns="0" bIns="0" rtlCol="0" anchor="t"/>
          <a:lstStyle/>
          <a:p>
            <a:pPr marL="0" indent="0" algn="l">
              <a:buNone/>
            </a:pPr>
            <a:r>
              <a:rPr lang="en-US" sz="1450" dirty="0">
                <a:solidFill>
                  <a:srgbClr val="334155"/>
                </a:solidFill>
                <a:latin typeface="Helvetica Neue" pitchFamily="34" charset="0"/>
                <a:ea typeface="Helvetica Neue" pitchFamily="34" charset="-122"/>
                <a:cs typeface="Helvetica Neue" pitchFamily="34" charset="-120"/>
              </a:rPr>
              <a:t>/memory show 与 /memory forget 是信任和隐私控制的最低要求。</a:t>
            </a:r>
            <a:endParaRPr lang="en-US" sz="1450" dirty="0"/>
          </a:p>
        </p:txBody>
      </p:sp>
      <p:sp>
        <p:nvSpPr>
          <p:cNvPr id="21" name="Text 19"/>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20 / 26</a:t>
            </a:r>
            <a:endParaRPr lang="en-US" sz="1000" dirty="0"/>
          </a:p>
        </p:txBody>
      </p:sp>
    </p:spTree>
    <p:extLst>
      <p:ext uri="{BB962C8B-B14F-4D97-AF65-F5344CB8AC3E}">
        <p14:creationId xmlns:p14="http://schemas.microsoft.com/office/powerpoint/2010/main" val="986169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400040" y="609600"/>
            <a:ext cx="10286743" cy="800100"/>
          </a:xfrm>
          <a:prstGeom prst="rect">
            <a:avLst/>
          </a:prstGeom>
          <a:noFill/>
          <a:ln/>
        </p:spPr>
        <p:txBody>
          <a:bodyPr wrap="square" lIns="0" tIns="0" rIns="0" bIns="0" rtlCol="0" anchor="t"/>
          <a:lstStyle/>
          <a:p>
            <a:pPr marL="0" indent="0" algn="l">
              <a:buNone/>
            </a:pPr>
            <a:r>
              <a:rPr lang="en-US" sz="2850" b="1" dirty="0">
                <a:solidFill>
                  <a:srgbClr val="111827"/>
                </a:solidFill>
                <a:latin typeface="Helvetica Neue" pitchFamily="34" charset="0"/>
                <a:ea typeface="Helvetica Neue" pitchFamily="34" charset="-122"/>
                <a:cs typeface="Helvetica Neue" pitchFamily="34" charset="-120"/>
              </a:rPr>
              <a:t>Agent</a:t>
            </a:r>
            <a:r>
              <a:rPr lang="zh-CN" altLang="en-US" sz="2850" b="1" dirty="0">
                <a:solidFill>
                  <a:srgbClr val="111827"/>
                </a:solidFill>
                <a:latin typeface="Helvetica Neue" pitchFamily="34" charset="0"/>
                <a:ea typeface="Helvetica Neue" pitchFamily="34" charset="-122"/>
                <a:cs typeface="Helvetica Neue" pitchFamily="34" charset="-120"/>
              </a:rPr>
              <a:t> </a:t>
            </a:r>
            <a:r>
              <a:rPr lang="en-US" altLang="zh-CN" sz="2850" b="1" dirty="0">
                <a:solidFill>
                  <a:srgbClr val="111827"/>
                </a:solidFill>
                <a:latin typeface="Helvetica Neue" pitchFamily="34" charset="0"/>
                <a:ea typeface="Helvetica Neue" pitchFamily="34" charset="-122"/>
                <a:cs typeface="Helvetica Neue" pitchFamily="34" charset="-120"/>
              </a:rPr>
              <a:t>Memory </a:t>
            </a:r>
            <a:r>
              <a:rPr lang="zh-CN" altLang="en-US" sz="2850" b="1" dirty="0">
                <a:solidFill>
                  <a:srgbClr val="111827"/>
                </a:solidFill>
                <a:latin typeface="Helvetica Neue" pitchFamily="34" charset="0"/>
                <a:ea typeface="Helvetica Neue" pitchFamily="34" charset="-122"/>
                <a:cs typeface="Helvetica Neue" pitchFamily="34" charset="-120"/>
              </a:rPr>
              <a:t>最简单的一个实现：持久化所有的历史对话</a:t>
            </a:r>
            <a:endParaRPr lang="en-US" sz="2850" dirty="0"/>
          </a:p>
        </p:txBody>
      </p:sp>
      <p:sp>
        <p:nvSpPr>
          <p:cNvPr id="34" name="Shape 32"/>
          <p:cNvSpPr/>
          <p:nvPr/>
        </p:nvSpPr>
        <p:spPr>
          <a:xfrm>
            <a:off x="457189" y="5715000"/>
            <a:ext cx="11048724" cy="590550"/>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35" name="Shape 33"/>
          <p:cNvSpPr/>
          <p:nvPr/>
        </p:nvSpPr>
        <p:spPr>
          <a:xfrm>
            <a:off x="485763" y="5715000"/>
            <a:ext cx="0" cy="5905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36" name="Text 34"/>
          <p:cNvSpPr/>
          <p:nvPr/>
        </p:nvSpPr>
        <p:spPr>
          <a:xfrm>
            <a:off x="704832" y="5867400"/>
            <a:ext cx="10610585" cy="285750"/>
          </a:xfrm>
          <a:prstGeom prst="rect">
            <a:avLst/>
          </a:prstGeom>
          <a:noFill/>
          <a:ln/>
        </p:spPr>
        <p:txBody>
          <a:bodyPr wrap="square" lIns="0" tIns="0" rIns="0" bIns="0" rtlCol="0" anchor="t"/>
          <a:lstStyle/>
          <a:p>
            <a:pPr marL="0" indent="0" algn="l">
              <a:buNone/>
            </a:pPr>
            <a:r>
              <a:rPr lang="en-US" sz="1600" b="1" dirty="0" err="1">
                <a:solidFill>
                  <a:srgbClr val="134E4A"/>
                </a:solidFill>
                <a:latin typeface="Helvetica Neue" pitchFamily="34" charset="0"/>
                <a:ea typeface="Helvetica Neue" pitchFamily="34" charset="-122"/>
                <a:cs typeface="Helvetica Neue" pitchFamily="34" charset="-120"/>
              </a:rPr>
              <a:t>核心：agent</a:t>
            </a:r>
            <a:r>
              <a:rPr lang="en-US" sz="1600" b="1" dirty="0">
                <a:solidFill>
                  <a:srgbClr val="134E4A"/>
                </a:solidFill>
                <a:latin typeface="Helvetica Neue" pitchFamily="34" charset="0"/>
                <a:ea typeface="Helvetica Neue" pitchFamily="34" charset="-122"/>
                <a:cs typeface="Helvetica Neue" pitchFamily="34" charset="-120"/>
              </a:rPr>
              <a:t> </a:t>
            </a:r>
            <a:r>
              <a:rPr lang="en-US" sz="1600" b="1" dirty="0" err="1">
                <a:solidFill>
                  <a:srgbClr val="134E4A"/>
                </a:solidFill>
                <a:latin typeface="Helvetica Neue" pitchFamily="34" charset="0"/>
                <a:ea typeface="Helvetica Neue" pitchFamily="34" charset="-122"/>
                <a:cs typeface="Helvetica Neue" pitchFamily="34" charset="-120"/>
              </a:rPr>
              <a:t>的“人格</a:t>
            </a:r>
            <a:r>
              <a:rPr lang="en-US" sz="1600" b="1" dirty="0">
                <a:solidFill>
                  <a:srgbClr val="134E4A"/>
                </a:solidFill>
                <a:latin typeface="Helvetica Neue" pitchFamily="34" charset="0"/>
                <a:ea typeface="Helvetica Neue" pitchFamily="34" charset="-122"/>
                <a:cs typeface="Helvetica Neue" pitchFamily="34" charset="-120"/>
              </a:rPr>
              <a:t>”</a:t>
            </a:r>
            <a:r>
              <a:rPr lang="zh-CN" altLang="en-US" sz="1600" b="1" dirty="0">
                <a:solidFill>
                  <a:srgbClr val="134E4A"/>
                </a:solidFill>
                <a:latin typeface="Helvetica Neue" pitchFamily="34" charset="0"/>
                <a:ea typeface="Helvetica Neue" pitchFamily="34" charset="-122"/>
                <a:cs typeface="Helvetica Neue" pitchFamily="34" charset="-120"/>
              </a:rPr>
              <a:t>（</a:t>
            </a:r>
            <a:r>
              <a:rPr lang="en-US" altLang="zh-CN" sz="1600" b="1" dirty="0" err="1">
                <a:solidFill>
                  <a:srgbClr val="134E4A"/>
                </a:solidFill>
                <a:latin typeface="Helvetica Neue" pitchFamily="34" charset="0"/>
                <a:ea typeface="Helvetica Neue" pitchFamily="34" charset="-122"/>
                <a:cs typeface="Helvetica Neue" pitchFamily="34" charset="-120"/>
              </a:rPr>
              <a:t>SOUL.md</a:t>
            </a:r>
            <a:r>
              <a:rPr lang="zh-CN" altLang="en-US" sz="1600" b="1" dirty="0">
                <a:solidFill>
                  <a:srgbClr val="134E4A"/>
                </a:solidFill>
                <a:latin typeface="Helvetica Neue" pitchFamily="34" charset="0"/>
                <a:ea typeface="Helvetica Neue" pitchFamily="34" charset="-122"/>
                <a:cs typeface="Helvetica Neue" pitchFamily="34" charset="-120"/>
              </a:rPr>
              <a:t>）</a:t>
            </a:r>
            <a:r>
              <a:rPr lang="en-US" sz="1600" b="1" dirty="0" err="1">
                <a:solidFill>
                  <a:srgbClr val="134E4A"/>
                </a:solidFill>
                <a:latin typeface="Helvetica Neue" pitchFamily="34" charset="0"/>
                <a:ea typeface="Helvetica Neue" pitchFamily="34" charset="-122"/>
                <a:cs typeface="Helvetica Neue" pitchFamily="34" charset="-120"/>
              </a:rPr>
              <a:t>和“记忆</a:t>
            </a:r>
            <a:r>
              <a:rPr lang="zh-CN" altLang="en-US" sz="1600" b="1" dirty="0">
                <a:solidFill>
                  <a:srgbClr val="134E4A"/>
                </a:solidFill>
                <a:latin typeface="Helvetica Neue" pitchFamily="34" charset="0"/>
                <a:ea typeface="Helvetica Neue" pitchFamily="34" charset="-122"/>
                <a:cs typeface="Helvetica Neue" pitchFamily="34" charset="-120"/>
              </a:rPr>
              <a:t>”</a:t>
            </a:r>
            <a:r>
              <a:rPr lang="en-US" sz="1600" b="1" dirty="0">
                <a:solidFill>
                  <a:srgbClr val="134E4A"/>
                </a:solidFill>
                <a:latin typeface="Helvetica Neue" pitchFamily="34" charset="0"/>
                <a:ea typeface="Helvetica Neue" pitchFamily="34" charset="-122"/>
                <a:cs typeface="Helvetica Neue" pitchFamily="34" charset="-120"/>
              </a:rPr>
              <a:t>，</a:t>
            </a:r>
            <a:r>
              <a:rPr lang="en-US" sz="1600" b="1" dirty="0" err="1">
                <a:solidFill>
                  <a:srgbClr val="134E4A"/>
                </a:solidFill>
                <a:latin typeface="Helvetica Neue" pitchFamily="34" charset="0"/>
                <a:ea typeface="Helvetica Neue" pitchFamily="34" charset="-122"/>
                <a:cs typeface="Helvetica Neue" pitchFamily="34" charset="-120"/>
              </a:rPr>
              <a:t>最终都会变成给模型的上下文</a:t>
            </a:r>
            <a:r>
              <a:rPr lang="en-US" sz="1600" b="1" dirty="0">
                <a:solidFill>
                  <a:srgbClr val="134E4A"/>
                </a:solidFill>
                <a:latin typeface="Helvetica Neue" pitchFamily="34" charset="0"/>
                <a:ea typeface="Helvetica Neue" pitchFamily="34" charset="-122"/>
                <a:cs typeface="Helvetica Neue" pitchFamily="34" charset="-120"/>
              </a:rPr>
              <a:t>。</a:t>
            </a:r>
            <a:endParaRPr lang="en-US" sz="1600" dirty="0"/>
          </a:p>
        </p:txBody>
      </p:sp>
      <p:sp>
        <p:nvSpPr>
          <p:cNvPr id="37" name="Text 35"/>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21 / 26</a:t>
            </a:r>
            <a:endParaRPr lang="en-US" sz="1000" dirty="0"/>
          </a:p>
        </p:txBody>
      </p:sp>
      <p:pic>
        <p:nvPicPr>
          <p:cNvPr id="38" name="图片 37">
            <a:extLst>
              <a:ext uri="{FF2B5EF4-FFF2-40B4-BE49-F238E27FC236}">
                <a16:creationId xmlns:a16="http://schemas.microsoft.com/office/drawing/2014/main" id="{75ABA113-F5F8-8272-D949-D2AA602C6FB3}"/>
              </a:ext>
            </a:extLst>
          </p:cNvPr>
          <p:cNvPicPr>
            <a:picLocks noChangeAspect="1"/>
          </p:cNvPicPr>
          <p:nvPr/>
        </p:nvPicPr>
        <p:blipFill>
          <a:blip r:embed="rId3"/>
          <a:stretch>
            <a:fillRect/>
          </a:stretch>
        </p:blipFill>
        <p:spPr>
          <a:xfrm>
            <a:off x="470557" y="1438275"/>
            <a:ext cx="5094746" cy="3981450"/>
          </a:xfrm>
          <a:prstGeom prst="rect">
            <a:avLst/>
          </a:prstGeom>
        </p:spPr>
      </p:pic>
      <p:sp>
        <p:nvSpPr>
          <p:cNvPr id="39" name="文本框 38">
            <a:extLst>
              <a:ext uri="{FF2B5EF4-FFF2-40B4-BE49-F238E27FC236}">
                <a16:creationId xmlns:a16="http://schemas.microsoft.com/office/drawing/2014/main" id="{F363DDC7-4906-2644-A40E-1EF08CA4B386}"/>
              </a:ext>
            </a:extLst>
          </p:cNvPr>
          <p:cNvSpPr txBox="1"/>
          <p:nvPr/>
        </p:nvSpPr>
        <p:spPr>
          <a:xfrm>
            <a:off x="5850411" y="1438275"/>
            <a:ext cx="5641219" cy="4154984"/>
          </a:xfrm>
          <a:prstGeom prst="rect">
            <a:avLst/>
          </a:prstGeom>
          <a:noFill/>
        </p:spPr>
        <p:txBody>
          <a:bodyPr wrap="square" rtlCol="0">
            <a:spAutoFit/>
          </a:bodyPr>
          <a:lstStyle/>
          <a:p>
            <a:pPr marL="342900" indent="-342900">
              <a:buAutoNum type="arabicPeriod"/>
            </a:pPr>
            <a:r>
              <a:rPr kumimoji="1" lang="zh-CN" altLang="en-US" sz="2400" dirty="0"/>
              <a:t>之前我们会记录当前</a:t>
            </a:r>
            <a:r>
              <a:rPr kumimoji="1" lang="en-US" altLang="zh-CN" sz="2400" dirty="0"/>
              <a:t> session </a:t>
            </a:r>
            <a:r>
              <a:rPr kumimoji="1" lang="zh-CN" altLang="en-US" sz="2400" dirty="0"/>
              <a:t>的所有对话，并且在后续发送请求的时候，将之前的对话也附上，从而实现多轮对话的“有记忆的”效果</a:t>
            </a:r>
            <a:endParaRPr kumimoji="1" lang="en-US" altLang="zh-CN" sz="2400" dirty="0"/>
          </a:p>
          <a:p>
            <a:pPr marL="342900" indent="-342900">
              <a:buAutoNum type="arabicPeriod"/>
            </a:pPr>
            <a:r>
              <a:rPr kumimoji="1" lang="zh-CN" altLang="en-US" sz="2400" dirty="0"/>
              <a:t>一个简单的从多轮对话到</a:t>
            </a:r>
            <a:r>
              <a:rPr kumimoji="1" lang="en-US" altLang="zh-CN" sz="2400" dirty="0"/>
              <a:t> Agent</a:t>
            </a:r>
            <a:r>
              <a:rPr kumimoji="1" lang="zh-CN" altLang="en-US" sz="2400" dirty="0"/>
              <a:t> </a:t>
            </a:r>
            <a:r>
              <a:rPr kumimoji="1" lang="en-US" altLang="zh-CN" sz="2400" dirty="0"/>
              <a:t>Memory </a:t>
            </a:r>
            <a:r>
              <a:rPr kumimoji="1" lang="zh-CN" altLang="en-US" sz="2400" dirty="0"/>
              <a:t>的做法是：在退出一个会话时，将记忆保存到本地的一个文件（比如</a:t>
            </a:r>
            <a:r>
              <a:rPr kumimoji="1" lang="en-US" altLang="zh-CN" sz="2400" dirty="0" err="1"/>
              <a:t>memory.txt</a:t>
            </a:r>
            <a:r>
              <a:rPr kumimoji="1" lang="zh-CN" altLang="en-US" sz="2400" dirty="0"/>
              <a:t>），然后，后面在打开</a:t>
            </a:r>
            <a:r>
              <a:rPr kumimoji="1" lang="en-US" altLang="zh-CN" sz="2400" dirty="0"/>
              <a:t> Agent</a:t>
            </a:r>
            <a:r>
              <a:rPr kumimoji="1" lang="zh-CN" altLang="en-US" sz="2400" dirty="0"/>
              <a:t> </a:t>
            </a:r>
            <a:r>
              <a:rPr kumimoji="1" lang="en-US" altLang="zh-CN" sz="2400" dirty="0"/>
              <a:t>cli </a:t>
            </a:r>
            <a:r>
              <a:rPr kumimoji="1" lang="zh-CN" altLang="en-US" sz="2400" dirty="0"/>
              <a:t>的时候，把保存的文件的内容读出来，并且附在对话中，就能实现跨</a:t>
            </a:r>
            <a:r>
              <a:rPr kumimoji="1" lang="en-US" altLang="zh-CN" sz="2400" dirty="0"/>
              <a:t> session </a:t>
            </a:r>
            <a:r>
              <a:rPr kumimoji="1" lang="zh-CN" altLang="en-US" sz="2400" dirty="0"/>
              <a:t>的记忆效果</a:t>
            </a:r>
          </a:p>
        </p:txBody>
      </p:sp>
    </p:spTree>
    <p:extLst>
      <p:ext uri="{BB962C8B-B14F-4D97-AF65-F5344CB8AC3E}">
        <p14:creationId xmlns:p14="http://schemas.microsoft.com/office/powerpoint/2010/main" val="3340890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7147C-7D74-FCC0-8858-2A7459BF63C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73FD7E4-0B09-1767-CAD3-E476E34BCB10}"/>
              </a:ext>
            </a:extLst>
          </p:cNvPr>
          <p:cNvSpPr/>
          <p:nvPr/>
        </p:nvSpPr>
        <p:spPr>
          <a:xfrm>
            <a:off x="400040" y="609600"/>
            <a:ext cx="10286743" cy="800100"/>
          </a:xfrm>
          <a:prstGeom prst="rect">
            <a:avLst/>
          </a:prstGeom>
          <a:noFill/>
          <a:ln/>
        </p:spPr>
        <p:txBody>
          <a:bodyPr wrap="square" lIns="0" tIns="0" rIns="0" bIns="0" rtlCol="0" anchor="t"/>
          <a:lstStyle/>
          <a:p>
            <a:pPr marL="0" indent="0" algn="l">
              <a:buNone/>
            </a:pPr>
            <a:r>
              <a:rPr lang="en-US" sz="2850" b="1" dirty="0">
                <a:solidFill>
                  <a:srgbClr val="111827"/>
                </a:solidFill>
                <a:latin typeface="Helvetica Neue" pitchFamily="34" charset="0"/>
                <a:ea typeface="Helvetica Neue" pitchFamily="34" charset="-122"/>
                <a:cs typeface="Helvetica Neue" pitchFamily="34" charset="-120"/>
              </a:rPr>
              <a:t>Agent</a:t>
            </a:r>
            <a:r>
              <a:rPr lang="zh-CN" altLang="en-US" sz="2850" b="1" dirty="0">
                <a:solidFill>
                  <a:srgbClr val="111827"/>
                </a:solidFill>
                <a:latin typeface="Helvetica Neue" pitchFamily="34" charset="0"/>
                <a:ea typeface="Helvetica Neue" pitchFamily="34" charset="-122"/>
                <a:cs typeface="Helvetica Neue" pitchFamily="34" charset="-120"/>
              </a:rPr>
              <a:t> </a:t>
            </a:r>
            <a:r>
              <a:rPr lang="en-US" altLang="zh-CN" sz="2850" b="1" dirty="0">
                <a:solidFill>
                  <a:srgbClr val="111827"/>
                </a:solidFill>
                <a:latin typeface="Helvetica Neue" pitchFamily="34" charset="0"/>
                <a:ea typeface="Helvetica Neue" pitchFamily="34" charset="-122"/>
                <a:cs typeface="Helvetica Neue" pitchFamily="34" charset="-120"/>
              </a:rPr>
              <a:t>Memory </a:t>
            </a:r>
            <a:r>
              <a:rPr lang="zh-CN" altLang="en-US" sz="2850" b="1" dirty="0">
                <a:solidFill>
                  <a:srgbClr val="111827"/>
                </a:solidFill>
                <a:latin typeface="Helvetica Neue" pitchFamily="34" charset="0"/>
                <a:ea typeface="Helvetica Neue" pitchFamily="34" charset="-122"/>
                <a:cs typeface="Helvetica Neue" pitchFamily="34" charset="-120"/>
              </a:rPr>
              <a:t>最简单的一个实现：持久化所有的历史对话</a:t>
            </a:r>
            <a:endParaRPr lang="en-US" sz="2850" dirty="0"/>
          </a:p>
        </p:txBody>
      </p:sp>
      <p:sp>
        <p:nvSpPr>
          <p:cNvPr id="37" name="Text 35">
            <a:extLst>
              <a:ext uri="{FF2B5EF4-FFF2-40B4-BE49-F238E27FC236}">
                <a16:creationId xmlns:a16="http://schemas.microsoft.com/office/drawing/2014/main" id="{D34FAF4B-877A-6D50-D396-E305A85F10CA}"/>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22 / 26</a:t>
            </a:r>
            <a:endParaRPr lang="en-US" sz="1000" dirty="0"/>
          </a:p>
        </p:txBody>
      </p:sp>
      <p:sp>
        <p:nvSpPr>
          <p:cNvPr id="39" name="文本框 38">
            <a:extLst>
              <a:ext uri="{FF2B5EF4-FFF2-40B4-BE49-F238E27FC236}">
                <a16:creationId xmlns:a16="http://schemas.microsoft.com/office/drawing/2014/main" id="{EB1C206C-732D-C065-5CB7-1B6063E26BC7}"/>
              </a:ext>
            </a:extLst>
          </p:cNvPr>
          <p:cNvSpPr txBox="1"/>
          <p:nvPr/>
        </p:nvSpPr>
        <p:spPr>
          <a:xfrm>
            <a:off x="402585" y="1388566"/>
            <a:ext cx="11048724" cy="4893647"/>
          </a:xfrm>
          <a:prstGeom prst="rect">
            <a:avLst/>
          </a:prstGeom>
          <a:noFill/>
        </p:spPr>
        <p:txBody>
          <a:bodyPr wrap="square" rtlCol="0">
            <a:spAutoFit/>
          </a:bodyPr>
          <a:lstStyle/>
          <a:p>
            <a:r>
              <a:rPr kumimoji="1" lang="zh-CN" altLang="en-US" sz="2400" dirty="0"/>
              <a:t>这种简单的持久化的记忆虽然可用，但是却有着诸多的问题</a:t>
            </a:r>
            <a:endParaRPr kumimoji="1" lang="en-US" altLang="zh-CN" sz="2400" dirty="0"/>
          </a:p>
          <a:p>
            <a:endParaRPr kumimoji="1" lang="en-US" altLang="zh-CN" sz="2400" dirty="0"/>
          </a:p>
          <a:p>
            <a:pPr marL="342900" indent="-342900">
              <a:buAutoNum type="arabicPeriod"/>
            </a:pPr>
            <a:r>
              <a:rPr kumimoji="1" lang="zh-CN" altLang="en-US" sz="2400" b="1" dirty="0"/>
              <a:t>存储开销大</a:t>
            </a:r>
            <a:r>
              <a:rPr kumimoji="1" lang="zh-CN" altLang="en-US" sz="2400" dirty="0"/>
              <a:t>：如果只是文本的记忆还好，但是一旦</a:t>
            </a:r>
            <a:r>
              <a:rPr kumimoji="1" lang="en-US" altLang="zh-CN" sz="2400" dirty="0"/>
              <a:t>Agent </a:t>
            </a:r>
            <a:r>
              <a:rPr kumimoji="1" lang="zh-CN" altLang="en-US" sz="2400" dirty="0"/>
              <a:t>中开始涉及到文件（比如课件等</a:t>
            </a:r>
            <a:r>
              <a:rPr kumimoji="1" lang="en-US" altLang="zh-CN" sz="2400" dirty="0"/>
              <a:t> PDF</a:t>
            </a:r>
            <a:r>
              <a:rPr kumimoji="1" lang="zh-CN" altLang="en-US" sz="2400" dirty="0"/>
              <a:t>、</a:t>
            </a:r>
            <a:r>
              <a:rPr kumimoji="1" lang="en-US" altLang="zh-CN" sz="2400" dirty="0"/>
              <a:t>PPT</a:t>
            </a:r>
            <a:r>
              <a:rPr kumimoji="1" lang="zh-CN" altLang="en-US" sz="2400" dirty="0"/>
              <a:t>），那么记忆的量可能会非常大，导致本地存储开销高</a:t>
            </a:r>
            <a:endParaRPr kumimoji="1" lang="en-US" altLang="zh-CN" sz="2400" dirty="0"/>
          </a:p>
          <a:p>
            <a:pPr marL="342900" indent="-342900">
              <a:buAutoNum type="arabicPeriod"/>
            </a:pPr>
            <a:r>
              <a:rPr kumimoji="1" lang="en-US" altLang="zh-CN" sz="2400" b="1" dirty="0"/>
              <a:t>Token </a:t>
            </a:r>
            <a:r>
              <a:rPr kumimoji="1" lang="zh-CN" altLang="en-US" sz="2400" b="1" dirty="0"/>
              <a:t>消耗量很高</a:t>
            </a:r>
            <a:r>
              <a:rPr kumimoji="1" lang="zh-CN" altLang="en-US" sz="2400" dirty="0"/>
              <a:t>：</a:t>
            </a:r>
            <a:r>
              <a:rPr kumimoji="1" lang="en-US" altLang="zh-CN" sz="2400" dirty="0"/>
              <a:t>Token </a:t>
            </a:r>
            <a:r>
              <a:rPr kumimoji="1" lang="zh-CN" altLang="en-US" sz="2400" dirty="0"/>
              <a:t>的消耗和输入的内容的多少有着直接关系。当我们在一个对话中塞入的记忆越多，</a:t>
            </a:r>
            <a:r>
              <a:rPr kumimoji="1" lang="en-US" altLang="zh-CN" sz="2400" dirty="0"/>
              <a:t>Token </a:t>
            </a:r>
            <a:r>
              <a:rPr kumimoji="1" lang="zh-CN" altLang="en-US" sz="2400" dirty="0"/>
              <a:t>的消耗量往往会越高，这会导致成本显著增加</a:t>
            </a:r>
            <a:endParaRPr kumimoji="1" lang="en-US" altLang="zh-CN" sz="2400" dirty="0"/>
          </a:p>
          <a:p>
            <a:pPr marL="342900" indent="-342900">
              <a:buAutoNum type="arabicPeriod"/>
            </a:pPr>
            <a:r>
              <a:rPr kumimoji="1" lang="zh-CN" altLang="en-US" sz="2400" b="1" dirty="0"/>
              <a:t>智能效果差</a:t>
            </a:r>
            <a:r>
              <a:rPr kumimoji="1" lang="zh-CN" altLang="en-US" sz="2400" dirty="0"/>
              <a:t>：很多时候，记忆不是越多越好，给的越多，甚至可能会有负面的效果。比如，如果我们的记忆中 </a:t>
            </a:r>
            <a:r>
              <a:rPr kumimoji="1" lang="en-US" altLang="zh-CN" sz="2400" dirty="0"/>
              <a:t>90% </a:t>
            </a:r>
            <a:r>
              <a:rPr kumimoji="1" lang="zh-CN" altLang="en-US" sz="2400" dirty="0"/>
              <a:t>是和美食相关，但是现在的对话内容涉及的是学习，那么模型就相当于会面临 </a:t>
            </a:r>
            <a:r>
              <a:rPr kumimoji="1" lang="en-US" altLang="zh-CN" sz="2400" dirty="0"/>
              <a:t>90% </a:t>
            </a:r>
            <a:r>
              <a:rPr kumimoji="1" lang="zh-CN" altLang="en-US" sz="2400" dirty="0"/>
              <a:t>的干扰信息，这可能导致表现变差</a:t>
            </a:r>
            <a:endParaRPr kumimoji="1" lang="en-US" altLang="zh-CN" sz="2400" dirty="0"/>
          </a:p>
          <a:p>
            <a:pPr marL="342900" indent="-342900">
              <a:buAutoNum type="arabicPeriod"/>
            </a:pPr>
            <a:r>
              <a:rPr kumimoji="1" lang="zh-CN" altLang="en-US" sz="2400" b="1" dirty="0"/>
              <a:t>大语言模型上下文限制</a:t>
            </a:r>
            <a:r>
              <a:rPr kumimoji="1" lang="zh-CN" altLang="en-US" sz="2400" dirty="0"/>
              <a:t>：现在的大语言模型通常百万</a:t>
            </a:r>
            <a:r>
              <a:rPr kumimoji="1" lang="en-US" altLang="zh-CN" sz="2400" dirty="0"/>
              <a:t> Token </a:t>
            </a:r>
            <a:r>
              <a:rPr kumimoji="1" lang="zh-CN" altLang="en-US" sz="2400" dirty="0"/>
              <a:t>上下文已经是非常优秀的模型了，这意味着，哪怕不考虑上面这些问题，我们也不可能无限的增加给的记忆内容</a:t>
            </a:r>
          </a:p>
        </p:txBody>
      </p:sp>
    </p:spTree>
    <p:extLst>
      <p:ext uri="{BB962C8B-B14F-4D97-AF65-F5344CB8AC3E}">
        <p14:creationId xmlns:p14="http://schemas.microsoft.com/office/powerpoint/2010/main" val="3402063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4" name="Text 2"/>
          <p:cNvSpPr/>
          <p:nvPr/>
        </p:nvSpPr>
        <p:spPr>
          <a:xfrm>
            <a:off x="400040" y="609600"/>
            <a:ext cx="10001000"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文件式记忆</a:t>
            </a:r>
            <a:r>
              <a:rPr lang="zh-CN" altLang="en-US" sz="2950" b="1" dirty="0">
                <a:solidFill>
                  <a:srgbClr val="111827"/>
                </a:solidFill>
                <a:latin typeface="Helvetica Neue" pitchFamily="34" charset="0"/>
                <a:ea typeface="Helvetica Neue" pitchFamily="34" charset="-122"/>
                <a:cs typeface="Helvetica Neue" pitchFamily="34" charset="-120"/>
              </a:rPr>
              <a:t>：</a:t>
            </a:r>
            <a:r>
              <a:rPr lang="en-US" sz="2950" b="1" dirty="0" err="1">
                <a:solidFill>
                  <a:srgbClr val="111827"/>
                </a:solidFill>
                <a:latin typeface="Helvetica Neue" pitchFamily="34" charset="0"/>
                <a:ea typeface="Helvetica Neue" pitchFamily="34" charset="-122"/>
                <a:cs typeface="Helvetica Neue" pitchFamily="34" charset="-120"/>
              </a:rPr>
              <a:t>profile、session</a:t>
            </a:r>
            <a:r>
              <a:rPr lang="en-US" sz="2950" b="1" dirty="0">
                <a:solidFill>
                  <a:srgbClr val="111827"/>
                </a:solidFill>
                <a:latin typeface="Helvetica Neue" pitchFamily="34" charset="0"/>
                <a:ea typeface="Helvetica Neue" pitchFamily="34" charset="-122"/>
                <a:cs typeface="Helvetica Neue" pitchFamily="34" charset="-120"/>
              </a:rPr>
              <a:t> log、course index 分别承担长期偏好、运行历史和课程检索</a:t>
            </a:r>
            <a:endParaRPr lang="en-US" sz="2950" dirty="0"/>
          </a:p>
        </p:txBody>
      </p:sp>
      <p:sp>
        <p:nvSpPr>
          <p:cNvPr id="5" name="Shape 3"/>
          <p:cNvSpPr/>
          <p:nvPr/>
        </p:nvSpPr>
        <p:spPr>
          <a:xfrm>
            <a:off x="495288" y="1524000"/>
            <a:ext cx="3555861" cy="2476500"/>
          </a:xfrm>
          <a:prstGeom prst="rect">
            <a:avLst/>
          </a:prstGeom>
          <a:solidFill>
            <a:srgbClr val="FFFFFF"/>
          </a:solidFill>
          <a:ln w="12700">
            <a:solidFill>
              <a:srgbClr val="FFFFFF">
                <a:alpha val="0"/>
              </a:srgbClr>
            </a:solidFill>
            <a:prstDash val="solid"/>
          </a:ln>
        </p:spPr>
        <p:txBody>
          <a:bodyPr/>
          <a:lstStyle/>
          <a:p>
            <a:endParaRPr lang="zh-CN" altLang="en-US" sz="2400"/>
          </a:p>
        </p:txBody>
      </p:sp>
      <p:sp>
        <p:nvSpPr>
          <p:cNvPr id="6" name="Shape 4"/>
          <p:cNvSpPr/>
          <p:nvPr/>
        </p:nvSpPr>
        <p:spPr>
          <a:xfrm>
            <a:off x="495288" y="1552575"/>
            <a:ext cx="3555861" cy="0"/>
          </a:xfrm>
          <a:prstGeom prst="line">
            <a:avLst/>
          </a:prstGeom>
          <a:solidFill>
            <a:srgbClr val="FFFFFF">
              <a:alpha val="0"/>
            </a:srgbClr>
          </a:solidFill>
          <a:ln w="57150">
            <a:solidFill>
              <a:srgbClr val="1F5F8B"/>
            </a:solidFill>
            <a:prstDash val="solid"/>
          </a:ln>
        </p:spPr>
        <p:txBody>
          <a:bodyPr/>
          <a:lstStyle/>
          <a:p>
            <a:endParaRPr lang="zh-CN" altLang="en-US" sz="2400"/>
          </a:p>
        </p:txBody>
      </p:sp>
      <p:sp>
        <p:nvSpPr>
          <p:cNvPr id="7" name="Text 5"/>
          <p:cNvSpPr/>
          <p:nvPr/>
        </p:nvSpPr>
        <p:spPr>
          <a:xfrm>
            <a:off x="704832" y="1790700"/>
            <a:ext cx="3136772" cy="314325"/>
          </a:xfrm>
          <a:prstGeom prst="rect">
            <a:avLst/>
          </a:prstGeom>
          <a:noFill/>
          <a:ln/>
        </p:spPr>
        <p:txBody>
          <a:bodyPr wrap="square" lIns="0" tIns="0" rIns="0" bIns="0" rtlCol="0" anchor="t"/>
          <a:lstStyle/>
          <a:p>
            <a:pPr marL="0" indent="0" algn="l">
              <a:buNone/>
            </a:pPr>
            <a:r>
              <a:rPr lang="en-US" sz="2400" b="1" dirty="0">
                <a:solidFill>
                  <a:srgbClr val="111827"/>
                </a:solidFill>
                <a:latin typeface="Helvetica Neue" pitchFamily="34" charset="0"/>
                <a:ea typeface="Helvetica Neue" pitchFamily="34" charset="-122"/>
                <a:cs typeface="Helvetica Neue" pitchFamily="34" charset="-120"/>
              </a:rPr>
              <a:t>长期偏好</a:t>
            </a:r>
            <a:endParaRPr lang="en-US" sz="2400" dirty="0"/>
          </a:p>
        </p:txBody>
      </p:sp>
      <p:sp>
        <p:nvSpPr>
          <p:cNvPr id="8" name="Text 6"/>
          <p:cNvSpPr/>
          <p:nvPr/>
        </p:nvSpPr>
        <p:spPr>
          <a:xfrm>
            <a:off x="704832" y="2105025"/>
            <a:ext cx="3136772" cy="485775"/>
          </a:xfrm>
          <a:prstGeom prst="rect">
            <a:avLst/>
          </a:prstGeom>
          <a:noFill/>
          <a:ln/>
        </p:spPr>
        <p:txBody>
          <a:bodyPr wrap="square" lIns="0" tIns="0" rIns="0" bIns="0" rtlCol="0" anchor="t"/>
          <a:lstStyle/>
          <a:p>
            <a:pPr marL="0" indent="0" algn="l">
              <a:buNone/>
            </a:pPr>
            <a:r>
              <a:rPr lang="en-US" dirty="0">
                <a:solidFill>
                  <a:srgbClr val="334155"/>
                </a:solidFill>
                <a:latin typeface="Consolas" pitchFamily="34" charset="0"/>
                <a:ea typeface="Consolas" pitchFamily="34" charset="-122"/>
                <a:cs typeface="Consolas" pitchFamily="34" charset="-120"/>
              </a:rPr>
              <a:t>data/memory/profile.md</a:t>
            </a:r>
            <a:endParaRPr lang="en-US" dirty="0"/>
          </a:p>
        </p:txBody>
      </p:sp>
      <p:sp>
        <p:nvSpPr>
          <p:cNvPr id="9" name="Text 7"/>
          <p:cNvSpPr/>
          <p:nvPr/>
        </p:nvSpPr>
        <p:spPr>
          <a:xfrm>
            <a:off x="704832" y="2590800"/>
            <a:ext cx="3136772" cy="514350"/>
          </a:xfrm>
          <a:prstGeom prst="rect">
            <a:avLst/>
          </a:prstGeom>
          <a:noFill/>
          <a:ln/>
        </p:spPr>
        <p:txBody>
          <a:bodyPr wrap="square" lIns="0" tIns="0" rIns="0" bIns="0" rtlCol="0" anchor="t"/>
          <a:lstStyle/>
          <a:p>
            <a:pPr marL="0" indent="0" algn="l">
              <a:buNone/>
            </a:pPr>
            <a:r>
              <a:rPr lang="en-US" dirty="0">
                <a:solidFill>
                  <a:srgbClr val="334155"/>
                </a:solidFill>
                <a:latin typeface="Helvetica Neue" pitchFamily="34" charset="0"/>
                <a:ea typeface="Helvetica Neue" pitchFamily="34" charset="-122"/>
                <a:cs typeface="Helvetica Neue" pitchFamily="34" charset="-120"/>
              </a:rPr>
              <a:t>人能直接读写；保存学习风格、当前课程、长期目标等稳定信息。</a:t>
            </a:r>
            <a:endParaRPr lang="en-US" dirty="0"/>
          </a:p>
        </p:txBody>
      </p:sp>
      <p:sp>
        <p:nvSpPr>
          <p:cNvPr id="10" name="Shape 8"/>
          <p:cNvSpPr/>
          <p:nvPr/>
        </p:nvSpPr>
        <p:spPr>
          <a:xfrm>
            <a:off x="4241644" y="1524000"/>
            <a:ext cx="3555861" cy="2476500"/>
          </a:xfrm>
          <a:prstGeom prst="rect">
            <a:avLst/>
          </a:prstGeom>
          <a:solidFill>
            <a:srgbClr val="FFFFFF"/>
          </a:solidFill>
          <a:ln w="12700">
            <a:solidFill>
              <a:srgbClr val="FFFFFF">
                <a:alpha val="0"/>
              </a:srgbClr>
            </a:solidFill>
            <a:prstDash val="solid"/>
          </a:ln>
        </p:spPr>
        <p:txBody>
          <a:bodyPr/>
          <a:lstStyle/>
          <a:p>
            <a:endParaRPr lang="zh-CN" altLang="en-US" sz="2400"/>
          </a:p>
        </p:txBody>
      </p:sp>
      <p:sp>
        <p:nvSpPr>
          <p:cNvPr id="11" name="Shape 9"/>
          <p:cNvSpPr/>
          <p:nvPr/>
        </p:nvSpPr>
        <p:spPr>
          <a:xfrm>
            <a:off x="4241644" y="1552575"/>
            <a:ext cx="3555861" cy="0"/>
          </a:xfrm>
          <a:prstGeom prst="line">
            <a:avLst/>
          </a:prstGeom>
          <a:solidFill>
            <a:srgbClr val="FFFFFF">
              <a:alpha val="0"/>
            </a:srgbClr>
          </a:solidFill>
          <a:ln w="57150">
            <a:solidFill>
              <a:srgbClr val="58B0A6"/>
            </a:solidFill>
            <a:prstDash val="solid"/>
          </a:ln>
        </p:spPr>
        <p:txBody>
          <a:bodyPr/>
          <a:lstStyle/>
          <a:p>
            <a:endParaRPr lang="zh-CN" altLang="en-US" sz="2400"/>
          </a:p>
        </p:txBody>
      </p:sp>
      <p:sp>
        <p:nvSpPr>
          <p:cNvPr id="12" name="Text 10"/>
          <p:cNvSpPr/>
          <p:nvPr/>
        </p:nvSpPr>
        <p:spPr>
          <a:xfrm>
            <a:off x="4451189" y="1790700"/>
            <a:ext cx="3136772" cy="314325"/>
          </a:xfrm>
          <a:prstGeom prst="rect">
            <a:avLst/>
          </a:prstGeom>
          <a:noFill/>
          <a:ln/>
        </p:spPr>
        <p:txBody>
          <a:bodyPr wrap="square" lIns="0" tIns="0" rIns="0" bIns="0" rtlCol="0" anchor="t"/>
          <a:lstStyle/>
          <a:p>
            <a:pPr marL="0" indent="0" algn="l">
              <a:buNone/>
            </a:pPr>
            <a:r>
              <a:rPr lang="en-US" sz="2400" b="1" dirty="0">
                <a:solidFill>
                  <a:srgbClr val="111827"/>
                </a:solidFill>
                <a:latin typeface="Helvetica Neue" pitchFamily="34" charset="0"/>
                <a:ea typeface="Helvetica Neue" pitchFamily="34" charset="-122"/>
                <a:cs typeface="Helvetica Neue" pitchFamily="34" charset="-120"/>
              </a:rPr>
              <a:t>会话日志</a:t>
            </a:r>
            <a:endParaRPr lang="en-US" sz="2400" dirty="0"/>
          </a:p>
        </p:txBody>
      </p:sp>
      <p:sp>
        <p:nvSpPr>
          <p:cNvPr id="13" name="Text 11"/>
          <p:cNvSpPr/>
          <p:nvPr/>
        </p:nvSpPr>
        <p:spPr>
          <a:xfrm>
            <a:off x="4451189" y="2105025"/>
            <a:ext cx="3136772" cy="742950"/>
          </a:xfrm>
          <a:prstGeom prst="rect">
            <a:avLst/>
          </a:prstGeom>
          <a:noFill/>
          <a:ln/>
        </p:spPr>
        <p:txBody>
          <a:bodyPr wrap="square" lIns="0" tIns="0" rIns="0" bIns="0" rtlCol="0" anchor="t"/>
          <a:lstStyle/>
          <a:p>
            <a:pPr marL="0" indent="0" algn="l">
              <a:buNone/>
            </a:pPr>
            <a:r>
              <a:rPr lang="en-US" dirty="0">
                <a:solidFill>
                  <a:srgbClr val="334155"/>
                </a:solidFill>
                <a:latin typeface="Consolas" pitchFamily="34" charset="0"/>
                <a:ea typeface="Consolas" pitchFamily="34" charset="-122"/>
                <a:cs typeface="Consolas" pitchFamily="34" charset="-120"/>
              </a:rPr>
              <a:t>data/memory/session-log.jsonl</a:t>
            </a:r>
            <a:endParaRPr lang="en-US" dirty="0"/>
          </a:p>
        </p:txBody>
      </p:sp>
      <p:sp>
        <p:nvSpPr>
          <p:cNvPr id="14" name="Text 12"/>
          <p:cNvSpPr/>
          <p:nvPr/>
        </p:nvSpPr>
        <p:spPr>
          <a:xfrm>
            <a:off x="4451189" y="2847975"/>
            <a:ext cx="3136772" cy="514350"/>
          </a:xfrm>
          <a:prstGeom prst="rect">
            <a:avLst/>
          </a:prstGeom>
          <a:noFill/>
          <a:ln/>
        </p:spPr>
        <p:txBody>
          <a:bodyPr wrap="square" lIns="0" tIns="0" rIns="0" bIns="0" rtlCol="0" anchor="t"/>
          <a:lstStyle/>
          <a:p>
            <a:pPr marL="0" indent="0" algn="l">
              <a:buNone/>
            </a:pPr>
            <a:r>
              <a:rPr lang="en-US" dirty="0">
                <a:solidFill>
                  <a:srgbClr val="334155"/>
                </a:solidFill>
                <a:latin typeface="Helvetica Neue" pitchFamily="34" charset="0"/>
                <a:ea typeface="Helvetica Neue" pitchFamily="34" charset="-122"/>
                <a:cs typeface="Helvetica Neue" pitchFamily="34" charset="-120"/>
              </a:rPr>
              <a:t>程序每轮追加；记录 user/assistant 与 extra trace，便于回放与调试。</a:t>
            </a:r>
            <a:endParaRPr lang="en-US" dirty="0"/>
          </a:p>
        </p:txBody>
      </p:sp>
      <p:sp>
        <p:nvSpPr>
          <p:cNvPr id="15" name="Shape 13"/>
          <p:cNvSpPr/>
          <p:nvPr/>
        </p:nvSpPr>
        <p:spPr>
          <a:xfrm>
            <a:off x="7988001" y="1524000"/>
            <a:ext cx="3555861" cy="2476500"/>
          </a:xfrm>
          <a:prstGeom prst="rect">
            <a:avLst/>
          </a:prstGeom>
          <a:solidFill>
            <a:srgbClr val="FFFFFF"/>
          </a:solidFill>
          <a:ln w="12700">
            <a:solidFill>
              <a:srgbClr val="FFFFFF">
                <a:alpha val="0"/>
              </a:srgbClr>
            </a:solidFill>
            <a:prstDash val="solid"/>
          </a:ln>
        </p:spPr>
        <p:txBody>
          <a:bodyPr/>
          <a:lstStyle/>
          <a:p>
            <a:endParaRPr lang="zh-CN" altLang="en-US" sz="2400"/>
          </a:p>
        </p:txBody>
      </p:sp>
      <p:sp>
        <p:nvSpPr>
          <p:cNvPr id="16" name="Shape 14"/>
          <p:cNvSpPr/>
          <p:nvPr/>
        </p:nvSpPr>
        <p:spPr>
          <a:xfrm>
            <a:off x="7988001" y="1552575"/>
            <a:ext cx="3555861" cy="0"/>
          </a:xfrm>
          <a:prstGeom prst="line">
            <a:avLst/>
          </a:prstGeom>
          <a:solidFill>
            <a:srgbClr val="FFFFFF">
              <a:alpha val="0"/>
            </a:srgbClr>
          </a:solidFill>
          <a:ln w="57150">
            <a:solidFill>
              <a:srgbClr val="1F5F8B"/>
            </a:solidFill>
            <a:prstDash val="solid"/>
          </a:ln>
        </p:spPr>
        <p:txBody>
          <a:bodyPr/>
          <a:lstStyle/>
          <a:p>
            <a:endParaRPr lang="zh-CN" altLang="en-US" sz="2400"/>
          </a:p>
        </p:txBody>
      </p:sp>
      <p:sp>
        <p:nvSpPr>
          <p:cNvPr id="17" name="Text 15"/>
          <p:cNvSpPr/>
          <p:nvPr/>
        </p:nvSpPr>
        <p:spPr>
          <a:xfrm>
            <a:off x="8197546" y="1790700"/>
            <a:ext cx="3136772" cy="314325"/>
          </a:xfrm>
          <a:prstGeom prst="rect">
            <a:avLst/>
          </a:prstGeom>
          <a:noFill/>
          <a:ln/>
        </p:spPr>
        <p:txBody>
          <a:bodyPr wrap="square" lIns="0" tIns="0" rIns="0" bIns="0" rtlCol="0" anchor="t"/>
          <a:lstStyle/>
          <a:p>
            <a:pPr marL="0" indent="0" algn="l">
              <a:buNone/>
            </a:pPr>
            <a:r>
              <a:rPr lang="en-US" sz="2400" b="1" dirty="0">
                <a:solidFill>
                  <a:srgbClr val="111827"/>
                </a:solidFill>
                <a:latin typeface="Helvetica Neue" pitchFamily="34" charset="0"/>
                <a:ea typeface="Helvetica Neue" pitchFamily="34" charset="-122"/>
                <a:cs typeface="Helvetica Neue" pitchFamily="34" charset="-120"/>
              </a:rPr>
              <a:t>课程索引</a:t>
            </a:r>
            <a:endParaRPr lang="en-US" sz="2400" dirty="0"/>
          </a:p>
        </p:txBody>
      </p:sp>
      <p:sp>
        <p:nvSpPr>
          <p:cNvPr id="18" name="Text 16"/>
          <p:cNvSpPr/>
          <p:nvPr/>
        </p:nvSpPr>
        <p:spPr>
          <a:xfrm>
            <a:off x="8197546" y="2105025"/>
            <a:ext cx="3136772" cy="742950"/>
          </a:xfrm>
          <a:prstGeom prst="rect">
            <a:avLst/>
          </a:prstGeom>
          <a:noFill/>
          <a:ln/>
        </p:spPr>
        <p:txBody>
          <a:bodyPr wrap="square" lIns="0" tIns="0" rIns="0" bIns="0" rtlCol="0" anchor="t"/>
          <a:lstStyle/>
          <a:p>
            <a:pPr marL="0" indent="0" algn="l">
              <a:buNone/>
            </a:pPr>
            <a:r>
              <a:rPr lang="en-US" dirty="0">
                <a:solidFill>
                  <a:srgbClr val="334155"/>
                </a:solidFill>
                <a:latin typeface="Consolas" pitchFamily="34" charset="0"/>
                <a:ea typeface="Consolas" pitchFamily="34" charset="-122"/>
                <a:cs typeface="Consolas" pitchFamily="34" charset="-120"/>
              </a:rPr>
              <a:t>data/memory/course-index.json</a:t>
            </a:r>
            <a:endParaRPr lang="en-US" dirty="0"/>
          </a:p>
        </p:txBody>
      </p:sp>
      <p:sp>
        <p:nvSpPr>
          <p:cNvPr id="19" name="Text 17"/>
          <p:cNvSpPr/>
          <p:nvPr/>
        </p:nvSpPr>
        <p:spPr>
          <a:xfrm>
            <a:off x="8197546" y="2847975"/>
            <a:ext cx="3136772" cy="514350"/>
          </a:xfrm>
          <a:prstGeom prst="rect">
            <a:avLst/>
          </a:prstGeom>
          <a:noFill/>
          <a:ln/>
        </p:spPr>
        <p:txBody>
          <a:bodyPr wrap="square" lIns="0" tIns="0" rIns="0" bIns="0" rtlCol="0" anchor="t"/>
          <a:lstStyle/>
          <a:p>
            <a:pPr marL="0" indent="0" algn="l">
              <a:buNone/>
            </a:pPr>
            <a:r>
              <a:rPr lang="en-US" dirty="0">
                <a:solidFill>
                  <a:srgbClr val="334155"/>
                </a:solidFill>
                <a:latin typeface="Helvetica Neue" pitchFamily="34" charset="0"/>
                <a:ea typeface="Helvetica Neue" pitchFamily="34" charset="-122"/>
                <a:cs typeface="Helvetica Neue" pitchFamily="34" charset="-120"/>
              </a:rPr>
              <a:t>程序扫描课程 Markdown 生成；用于查找哪些课程资料可被引用。</a:t>
            </a:r>
            <a:endParaRPr lang="en-US" dirty="0"/>
          </a:p>
        </p:txBody>
      </p:sp>
      <p:sp>
        <p:nvSpPr>
          <p:cNvPr id="20" name="Shape 18"/>
          <p:cNvSpPr/>
          <p:nvPr/>
        </p:nvSpPr>
        <p:spPr>
          <a:xfrm>
            <a:off x="495288" y="5715000"/>
            <a:ext cx="11048724" cy="590550"/>
          </a:xfrm>
          <a:prstGeom prst="rect">
            <a:avLst/>
          </a:prstGeom>
          <a:solidFill>
            <a:srgbClr val="EAF7F5"/>
          </a:solidFill>
          <a:ln w="12700">
            <a:solidFill>
              <a:srgbClr val="FFFFFF">
                <a:alpha val="0"/>
              </a:srgbClr>
            </a:solidFill>
            <a:prstDash val="solid"/>
          </a:ln>
        </p:spPr>
        <p:txBody>
          <a:bodyPr/>
          <a:lstStyle/>
          <a:p>
            <a:endParaRPr lang="zh-CN" altLang="en-US"/>
          </a:p>
        </p:txBody>
      </p:sp>
      <p:sp>
        <p:nvSpPr>
          <p:cNvPr id="21" name="Shape 19"/>
          <p:cNvSpPr/>
          <p:nvPr/>
        </p:nvSpPr>
        <p:spPr>
          <a:xfrm>
            <a:off x="523862" y="5715000"/>
            <a:ext cx="0" cy="59055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22" name="Text 20"/>
          <p:cNvSpPr/>
          <p:nvPr/>
        </p:nvSpPr>
        <p:spPr>
          <a:xfrm>
            <a:off x="742931" y="5867400"/>
            <a:ext cx="10610585" cy="285750"/>
          </a:xfrm>
          <a:prstGeom prst="rect">
            <a:avLst/>
          </a:prstGeom>
          <a:noFill/>
          <a:ln/>
        </p:spPr>
        <p:txBody>
          <a:bodyPr wrap="square" lIns="0" tIns="0" rIns="0" bIns="0" rtlCol="0" anchor="t"/>
          <a:lstStyle/>
          <a:p>
            <a:pPr marL="0" indent="0" algn="l">
              <a:buNone/>
            </a:pPr>
            <a:r>
              <a:rPr lang="en-US" sz="1600" b="1" dirty="0" err="1">
                <a:solidFill>
                  <a:srgbClr val="134E4A"/>
                </a:solidFill>
                <a:latin typeface="Helvetica Neue" pitchFamily="34" charset="0"/>
                <a:ea typeface="Helvetica Neue" pitchFamily="34" charset="-122"/>
                <a:cs typeface="Helvetica Neue" pitchFamily="34" charset="-120"/>
              </a:rPr>
              <a:t>补充</a:t>
            </a:r>
            <a:r>
              <a:rPr lang="zh-CN" altLang="en-US" sz="1600" b="1" dirty="0">
                <a:solidFill>
                  <a:srgbClr val="134E4A"/>
                </a:solidFill>
                <a:latin typeface="Helvetica Neue" pitchFamily="34" charset="0"/>
                <a:ea typeface="Helvetica Neue" pitchFamily="34" charset="-122"/>
                <a:cs typeface="Helvetica Neue" pitchFamily="34" charset="-120"/>
              </a:rPr>
              <a:t>：</a:t>
            </a:r>
            <a:r>
              <a:rPr lang="en-US" sz="1600" b="1" dirty="0" err="1">
                <a:solidFill>
                  <a:srgbClr val="134E4A"/>
                </a:solidFill>
                <a:latin typeface="Helvetica Neue" pitchFamily="34" charset="0"/>
                <a:ea typeface="Helvetica Neue" pitchFamily="34" charset="-122"/>
                <a:cs typeface="Helvetica Neue" pitchFamily="34" charset="-120"/>
              </a:rPr>
              <a:t>可升级为</a:t>
            </a:r>
            <a:r>
              <a:rPr lang="en-US" sz="1600" b="1" dirty="0">
                <a:solidFill>
                  <a:srgbClr val="134E4A"/>
                </a:solidFill>
                <a:latin typeface="Helvetica Neue" pitchFamily="34" charset="0"/>
                <a:ea typeface="Helvetica Neue" pitchFamily="34" charset="-122"/>
                <a:cs typeface="Helvetica Neue" pitchFamily="34" charset="-120"/>
              </a:rPr>
              <a:t> SQLite、向量数据库或 memory service；只要外部接口稳定，agent loop 不需要大改。</a:t>
            </a:r>
            <a:endParaRPr lang="en-US" sz="1600" dirty="0"/>
          </a:p>
        </p:txBody>
      </p:sp>
      <p:sp>
        <p:nvSpPr>
          <p:cNvPr id="23" name="Text 21"/>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23 / 26</a:t>
            </a:r>
            <a:endParaRPr lang="en-US" sz="1000" dirty="0"/>
          </a:p>
        </p:txBody>
      </p:sp>
      <p:sp>
        <p:nvSpPr>
          <p:cNvPr id="24" name="文本框 23">
            <a:extLst>
              <a:ext uri="{FF2B5EF4-FFF2-40B4-BE49-F238E27FC236}">
                <a16:creationId xmlns:a16="http://schemas.microsoft.com/office/drawing/2014/main" id="{50212BE4-6B84-3896-A0A1-B385607E2660}"/>
              </a:ext>
            </a:extLst>
          </p:cNvPr>
          <p:cNvSpPr txBox="1"/>
          <p:nvPr/>
        </p:nvSpPr>
        <p:spPr>
          <a:xfrm>
            <a:off x="383730" y="4615160"/>
            <a:ext cx="5495841" cy="923330"/>
          </a:xfrm>
          <a:prstGeom prst="rect">
            <a:avLst/>
          </a:prstGeom>
          <a:noFill/>
        </p:spPr>
        <p:txBody>
          <a:bodyPr wrap="square" rtlCol="0">
            <a:spAutoFit/>
          </a:bodyPr>
          <a:lstStyle/>
          <a:p>
            <a:r>
              <a:rPr kumimoji="1" lang="zh-CN" altLang="en-US" dirty="0"/>
              <a:t>为了保证记忆质量，我们在</a:t>
            </a:r>
            <a:r>
              <a:rPr kumimoji="1" lang="en-US" altLang="zh-CN" dirty="0"/>
              <a:t> </a:t>
            </a:r>
            <a:r>
              <a:rPr kumimoji="1" lang="en-US" altLang="zh-CN" dirty="0" err="1"/>
              <a:t>SJTUClaw</a:t>
            </a:r>
            <a:r>
              <a:rPr kumimoji="1" lang="en-US" altLang="zh-CN" dirty="0"/>
              <a:t> </a:t>
            </a:r>
            <a:r>
              <a:rPr kumimoji="1" lang="zh-CN" altLang="en-US" dirty="0"/>
              <a:t>中暂时只要求主动记忆，即用户通过</a:t>
            </a:r>
            <a:r>
              <a:rPr lang="en" altLang="zh-CN" dirty="0">
                <a:effectLst/>
              </a:rPr>
              <a:t>/memory add</a:t>
            </a:r>
            <a:r>
              <a:rPr kumimoji="1" lang="zh-CN" altLang="en-US" dirty="0">
                <a:effectLst/>
              </a:rPr>
              <a:t>等命令，主动实现记忆的内容的增加或删除</a:t>
            </a:r>
            <a:endParaRPr lang="en" altLang="zh-CN" dirty="0">
              <a:effectLst/>
            </a:endParaRPr>
          </a:p>
        </p:txBody>
      </p:sp>
      <p:sp>
        <p:nvSpPr>
          <p:cNvPr id="25" name="下箭头 24">
            <a:extLst>
              <a:ext uri="{FF2B5EF4-FFF2-40B4-BE49-F238E27FC236}">
                <a16:creationId xmlns:a16="http://schemas.microsoft.com/office/drawing/2014/main" id="{7CFDBFBF-217C-4F0E-0DDB-DB2DCC1837EF}"/>
              </a:ext>
            </a:extLst>
          </p:cNvPr>
          <p:cNvSpPr/>
          <p:nvPr/>
        </p:nvSpPr>
        <p:spPr>
          <a:xfrm flipV="1">
            <a:off x="1869279" y="3932512"/>
            <a:ext cx="432048" cy="54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7443F016-7F02-5103-EF3F-7E7D63F052B5}"/>
              </a:ext>
            </a:extLst>
          </p:cNvPr>
          <p:cNvSpPr txBox="1"/>
          <p:nvPr/>
        </p:nvSpPr>
        <p:spPr>
          <a:xfrm>
            <a:off x="5832377" y="4229695"/>
            <a:ext cx="1487760" cy="369332"/>
          </a:xfrm>
          <a:prstGeom prst="rect">
            <a:avLst/>
          </a:prstGeom>
          <a:noFill/>
        </p:spPr>
        <p:txBody>
          <a:bodyPr wrap="square" rtlCol="0">
            <a:spAutoFit/>
          </a:bodyPr>
          <a:lstStyle/>
          <a:p>
            <a:r>
              <a:rPr kumimoji="1" lang="zh-CN" altLang="en-US" dirty="0"/>
              <a:t>仅作为</a:t>
            </a:r>
            <a:r>
              <a:rPr kumimoji="1" lang="en-US" altLang="zh-CN" dirty="0"/>
              <a:t>Log</a:t>
            </a:r>
            <a:endParaRPr lang="en" altLang="zh-CN" dirty="0">
              <a:effectLst/>
            </a:endParaRPr>
          </a:p>
        </p:txBody>
      </p:sp>
      <p:sp>
        <p:nvSpPr>
          <p:cNvPr id="27" name="下箭头 26">
            <a:extLst>
              <a:ext uri="{FF2B5EF4-FFF2-40B4-BE49-F238E27FC236}">
                <a16:creationId xmlns:a16="http://schemas.microsoft.com/office/drawing/2014/main" id="{5FD17125-218C-3B02-E2CB-081C6535DF77}"/>
              </a:ext>
            </a:extLst>
          </p:cNvPr>
          <p:cNvSpPr/>
          <p:nvPr/>
        </p:nvSpPr>
        <p:spPr>
          <a:xfrm flipV="1">
            <a:off x="6246414" y="3668479"/>
            <a:ext cx="432048" cy="54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405000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AA785-28BD-68DC-5112-CA4CEEBE7AD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47CF4FE7-A46D-BE07-DB59-8CD0015445D0}"/>
              </a:ext>
            </a:extLst>
          </p:cNvPr>
          <p:cNvSpPr/>
          <p:nvPr/>
        </p:nvSpPr>
        <p:spPr>
          <a:xfrm>
            <a:off x="400040" y="609600"/>
            <a:ext cx="10286743" cy="800100"/>
          </a:xfrm>
          <a:prstGeom prst="rect">
            <a:avLst/>
          </a:prstGeom>
          <a:noFill/>
          <a:ln/>
        </p:spPr>
        <p:txBody>
          <a:bodyPr wrap="square" lIns="0" tIns="0" rIns="0" bIns="0" rtlCol="0" anchor="t"/>
          <a:lstStyle/>
          <a:p>
            <a:pPr marL="0" indent="0" algn="l">
              <a:buNone/>
            </a:pPr>
            <a:r>
              <a:rPr lang="en-US" sz="2850" b="1" dirty="0" err="1">
                <a:solidFill>
                  <a:srgbClr val="111827"/>
                </a:solidFill>
                <a:latin typeface="Helvetica Neue" pitchFamily="34" charset="0"/>
                <a:ea typeface="Helvetica Neue" pitchFamily="34" charset="-122"/>
                <a:cs typeface="Helvetica Neue" pitchFamily="34" charset="-120"/>
              </a:rPr>
              <a:t>其他</a:t>
            </a:r>
            <a:r>
              <a:rPr lang="en-US" sz="2850" b="1" dirty="0">
                <a:solidFill>
                  <a:srgbClr val="111827"/>
                </a:solidFill>
                <a:latin typeface="Helvetica Neue" pitchFamily="34" charset="0"/>
                <a:ea typeface="Helvetica Neue" pitchFamily="34" charset="-122"/>
                <a:cs typeface="Helvetica Neue" pitchFamily="34" charset="-120"/>
              </a:rPr>
              <a:t> Agent</a:t>
            </a:r>
            <a:r>
              <a:rPr lang="zh-CN" altLang="en-US" sz="2850" b="1" dirty="0">
                <a:solidFill>
                  <a:srgbClr val="111827"/>
                </a:solidFill>
                <a:latin typeface="Helvetica Neue" pitchFamily="34" charset="0"/>
                <a:ea typeface="Helvetica Neue" pitchFamily="34" charset="-122"/>
                <a:cs typeface="Helvetica Neue" pitchFamily="34" charset="-120"/>
              </a:rPr>
              <a:t> </a:t>
            </a:r>
            <a:r>
              <a:rPr lang="en-US" altLang="zh-CN" sz="2850" b="1" dirty="0">
                <a:solidFill>
                  <a:srgbClr val="111827"/>
                </a:solidFill>
                <a:latin typeface="Helvetica Neue" pitchFamily="34" charset="0"/>
                <a:ea typeface="Helvetica Neue" pitchFamily="34" charset="-122"/>
                <a:cs typeface="Helvetica Neue" pitchFamily="34" charset="-120"/>
              </a:rPr>
              <a:t>Memory </a:t>
            </a:r>
            <a:r>
              <a:rPr lang="zh-CN" altLang="en-US" sz="2850" b="1" dirty="0">
                <a:solidFill>
                  <a:srgbClr val="111827"/>
                </a:solidFill>
                <a:latin typeface="Helvetica Neue" pitchFamily="34" charset="0"/>
                <a:ea typeface="Helvetica Neue" pitchFamily="34" charset="-122"/>
                <a:cs typeface="Helvetica Neue" pitchFamily="34" charset="-120"/>
              </a:rPr>
              <a:t>可以尝试的方向（</a:t>
            </a:r>
            <a:r>
              <a:rPr lang="en-US" altLang="zh-CN" sz="2850" b="1" dirty="0">
                <a:solidFill>
                  <a:srgbClr val="111827"/>
                </a:solidFill>
                <a:latin typeface="Helvetica Neue" pitchFamily="34" charset="0"/>
                <a:ea typeface="Helvetica Neue" pitchFamily="34" charset="-122"/>
                <a:cs typeface="Helvetica Neue" pitchFamily="34" charset="-120"/>
              </a:rPr>
              <a:t>Optional</a:t>
            </a:r>
            <a:r>
              <a:rPr lang="zh-CN" altLang="en-US" sz="2850" b="1" dirty="0">
                <a:solidFill>
                  <a:srgbClr val="111827"/>
                </a:solidFill>
                <a:latin typeface="Helvetica Neue" pitchFamily="34" charset="0"/>
                <a:ea typeface="Helvetica Neue" pitchFamily="34" charset="-122"/>
                <a:cs typeface="Helvetica Neue" pitchFamily="34" charset="-120"/>
              </a:rPr>
              <a:t>）</a:t>
            </a:r>
            <a:endParaRPr lang="en-US" sz="2850" dirty="0"/>
          </a:p>
        </p:txBody>
      </p:sp>
      <p:sp>
        <p:nvSpPr>
          <p:cNvPr id="37" name="Text 35">
            <a:extLst>
              <a:ext uri="{FF2B5EF4-FFF2-40B4-BE49-F238E27FC236}">
                <a16:creationId xmlns:a16="http://schemas.microsoft.com/office/drawing/2014/main" id="{BCE44F50-7B60-A752-D2B6-675F046A8556}"/>
              </a:ext>
            </a:extLst>
          </p:cNvPr>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24 / 26</a:t>
            </a:r>
            <a:endParaRPr lang="en-US" sz="1000" dirty="0"/>
          </a:p>
        </p:txBody>
      </p:sp>
      <p:sp>
        <p:nvSpPr>
          <p:cNvPr id="3" name="文本框 2">
            <a:extLst>
              <a:ext uri="{FF2B5EF4-FFF2-40B4-BE49-F238E27FC236}">
                <a16:creationId xmlns:a16="http://schemas.microsoft.com/office/drawing/2014/main" id="{52FAFCD7-2E1E-DFA9-4782-45B3F150CB4D}"/>
              </a:ext>
            </a:extLst>
          </p:cNvPr>
          <p:cNvSpPr txBox="1"/>
          <p:nvPr/>
        </p:nvSpPr>
        <p:spPr>
          <a:xfrm>
            <a:off x="400040" y="1124744"/>
            <a:ext cx="11048724" cy="4893647"/>
          </a:xfrm>
          <a:prstGeom prst="rect">
            <a:avLst/>
          </a:prstGeom>
          <a:noFill/>
        </p:spPr>
        <p:txBody>
          <a:bodyPr wrap="square" rtlCol="0">
            <a:spAutoFit/>
          </a:bodyPr>
          <a:lstStyle/>
          <a:p>
            <a:r>
              <a:rPr kumimoji="1" lang="en-US" altLang="zh-CN" sz="2400" dirty="0"/>
              <a:t>Agent</a:t>
            </a:r>
            <a:r>
              <a:rPr kumimoji="1" lang="zh-CN" altLang="en-US" sz="2400" dirty="0"/>
              <a:t> </a:t>
            </a:r>
            <a:r>
              <a:rPr kumimoji="1" lang="en-US" altLang="zh-CN" sz="2400" dirty="0"/>
              <a:t>Memory </a:t>
            </a:r>
            <a:r>
              <a:rPr kumimoji="1" lang="zh-CN" altLang="en-US" sz="2400" dirty="0"/>
              <a:t>是一个目前在业界和研究中均非常热门的领域，大家如果学有余力，可以在完成项目要求的情况下尝试不同的设计和实现</a:t>
            </a:r>
            <a:endParaRPr kumimoji="1" lang="en-US" altLang="zh-CN" sz="2400" dirty="0"/>
          </a:p>
          <a:p>
            <a:endParaRPr kumimoji="1" lang="en-US" altLang="zh-CN" sz="2400" dirty="0"/>
          </a:p>
          <a:p>
            <a:pPr marL="342900" indent="-342900">
              <a:buAutoNum type="arabicPeriod"/>
            </a:pPr>
            <a:r>
              <a:rPr kumimoji="1" lang="zh-CN" altLang="en-US" sz="2400" b="1" dirty="0"/>
              <a:t>智能体主动记忆</a:t>
            </a:r>
            <a:r>
              <a:rPr kumimoji="1" lang="zh-CN" altLang="en-US" sz="2400" dirty="0"/>
              <a:t>：用户显式的</a:t>
            </a:r>
            <a:r>
              <a:rPr kumimoji="1" lang="en-US" altLang="zh-CN" sz="2400" dirty="0"/>
              <a:t>/memory add </a:t>
            </a:r>
            <a:r>
              <a:rPr kumimoji="1" lang="zh-CN" altLang="en-US" sz="2400" dirty="0"/>
              <a:t>等操作之外，能否让智能体自己主动去总结历史的会话，并且将总结的结果记录在长期记忆的文件中？</a:t>
            </a:r>
            <a:endParaRPr kumimoji="1" lang="en-US" altLang="zh-CN" sz="2400" dirty="0"/>
          </a:p>
          <a:p>
            <a:pPr marL="342900" indent="-342900">
              <a:buAutoNum type="arabicPeriod"/>
            </a:pPr>
            <a:r>
              <a:rPr kumimoji="1" lang="zh-CN" altLang="en-US" sz="2400" b="1" dirty="0"/>
              <a:t>哪些值得记忆，哪些不值得</a:t>
            </a:r>
            <a:r>
              <a:rPr kumimoji="1" lang="zh-CN" altLang="en-US" sz="2400" dirty="0"/>
              <a:t>：记忆的选择有多种设计思路，比如大家熟悉的记忆遗忘曲线、记忆宫殿、思维导图的记忆等，能否将这些我们属于的人类使用的记忆方法应用在智能体的记忆当中？</a:t>
            </a:r>
            <a:endParaRPr kumimoji="1" lang="en-US" altLang="zh-CN" sz="2400" dirty="0"/>
          </a:p>
          <a:p>
            <a:pPr marL="342900" indent="-342900">
              <a:buAutoNum type="arabicPeriod"/>
            </a:pPr>
            <a:r>
              <a:rPr kumimoji="1" lang="zh-CN" altLang="en-US" sz="2400" b="1" dirty="0"/>
              <a:t>记忆的载体</a:t>
            </a:r>
            <a:r>
              <a:rPr kumimoji="1" lang="zh-CN" altLang="en-US" sz="2400" dirty="0"/>
              <a:t>：课程里面我们使用文件这样的一种非常简单易用的记忆方式，业界通常还会使用向量数据库、知识图谱等更加复杂的结构，如果你感兴趣，也可以了解相关的方向并且进行探索</a:t>
            </a:r>
            <a:endParaRPr kumimoji="1" lang="en-US" altLang="zh-CN" sz="2400" dirty="0"/>
          </a:p>
          <a:p>
            <a:pPr marL="342900" indent="-342900">
              <a:buAutoNum type="arabicPeriod"/>
            </a:pPr>
            <a:r>
              <a:rPr kumimoji="1" lang="zh-CN" altLang="en-US" sz="2400" b="1" dirty="0"/>
              <a:t>记忆的关联</a:t>
            </a:r>
            <a:r>
              <a:rPr kumimoji="1" lang="zh-CN" altLang="en-US" sz="2400" dirty="0"/>
              <a:t>：记忆往往不是孤立存在的，而是存在一定的关联性，能否通过某种设计，更好地发挥记忆的效果</a:t>
            </a:r>
          </a:p>
        </p:txBody>
      </p:sp>
      <p:sp>
        <p:nvSpPr>
          <p:cNvPr id="38" name="文本框 37">
            <a:extLst>
              <a:ext uri="{FF2B5EF4-FFF2-40B4-BE49-F238E27FC236}">
                <a16:creationId xmlns:a16="http://schemas.microsoft.com/office/drawing/2014/main" id="{937745CA-D127-E5A8-0196-8E1C35D3301C}"/>
              </a:ext>
            </a:extLst>
          </p:cNvPr>
          <p:cNvSpPr txBox="1"/>
          <p:nvPr/>
        </p:nvSpPr>
        <p:spPr>
          <a:xfrm>
            <a:off x="-491" y="6211669"/>
            <a:ext cx="11181470" cy="646331"/>
          </a:xfrm>
          <a:prstGeom prst="rect">
            <a:avLst/>
          </a:prstGeom>
          <a:noFill/>
        </p:spPr>
        <p:txBody>
          <a:bodyPr wrap="square" rtlCol="0">
            <a:spAutoFit/>
          </a:bodyPr>
          <a:lstStyle/>
          <a:p>
            <a:r>
              <a:rPr kumimoji="1" lang="zh-CN" altLang="en-US" b="1" dirty="0">
                <a:solidFill>
                  <a:schemeClr val="tx1">
                    <a:lumMod val="50000"/>
                    <a:lumOff val="50000"/>
                  </a:schemeClr>
                </a:solidFill>
              </a:rPr>
              <a:t>注：如果大家能够在这些方向有有意思的想法和探索，甚至可以尝试去撰写科研论文（欢迎来和我聊）。当然，这些探索务必在自己确实有精力</a:t>
            </a:r>
            <a:r>
              <a:rPr kumimoji="1" lang="en-US" altLang="zh-CN" b="1" dirty="0">
                <a:solidFill>
                  <a:schemeClr val="tx1">
                    <a:lumMod val="50000"/>
                    <a:lumOff val="50000"/>
                  </a:schemeClr>
                </a:solidFill>
              </a:rPr>
              <a:t>/</a:t>
            </a:r>
            <a:r>
              <a:rPr kumimoji="1" lang="zh-CN" altLang="en-US" b="1" dirty="0">
                <a:solidFill>
                  <a:schemeClr val="tx1">
                    <a:lumMod val="50000"/>
                    <a:lumOff val="50000"/>
                  </a:schemeClr>
                </a:solidFill>
              </a:rPr>
              <a:t>时间的前提下，否则，请优先考虑完成要求的功能和指标</a:t>
            </a:r>
            <a:r>
              <a:rPr kumimoji="1" lang="en-US" altLang="zh-CN" b="1" dirty="0">
                <a:solidFill>
                  <a:schemeClr val="tx1">
                    <a:lumMod val="50000"/>
                    <a:lumOff val="50000"/>
                  </a:schemeClr>
                </a:solidFill>
              </a:rPr>
              <a:t> </a:t>
            </a:r>
            <a:r>
              <a:rPr kumimoji="1" lang="en-US" altLang="zh-CN" b="1" dirty="0">
                <a:solidFill>
                  <a:schemeClr val="tx1">
                    <a:lumMod val="50000"/>
                    <a:lumOff val="50000"/>
                  </a:schemeClr>
                </a:solidFill>
                <a:sym typeface="Wingdings" pitchFamily="2" charset="2"/>
              </a:rPr>
              <a:t></a:t>
            </a:r>
            <a:endParaRPr kumimoji="1" lang="zh-CN" altLang="en-US" b="1" dirty="0">
              <a:solidFill>
                <a:schemeClr val="tx1">
                  <a:lumMod val="50000"/>
                  <a:lumOff val="50000"/>
                </a:schemeClr>
              </a:solidFill>
            </a:endParaRPr>
          </a:p>
        </p:txBody>
      </p:sp>
    </p:spTree>
    <p:extLst>
      <p:ext uri="{BB962C8B-B14F-4D97-AF65-F5344CB8AC3E}">
        <p14:creationId xmlns:p14="http://schemas.microsoft.com/office/powerpoint/2010/main" val="3155319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zh-CN" altLang="en-US"/>
          </a:p>
        </p:txBody>
      </p:sp>
      <p:sp>
        <p:nvSpPr>
          <p:cNvPr id="4" name="Text 2"/>
          <p:cNvSpPr/>
          <p:nvPr/>
        </p:nvSpPr>
        <p:spPr>
          <a:xfrm>
            <a:off x="400040" y="609600"/>
            <a:ext cx="10096248" cy="857250"/>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跑跑实验吧</a:t>
            </a:r>
            <a:r>
              <a:rPr lang="zh-CN" altLang="en-US" sz="2950" b="1" dirty="0">
                <a:solidFill>
                  <a:srgbClr val="111827"/>
                </a:solidFill>
                <a:latin typeface="Helvetica Neue" pitchFamily="34" charset="0"/>
                <a:ea typeface="Helvetica Neue" pitchFamily="34" charset="-122"/>
                <a:cs typeface="Helvetica Neue" pitchFamily="34" charset="-120"/>
              </a:rPr>
              <a:t>！</a:t>
            </a:r>
            <a:endParaRPr lang="en-US" sz="2950" dirty="0"/>
          </a:p>
        </p:txBody>
      </p:sp>
      <p:sp>
        <p:nvSpPr>
          <p:cNvPr id="5" name="Shape 3"/>
          <p:cNvSpPr/>
          <p:nvPr/>
        </p:nvSpPr>
        <p:spPr>
          <a:xfrm>
            <a:off x="495288" y="1476375"/>
            <a:ext cx="4952876" cy="2819400"/>
          </a:xfrm>
          <a:prstGeom prst="rect">
            <a:avLst/>
          </a:prstGeom>
          <a:solidFill>
            <a:srgbClr val="0F172A"/>
          </a:solidFill>
          <a:ln w="12700">
            <a:solidFill>
              <a:srgbClr val="FFFFFF">
                <a:alpha val="0"/>
              </a:srgbClr>
            </a:solidFill>
            <a:prstDash val="solid"/>
          </a:ln>
        </p:spPr>
        <p:txBody>
          <a:bodyPr/>
          <a:lstStyle/>
          <a:p>
            <a:endParaRPr lang="zh-CN" altLang="en-US"/>
          </a:p>
        </p:txBody>
      </p:sp>
      <p:sp>
        <p:nvSpPr>
          <p:cNvPr id="6" name="Text 4"/>
          <p:cNvSpPr/>
          <p:nvPr/>
        </p:nvSpPr>
        <p:spPr>
          <a:xfrm>
            <a:off x="723882" y="1704975"/>
            <a:ext cx="4495688" cy="2362200"/>
          </a:xfrm>
          <a:prstGeom prst="rect">
            <a:avLst/>
          </a:prstGeom>
          <a:noFill/>
          <a:ln/>
        </p:spPr>
        <p:txBody>
          <a:bodyPr wrap="square" lIns="0" tIns="0" rIns="0" bIns="0" rtlCol="0" anchor="t"/>
          <a:lstStyle/>
          <a:p>
            <a:pPr marL="0" indent="0" algn="l">
              <a:buNone/>
            </a:pPr>
            <a:endParaRPr lang="en-US" sz="1500" dirty="0"/>
          </a:p>
          <a:p>
            <a:pPr marL="0" indent="0" algn="l">
              <a:buNone/>
            </a:pPr>
            <a:r>
              <a:rPr lang="en-US" sz="1500" dirty="0">
                <a:solidFill>
                  <a:srgbClr val="DBEAFE"/>
                </a:solidFill>
                <a:latin typeface="Consolas" pitchFamily="34" charset="0"/>
                <a:ea typeface="Consolas" pitchFamily="34" charset="-122"/>
                <a:cs typeface="Consolas" pitchFamily="34" charset="-120"/>
              </a:rPr>
              <a:t>python3 -m </a:t>
            </a:r>
            <a:r>
              <a:rPr lang="en-US" sz="1500" dirty="0" err="1">
                <a:solidFill>
                  <a:srgbClr val="DBEAFE"/>
                </a:solidFill>
                <a:latin typeface="Consolas" pitchFamily="34" charset="0"/>
                <a:ea typeface="Consolas" pitchFamily="34" charset="-122"/>
                <a:cs typeface="Consolas" pitchFamily="34" charset="-120"/>
              </a:rPr>
              <a:t>sjtuclaw.integrations.cli</a:t>
            </a:r>
            <a:endParaRPr lang="en-US" sz="1500" dirty="0"/>
          </a:p>
          <a:p>
            <a:pPr marL="0" indent="0" algn="l">
              <a:buNone/>
            </a:pPr>
            <a:endParaRPr lang="en-US" sz="1500" dirty="0">
              <a:solidFill>
                <a:srgbClr val="DBEAFE"/>
              </a:solidFill>
              <a:latin typeface="Consolas" pitchFamily="34" charset="0"/>
              <a:ea typeface="Consolas" pitchFamily="34" charset="-122"/>
              <a:cs typeface="Consolas" pitchFamily="34" charset="-120"/>
            </a:endParaRPr>
          </a:p>
          <a:p>
            <a:pPr marL="0" indent="0" algn="l">
              <a:buNone/>
            </a:pPr>
            <a:r>
              <a:rPr lang="en-US" sz="1500" dirty="0">
                <a:solidFill>
                  <a:srgbClr val="DBEAFE"/>
                </a:solidFill>
                <a:latin typeface="Consolas" pitchFamily="34" charset="0"/>
                <a:ea typeface="Consolas" pitchFamily="34" charset="-122"/>
                <a:cs typeface="Consolas" pitchFamily="34" charset="-120"/>
              </a:rPr>
              <a:t>/memory show</a:t>
            </a:r>
            <a:endParaRPr lang="en-US" sz="1500" dirty="0"/>
          </a:p>
          <a:p>
            <a:pPr marL="0" indent="0" algn="l">
              <a:buNone/>
            </a:pPr>
            <a:r>
              <a:rPr lang="en-US" sz="1500" dirty="0">
                <a:solidFill>
                  <a:srgbClr val="DBEAFE"/>
                </a:solidFill>
                <a:latin typeface="Consolas" pitchFamily="34" charset="0"/>
                <a:ea typeface="Consolas" pitchFamily="34" charset="-122"/>
                <a:cs typeface="Consolas" pitchFamily="34" charset="-120"/>
              </a:rPr>
              <a:t>/memory add 我更喜欢先看例子再看定义</a:t>
            </a:r>
            <a:endParaRPr lang="en-US" sz="1500" dirty="0"/>
          </a:p>
          <a:p>
            <a:pPr marL="0" indent="0" algn="l">
              <a:buNone/>
            </a:pPr>
            <a:r>
              <a:rPr lang="en-US" sz="1500" dirty="0">
                <a:solidFill>
                  <a:srgbClr val="DBEAFE"/>
                </a:solidFill>
                <a:latin typeface="Consolas" pitchFamily="34" charset="0"/>
                <a:ea typeface="Consolas" pitchFamily="34" charset="-122"/>
                <a:cs typeface="Consolas" pitchFamily="34" charset="-120"/>
              </a:rPr>
              <a:t>/memory show</a:t>
            </a:r>
            <a:endParaRPr lang="en-US" sz="1500" dirty="0"/>
          </a:p>
          <a:p>
            <a:pPr marL="0" indent="0" algn="l">
              <a:buNone/>
            </a:pPr>
            <a:r>
              <a:rPr lang="en-US" sz="1500" dirty="0">
                <a:solidFill>
                  <a:srgbClr val="DBEAFE"/>
                </a:solidFill>
                <a:latin typeface="Consolas" pitchFamily="34" charset="0"/>
                <a:ea typeface="Consolas" pitchFamily="34" charset="-122"/>
                <a:cs typeface="Consolas" pitchFamily="34" charset="-120"/>
              </a:rPr>
              <a:t>/index</a:t>
            </a:r>
            <a:endParaRPr lang="en-US" sz="1500" dirty="0"/>
          </a:p>
          <a:p>
            <a:pPr marL="0" indent="0" algn="l">
              <a:buNone/>
            </a:pPr>
            <a:r>
              <a:rPr lang="en-US" sz="1500" dirty="0">
                <a:solidFill>
                  <a:srgbClr val="DBEAFE"/>
                </a:solidFill>
                <a:latin typeface="Consolas" pitchFamily="34" charset="0"/>
                <a:ea typeface="Consolas" pitchFamily="34" charset="-122"/>
                <a:cs typeface="Consolas" pitchFamily="34" charset="-120"/>
              </a:rPr>
              <a:t>请介绍网络分层</a:t>
            </a:r>
            <a:endParaRPr lang="en-US" sz="1500" dirty="0"/>
          </a:p>
        </p:txBody>
      </p:sp>
      <p:sp>
        <p:nvSpPr>
          <p:cNvPr id="7" name="Shape 5"/>
          <p:cNvSpPr/>
          <p:nvPr/>
        </p:nvSpPr>
        <p:spPr>
          <a:xfrm>
            <a:off x="6343491" y="1476375"/>
            <a:ext cx="5238619" cy="866775"/>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8" name="Shape 6"/>
          <p:cNvSpPr/>
          <p:nvPr/>
        </p:nvSpPr>
        <p:spPr>
          <a:xfrm>
            <a:off x="6372066" y="1476375"/>
            <a:ext cx="0" cy="86677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9" name="Text 7"/>
          <p:cNvSpPr/>
          <p:nvPr/>
        </p:nvSpPr>
        <p:spPr>
          <a:xfrm>
            <a:off x="6610185" y="1647825"/>
            <a:ext cx="4762381" cy="2762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profile.md</a:t>
            </a:r>
            <a:endParaRPr lang="en-US" sz="1750" dirty="0"/>
          </a:p>
        </p:txBody>
      </p:sp>
      <p:sp>
        <p:nvSpPr>
          <p:cNvPr id="10" name="Text 8"/>
          <p:cNvSpPr/>
          <p:nvPr/>
        </p:nvSpPr>
        <p:spPr>
          <a:xfrm>
            <a:off x="6610185" y="1924050"/>
            <a:ext cx="4762381" cy="247650"/>
          </a:xfrm>
          <a:prstGeom prst="rect">
            <a:avLst/>
          </a:prstGeom>
          <a:noFill/>
          <a:ln/>
        </p:spPr>
        <p:txBody>
          <a:bodyPr wrap="square" lIns="0" tIns="0" rIns="0" bIns="0" rtlCol="0" anchor="t"/>
          <a:lstStyle/>
          <a:p>
            <a:pPr marL="0" indent="0" algn="l">
              <a:buNone/>
            </a:pPr>
            <a:r>
              <a:rPr lang="en-US" sz="1450" dirty="0">
                <a:solidFill>
                  <a:srgbClr val="334155"/>
                </a:solidFill>
                <a:latin typeface="Helvetica Neue" pitchFamily="34" charset="0"/>
                <a:ea typeface="Helvetica Neue" pitchFamily="34" charset="-122"/>
                <a:cs typeface="Helvetica Neue" pitchFamily="34" charset="-120"/>
              </a:rPr>
              <a:t>出现新偏好，重启 CLI 后仍能读取。</a:t>
            </a:r>
            <a:endParaRPr lang="en-US" sz="1450" dirty="0"/>
          </a:p>
        </p:txBody>
      </p:sp>
      <p:sp>
        <p:nvSpPr>
          <p:cNvPr id="11" name="Shape 9"/>
          <p:cNvSpPr/>
          <p:nvPr/>
        </p:nvSpPr>
        <p:spPr>
          <a:xfrm>
            <a:off x="6343491" y="2495550"/>
            <a:ext cx="5238619" cy="866775"/>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2" name="Shape 10"/>
          <p:cNvSpPr/>
          <p:nvPr/>
        </p:nvSpPr>
        <p:spPr>
          <a:xfrm>
            <a:off x="6372066" y="2495550"/>
            <a:ext cx="0" cy="86677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13" name="Text 11"/>
          <p:cNvSpPr/>
          <p:nvPr/>
        </p:nvSpPr>
        <p:spPr>
          <a:xfrm>
            <a:off x="6610185" y="2667000"/>
            <a:ext cx="4762381" cy="2762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course-index.json</a:t>
            </a:r>
            <a:endParaRPr lang="en-US" sz="1750" dirty="0"/>
          </a:p>
        </p:txBody>
      </p:sp>
      <p:sp>
        <p:nvSpPr>
          <p:cNvPr id="14" name="Text 12"/>
          <p:cNvSpPr/>
          <p:nvPr/>
        </p:nvSpPr>
        <p:spPr>
          <a:xfrm>
            <a:off x="6610185" y="2943225"/>
            <a:ext cx="4762381" cy="247650"/>
          </a:xfrm>
          <a:prstGeom prst="rect">
            <a:avLst/>
          </a:prstGeom>
          <a:noFill/>
          <a:ln/>
        </p:spPr>
        <p:txBody>
          <a:bodyPr wrap="square" lIns="0" tIns="0" rIns="0" bIns="0" rtlCol="0" anchor="t"/>
          <a:lstStyle/>
          <a:p>
            <a:pPr marL="0" indent="0" algn="l">
              <a:buNone/>
            </a:pPr>
            <a:r>
              <a:rPr lang="en-US" sz="1450" dirty="0">
                <a:solidFill>
                  <a:srgbClr val="334155"/>
                </a:solidFill>
                <a:latin typeface="Helvetica Neue" pitchFamily="34" charset="0"/>
                <a:ea typeface="Helvetica Neue" pitchFamily="34" charset="-122"/>
                <a:cs typeface="Helvetica Neue" pitchFamily="34" charset="-120"/>
              </a:rPr>
              <a:t>列出 data/courses 下的课程 Markdown 资料。</a:t>
            </a:r>
            <a:endParaRPr lang="en-US" sz="1450" dirty="0"/>
          </a:p>
        </p:txBody>
      </p:sp>
      <p:sp>
        <p:nvSpPr>
          <p:cNvPr id="15" name="Shape 13"/>
          <p:cNvSpPr/>
          <p:nvPr/>
        </p:nvSpPr>
        <p:spPr>
          <a:xfrm>
            <a:off x="6343491" y="3514725"/>
            <a:ext cx="5238619" cy="866775"/>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6" name="Shape 14"/>
          <p:cNvSpPr/>
          <p:nvPr/>
        </p:nvSpPr>
        <p:spPr>
          <a:xfrm>
            <a:off x="6372066" y="3514725"/>
            <a:ext cx="0" cy="86677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17" name="Text 15"/>
          <p:cNvSpPr/>
          <p:nvPr/>
        </p:nvSpPr>
        <p:spPr>
          <a:xfrm>
            <a:off x="6610185" y="3686175"/>
            <a:ext cx="4762381" cy="2762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session-log.jsonl</a:t>
            </a:r>
            <a:endParaRPr lang="en-US" sz="1750" dirty="0"/>
          </a:p>
        </p:txBody>
      </p:sp>
      <p:sp>
        <p:nvSpPr>
          <p:cNvPr id="18" name="Text 16"/>
          <p:cNvSpPr/>
          <p:nvPr/>
        </p:nvSpPr>
        <p:spPr>
          <a:xfrm>
            <a:off x="6610185" y="3962400"/>
            <a:ext cx="4762381" cy="247650"/>
          </a:xfrm>
          <a:prstGeom prst="rect">
            <a:avLst/>
          </a:prstGeom>
          <a:noFill/>
          <a:ln/>
        </p:spPr>
        <p:txBody>
          <a:bodyPr wrap="square" lIns="0" tIns="0" rIns="0" bIns="0" rtlCol="0" anchor="t"/>
          <a:lstStyle/>
          <a:p>
            <a:pPr marL="0" indent="0" algn="l">
              <a:buNone/>
            </a:pPr>
            <a:r>
              <a:rPr lang="en-US" sz="1450" dirty="0">
                <a:solidFill>
                  <a:srgbClr val="334155"/>
                </a:solidFill>
                <a:latin typeface="Helvetica Neue" pitchFamily="34" charset="0"/>
                <a:ea typeface="Helvetica Neue" pitchFamily="34" charset="-122"/>
                <a:cs typeface="Helvetica Neue" pitchFamily="34" charset="-120"/>
              </a:rPr>
              <a:t>每轮 user/assistant 对话记录追加一行 JSON。</a:t>
            </a:r>
            <a:endParaRPr lang="en-US" sz="1450" dirty="0"/>
          </a:p>
        </p:txBody>
      </p:sp>
      <p:sp>
        <p:nvSpPr>
          <p:cNvPr id="19" name="Shape 17"/>
          <p:cNvSpPr/>
          <p:nvPr/>
        </p:nvSpPr>
        <p:spPr>
          <a:xfrm>
            <a:off x="6343491" y="4533900"/>
            <a:ext cx="5238619" cy="1152525"/>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20" name="Shape 18"/>
          <p:cNvSpPr/>
          <p:nvPr/>
        </p:nvSpPr>
        <p:spPr>
          <a:xfrm>
            <a:off x="6372066" y="4533900"/>
            <a:ext cx="0" cy="1152525"/>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21" name="Text 19"/>
          <p:cNvSpPr/>
          <p:nvPr/>
        </p:nvSpPr>
        <p:spPr>
          <a:xfrm>
            <a:off x="6610185" y="4705350"/>
            <a:ext cx="4762381" cy="314325"/>
          </a:xfrm>
          <a:prstGeom prst="rect">
            <a:avLst/>
          </a:prstGeom>
          <a:noFill/>
          <a:ln/>
        </p:spPr>
        <p:txBody>
          <a:bodyPr wrap="square" lIns="0" tIns="0" rIns="0" bIns="0" rtlCol="0" anchor="t"/>
          <a:lstStyle/>
          <a:p>
            <a:pPr marL="0" indent="0" algn="l">
              <a:buNone/>
            </a:pPr>
            <a:r>
              <a:rPr lang="en-US" sz="1750" b="1" dirty="0">
                <a:solidFill>
                  <a:srgbClr val="111827"/>
                </a:solidFill>
                <a:latin typeface="Helvetica Neue" pitchFamily="34" charset="0"/>
                <a:ea typeface="Helvetica Neue" pitchFamily="34" charset="-122"/>
                <a:cs typeface="Helvetica Neue" pitchFamily="34" charset="-120"/>
              </a:rPr>
              <a:t>回答上下文</a:t>
            </a:r>
            <a:endParaRPr lang="en-US" sz="1750" dirty="0"/>
          </a:p>
        </p:txBody>
      </p:sp>
      <p:sp>
        <p:nvSpPr>
          <p:cNvPr id="22" name="Text 20"/>
          <p:cNvSpPr/>
          <p:nvPr/>
        </p:nvSpPr>
        <p:spPr>
          <a:xfrm>
            <a:off x="6610185" y="5019675"/>
            <a:ext cx="4762381" cy="495300"/>
          </a:xfrm>
          <a:prstGeom prst="rect">
            <a:avLst/>
          </a:prstGeom>
          <a:noFill/>
          <a:ln/>
        </p:spPr>
        <p:txBody>
          <a:bodyPr wrap="square" lIns="0" tIns="0" rIns="0" bIns="0" rtlCol="0" anchor="t"/>
          <a:lstStyle/>
          <a:p>
            <a:pPr marL="0" indent="0" algn="l">
              <a:buNone/>
            </a:pPr>
            <a:r>
              <a:rPr lang="en-US" sz="1450">
                <a:solidFill>
                  <a:srgbClr val="334155"/>
                </a:solidFill>
                <a:latin typeface="Helvetica Neue" pitchFamily="34" charset="0"/>
                <a:ea typeface="Helvetica Neue" pitchFamily="34" charset="-122"/>
                <a:cs typeface="Helvetica Neue" pitchFamily="34" charset="-120"/>
              </a:rPr>
              <a:t>SJTUClaw </a:t>
            </a:r>
            <a:r>
              <a:rPr lang="zh-CN" altLang="en-US" sz="1450">
                <a:solidFill>
                  <a:srgbClr val="334155"/>
                </a:solidFill>
                <a:latin typeface="Helvetica Neue" pitchFamily="34" charset="0"/>
                <a:ea typeface="Helvetica Neue" pitchFamily="34" charset="-122"/>
                <a:cs typeface="Helvetica Neue" pitchFamily="34" charset="-120"/>
              </a:rPr>
              <a:t>回答时应同时引用 </a:t>
            </a:r>
            <a:r>
              <a:rPr lang="en-US" sz="1450">
                <a:solidFill>
                  <a:srgbClr val="334155"/>
                </a:solidFill>
                <a:latin typeface="Helvetica Neue" pitchFamily="34" charset="0"/>
                <a:ea typeface="Helvetica Neue" pitchFamily="34" charset="-122"/>
                <a:cs typeface="Helvetica Neue" pitchFamily="34" charset="-120"/>
              </a:rPr>
              <a:t>SOUL、profile </a:t>
            </a:r>
            <a:r>
              <a:rPr lang="zh-CN" altLang="en-US" sz="1450">
                <a:solidFill>
                  <a:srgbClr val="334155"/>
                </a:solidFill>
                <a:latin typeface="Helvetica Neue" pitchFamily="34" charset="0"/>
                <a:ea typeface="Helvetica Neue" pitchFamily="34" charset="-122"/>
                <a:cs typeface="Helvetica Neue" pitchFamily="34" charset="-120"/>
              </a:rPr>
              <a:t>和命中的课程文件名。</a:t>
            </a:r>
            <a:endParaRPr lang="en-US" sz="1450" dirty="0"/>
          </a:p>
        </p:txBody>
      </p:sp>
      <p:sp>
        <p:nvSpPr>
          <p:cNvPr id="23" name="Text 21"/>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25 / 26</a:t>
            </a:r>
            <a:endParaRPr lang="en-US" sz="1000" dirty="0"/>
          </a:p>
        </p:txBody>
      </p:sp>
    </p:spTree>
    <p:extLst>
      <p:ext uri="{BB962C8B-B14F-4D97-AF65-F5344CB8AC3E}">
        <p14:creationId xmlns:p14="http://schemas.microsoft.com/office/powerpoint/2010/main" val="3735862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400040" y="323850"/>
            <a:ext cx="1124666" cy="200025"/>
          </a:xfrm>
          <a:prstGeom prst="rect">
            <a:avLst/>
          </a:prstGeom>
          <a:noFill/>
          <a:ln/>
        </p:spPr>
        <p:txBody>
          <a:bodyPr wrap="square" lIns="0" tIns="0" rIns="0" bIns="0" rtlCol="0" anchor="t"/>
          <a:lstStyle/>
          <a:p>
            <a:pPr marL="0" indent="0" algn="l">
              <a:buNone/>
            </a:pPr>
            <a:r>
              <a:rPr lang="en-US" sz="1150" b="1" dirty="0">
                <a:solidFill>
                  <a:srgbClr val="1F5F8B"/>
                </a:solidFill>
                <a:latin typeface="Helvetica Neue" pitchFamily="34" charset="0"/>
                <a:ea typeface="Helvetica Neue" pitchFamily="34" charset="-122"/>
                <a:cs typeface="Helvetica Neue" pitchFamily="34" charset="-120"/>
              </a:rPr>
              <a:t>隐私和可删除性</a:t>
            </a:r>
            <a:endParaRPr lang="en-US" sz="1150" dirty="0"/>
          </a:p>
        </p:txBody>
      </p:sp>
      <p:sp>
        <p:nvSpPr>
          <p:cNvPr id="4" name="Text 2"/>
          <p:cNvSpPr/>
          <p:nvPr/>
        </p:nvSpPr>
        <p:spPr>
          <a:xfrm>
            <a:off x="400040" y="609600"/>
            <a:ext cx="10286743" cy="428625"/>
          </a:xfrm>
          <a:prstGeom prst="rect">
            <a:avLst/>
          </a:prstGeom>
          <a:noFill/>
          <a:ln/>
        </p:spPr>
        <p:txBody>
          <a:bodyPr wrap="square" lIns="0" tIns="0" rIns="0" bIns="0" rtlCol="0" anchor="t"/>
          <a:lstStyle/>
          <a:p>
            <a:pPr marL="0" indent="0" algn="l">
              <a:buNone/>
            </a:pPr>
            <a:r>
              <a:rPr lang="en-US" sz="2950" b="1" dirty="0" err="1">
                <a:solidFill>
                  <a:srgbClr val="111827"/>
                </a:solidFill>
                <a:latin typeface="Helvetica Neue" pitchFamily="34" charset="0"/>
                <a:ea typeface="Helvetica Neue" pitchFamily="34" charset="-122"/>
                <a:cs typeface="Helvetica Neue" pitchFamily="34" charset="-120"/>
              </a:rPr>
              <a:t>记忆不能是只加不减的</a:t>
            </a:r>
            <a:r>
              <a:rPr lang="zh-CN" altLang="en-US" sz="2950" b="1" dirty="0">
                <a:solidFill>
                  <a:srgbClr val="111827"/>
                </a:solidFill>
                <a:latin typeface="Helvetica Neue" pitchFamily="34" charset="0"/>
                <a:ea typeface="Helvetica Neue" pitchFamily="34" charset="-122"/>
                <a:cs typeface="Helvetica Neue" pitchFamily="34" charset="-120"/>
              </a:rPr>
              <a:t>（毕竟总有想遗忘的记忆）</a:t>
            </a:r>
            <a:endParaRPr lang="en-US" sz="2950" dirty="0"/>
          </a:p>
        </p:txBody>
      </p:sp>
      <p:sp>
        <p:nvSpPr>
          <p:cNvPr id="5" name="Shape 3"/>
          <p:cNvSpPr/>
          <p:nvPr/>
        </p:nvSpPr>
        <p:spPr>
          <a:xfrm>
            <a:off x="495288" y="1524000"/>
            <a:ext cx="5429114" cy="2333625"/>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6" name="Shape 4"/>
          <p:cNvSpPr/>
          <p:nvPr/>
        </p:nvSpPr>
        <p:spPr>
          <a:xfrm>
            <a:off x="495288" y="1552575"/>
            <a:ext cx="5429114" cy="0"/>
          </a:xfrm>
          <a:prstGeom prst="line">
            <a:avLst/>
          </a:prstGeom>
          <a:solidFill>
            <a:srgbClr val="FFFFFF">
              <a:alpha val="0"/>
            </a:srgbClr>
          </a:solidFill>
          <a:ln w="57150">
            <a:solidFill>
              <a:srgbClr val="58B0A6"/>
            </a:solidFill>
            <a:prstDash val="solid"/>
          </a:ln>
        </p:spPr>
        <p:txBody>
          <a:bodyPr/>
          <a:lstStyle/>
          <a:p>
            <a:endParaRPr lang="zh-CN" altLang="en-US"/>
          </a:p>
        </p:txBody>
      </p:sp>
      <p:sp>
        <p:nvSpPr>
          <p:cNvPr id="7" name="Text 5"/>
          <p:cNvSpPr/>
          <p:nvPr/>
        </p:nvSpPr>
        <p:spPr>
          <a:xfrm>
            <a:off x="704832" y="1790700"/>
            <a:ext cx="5010025" cy="314325"/>
          </a:xfrm>
          <a:prstGeom prst="rect">
            <a:avLst/>
          </a:prstGeom>
          <a:noFill/>
          <a:ln/>
        </p:spPr>
        <p:txBody>
          <a:bodyPr wrap="square" lIns="0" tIns="0" rIns="0" bIns="0" rtlCol="0" anchor="t"/>
          <a:lstStyle/>
          <a:p>
            <a:pPr marL="0" indent="0" algn="l">
              <a:buNone/>
            </a:pPr>
            <a:r>
              <a:rPr lang="en-US" sz="2400" b="1" dirty="0">
                <a:solidFill>
                  <a:srgbClr val="111827"/>
                </a:solidFill>
                <a:latin typeface="Helvetica Neue" pitchFamily="34" charset="0"/>
                <a:ea typeface="Helvetica Neue" pitchFamily="34" charset="-122"/>
                <a:cs typeface="Helvetica Neue" pitchFamily="34" charset="-120"/>
              </a:rPr>
              <a:t>适合写入 profile</a:t>
            </a:r>
            <a:endParaRPr lang="en-US" sz="2400" dirty="0"/>
          </a:p>
        </p:txBody>
      </p:sp>
      <p:sp>
        <p:nvSpPr>
          <p:cNvPr id="8" name="Text 6"/>
          <p:cNvSpPr/>
          <p:nvPr/>
        </p:nvSpPr>
        <p:spPr>
          <a:xfrm>
            <a:off x="704832" y="2105025"/>
            <a:ext cx="5010025" cy="771525"/>
          </a:xfrm>
          <a:prstGeom prst="rect">
            <a:avLst/>
          </a:prstGeom>
          <a:noFill/>
          <a:ln/>
        </p:spPr>
        <p:txBody>
          <a:bodyPr wrap="square" lIns="0" tIns="0" rIns="0" bIns="0" rtlCol="0" anchor="t"/>
          <a:lstStyle/>
          <a:p>
            <a:pPr marL="0" indent="0" algn="l">
              <a:buNone/>
            </a:pPr>
            <a:r>
              <a:rPr lang="en-US" sz="1600" dirty="0">
                <a:solidFill>
                  <a:srgbClr val="111827"/>
                </a:solidFill>
                <a:latin typeface="Helvetica Neue" pitchFamily="34" charset="0"/>
                <a:ea typeface="Helvetica Neue" pitchFamily="34" charset="-122"/>
                <a:cs typeface="Helvetica Neue" pitchFamily="34" charset="-120"/>
              </a:rPr>
              <a:t>• 稳定学习偏好：先看例子再看定义。</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 当前课程：计算机网络、数据库系统。</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 长期目标：期末前掌握网络分层、事务、二分查找。</a:t>
            </a:r>
            <a:endParaRPr lang="en-US" sz="1600" dirty="0"/>
          </a:p>
        </p:txBody>
      </p:sp>
      <p:sp>
        <p:nvSpPr>
          <p:cNvPr id="9" name="Shape 7"/>
          <p:cNvSpPr/>
          <p:nvPr/>
        </p:nvSpPr>
        <p:spPr>
          <a:xfrm>
            <a:off x="6114897" y="1524000"/>
            <a:ext cx="5429114" cy="2333625"/>
          </a:xfrm>
          <a:prstGeom prst="rect">
            <a:avLst/>
          </a:prstGeom>
          <a:solidFill>
            <a:srgbClr val="FFFFFF"/>
          </a:solidFill>
          <a:ln w="12700">
            <a:solidFill>
              <a:srgbClr val="FFFFFF">
                <a:alpha val="0"/>
              </a:srgbClr>
            </a:solidFill>
            <a:prstDash val="solid"/>
          </a:ln>
        </p:spPr>
        <p:txBody>
          <a:bodyPr/>
          <a:lstStyle/>
          <a:p>
            <a:endParaRPr lang="zh-CN" altLang="en-US"/>
          </a:p>
        </p:txBody>
      </p:sp>
      <p:sp>
        <p:nvSpPr>
          <p:cNvPr id="10" name="Shape 8"/>
          <p:cNvSpPr/>
          <p:nvPr/>
        </p:nvSpPr>
        <p:spPr>
          <a:xfrm>
            <a:off x="6114897" y="1552575"/>
            <a:ext cx="5429114" cy="0"/>
          </a:xfrm>
          <a:prstGeom prst="line">
            <a:avLst/>
          </a:prstGeom>
          <a:solidFill>
            <a:srgbClr val="FFFFFF">
              <a:alpha val="0"/>
            </a:srgbClr>
          </a:solidFill>
          <a:ln w="57150">
            <a:solidFill>
              <a:srgbClr val="C2410C"/>
            </a:solidFill>
            <a:prstDash val="solid"/>
          </a:ln>
        </p:spPr>
        <p:txBody>
          <a:bodyPr/>
          <a:lstStyle/>
          <a:p>
            <a:endParaRPr lang="zh-CN" altLang="en-US"/>
          </a:p>
        </p:txBody>
      </p:sp>
      <p:sp>
        <p:nvSpPr>
          <p:cNvPr id="11" name="Text 9"/>
          <p:cNvSpPr/>
          <p:nvPr/>
        </p:nvSpPr>
        <p:spPr>
          <a:xfrm>
            <a:off x="6324442" y="1790700"/>
            <a:ext cx="5010025" cy="314325"/>
          </a:xfrm>
          <a:prstGeom prst="rect">
            <a:avLst/>
          </a:prstGeom>
          <a:noFill/>
          <a:ln/>
        </p:spPr>
        <p:txBody>
          <a:bodyPr wrap="square" lIns="0" tIns="0" rIns="0" bIns="0" rtlCol="0" anchor="t"/>
          <a:lstStyle/>
          <a:p>
            <a:pPr marL="0" indent="0" algn="l">
              <a:buNone/>
            </a:pPr>
            <a:r>
              <a:rPr lang="en-US" sz="2400" b="1" dirty="0">
                <a:solidFill>
                  <a:srgbClr val="111827"/>
                </a:solidFill>
                <a:latin typeface="Helvetica Neue" pitchFamily="34" charset="0"/>
                <a:ea typeface="Helvetica Neue" pitchFamily="34" charset="-122"/>
                <a:cs typeface="Helvetica Neue" pitchFamily="34" charset="-120"/>
              </a:rPr>
              <a:t>不应长期记住</a:t>
            </a:r>
            <a:endParaRPr lang="en-US" sz="2400" dirty="0"/>
          </a:p>
        </p:txBody>
      </p:sp>
      <p:sp>
        <p:nvSpPr>
          <p:cNvPr id="12" name="Text 10"/>
          <p:cNvSpPr/>
          <p:nvPr/>
        </p:nvSpPr>
        <p:spPr>
          <a:xfrm>
            <a:off x="6324442" y="2105025"/>
            <a:ext cx="5010025" cy="771525"/>
          </a:xfrm>
          <a:prstGeom prst="rect">
            <a:avLst/>
          </a:prstGeom>
          <a:noFill/>
          <a:ln/>
        </p:spPr>
        <p:txBody>
          <a:bodyPr wrap="square" lIns="0" tIns="0" rIns="0" bIns="0" rtlCol="0" anchor="t"/>
          <a:lstStyle/>
          <a:p>
            <a:pPr marL="0" indent="0" algn="l">
              <a:buNone/>
            </a:pPr>
            <a:r>
              <a:rPr lang="en-US" sz="1600" dirty="0">
                <a:solidFill>
                  <a:srgbClr val="111827"/>
                </a:solidFill>
                <a:latin typeface="Helvetica Neue" pitchFamily="34" charset="0"/>
                <a:ea typeface="Helvetica Neue" pitchFamily="34" charset="-122"/>
                <a:cs typeface="Helvetica Neue" pitchFamily="34" charset="-120"/>
              </a:rPr>
              <a:t>• 隐私数据、API key、一次性验证码。</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 临时情绪和一次性文件路径。</a:t>
            </a:r>
            <a:endParaRPr lang="en-US" sz="1600" dirty="0"/>
          </a:p>
          <a:p>
            <a:pPr marL="0" indent="0" algn="l">
              <a:buNone/>
            </a:pPr>
            <a:r>
              <a:rPr lang="en-US" sz="1600" dirty="0">
                <a:solidFill>
                  <a:srgbClr val="111827"/>
                </a:solidFill>
                <a:latin typeface="Helvetica Neue" pitchFamily="34" charset="0"/>
                <a:ea typeface="Helvetica Neue" pitchFamily="34" charset="-122"/>
                <a:cs typeface="Helvetica Neue" pitchFamily="34" charset="-120"/>
              </a:rPr>
              <a:t>• 错误猜测或未经确认的结论。</a:t>
            </a:r>
            <a:endParaRPr lang="en-US" sz="1600" dirty="0"/>
          </a:p>
        </p:txBody>
      </p:sp>
      <p:sp>
        <p:nvSpPr>
          <p:cNvPr id="13" name="Shape 11"/>
          <p:cNvSpPr/>
          <p:nvPr/>
        </p:nvSpPr>
        <p:spPr>
          <a:xfrm>
            <a:off x="495288" y="5695950"/>
            <a:ext cx="11048724" cy="609600"/>
          </a:xfrm>
          <a:prstGeom prst="rect">
            <a:avLst/>
          </a:prstGeom>
          <a:solidFill>
            <a:srgbClr val="10233C"/>
          </a:solidFill>
          <a:ln w="12700">
            <a:solidFill>
              <a:srgbClr val="FFFFFF">
                <a:alpha val="0"/>
              </a:srgbClr>
            </a:solidFill>
            <a:prstDash val="solid"/>
          </a:ln>
        </p:spPr>
        <p:txBody>
          <a:bodyPr/>
          <a:lstStyle/>
          <a:p>
            <a:endParaRPr lang="zh-CN" altLang="en-US"/>
          </a:p>
        </p:txBody>
      </p:sp>
      <p:sp>
        <p:nvSpPr>
          <p:cNvPr id="14" name="Text 12"/>
          <p:cNvSpPr/>
          <p:nvPr/>
        </p:nvSpPr>
        <p:spPr>
          <a:xfrm>
            <a:off x="695308" y="5857875"/>
            <a:ext cx="10648684" cy="285750"/>
          </a:xfrm>
          <a:prstGeom prst="rect">
            <a:avLst/>
          </a:prstGeom>
          <a:noFill/>
          <a:ln/>
        </p:spPr>
        <p:txBody>
          <a:bodyPr wrap="square" lIns="0" tIns="0" rIns="0" bIns="0" rtlCol="0" anchor="t"/>
          <a:lstStyle/>
          <a:p>
            <a:r>
              <a:rPr lang="en-US" sz="1600" b="1" dirty="0">
                <a:solidFill>
                  <a:srgbClr val="FFFFFF"/>
                </a:solidFill>
                <a:latin typeface="Helvetica Neue" pitchFamily="34" charset="0"/>
                <a:ea typeface="Helvetica Neue" pitchFamily="34" charset="-122"/>
                <a:cs typeface="Helvetica Neue" pitchFamily="34" charset="-120"/>
              </a:rPr>
              <a:t>/memory delete &lt;</a:t>
            </a:r>
            <a:r>
              <a:rPr lang="en-US" sz="1600" b="1" dirty="0" err="1">
                <a:solidFill>
                  <a:srgbClr val="FFFFFF"/>
                </a:solidFill>
                <a:latin typeface="Helvetica Neue" pitchFamily="34" charset="0"/>
                <a:ea typeface="Helvetica Neue" pitchFamily="34" charset="-122"/>
                <a:cs typeface="Helvetica Neue" pitchFamily="34" charset="-120"/>
              </a:rPr>
              <a:t>memoryId</a:t>
            </a:r>
            <a:r>
              <a:rPr lang="en-US" sz="1600" b="1" dirty="0">
                <a:solidFill>
                  <a:srgbClr val="FFFFFF"/>
                </a:solidFill>
                <a:latin typeface="Helvetica Neue" pitchFamily="34" charset="0"/>
                <a:ea typeface="Helvetica Neue" pitchFamily="34" charset="-122"/>
                <a:cs typeface="Helvetica Neue" pitchFamily="34" charset="-120"/>
              </a:rPr>
              <a:t>&gt;</a:t>
            </a:r>
          </a:p>
        </p:txBody>
      </p:sp>
      <p:sp>
        <p:nvSpPr>
          <p:cNvPr id="15" name="Text 13"/>
          <p:cNvSpPr/>
          <p:nvPr/>
        </p:nvSpPr>
        <p:spPr>
          <a:xfrm>
            <a:off x="11377179" y="6477000"/>
            <a:ext cx="395426" cy="152400"/>
          </a:xfrm>
          <a:prstGeom prst="rect">
            <a:avLst/>
          </a:prstGeom>
          <a:noFill/>
          <a:ln/>
        </p:spPr>
        <p:txBody>
          <a:bodyPr wrap="square" lIns="0" tIns="0" rIns="0" bIns="0" rtlCol="0" anchor="t"/>
          <a:lstStyle/>
          <a:p>
            <a:pPr marL="0" indent="0" algn="l">
              <a:buNone/>
            </a:pPr>
            <a:r>
              <a:rPr lang="en-US" sz="1000">
                <a:solidFill>
                  <a:srgbClr val="64748B"/>
                </a:solidFill>
                <a:latin typeface="Helvetica Neue" pitchFamily="34" charset="0"/>
                <a:ea typeface="Helvetica Neue" pitchFamily="34" charset="-122"/>
                <a:cs typeface="Helvetica Neue" pitchFamily="34" charset="-120"/>
              </a:rPr>
              <a:t>26 / 26</a:t>
            </a:r>
            <a:endParaRPr lang="en-US" sz="1000" dirty="0"/>
          </a:p>
        </p:txBody>
      </p:sp>
      <p:sp>
        <p:nvSpPr>
          <p:cNvPr id="16" name="文本框 15">
            <a:extLst>
              <a:ext uri="{FF2B5EF4-FFF2-40B4-BE49-F238E27FC236}">
                <a16:creationId xmlns:a16="http://schemas.microsoft.com/office/drawing/2014/main" id="{777C8620-D082-AD80-EE89-D52917D5F0E1}"/>
              </a:ext>
            </a:extLst>
          </p:cNvPr>
          <p:cNvSpPr txBox="1"/>
          <p:nvPr/>
        </p:nvSpPr>
        <p:spPr>
          <a:xfrm>
            <a:off x="386491" y="4110740"/>
            <a:ext cx="11157520" cy="1200329"/>
          </a:xfrm>
          <a:prstGeom prst="rect">
            <a:avLst/>
          </a:prstGeom>
          <a:noFill/>
        </p:spPr>
        <p:txBody>
          <a:bodyPr wrap="square" rtlCol="0">
            <a:spAutoFit/>
          </a:bodyPr>
          <a:lstStyle/>
          <a:p>
            <a:r>
              <a:rPr kumimoji="1" lang="zh-CN" altLang="en-US" b="1" dirty="0"/>
              <a:t>思考</a:t>
            </a:r>
            <a:r>
              <a:rPr kumimoji="1" lang="zh-CN" altLang="en-US" dirty="0"/>
              <a:t>：项目要求中仅需要大家通过</a:t>
            </a:r>
            <a:r>
              <a:rPr kumimoji="1" lang="en-US" altLang="zh-CN" dirty="0"/>
              <a:t> Id </a:t>
            </a:r>
            <a:r>
              <a:rPr kumimoji="1" lang="zh-CN" altLang="en-US" dirty="0"/>
              <a:t>来删除特定的记忆（比较准确），请思考，如果不给定</a:t>
            </a:r>
            <a:r>
              <a:rPr kumimoji="1" lang="en-US" altLang="zh-CN" dirty="0"/>
              <a:t> ID</a:t>
            </a:r>
            <a:r>
              <a:rPr kumimoji="1" lang="zh-CN" altLang="en-US" dirty="0"/>
              <a:t>，而是直接由用户给一句话，那么可能的实现方法是什么？</a:t>
            </a:r>
            <a:endParaRPr kumimoji="1" lang="en-US" altLang="zh-CN" dirty="0"/>
          </a:p>
          <a:p>
            <a:endParaRPr kumimoji="1" lang="en-US" altLang="zh-CN" dirty="0"/>
          </a:p>
          <a:p>
            <a:r>
              <a:rPr kumimoji="1" lang="zh-CN" altLang="en-US" dirty="0"/>
              <a:t>比如</a:t>
            </a:r>
            <a:r>
              <a:rPr kumimoji="1" lang="en-US" altLang="zh-CN" dirty="0"/>
              <a:t>: /memory delete </a:t>
            </a:r>
            <a:r>
              <a:rPr kumimoji="1" lang="zh-CN" altLang="en-US" dirty="0"/>
              <a:t>我喜欢吃苹果 </a:t>
            </a:r>
            <a:r>
              <a:rPr kumimoji="1" lang="en-US" altLang="zh-CN" dirty="0"/>
              <a:t># </a:t>
            </a:r>
            <a:r>
              <a:rPr kumimoji="1" lang="zh-CN" altLang="en-US" dirty="0"/>
              <a:t>这里希望删掉我喜欢吃苹果的这个记忆，因为我已经不爱吃苹果了</a:t>
            </a:r>
          </a:p>
        </p:txBody>
      </p:sp>
    </p:spTree>
    <p:extLst>
      <p:ext uri="{BB962C8B-B14F-4D97-AF65-F5344CB8AC3E}">
        <p14:creationId xmlns:p14="http://schemas.microsoft.com/office/powerpoint/2010/main" val="2165817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479BCE-F135-2E43-AC1E-8D4062EA8417}">
  <we:reference id="wa200010215" version="2.0.0.0" store="zh-CN" storeType="OMEX"/>
  <we:alternateReferences>
    <we:reference id="wa200010215" version="2.0.0.0" store="zh-CN"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4879</TotalTime>
  <Words>3155</Words>
  <Application>Microsoft Macintosh PowerPoint</Application>
  <PresentationFormat>宽屏</PresentationFormat>
  <Paragraphs>365</Paragraphs>
  <Slides>28</Slides>
  <Notes>28</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28</vt:i4>
      </vt:variant>
    </vt:vector>
  </HeadingPairs>
  <TitlesOfParts>
    <vt:vector size="37" baseType="lpstr">
      <vt:lpstr>Microsoft YaHei</vt:lpstr>
      <vt:lpstr>Arial</vt:lpstr>
      <vt:lpstr>Calibri</vt:lpstr>
      <vt:lpstr>Consolas</vt:lpstr>
      <vt:lpstr>Helvetica Neue</vt:lpstr>
      <vt:lpstr>Roboto</vt:lpstr>
      <vt:lpstr>Wingdings</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Mingkai Dong</dc:creator>
  <cp:lastModifiedBy>Dong Du</cp:lastModifiedBy>
  <cp:revision>235</cp:revision>
  <dcterms:created xsi:type="dcterms:W3CDTF">2021-02-24T11:14:01Z</dcterms:created>
  <dcterms:modified xsi:type="dcterms:W3CDTF">2026-07-06T05:57:05Z</dcterms:modified>
</cp:coreProperties>
</file>