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147483619" r:id="rId3"/>
    <p:sldId id="2147483620" r:id="rId4"/>
    <p:sldId id="2147483621" r:id="rId5"/>
    <p:sldId id="2147483622" r:id="rId6"/>
    <p:sldId id="266" r:id="rId7"/>
    <p:sldId id="287" r:id="rId8"/>
    <p:sldId id="2147483623" r:id="rId9"/>
    <p:sldId id="2147483624" r:id="rId10"/>
    <p:sldId id="2147483625" r:id="rId11"/>
    <p:sldId id="2147483627" r:id="rId12"/>
    <p:sldId id="2147483626" r:id="rId13"/>
    <p:sldId id="2147483628" r:id="rId14"/>
    <p:sldId id="2147483629" r:id="rId15"/>
    <p:sldId id="2147483630" r:id="rId16"/>
    <p:sldId id="2147483633" r:id="rId17"/>
    <p:sldId id="2147483632" r:id="rId18"/>
    <p:sldId id="2147483634" r:id="rId19"/>
    <p:sldId id="2147483635" r:id="rId20"/>
    <p:sldId id="2147483636" r:id="rId21"/>
    <p:sldId id="2147483637" r:id="rId22"/>
    <p:sldId id="2147483638" r:id="rId23"/>
    <p:sldId id="2147483641" r:id="rId24"/>
    <p:sldId id="2147483642" r:id="rId25"/>
    <p:sldId id="2147483639" r:id="rId26"/>
    <p:sldId id="2147483640" r:id="rId27"/>
    <p:sldId id="2147483643" r:id="rId28"/>
    <p:sldId id="273" r:id="rId2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/>
    <p:restoredTop sz="85510"/>
  </p:normalViewPr>
  <p:slideViewPr>
    <p:cSldViewPr snapToObjects="1" showGuides="1">
      <p:cViewPr varScale="1">
        <p:scale>
          <a:sx n="108" d="100"/>
          <a:sy n="108" d="100"/>
        </p:scale>
        <p:origin x="104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7/6/26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7/6/26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zhida.zhihu.com/search?content_id=257744658&amp;content_type=Article&amp;match_order=1&amp;q=OpenAI&amp;zd_token=eyJhbGciOiJIUzI1NiIsInR5cCI6IkpXVCJ9.eyJpc3MiOiJ6aGlkYV9zZXJ2ZXIiLCJleHAiOjE3NzY4MjIzMzEsInEiOiJPcGVuQUkiLCJ6aGlkYV9zb3VyY2UiOiJlbnRpdHkiLCJjb250ZW50X2lkIjoyNTc3NDQ2NTgsImNvbnRlbnRfdHlwZSI6IkFydGljbGUiLCJtYXRjaF9vcmRlciI6MSwiemRfdG9rZW4iOm51bGx9.RCbEp26chtCq2s88vAZr2aE51XEwXYwzCWnk-Khqctc&amp;zhida_source=entity" TargetMode="External"/><Relationship Id="rId3" Type="http://schemas.openxmlformats.org/officeDocument/2006/relationships/hyperlink" Target="https://zhida.zhihu.com/search?content_id=257744658&amp;content_type=Article&amp;match_order=1&amp;q=%E9%BB%84%E4%BB%81%E5%8B%8B&amp;zd_token=eyJhbGciOiJIUzI1NiIsInR5cCI6IkpXVCJ9.eyJpc3MiOiJ6aGlkYV9zZXJ2ZXIiLCJleHAiOjE3NzY4MjIzMzEsInEiOiLpu4Tku4Hli4siLCJ6aGlkYV9zb3VyY2UiOiJlbnRpdHkiLCJjb250ZW50X2lkIjoyNTc3NDQ2NTgsImNvbnRlbnRfdHlwZSI6IkFydGljbGUiLCJtYXRjaF9vcmRlciI6MSwiemRfdG9rZW4iOm51bGx9.SS7LBwDtev5uj-ILq4a3KvPWDG76ocYYSz2s4AhXGzQ&amp;zhida_source=entity" TargetMode="External"/><Relationship Id="rId7" Type="http://schemas.openxmlformats.org/officeDocument/2006/relationships/hyperlink" Target="https://zhida.zhihu.com/search?content_id=257744658&amp;content_type=Article&amp;match_order=1&amp;q=ChatGPT&amp;zd_token=eyJhbGciOiJIUzI1NiIsInR5cCI6IkpXVCJ9.eyJpc3MiOiJ6aGlkYV9zZXJ2ZXIiLCJleHAiOjE3NzY4MjIzMzEsInEiOiJDaGF0R1BUIiwiemhpZGFfc291cmNlIjoiZW50aXR5IiwiY29udGVudF9pZCI6MjU3NzQ0NjU4LCJjb250ZW50X3R5cGUiOiJBcnRpY2xlIiwibWF0Y2hfb3JkZXIiOjEsInpkX3Rva2VuIjpudWxsfQ.YjBIHGmvw_jpRQ4lzRGhUOP_-FmV2q19udR6c-yCpVM&amp;zhida_source=entity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zhida.zhihu.com/search?content_id=257744658&amp;content_type=Article&amp;match_order=1&amp;q=Physical+AI&amp;zd_token=eyJhbGciOiJIUzI1NiIsInR5cCI6IkpXVCJ9.eyJpc3MiOiJ6aGlkYV9zZXJ2ZXIiLCJleHAiOjE3NzY4MjIzMzEsInEiOiJQaHlzaWNhbCBBSSIsInpoaWRhX3NvdXJjZSI6ImVudGl0eSIsImNvbnRlbnRfaWQiOjI1Nzc0NDY1OCwiY29udGVudF90eXBlIjoiQXJ0aWNsZSIsIm1hdGNoX29yZGVyIjoxLCJ6ZF90b2tlbiI6bnVsbH0.8G4aUCb3BzT26fL9ad7XUbdcxSLpn8fXFDQMaijW_t0&amp;zhida_source=entity" TargetMode="External"/><Relationship Id="rId11" Type="http://schemas.openxmlformats.org/officeDocument/2006/relationships/hyperlink" Target="https://zhida.zhihu.com/search?content_id=257744658&amp;content_type=Article&amp;match_order=1&amp;q=o3%E6%A8%A1%E5%9E%8B&amp;zd_token=eyJhbGciOiJIUzI1NiIsInR5cCI6IkpXVCJ9.eyJpc3MiOiJ6aGlkYV9zZXJ2ZXIiLCJleHAiOjE3NzY4MjIzMzEsInEiOiJvM-aooeWeiyIsInpoaWRhX3NvdXJjZSI6ImVudGl0eSIsImNvbnRlbnRfaWQiOjI1Nzc0NDY1OCwiY29udGVudF90eXBlIjoiQXJ0aWNsZSIsIm1hdGNoX29yZGVyIjoxLCJ6ZF90b2tlbiI6bnVsbH0.zLd3DWbzVnqk5uP8IvpYxfI_9FyU0zvMrXYKqAw59cY&amp;zhida_source=entity" TargetMode="External"/><Relationship Id="rId5" Type="http://schemas.openxmlformats.org/officeDocument/2006/relationships/hyperlink" Target="https://zhida.zhihu.com/search?content_id=257744658&amp;content_type=Article&amp;match_order=1&amp;q=%E7%94%9F%E6%88%90%E5%BC%8FAI&amp;zd_token=eyJhbGciOiJIUzI1NiIsInR5cCI6IkpXVCJ9.eyJpc3MiOiJ6aGlkYV9zZXJ2ZXIiLCJleHAiOjE3NzY4MjIzMzEsInEiOiLnlJ_miJDlvI9BSSIsInpoaWRhX3NvdXJjZSI6ImVudGl0eSIsImNvbnRlbnRfaWQiOjI1Nzc0NDY1OCwiY29udGVudF90eXBlIjoiQXJ0aWNsZSIsIm1hdGNoX29yZGVyIjoxLCJ6ZF90b2tlbiI6bnVsbH0.VO3P9Vfu05pyFOrIO-oUxG32FA4v4DAZWYzjbi-UI3g&amp;zhida_source=entity" TargetMode="External"/><Relationship Id="rId10" Type="http://schemas.openxmlformats.org/officeDocument/2006/relationships/hyperlink" Target="https://zhida.zhihu.com/search?content_id=257744658&amp;content_type=Article&amp;match_order=1&amp;q=R1&amp;zd_token=eyJhbGciOiJIUzI1NiIsInR5cCI6IkpXVCJ9.eyJpc3MiOiJ6aGlkYV9zZXJ2ZXIiLCJleHAiOjE3NzY4MjIzMzEsInEiOiJSMSIsInpoaWRhX3NvdXJjZSI6ImVudGl0eSIsImNvbnRlbnRfaWQiOjI1Nzc0NDY1OCwiY29udGVudF90eXBlIjoiQXJ0aWNsZSIsIm1hdGNoX29yZGVyIjoxLCJ6ZF90b2tlbiI6bnVsbH0.6AoMWvXLqmTslbxKAdTDjizlUvWcXrDKOTC94j2i524&amp;zhida_source=entity" TargetMode="External"/><Relationship Id="rId4" Type="http://schemas.openxmlformats.org/officeDocument/2006/relationships/hyperlink" Target="https://zhida.zhihu.com/search?content_id=257744658&amp;content_type=Article&amp;match_order=1&amp;q=%E8%8B%B1%E4%BC%9F%E8%BE%BEGTC2025&amp;zd_token=eyJhbGciOiJIUzI1NiIsInR5cCI6IkpXVCJ9.eyJpc3MiOiJ6aGlkYV9zZXJ2ZXIiLCJleHAiOjE3NzY4MjIzMzEsInEiOiLoi7HkvJ_ovr5HVEMyMDI1IiwiemhpZGFfc291cmNlIjoiZW50aXR5IiwiY29udGVudF9pZCI6MjU3NzQ0NjU4LCJjb250ZW50X3R5cGUiOiJBcnRpY2xlIiwibWF0Y2hfb3JkZXIiOjEsInpkX3Rva2VuIjpudWxsfQ.-z7YqGfz8WNB0VPMIYEOTubuh5AEZbdx2mNW8Yub4iE&amp;zhida_source=entity" TargetMode="External"/><Relationship Id="rId9" Type="http://schemas.openxmlformats.org/officeDocument/2006/relationships/hyperlink" Target="https://zhida.zhihu.com/search?content_id=257744658&amp;content_type=Article&amp;match_order=1&amp;q=DeepSeek&amp;zd_token=eyJhbGciOiJIUzI1NiIsInR5cCI6IkpXVCJ9.eyJpc3MiOiJ6aGlkYV9zZXJ2ZXIiLCJleHAiOjE3NzY4MjIzMzEsInEiOiJEZWVwU2VlayIsInpoaWRhX3NvdXJjZSI6ImVudGl0eSIsImNvbnRlbnRfaWQiOjI1Nzc0NDY1OCwiY29udGVudF90eXBlIjoiQXJ0aWNsZSIsIm1hdGNoX29yZGVyIjoxLCJ6ZF90b2tlbiI6bnVsbH0.SWDSAy2iZ2JvuYHKOz9eZM62jIh1siXdA8tA3QDJ5nE&amp;zhida_source=entity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09408E"/>
                </a:solidFill>
                <a:effectLst/>
                <a:latin typeface="-apple-system"/>
                <a:hlinkClick r:id="rId3"/>
              </a:rPr>
              <a:t>黄仁勋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在</a:t>
            </a:r>
            <a:r>
              <a:rPr lang="zh-CN" altLang="en-US" b="0" i="0" u="none" strike="noStrike" dirty="0">
                <a:solidFill>
                  <a:srgbClr val="09408E"/>
                </a:solidFill>
                <a:effectLst/>
                <a:latin typeface="-apple-system"/>
                <a:hlinkClick r:id="rId4"/>
              </a:rPr>
              <a:t>英伟达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4"/>
              </a:rPr>
              <a:t>GTC2025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的主题演讲中回顾了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过去十几年的发展。从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2012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年</a:t>
            </a:r>
            <a:r>
              <a:rPr lang="en" altLang="zh-CN" b="0" i="0" dirty="0" err="1">
                <a:solidFill>
                  <a:srgbClr val="191B1F"/>
                </a:solidFill>
                <a:effectLst/>
                <a:latin typeface="-apple-system"/>
              </a:rPr>
              <a:t>AlexNet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开始的深度学习，到近几年大模型推动的</a:t>
            </a:r>
            <a:r>
              <a:rPr lang="zh-CN" altLang="en-US" b="0" i="0" u="none" strike="noStrike" dirty="0">
                <a:solidFill>
                  <a:srgbClr val="09408E"/>
                </a:solidFill>
                <a:effectLst/>
                <a:latin typeface="-apple-system"/>
                <a:hlinkClick r:id="rId5"/>
              </a:rPr>
              <a:t>生成式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5"/>
              </a:rPr>
              <a:t>AI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再到当下正经历的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Agentic AI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直到未来的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6"/>
              </a:rPr>
              <a:t>Physical AI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。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深度学习的十年里，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进展超过了此前传统机器学习三十年的积累。而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7"/>
              </a:rPr>
              <a:t>ChatGPT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上线后的短短两年半，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更是突飞猛进，取得的成果已经远超深度学习的十年。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“人间一天，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一年”。从今天回望，深度学习像是上古时期的，传统机器学习则是更遥远的远古技术，而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SVM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之前的专家系统，算是文明尚未开化的史前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了。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当前所处的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Agentic 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有两波标志性事件：第一波是去年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9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月开始的以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8"/>
              </a:rPr>
              <a:t>OpenAI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o1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和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9"/>
              </a:rPr>
              <a:t>DeepSeek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10"/>
              </a:rPr>
              <a:t>R1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为代表的推理模型逐渐成熟，第二波是今年初的</a:t>
            </a:r>
            <a:r>
              <a:rPr lang="en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11"/>
              </a:rPr>
              <a:t>o3</a:t>
            </a:r>
            <a:r>
              <a:rPr lang="zh-CN" altLang="en-US" b="0" i="0" u="none" strike="noStrike" dirty="0">
                <a:solidFill>
                  <a:srgbClr val="09408E"/>
                </a:solidFill>
                <a:effectLst/>
                <a:latin typeface="-apple-system"/>
                <a:hlinkClick r:id="rId11"/>
              </a:rPr>
              <a:t>模型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上线和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Deep Research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、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Operator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、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Manus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等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Agent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应用的出现。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830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在大模型之前，以专家系统、传统机器学习和传统深度学习为代表的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依赖专业界面和指令，解决专用任务。比如用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Photoshop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进行交互式抠图。这一阶段的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和人类历史上每次技术革命一样，提供的是被人类使用的工具。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大模型带来的通用任务解决能力和自然语言交互界面，使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成为人机协作的副驾驶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Co-Pilot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。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比如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GPT-4o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支持基于自然语言指令生成图片、抠图、风格迁移等。不过，此时仍需人类给出明确、具体的指令：人指挥一步，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执行一步。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50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除了内容理解和生成的感知能力，大模型逐步具备了任务规划和工具使用的认知决策和行动能力。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可以直接理解和实现目标导向的高层需求。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比如提出“为某新产品设计海报并发布到小红书”，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Manus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会自主进行任务规划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—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将复杂任务拆解为多个子任务，并在必要时使用外部工具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其他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agent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来执行其中某个子任务。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此时，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成为了主驾驶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Auto-Pilot--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即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 Agent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。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根据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OpenAI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的定义：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 Agent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是具备自主理解、规划、记忆和工具调用能力的系统，能自动化完成复杂任务。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294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今天的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 Agent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建立在大模型的基础上，通过预训练获得了世界知识先验，并以语言作为处理不同任务的接口，使得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 Agent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超越了仅依赖强化学习的局限，具备一定的泛化能力和通用性。</a:t>
            </a: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根据行为发起主体，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AI Agent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又可以分为被动响应人类需求的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autonomous agent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和具备类人格特征和主动行为模式的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-apple-system"/>
              </a:rPr>
              <a:t>generative agent</a:t>
            </a:r>
            <a:r>
              <a:rPr lang="zh-CN" altLang="en" b="0" i="0" dirty="0">
                <a:solidFill>
                  <a:srgbClr val="191B1F"/>
                </a:solidFill>
                <a:effectLst/>
                <a:latin typeface="-apple-system"/>
              </a:rPr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800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0836-CD39-E947-F2D8-CF69D081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2C5C2B-C1C0-BBCF-010B-2B34E2CA1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BA1A80-ED04-9545-31E5-F913CEE4F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春节期间的小龙虾其实让人真的看到了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 agent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类人的可能性。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/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视频博主拿小龙虾做视频，可以做到 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24 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小时不间断工作。</a:t>
            </a:r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/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B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站甚至在 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3 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月发起了一场直播，这是一场社会实验，来看龙虾到底能做多少人能做的事情。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7FCB1-9F39-EB3D-B74C-8B0AAF481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79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这段回答不一定错，但它有几个明显的问题：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它不知道你明天考什么，也不知道老师课件里强调的是 </a:t>
            </a:r>
            <a:r>
              <a:rPr lang="en" altLang="zh-CN" dirty="0"/>
              <a:t>OSI </a:t>
            </a:r>
            <a:r>
              <a:rPr lang="zh-CN" altLang="en-US" dirty="0"/>
              <a:t>七层、</a:t>
            </a:r>
            <a:r>
              <a:rPr lang="en" altLang="zh-CN" dirty="0"/>
              <a:t>TCP/IP </a:t>
            </a:r>
            <a:r>
              <a:rPr lang="zh-CN" altLang="en-US" dirty="0"/>
              <a:t>四层，还是“分层思想为什么有用”。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它不知道你现在是第一次学，还是已经复习过一轮，只想查漏补缺。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它不会主动读取你的课程 </a:t>
            </a:r>
            <a:r>
              <a:rPr lang="en" altLang="zh-CN" dirty="0"/>
              <a:t>Markdown</a:t>
            </a:r>
            <a:r>
              <a:rPr lang="zh-CN" altLang="en" dirty="0"/>
              <a:t>、</a:t>
            </a:r>
            <a:r>
              <a:rPr lang="zh-CN" altLang="en-US" dirty="0"/>
              <a:t>上次总结、错题记录或复习计划。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它通常不会留下“我依据哪些资料回答、用了哪些工具、生成了哪些产物”的 </a:t>
            </a:r>
            <a:r>
              <a:rPr lang="en" altLang="zh-CN" dirty="0"/>
              <a:t>trace</a:t>
            </a:r>
            <a:r>
              <a:rPr lang="zh-CN" altLang="en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如果你接着说“直接帮我写完课程作业”，它可能只靠一次 </a:t>
            </a:r>
            <a:r>
              <a:rPr lang="en" altLang="zh-CN" dirty="0"/>
              <a:t>prompt </a:t>
            </a:r>
            <a:r>
              <a:rPr lang="zh-CN" altLang="en-US" dirty="0"/>
              <a:t>判断是否拒绝，缺少稳定的学习边界。</a:t>
            </a:r>
          </a:p>
          <a:p>
            <a:r>
              <a:rPr lang="zh-CN" altLang="en-US" dirty="0"/>
              <a:t>所以，普通 </a:t>
            </a:r>
            <a:r>
              <a:rPr lang="en" altLang="zh-CN" dirty="0"/>
              <a:t>chatbot </a:t>
            </a:r>
            <a:r>
              <a:rPr lang="zh-CN" altLang="en-US" dirty="0"/>
              <a:t>的核心形态可以先理解成：</a:t>
            </a:r>
          </a:p>
          <a:p>
            <a:r>
              <a:rPr lang="zh-CN" altLang="en-US" dirty="0"/>
              <a:t>用户输入一句话 </a:t>
            </a:r>
            <a:r>
              <a:rPr lang="en-US" altLang="zh-CN" dirty="0"/>
              <a:t>-&gt; </a:t>
            </a:r>
            <a:r>
              <a:rPr lang="zh-CN" altLang="en-US" dirty="0"/>
              <a:t>模型生成一段回复 </a:t>
            </a:r>
            <a:r>
              <a:rPr lang="en-US" altLang="zh-CN" dirty="0"/>
              <a:t>-&gt; </a:t>
            </a:r>
            <a:r>
              <a:rPr lang="zh-CN" altLang="en-US" dirty="0"/>
              <a:t>对话结束或进入下一轮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9288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A784-FEEB-F165-B324-0C22AF16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A62058-CE27-5840-950E-9B103AC07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5D05E3-D4F1-E2FE-D768-CFCF02B5E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这段回答不一定错，但它有几个明显的问题：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它不知道你明天考什么，也不知道老师课件里强调的是 </a:t>
            </a:r>
            <a:r>
              <a:rPr lang="en" altLang="zh-CN" dirty="0"/>
              <a:t>OSI </a:t>
            </a:r>
            <a:r>
              <a:rPr lang="zh-CN" altLang="en-US" dirty="0"/>
              <a:t>七层、</a:t>
            </a:r>
            <a:r>
              <a:rPr lang="en" altLang="zh-CN" dirty="0"/>
              <a:t>TCP/IP </a:t>
            </a:r>
            <a:r>
              <a:rPr lang="zh-CN" altLang="en-US" dirty="0"/>
              <a:t>四层，还是“分层思想为什么有用”。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它不知道你现在是第一次学，还是已经复习过一轮，只想查漏补缺。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它不会主动读取你的课程 </a:t>
            </a:r>
            <a:r>
              <a:rPr lang="en" altLang="zh-CN" dirty="0"/>
              <a:t>Markdown</a:t>
            </a:r>
            <a:r>
              <a:rPr lang="zh-CN" altLang="en" dirty="0"/>
              <a:t>、</a:t>
            </a:r>
            <a:r>
              <a:rPr lang="zh-CN" altLang="en-US" dirty="0"/>
              <a:t>上次总结、错题记录或复习计划。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它通常不会留下“我依据哪些资料回答、用了哪些工具、生成了哪些产物”的 </a:t>
            </a:r>
            <a:r>
              <a:rPr lang="en" altLang="zh-CN" dirty="0"/>
              <a:t>trace</a:t>
            </a:r>
            <a:r>
              <a:rPr lang="zh-CN" altLang="en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如果你接着说“直接帮我写完课程作业”，它可能只靠一次 </a:t>
            </a:r>
            <a:r>
              <a:rPr lang="en" altLang="zh-CN" dirty="0"/>
              <a:t>prompt </a:t>
            </a:r>
            <a:r>
              <a:rPr lang="zh-CN" altLang="en-US" dirty="0"/>
              <a:t>判断是否拒绝，缺少稳定的学习边界。</a:t>
            </a:r>
          </a:p>
          <a:p>
            <a:r>
              <a:rPr lang="zh-CN" altLang="en-US" dirty="0"/>
              <a:t>所以，普通 </a:t>
            </a:r>
            <a:r>
              <a:rPr lang="en" altLang="zh-CN" dirty="0"/>
              <a:t>chatbot </a:t>
            </a:r>
            <a:r>
              <a:rPr lang="zh-CN" altLang="en-US" dirty="0"/>
              <a:t>的核心形态可以先理解成：</a:t>
            </a:r>
          </a:p>
          <a:p>
            <a:r>
              <a:rPr lang="zh-CN" altLang="en-US" dirty="0"/>
              <a:t>用户输入一句话 </a:t>
            </a:r>
            <a:r>
              <a:rPr lang="en-US" altLang="zh-CN" dirty="0"/>
              <a:t>-&gt; </a:t>
            </a:r>
            <a:r>
              <a:rPr lang="zh-CN" altLang="en-US" dirty="0"/>
              <a:t>模型生成一段回复 </a:t>
            </a:r>
            <a:r>
              <a:rPr lang="en-US" altLang="zh-CN" dirty="0"/>
              <a:t>-&gt; </a:t>
            </a:r>
            <a:r>
              <a:rPr lang="zh-CN" altLang="en-US" dirty="0"/>
              <a:t>对话结束或进入下一轮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9AF910-EB7D-5308-B2D5-A4DACFD43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08951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BA14-46FB-4943-8462-4F8BCF0F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21A10C-73F7-990D-584A-F1C2DC5CA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C43F7D-A03B-4E1B-8AA6-23B759471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C78B9F-69FE-48C8-1BC5-230BF949C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2397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BC526-2B55-7D6E-B6F0-DC31FCE1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69C159-74E3-870D-2D08-8AC7DB3C8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5303DA-49C0-ACDB-741A-1FC8846AB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BCE41-2DFF-0672-F77F-5BE65153D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543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E8CA-8FB5-E422-A839-D02C0632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92B8A8-F5C7-6B61-E8DE-4D28E9B42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F201A7-B613-6F41-CC29-4511061D9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6A9A11-D0B5-53F2-59BD-857631CCC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150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7FCD-DD34-7D72-2D55-FA79D8F7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D47056-360B-6792-919D-D596A067B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12CAFA-4EC6-7F32-91C2-A79DC0CE7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2F9445-E47B-FC73-2485-699DDA807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3210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BA17-1D15-37D8-4D23-0384A441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C922CC-FBE1-F8FF-BC3C-F5ECD9313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791894-1A19-D6B2-2E60-112F8B71C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31FC8-4F5D-2B87-6BA1-A21C9EE8E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344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A24E-E2AF-383F-939F-B9814631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A06922-9FC0-A025-9910-0935BD5CA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D7C91C-5683-2F80-284D-659831A65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5D1A3-D73F-44E5-2701-87A463D2C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0687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3A0BC-32CD-827E-8614-D81EBB94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9D9253-A0DA-C2FC-941A-E170718F0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AE8482-B814-C129-5F2D-F90E0B585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EE57AB-DBC9-7AE2-CA29-1431FA69C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392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E34A-854E-5697-36BF-DD577835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1A5600-3AB7-9BE7-FA40-35EB0DEF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988055-297C-AAFF-17DD-1ACA6C2E3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9A8E6-AEC5-960E-E935-4476723FE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75639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BDC3-A72C-913B-AC81-3B2B1AC0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7174DC-FF83-6117-FDB2-DDF22311C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E10AC3-7A5D-6DAC-F7C9-C4741BD46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960298-ABCC-4FF1-BF74-C3BE1830B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8100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058D-EB5D-88B8-E423-E3F9A035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D2E45A-4E1D-D68F-28AA-5721359CA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BF5855-8861-B866-EAAA-8DDA01484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B94F0D-5E8B-CD62-DB45-94B62DD8A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1692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7423-D5BA-5E76-C38F-3099FDB6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7BDB06-8456-E228-435C-F095EF78D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2C1B78-7F40-F9E8-32C7-52907C4C0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833AC0-53FA-7C4B-0DF8-01A504676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1941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F611-9EC4-080B-BC1A-A528B8219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3DD1E3-0687-4BDA-7728-5F152D5B8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652621-C2CD-0B30-1510-60EC49967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2B647B-77F2-FC3D-027E-5E777A0C1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3822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8B87-BE8A-2BD1-4596-3A954EA8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D962FA-9135-908A-592B-3C392B3BE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449C2A-EB21-7293-7C72-1F7752422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D33D3-8132-8FDF-D3A5-7CCA6FA26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568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BFE9-E284-B34B-9DD9-9734E072A10D}" type="datetime1">
              <a:rPr lang="en-US" smtClean="0"/>
              <a:t>7/6/26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5C36-DE89-754B-AADC-BE098732BA55}" type="datetime1">
              <a:rPr lang="en-US" smtClean="0"/>
              <a:t>7/6/26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2F05-C132-444E-8CB1-83285020EE6B}" type="datetime1">
              <a:rPr lang="en-US" smtClean="0"/>
              <a:t>7/6/26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A035-3CCE-DA49-8248-4DECF1480FAD}" type="datetime1">
              <a:rPr lang="en-US" smtClean="0"/>
              <a:t>7/6/26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8968-DCED-034C-A9F9-63C7B612155B}" type="datetime1">
              <a:rPr lang="en-US" smtClean="0"/>
              <a:t>7/6/26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C6-ADAB-5E41-86AC-7F6081FE7CAC}" type="datetime1">
              <a:rPr lang="en-US" smtClean="0"/>
              <a:t>7/6/26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856D-977A-F642-9AEB-80D2F107EFF4}" type="datetime1">
              <a:rPr lang="en-US" smtClean="0"/>
              <a:t>7/6/26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4B7F-BC74-F14F-8BF9-586EC96745A0}" type="datetime1">
              <a:rPr lang="en-US" smtClean="0"/>
              <a:t>7/6/26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7302-2114-A74D-8389-8181128E4BC3}" type="datetime1">
              <a:rPr lang="en-US" smtClean="0"/>
              <a:t>7/6/26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8223-6D33-DE4C-9F51-4A38614FD791}" type="datetime1">
              <a:rPr lang="en-US" smtClean="0"/>
              <a:t>7/6/26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0E2A-2758-4248-AC6A-4E927F9F5533}" type="datetime1">
              <a:rPr lang="en-US" smtClean="0"/>
              <a:t>7/6/26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rPr lang="en-US" smtClean="0"/>
              <a:t>7/6/26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dels.sjtu.edu.cn/api/v1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#2</a:t>
            </a:r>
            <a:br>
              <a:rPr lang="en-US" altLang="zh-CN" dirty="0"/>
            </a:br>
            <a:r>
              <a:rPr lang="en-US" altLang="zh-CN" dirty="0"/>
              <a:t>Agent</a:t>
            </a:r>
            <a:r>
              <a:rPr lang="zh-CN" altLang="en-US" dirty="0"/>
              <a:t>、大作业</a:t>
            </a:r>
            <a:r>
              <a:rPr lang="en-US" altLang="zh-CN" dirty="0"/>
              <a:t>&amp;</a:t>
            </a:r>
            <a:br>
              <a:rPr lang="en-US" altLang="zh-CN" dirty="0"/>
            </a:br>
            <a:r>
              <a:rPr lang="zh-CN" altLang="en-US" dirty="0"/>
              <a:t>我们的第一个能跑的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rPr lang="zh-CN" altLang="en-US" dirty="0"/>
              <a:t>杜冬冬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小学期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6FE7-A35C-EE83-099C-579F6360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F137F76-10E9-6A4C-AB45-8AE6E007E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483547"/>
            <a:ext cx="10640794" cy="5228191"/>
          </a:xfrm>
        </p:spPr>
        <p:txBody>
          <a:bodyPr>
            <a:normAutofit/>
          </a:bodyPr>
          <a:lstStyle/>
          <a:p>
            <a:pPr lvl="1"/>
            <a:endParaRPr kumimoji="1" lang="en-US" altLang="zh-CN" sz="2160" dirty="0">
              <a:latin typeface="+mn-lt"/>
            </a:endParaRPr>
          </a:p>
          <a:p>
            <a:pPr lvl="1"/>
            <a:endParaRPr kumimoji="1" lang="en-US" altLang="zh-CN" sz="2160" dirty="0">
              <a:latin typeface="+mn-lt"/>
            </a:endParaRPr>
          </a:p>
          <a:p>
            <a:pPr marL="548640" lvl="1" indent="0">
              <a:buNone/>
            </a:pPr>
            <a:endParaRPr kumimoji="1" lang="en-US" altLang="zh-CN" sz="2160" dirty="0">
              <a:latin typeface="+mn-lt"/>
            </a:endParaRPr>
          </a:p>
          <a:p>
            <a:pPr lvl="1"/>
            <a:endParaRPr kumimoji="1" lang="en-US" altLang="zh-CN" sz="2160" dirty="0">
              <a:latin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4B2DF7-132D-29C0-14AB-53224177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智能化的演进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847788-403F-167B-1233-ED397427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4833FA5-4DD6-6166-256B-C7B889D2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97" y="1627696"/>
            <a:ext cx="8258323" cy="462896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CCB5D36-A4F1-B8C2-987E-42E09E2A41AC}"/>
              </a:ext>
            </a:extLst>
          </p:cNvPr>
          <p:cNvSpPr txBox="1"/>
          <p:nvPr/>
        </p:nvSpPr>
        <p:spPr>
          <a:xfrm>
            <a:off x="890016" y="1865376"/>
            <a:ext cx="129394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160" dirty="0"/>
              <a:t>专家系统</a:t>
            </a:r>
            <a:endParaRPr kumimoji="1" lang="en-US" altLang="zh-CN" sz="2160" dirty="0"/>
          </a:p>
          <a:p>
            <a:r>
              <a:rPr kumimoji="1" lang="zh-CN" altLang="en-US" sz="2160" dirty="0"/>
              <a:t>（史前）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1ECF22-9750-7A5A-EE99-D6E669A42232}"/>
              </a:ext>
            </a:extLst>
          </p:cNvPr>
          <p:cNvSpPr txBox="1"/>
          <p:nvPr/>
        </p:nvSpPr>
        <p:spPr>
          <a:xfrm>
            <a:off x="2603877" y="1865376"/>
            <a:ext cx="184858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160" dirty="0">
                <a:solidFill>
                  <a:schemeClr val="bg1"/>
                </a:solidFill>
              </a:rPr>
              <a:t>传统机器学习</a:t>
            </a:r>
            <a:endParaRPr kumimoji="1" lang="en-US" altLang="zh-CN" sz="2160" dirty="0">
              <a:solidFill>
                <a:schemeClr val="bg1"/>
              </a:solidFill>
            </a:endParaRPr>
          </a:p>
          <a:p>
            <a:pPr algn="ctr"/>
            <a:r>
              <a:rPr kumimoji="1" lang="zh-CN" altLang="en-US" sz="2160" dirty="0">
                <a:solidFill>
                  <a:schemeClr val="bg1"/>
                </a:solidFill>
              </a:rPr>
              <a:t>（远古）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C4D111-9F13-73BB-E558-C9C4907B062A}"/>
              </a:ext>
            </a:extLst>
          </p:cNvPr>
          <p:cNvSpPr txBox="1"/>
          <p:nvPr/>
        </p:nvSpPr>
        <p:spPr>
          <a:xfrm>
            <a:off x="4700218" y="1865376"/>
            <a:ext cx="129394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160" dirty="0">
                <a:solidFill>
                  <a:schemeClr val="bg1"/>
                </a:solidFill>
              </a:rPr>
              <a:t>深度学习</a:t>
            </a:r>
            <a:endParaRPr kumimoji="1" lang="en-US" altLang="zh-CN" sz="2160" dirty="0">
              <a:solidFill>
                <a:schemeClr val="bg1"/>
              </a:solidFill>
            </a:endParaRPr>
          </a:p>
          <a:p>
            <a:pPr algn="ctr"/>
            <a:r>
              <a:rPr kumimoji="1" lang="zh-CN" altLang="en-US" sz="2160" dirty="0">
                <a:solidFill>
                  <a:schemeClr val="bg1"/>
                </a:solidFill>
              </a:rPr>
              <a:t>（远古）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4B9955-A747-C928-08B2-0A7A3E693484}"/>
              </a:ext>
            </a:extLst>
          </p:cNvPr>
          <p:cNvSpPr txBox="1"/>
          <p:nvPr/>
        </p:nvSpPr>
        <p:spPr>
          <a:xfrm>
            <a:off x="6645674" y="1897463"/>
            <a:ext cx="101662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160" dirty="0">
                <a:solidFill>
                  <a:schemeClr val="bg1"/>
                </a:solidFill>
              </a:rPr>
              <a:t>大模型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EFA2A1-7696-9BF9-75CD-4343C0A61543}"/>
              </a:ext>
            </a:extLst>
          </p:cNvPr>
          <p:cNvSpPr txBox="1"/>
          <p:nvPr/>
        </p:nvSpPr>
        <p:spPr>
          <a:xfrm>
            <a:off x="8387516" y="1897463"/>
            <a:ext cx="113999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160" dirty="0">
                <a:solidFill>
                  <a:schemeClr val="bg1"/>
                </a:solidFill>
              </a:rPr>
              <a:t>AI</a:t>
            </a:r>
            <a:r>
              <a:rPr kumimoji="1" lang="zh-CN" altLang="en-US" sz="2160" dirty="0">
                <a:solidFill>
                  <a:schemeClr val="bg1"/>
                </a:solidFill>
              </a:rPr>
              <a:t> </a:t>
            </a:r>
            <a:r>
              <a:rPr kumimoji="1" lang="en-US" altLang="zh-CN" sz="2160" dirty="0">
                <a:solidFill>
                  <a:schemeClr val="bg1"/>
                </a:solidFill>
              </a:rPr>
              <a:t>Agent</a:t>
            </a:r>
            <a:endParaRPr kumimoji="1" lang="zh-CN" altLang="en-US" sz="2160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C1B1C8-CE66-752B-A6F2-948258A97ADF}"/>
              </a:ext>
            </a:extLst>
          </p:cNvPr>
          <p:cNvSpPr/>
          <p:nvPr/>
        </p:nvSpPr>
        <p:spPr>
          <a:xfrm>
            <a:off x="4469964" y="1897464"/>
            <a:ext cx="212428" cy="412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043A13-B001-3B26-02F1-BB3EBA4DBAE2}"/>
              </a:ext>
            </a:extLst>
          </p:cNvPr>
          <p:cNvSpPr/>
          <p:nvPr/>
        </p:nvSpPr>
        <p:spPr>
          <a:xfrm>
            <a:off x="6433617" y="1897464"/>
            <a:ext cx="212428" cy="412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C4564C-27A0-B947-31C8-7039F9A19971}"/>
              </a:ext>
            </a:extLst>
          </p:cNvPr>
          <p:cNvSpPr/>
          <p:nvPr/>
        </p:nvSpPr>
        <p:spPr>
          <a:xfrm>
            <a:off x="8206910" y="1880266"/>
            <a:ext cx="212428" cy="412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466356-7336-E1CC-6ACE-E56132BCC89F}"/>
              </a:ext>
            </a:extLst>
          </p:cNvPr>
          <p:cNvSpPr txBox="1"/>
          <p:nvPr/>
        </p:nvSpPr>
        <p:spPr>
          <a:xfrm>
            <a:off x="3172741" y="4454707"/>
            <a:ext cx="107189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160" dirty="0" err="1">
                <a:solidFill>
                  <a:schemeClr val="bg1"/>
                </a:solidFill>
              </a:rPr>
              <a:t>AlexNet</a:t>
            </a:r>
            <a:endParaRPr kumimoji="1" lang="zh-CN" altLang="en-US" sz="2160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EBE6E7-BDED-7532-FA6D-97F518BE2DF5}"/>
              </a:ext>
            </a:extLst>
          </p:cNvPr>
          <p:cNvSpPr txBox="1"/>
          <p:nvPr/>
        </p:nvSpPr>
        <p:spPr>
          <a:xfrm>
            <a:off x="6622327" y="4097642"/>
            <a:ext cx="155440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160" dirty="0">
                <a:solidFill>
                  <a:schemeClr val="bg1"/>
                </a:solidFill>
              </a:rPr>
              <a:t>Transformer</a:t>
            </a:r>
          </a:p>
          <a:p>
            <a:pPr algn="ctr"/>
            <a:r>
              <a:rPr kumimoji="1" lang="en-US" altLang="zh-CN" sz="2160" dirty="0">
                <a:solidFill>
                  <a:schemeClr val="bg1"/>
                </a:solidFill>
              </a:rPr>
              <a:t>ChatGPT</a:t>
            </a:r>
            <a:endParaRPr kumimoji="1" lang="zh-CN" altLang="en-US" sz="2160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930476-D7B6-58E1-A5E6-4728553C267A}"/>
              </a:ext>
            </a:extLst>
          </p:cNvPr>
          <p:cNvSpPr txBox="1"/>
          <p:nvPr/>
        </p:nvSpPr>
        <p:spPr>
          <a:xfrm>
            <a:off x="8623904" y="4288507"/>
            <a:ext cx="185730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160" dirty="0">
                <a:solidFill>
                  <a:schemeClr val="bg1"/>
                </a:solidFill>
              </a:rPr>
              <a:t>o1,Manus, </a:t>
            </a:r>
            <a:br>
              <a:rPr kumimoji="1" lang="en-US" altLang="zh-CN" sz="2160" dirty="0">
                <a:solidFill>
                  <a:schemeClr val="bg1"/>
                </a:solidFill>
              </a:rPr>
            </a:br>
            <a:r>
              <a:rPr kumimoji="1" lang="en-US" altLang="zh-CN" sz="2160" dirty="0">
                <a:solidFill>
                  <a:schemeClr val="bg1"/>
                </a:solidFill>
              </a:rPr>
              <a:t>Deep Research</a:t>
            </a:r>
            <a:endParaRPr kumimoji="1" lang="zh-CN" altLang="en-US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26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D3A7-7551-5A38-8CD9-D88A4F81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CE12CDF-DB3B-876E-6F8C-04452BE58370}"/>
              </a:ext>
            </a:extLst>
          </p:cNvPr>
          <p:cNvSpPr/>
          <p:nvPr/>
        </p:nvSpPr>
        <p:spPr>
          <a:xfrm>
            <a:off x="4842837" y="1702214"/>
            <a:ext cx="2976199" cy="50192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AA21581-4550-EB24-6C19-4D001A860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483547"/>
            <a:ext cx="10640794" cy="5228191"/>
          </a:xfrm>
        </p:spPr>
        <p:txBody>
          <a:bodyPr>
            <a:normAutofit/>
          </a:bodyPr>
          <a:lstStyle/>
          <a:p>
            <a:pPr lvl="1"/>
            <a:endParaRPr kumimoji="1" lang="en-US" altLang="zh-CN" sz="2160" dirty="0">
              <a:latin typeface="+mn-lt"/>
            </a:endParaRPr>
          </a:p>
          <a:p>
            <a:pPr lvl="1"/>
            <a:endParaRPr kumimoji="1" lang="en-US" altLang="zh-CN" sz="2160" dirty="0">
              <a:latin typeface="+mn-lt"/>
            </a:endParaRPr>
          </a:p>
          <a:p>
            <a:pPr marL="548640" lvl="1" indent="0">
              <a:buNone/>
            </a:pPr>
            <a:endParaRPr kumimoji="1" lang="en-US" altLang="zh-CN" sz="2160" dirty="0">
              <a:latin typeface="+mn-lt"/>
            </a:endParaRPr>
          </a:p>
          <a:p>
            <a:pPr lvl="1"/>
            <a:endParaRPr kumimoji="1" lang="en-US" altLang="zh-CN" sz="2160" dirty="0">
              <a:latin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E194DAD-0FE2-0E43-860B-59C88265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j-lt"/>
              </a:rPr>
              <a:t>从工具</a:t>
            </a:r>
            <a:r>
              <a:rPr kumimoji="1" lang="en-US" altLang="zh-CN" dirty="0">
                <a:latin typeface="+mj-lt"/>
              </a:rPr>
              <a:t> Tool </a:t>
            </a:r>
            <a:r>
              <a:rPr kumimoji="1" lang="zh-CN" altLang="en-US" dirty="0">
                <a:latin typeface="+mj-lt"/>
              </a:rPr>
              <a:t>到助手</a:t>
            </a:r>
            <a:r>
              <a:rPr kumimoji="1" lang="en-US" altLang="zh-CN" dirty="0">
                <a:latin typeface="+mj-lt"/>
              </a:rPr>
              <a:t> CoPilot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3BBCDC-D623-A8B0-3013-D1125D80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37AE20-A4C5-2538-73AE-B9A9E0327FAF}"/>
              </a:ext>
            </a:extLst>
          </p:cNvPr>
          <p:cNvSpPr txBox="1"/>
          <p:nvPr/>
        </p:nvSpPr>
        <p:spPr>
          <a:xfrm>
            <a:off x="1159715" y="1873627"/>
            <a:ext cx="3342582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Tool</a:t>
            </a:r>
            <a:endParaRPr kumimoji="1" lang="en-US" altLang="zh-CN" sz="2160" b="1" dirty="0"/>
          </a:p>
          <a:p>
            <a:r>
              <a:rPr kumimoji="1" lang="zh-CN" altLang="en-US" sz="2160" dirty="0"/>
              <a:t>能力特点：专用任务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交互方式：专业界面</a:t>
            </a:r>
            <a:r>
              <a:rPr kumimoji="1" lang="en-US" altLang="zh-CN" sz="2160" dirty="0"/>
              <a:t>/</a:t>
            </a:r>
            <a:r>
              <a:rPr kumimoji="1" lang="zh-CN" altLang="en-US" sz="2160" dirty="0"/>
              <a:t>指令</a:t>
            </a:r>
            <a:endParaRPr kumimoji="1" lang="en-US" altLang="zh-CN" sz="216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6187F6-7056-F109-8165-89CE5DD031B5}"/>
              </a:ext>
            </a:extLst>
          </p:cNvPr>
          <p:cNvSpPr txBox="1"/>
          <p:nvPr/>
        </p:nvSpPr>
        <p:spPr>
          <a:xfrm>
            <a:off x="4990665" y="1873627"/>
            <a:ext cx="2680542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Co-Pilot</a:t>
            </a:r>
            <a:endParaRPr kumimoji="1" lang="en-US" altLang="zh-CN" sz="2160" b="1" dirty="0"/>
          </a:p>
          <a:p>
            <a:r>
              <a:rPr kumimoji="1" lang="zh-CN" altLang="en-US" sz="2160" dirty="0"/>
              <a:t>能力特点：通用任务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交互方式：自然语言</a:t>
            </a:r>
            <a:endParaRPr kumimoji="1" lang="en-US" altLang="zh-CN" sz="2160" dirty="0"/>
          </a:p>
        </p:txBody>
      </p:sp>
      <p:pic>
        <p:nvPicPr>
          <p:cNvPr id="21506" name="Picture 2" descr="Introduction to Adobe Photoshop software - Vietbay">
            <a:extLst>
              <a:ext uri="{FF2B5EF4-FFF2-40B4-BE49-F238E27FC236}">
                <a16:creationId xmlns:a16="http://schemas.microsoft.com/office/drawing/2014/main" id="{1321F9B1-C940-52F1-4389-592447E06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3553414"/>
            <a:ext cx="3802022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想成為電影主角？教你用一句話生成ChatGPT超夯「吉卜力風格」照| 社群/APP/網紅| udn科技玩家">
            <a:extLst>
              <a:ext uri="{FF2B5EF4-FFF2-40B4-BE49-F238E27FC236}">
                <a16:creationId xmlns:a16="http://schemas.microsoft.com/office/drawing/2014/main" id="{550BF65B-4B9B-9021-D50F-19A4701B1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41" y="3293726"/>
            <a:ext cx="2824133" cy="282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30224FA-60CA-5F5A-823A-7844AC1A13C9}"/>
              </a:ext>
            </a:extLst>
          </p:cNvPr>
          <p:cNvSpPr txBox="1"/>
          <p:nvPr/>
        </p:nvSpPr>
        <p:spPr>
          <a:xfrm>
            <a:off x="1861929" y="6282303"/>
            <a:ext cx="195649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160" dirty="0"/>
              <a:t>Photoshop</a:t>
            </a:r>
            <a:r>
              <a:rPr kumimoji="1" lang="zh-CN" altLang="en-US" sz="2160" dirty="0"/>
              <a:t>修图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84ACF0-5377-527A-5589-A50F1B7A6806}"/>
              </a:ext>
            </a:extLst>
          </p:cNvPr>
          <p:cNvSpPr txBox="1"/>
          <p:nvPr/>
        </p:nvSpPr>
        <p:spPr>
          <a:xfrm>
            <a:off x="4842837" y="6282303"/>
            <a:ext cx="287450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160" dirty="0"/>
              <a:t>LLM</a:t>
            </a:r>
            <a:r>
              <a:rPr kumimoji="1" lang="zh-CN" altLang="en-US" sz="2160" dirty="0"/>
              <a:t>生成吉卜力风格图</a:t>
            </a:r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D5906A2F-7ACE-D458-2050-1863C1AB2DD8}"/>
              </a:ext>
            </a:extLst>
          </p:cNvPr>
          <p:cNvSpPr/>
          <p:nvPr/>
        </p:nvSpPr>
        <p:spPr>
          <a:xfrm>
            <a:off x="4319237" y="1890028"/>
            <a:ext cx="541566" cy="18577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</p:spTree>
    <p:extLst>
      <p:ext uri="{BB962C8B-B14F-4D97-AF65-F5344CB8AC3E}">
        <p14:creationId xmlns:p14="http://schemas.microsoft.com/office/powerpoint/2010/main" val="132183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DE086-39E3-0578-6C6D-806E36C2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F302E-B746-F42E-5C4D-DCA96812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j-lt"/>
              </a:rPr>
              <a:t>从工具</a:t>
            </a:r>
            <a:r>
              <a:rPr kumimoji="1" lang="en-US" altLang="zh-CN" dirty="0">
                <a:latin typeface="+mj-lt"/>
              </a:rPr>
              <a:t> Tool </a:t>
            </a:r>
            <a:r>
              <a:rPr kumimoji="1" lang="zh-CN" altLang="en-US" dirty="0">
                <a:latin typeface="+mj-lt"/>
              </a:rPr>
              <a:t>到助手</a:t>
            </a:r>
            <a:r>
              <a:rPr kumimoji="1" lang="en-US" altLang="zh-CN" dirty="0">
                <a:latin typeface="+mj-lt"/>
              </a:rPr>
              <a:t> CoPilot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F6F647-DDFF-3F28-E962-2AB25CD2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5A1F6C-6ED4-D040-AEBC-D0E86155E75F}"/>
              </a:ext>
            </a:extLst>
          </p:cNvPr>
          <p:cNvSpPr txBox="1"/>
          <p:nvPr/>
        </p:nvSpPr>
        <p:spPr>
          <a:xfrm>
            <a:off x="8095649" y="1873627"/>
            <a:ext cx="3161635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Auto-Pilot (AI Agent)</a:t>
            </a:r>
          </a:p>
          <a:p>
            <a:r>
              <a:rPr kumimoji="1" lang="zh-CN" altLang="en-US" sz="2160" dirty="0"/>
              <a:t>能力特点：规划</a:t>
            </a:r>
            <a:r>
              <a:rPr kumimoji="1" lang="en-US" altLang="zh-CN" sz="2160" dirty="0"/>
              <a:t>+</a:t>
            </a:r>
            <a:r>
              <a:rPr kumimoji="1" lang="zh-CN" altLang="en-US" sz="2160" dirty="0"/>
              <a:t>工具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交互方式：高层需求</a:t>
            </a:r>
            <a:endParaRPr kumimoji="1" lang="en-US" altLang="zh-CN" sz="216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60C0E5-9363-2C1B-6E08-9457D92808CA}"/>
              </a:ext>
            </a:extLst>
          </p:cNvPr>
          <p:cNvSpPr/>
          <p:nvPr/>
        </p:nvSpPr>
        <p:spPr>
          <a:xfrm>
            <a:off x="4842837" y="1702214"/>
            <a:ext cx="2976199" cy="50192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35E685-E2C2-110A-3B3E-EB8DF6F20EA9}"/>
              </a:ext>
            </a:extLst>
          </p:cNvPr>
          <p:cNvSpPr txBox="1"/>
          <p:nvPr/>
        </p:nvSpPr>
        <p:spPr>
          <a:xfrm>
            <a:off x="1159715" y="1873627"/>
            <a:ext cx="3342582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Tool</a:t>
            </a:r>
            <a:endParaRPr kumimoji="1" lang="en-US" altLang="zh-CN" sz="2160" b="1" dirty="0"/>
          </a:p>
          <a:p>
            <a:r>
              <a:rPr kumimoji="1" lang="zh-CN" altLang="en-US" sz="2160" dirty="0"/>
              <a:t>能力特点：专用任务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交互方式：专业界面</a:t>
            </a:r>
            <a:r>
              <a:rPr kumimoji="1" lang="en-US" altLang="zh-CN" sz="2160" dirty="0"/>
              <a:t>/</a:t>
            </a:r>
            <a:r>
              <a:rPr kumimoji="1" lang="zh-CN" altLang="en-US" sz="2160" dirty="0"/>
              <a:t>指令</a:t>
            </a:r>
            <a:endParaRPr kumimoji="1" lang="en-US" altLang="zh-CN" sz="216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12FE8C-BB59-6FCA-FD5A-306C04F3112B}"/>
              </a:ext>
            </a:extLst>
          </p:cNvPr>
          <p:cNvSpPr txBox="1"/>
          <p:nvPr/>
        </p:nvSpPr>
        <p:spPr>
          <a:xfrm>
            <a:off x="4990665" y="1873627"/>
            <a:ext cx="2680542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Co-Pilot</a:t>
            </a:r>
            <a:endParaRPr kumimoji="1" lang="en-US" altLang="zh-CN" sz="2160" b="1" dirty="0"/>
          </a:p>
          <a:p>
            <a:r>
              <a:rPr kumimoji="1" lang="zh-CN" altLang="en-US" sz="2160" dirty="0"/>
              <a:t>能力特点：通用任务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交互方式：自然语言</a:t>
            </a:r>
            <a:endParaRPr kumimoji="1" lang="en-US" altLang="zh-CN" sz="2160" dirty="0"/>
          </a:p>
        </p:txBody>
      </p:sp>
      <p:pic>
        <p:nvPicPr>
          <p:cNvPr id="11" name="Picture 2" descr="Introduction to Adobe Photoshop software - Vietbay">
            <a:extLst>
              <a:ext uri="{FF2B5EF4-FFF2-40B4-BE49-F238E27FC236}">
                <a16:creationId xmlns:a16="http://schemas.microsoft.com/office/drawing/2014/main" id="{654F6613-B214-D189-8861-7D1F14890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3553414"/>
            <a:ext cx="3802022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想成為電影主角？教你用一句話生成ChatGPT超夯「吉卜力風格」照| 社群/APP/網紅| udn科技玩家">
            <a:extLst>
              <a:ext uri="{FF2B5EF4-FFF2-40B4-BE49-F238E27FC236}">
                <a16:creationId xmlns:a16="http://schemas.microsoft.com/office/drawing/2014/main" id="{E9BE2F8C-0EB8-EFAD-2727-6C99E4C70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41" y="3293726"/>
            <a:ext cx="2824133" cy="282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1894979-6FAE-7D05-1737-399F0055E72E}"/>
              </a:ext>
            </a:extLst>
          </p:cNvPr>
          <p:cNvSpPr txBox="1"/>
          <p:nvPr/>
        </p:nvSpPr>
        <p:spPr>
          <a:xfrm>
            <a:off x="1861929" y="6282303"/>
            <a:ext cx="195649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160" dirty="0"/>
              <a:t>Photoshop</a:t>
            </a:r>
            <a:r>
              <a:rPr kumimoji="1" lang="zh-CN" altLang="en-US" sz="2160" dirty="0"/>
              <a:t>修图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9C6A44-D0F7-4D57-C423-DE072457BAE2}"/>
              </a:ext>
            </a:extLst>
          </p:cNvPr>
          <p:cNvSpPr txBox="1"/>
          <p:nvPr/>
        </p:nvSpPr>
        <p:spPr>
          <a:xfrm>
            <a:off x="4842837" y="6282303"/>
            <a:ext cx="287450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160" dirty="0"/>
              <a:t>LLM</a:t>
            </a:r>
            <a:r>
              <a:rPr kumimoji="1" lang="zh-CN" altLang="en-US" sz="2160" dirty="0"/>
              <a:t>生成吉卜力风格图</a:t>
            </a:r>
          </a:p>
        </p:txBody>
      </p:sp>
      <p:sp>
        <p:nvSpPr>
          <p:cNvPr id="15" name="燕尾形箭头 14">
            <a:extLst>
              <a:ext uri="{FF2B5EF4-FFF2-40B4-BE49-F238E27FC236}">
                <a16:creationId xmlns:a16="http://schemas.microsoft.com/office/drawing/2014/main" id="{E3E6D702-C308-D338-FB8B-8B2776D91278}"/>
              </a:ext>
            </a:extLst>
          </p:cNvPr>
          <p:cNvSpPr/>
          <p:nvPr/>
        </p:nvSpPr>
        <p:spPr>
          <a:xfrm>
            <a:off x="4319237" y="1890028"/>
            <a:ext cx="541566" cy="18577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455B428-3AB2-0509-37B3-D07127F089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71" b="32360"/>
          <a:stretch/>
        </p:blipFill>
        <p:spPr>
          <a:xfrm>
            <a:off x="9171775" y="3554945"/>
            <a:ext cx="2146721" cy="26191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046599C-E20D-83DD-6FD6-F0476E866886}"/>
              </a:ext>
            </a:extLst>
          </p:cNvPr>
          <p:cNvSpPr txBox="1"/>
          <p:nvPr/>
        </p:nvSpPr>
        <p:spPr>
          <a:xfrm>
            <a:off x="8119305" y="3120171"/>
            <a:ext cx="3174642" cy="35086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80" dirty="0"/>
              <a:t>帮我设计一个论文的海报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CD836DD-ADB4-F1FF-7E4C-022D5C5167B9}"/>
              </a:ext>
            </a:extLst>
          </p:cNvPr>
          <p:cNvSpPr txBox="1"/>
          <p:nvPr/>
        </p:nvSpPr>
        <p:spPr>
          <a:xfrm>
            <a:off x="8057380" y="3671763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dirty="0"/>
              <a:t>论文阅读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6C476C-8EE2-B8C2-675F-FA87E628B006}"/>
              </a:ext>
            </a:extLst>
          </p:cNvPr>
          <p:cNvSpPr txBox="1"/>
          <p:nvPr/>
        </p:nvSpPr>
        <p:spPr>
          <a:xfrm>
            <a:off x="8057380" y="4132539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dirty="0"/>
              <a:t>信息提取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E06BFE-0F30-45AA-026D-AD1EF43B2F7B}"/>
              </a:ext>
            </a:extLst>
          </p:cNvPr>
          <p:cNvSpPr txBox="1"/>
          <p:nvPr/>
        </p:nvSpPr>
        <p:spPr>
          <a:xfrm>
            <a:off x="8057380" y="4628963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dirty="0"/>
              <a:t>海报设计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4F2138-CE58-C1EC-82FB-ED212FDE0E5C}"/>
              </a:ext>
            </a:extLst>
          </p:cNvPr>
          <p:cNvSpPr txBox="1"/>
          <p:nvPr/>
        </p:nvSpPr>
        <p:spPr>
          <a:xfrm>
            <a:off x="8057380" y="5143621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dirty="0"/>
              <a:t>图像生成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D56EF8-6B42-B620-45C1-C4BEBF016187}"/>
              </a:ext>
            </a:extLst>
          </p:cNvPr>
          <p:cNvSpPr txBox="1"/>
          <p:nvPr/>
        </p:nvSpPr>
        <p:spPr>
          <a:xfrm>
            <a:off x="8045839" y="5675496"/>
            <a:ext cx="92204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40" dirty="0"/>
              <a:t>海报发布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353440D-B457-57F8-E30A-D899157E00F7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8518404" y="3985695"/>
            <a:ext cx="0" cy="14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5A43AEA2-D0B4-DCB5-4224-D85DA3ED87E7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518404" y="4446471"/>
            <a:ext cx="0" cy="182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F03FF3B8-4E49-121A-D187-092569D40626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8518404" y="4942895"/>
            <a:ext cx="0" cy="200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7360A9-483E-A1BD-6088-AE2BB01D963F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8506863" y="5457553"/>
            <a:ext cx="11541" cy="21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燕尾形箭头 33">
            <a:extLst>
              <a:ext uri="{FF2B5EF4-FFF2-40B4-BE49-F238E27FC236}">
                <a16:creationId xmlns:a16="http://schemas.microsoft.com/office/drawing/2014/main" id="{B63ED873-8046-4BB9-2B7C-779E0AE7D0EE}"/>
              </a:ext>
            </a:extLst>
          </p:cNvPr>
          <p:cNvSpPr/>
          <p:nvPr/>
        </p:nvSpPr>
        <p:spPr>
          <a:xfrm>
            <a:off x="7604530" y="1883527"/>
            <a:ext cx="541566" cy="18577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</p:spTree>
    <p:extLst>
      <p:ext uri="{BB962C8B-B14F-4D97-AF65-F5344CB8AC3E}">
        <p14:creationId xmlns:p14="http://schemas.microsoft.com/office/powerpoint/2010/main" val="413089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1A0B-4135-5F19-6B50-4ADD360D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B05FA02-FC7D-46AA-9204-8A6178CDE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483547"/>
            <a:ext cx="9875520" cy="4872808"/>
          </a:xfrm>
        </p:spPr>
        <p:txBody>
          <a:bodyPr>
            <a:normAutofit/>
          </a:bodyPr>
          <a:lstStyle/>
          <a:p>
            <a:r>
              <a:rPr kumimoji="1" lang="zh-CN" altLang="en-US" sz="2640" dirty="0">
                <a:latin typeface="+mn-lt"/>
              </a:rPr>
              <a:t>“</a:t>
            </a:r>
            <a:r>
              <a:rPr kumimoji="1" lang="en-US" altLang="zh-CN" sz="2640" dirty="0">
                <a:latin typeface="+mn-lt"/>
              </a:rPr>
              <a:t>AI</a:t>
            </a:r>
            <a:r>
              <a:rPr kumimoji="1" lang="zh-CN" altLang="en-US" sz="2640" dirty="0">
                <a:latin typeface="+mn-lt"/>
              </a:rPr>
              <a:t> </a:t>
            </a:r>
            <a:r>
              <a:rPr kumimoji="1" lang="en-US" altLang="zh-CN" sz="2640" dirty="0">
                <a:latin typeface="+mn-lt"/>
              </a:rPr>
              <a:t>Agent </a:t>
            </a:r>
            <a:r>
              <a:rPr kumimoji="1" lang="zh-CN" altLang="en-US" sz="2640" dirty="0">
                <a:latin typeface="+mn-lt"/>
              </a:rPr>
              <a:t>是具备自主理解、规划、记忆和工具调用能力的系统，能自动化完成复杂人物”（</a:t>
            </a:r>
            <a:r>
              <a:rPr kumimoji="1" lang="en-US" altLang="zh-CN" sz="2640" dirty="0">
                <a:latin typeface="+mn-lt"/>
              </a:rPr>
              <a:t>OpenAI</a:t>
            </a:r>
            <a:r>
              <a:rPr kumimoji="1" lang="zh-CN" altLang="en-US" sz="2640" dirty="0">
                <a:latin typeface="+mn-lt"/>
              </a:rPr>
              <a:t>）</a:t>
            </a:r>
            <a:endParaRPr kumimoji="1" lang="en-US" altLang="zh-CN" sz="2640" dirty="0">
              <a:latin typeface="+mn-lt"/>
            </a:endParaRPr>
          </a:p>
          <a:p>
            <a:pPr lvl="1"/>
            <a:r>
              <a:rPr kumimoji="1" lang="zh-CN" altLang="en-US" sz="2160" dirty="0">
                <a:latin typeface="+mn-lt"/>
              </a:rPr>
              <a:t>哲学：拥有欲望、信念、意图以及采取行动能力的实体</a:t>
            </a:r>
            <a:endParaRPr kumimoji="1" lang="en-US" altLang="zh-CN" sz="2160" dirty="0">
              <a:latin typeface="+mn-lt"/>
            </a:endParaRPr>
          </a:p>
          <a:p>
            <a:pPr lvl="1"/>
            <a:r>
              <a:rPr kumimoji="1" lang="en-US" altLang="zh-CN" sz="2160" dirty="0"/>
              <a:t> AI</a:t>
            </a:r>
            <a:r>
              <a:rPr kumimoji="1" lang="zh-CN" altLang="en-US" sz="2160" dirty="0"/>
              <a:t>：具有自主性、反应性、交互性等特征的只能实体</a:t>
            </a:r>
            <a:endParaRPr kumimoji="1" lang="en-US" altLang="zh-CN" sz="2160" dirty="0">
              <a:latin typeface="+mn-lt"/>
            </a:endParaRPr>
          </a:p>
          <a:p>
            <a:pPr marL="548640" lvl="1" indent="0">
              <a:buNone/>
            </a:pPr>
            <a:endParaRPr kumimoji="1" lang="en-US" altLang="zh-CN" sz="2160" dirty="0">
              <a:latin typeface="+mn-lt"/>
            </a:endParaRPr>
          </a:p>
          <a:p>
            <a:pPr lvl="1"/>
            <a:endParaRPr kumimoji="1" lang="en-US" altLang="zh-CN" sz="2160" dirty="0">
              <a:latin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B05A33-13FF-D37A-8A01-188BA95F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j-lt"/>
              </a:rPr>
              <a:t>从工具</a:t>
            </a:r>
            <a:r>
              <a:rPr kumimoji="1" lang="en-US" altLang="zh-CN" dirty="0">
                <a:latin typeface="+mj-lt"/>
              </a:rPr>
              <a:t> Tool </a:t>
            </a:r>
            <a:r>
              <a:rPr kumimoji="1" lang="zh-CN" altLang="en-US" dirty="0">
                <a:latin typeface="+mj-lt"/>
              </a:rPr>
              <a:t>到助手</a:t>
            </a:r>
            <a:r>
              <a:rPr kumimoji="1" lang="en-US" altLang="zh-CN" dirty="0">
                <a:latin typeface="+mj-lt"/>
              </a:rPr>
              <a:t> CoPilot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E1C5B8-666E-E717-0AA2-52314F37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1F0542-2E6B-A042-9762-4320BB553C5A}"/>
              </a:ext>
            </a:extLst>
          </p:cNvPr>
          <p:cNvSpPr txBox="1"/>
          <p:nvPr/>
        </p:nvSpPr>
        <p:spPr>
          <a:xfrm>
            <a:off x="8305331" y="3601819"/>
            <a:ext cx="3161635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Auto-Pilot (AI Agent)</a:t>
            </a:r>
          </a:p>
          <a:p>
            <a:r>
              <a:rPr kumimoji="1" lang="zh-CN" altLang="en-US" sz="2160" dirty="0"/>
              <a:t>能力特点：规划</a:t>
            </a:r>
            <a:r>
              <a:rPr kumimoji="1" lang="en-US" altLang="zh-CN" sz="2160" dirty="0"/>
              <a:t>+</a:t>
            </a:r>
            <a:r>
              <a:rPr kumimoji="1" lang="zh-CN" altLang="en-US" sz="2160" dirty="0"/>
              <a:t>工具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交互方式：高层需求</a:t>
            </a:r>
            <a:endParaRPr kumimoji="1" lang="en-US" altLang="zh-CN" sz="216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760C03-EA7B-38C5-BA45-B7CBCD4B9320}"/>
              </a:ext>
            </a:extLst>
          </p:cNvPr>
          <p:cNvSpPr txBox="1"/>
          <p:nvPr/>
        </p:nvSpPr>
        <p:spPr>
          <a:xfrm>
            <a:off x="1132021" y="3601819"/>
            <a:ext cx="3342582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Tool</a:t>
            </a:r>
            <a:endParaRPr kumimoji="1" lang="en-US" altLang="zh-CN" sz="2160" b="1" dirty="0"/>
          </a:p>
          <a:p>
            <a:r>
              <a:rPr kumimoji="1" lang="zh-CN" altLang="en-US" sz="2160" dirty="0"/>
              <a:t>能力特点：专用任务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交互方式：专业界面</a:t>
            </a:r>
            <a:r>
              <a:rPr kumimoji="1" lang="en-US" altLang="zh-CN" sz="2160" dirty="0"/>
              <a:t>/</a:t>
            </a:r>
            <a:r>
              <a:rPr kumimoji="1" lang="zh-CN" altLang="en-US" sz="2160" dirty="0"/>
              <a:t>指令</a:t>
            </a:r>
            <a:endParaRPr kumimoji="1" lang="en-US" altLang="zh-CN" sz="216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3EBFB9-7BB7-C44B-431A-8D1D79352B0D}"/>
              </a:ext>
            </a:extLst>
          </p:cNvPr>
          <p:cNvSpPr txBox="1"/>
          <p:nvPr/>
        </p:nvSpPr>
        <p:spPr>
          <a:xfrm>
            <a:off x="4962970" y="3601819"/>
            <a:ext cx="2680542" cy="1126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/>
              <a:t>Co-Pilot</a:t>
            </a:r>
            <a:endParaRPr kumimoji="1" lang="en-US" altLang="zh-CN" sz="2160" b="1" dirty="0"/>
          </a:p>
          <a:p>
            <a:r>
              <a:rPr kumimoji="1" lang="zh-CN" altLang="en-US" sz="2160" dirty="0"/>
              <a:t>能力特点：通用任务</a:t>
            </a:r>
            <a:endParaRPr kumimoji="1" lang="en-US" altLang="zh-CN" sz="2160" dirty="0"/>
          </a:p>
          <a:p>
            <a:r>
              <a:rPr kumimoji="1" lang="zh-CN" altLang="en-US" sz="2160" dirty="0"/>
              <a:t>交互方式：自然语言</a:t>
            </a:r>
            <a:endParaRPr kumimoji="1" lang="en-US" altLang="zh-CN" sz="2160" dirty="0"/>
          </a:p>
        </p:txBody>
      </p:sp>
      <p:sp>
        <p:nvSpPr>
          <p:cNvPr id="12" name="燕尾形箭头 11">
            <a:extLst>
              <a:ext uri="{FF2B5EF4-FFF2-40B4-BE49-F238E27FC236}">
                <a16:creationId xmlns:a16="http://schemas.microsoft.com/office/drawing/2014/main" id="{566F0001-F46F-116A-785B-374ED5B2F331}"/>
              </a:ext>
            </a:extLst>
          </p:cNvPr>
          <p:cNvSpPr/>
          <p:nvPr/>
        </p:nvSpPr>
        <p:spPr>
          <a:xfrm>
            <a:off x="4232989" y="3988505"/>
            <a:ext cx="541566" cy="18577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13" name="燕尾形箭头 12">
            <a:extLst>
              <a:ext uri="{FF2B5EF4-FFF2-40B4-BE49-F238E27FC236}">
                <a16:creationId xmlns:a16="http://schemas.microsoft.com/office/drawing/2014/main" id="{B17E2B83-F3CD-C8F2-4201-61DF5BD058CF}"/>
              </a:ext>
            </a:extLst>
          </p:cNvPr>
          <p:cNvSpPr/>
          <p:nvPr/>
        </p:nvSpPr>
        <p:spPr>
          <a:xfrm>
            <a:off x="7577674" y="3988504"/>
            <a:ext cx="541566" cy="18577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C14A4DF-3D32-2E7C-F8F5-947D656E7376}"/>
              </a:ext>
            </a:extLst>
          </p:cNvPr>
          <p:cNvSpPr/>
          <p:nvPr/>
        </p:nvSpPr>
        <p:spPr>
          <a:xfrm>
            <a:off x="1429882" y="4897964"/>
            <a:ext cx="3709265" cy="1939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160" b="1" dirty="0">
                <a:solidFill>
                  <a:schemeClr val="tx1"/>
                </a:solidFill>
              </a:rPr>
              <a:t>Autonomous Agent</a:t>
            </a:r>
          </a:p>
          <a:p>
            <a:pPr algn="ctr"/>
            <a:r>
              <a:rPr kumimoji="1" lang="zh-CN" altLang="en-US" sz="2160" b="1" dirty="0">
                <a:solidFill>
                  <a:schemeClr val="tx1"/>
                </a:solidFill>
              </a:rPr>
              <a:t> </a:t>
            </a:r>
            <a:r>
              <a:rPr kumimoji="1" lang="en-US" altLang="zh-CN" sz="2160" b="1" dirty="0">
                <a:solidFill>
                  <a:schemeClr val="tx1"/>
                </a:solidFill>
              </a:rPr>
              <a:t>(</a:t>
            </a:r>
            <a:r>
              <a:rPr kumimoji="1" lang="zh-CN" altLang="en-US" sz="2160" b="1" dirty="0">
                <a:solidFill>
                  <a:schemeClr val="tx1"/>
                </a:solidFill>
              </a:rPr>
              <a:t>智能代理</a:t>
            </a:r>
            <a:r>
              <a:rPr kumimoji="1" lang="en-US" altLang="zh-CN" sz="216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kumimoji="1" lang="en-US" altLang="zh-CN" sz="2160" dirty="0">
                <a:solidFill>
                  <a:schemeClr val="tx1"/>
                </a:solidFill>
              </a:rPr>
              <a:t>[</a:t>
            </a:r>
            <a:r>
              <a:rPr kumimoji="1" lang="zh-CN" altLang="en-US" sz="2160" dirty="0">
                <a:solidFill>
                  <a:schemeClr val="tx1"/>
                </a:solidFill>
              </a:rPr>
              <a:t>被动</a:t>
            </a:r>
            <a:r>
              <a:rPr kumimoji="1" lang="en-US" altLang="zh-CN" sz="2160" dirty="0">
                <a:solidFill>
                  <a:schemeClr val="tx1"/>
                </a:solidFill>
              </a:rPr>
              <a:t>]</a:t>
            </a:r>
            <a:r>
              <a:rPr kumimoji="1" lang="zh-CN" altLang="en-US" sz="2160" dirty="0">
                <a:solidFill>
                  <a:schemeClr val="tx1"/>
                </a:solidFill>
              </a:rPr>
              <a:t> 人表达需求，</a:t>
            </a:r>
            <a:r>
              <a:rPr kumimoji="1" lang="en-US" altLang="zh-CN" sz="2160" dirty="0">
                <a:solidFill>
                  <a:schemeClr val="tx1"/>
                </a:solidFill>
              </a:rPr>
              <a:t>Agent </a:t>
            </a:r>
            <a:r>
              <a:rPr kumimoji="1" lang="zh-CN" altLang="en-US" sz="2160" dirty="0">
                <a:solidFill>
                  <a:schemeClr val="tx1"/>
                </a:solidFill>
              </a:rPr>
              <a:t>理解意图、规划决策、调用工具来完成任务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C5B665E-3A7B-49E6-2C93-975B0B510A28}"/>
              </a:ext>
            </a:extLst>
          </p:cNvPr>
          <p:cNvSpPr/>
          <p:nvPr/>
        </p:nvSpPr>
        <p:spPr>
          <a:xfrm>
            <a:off x="5805903" y="4903783"/>
            <a:ext cx="4005709" cy="1939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160" b="1" dirty="0">
                <a:solidFill>
                  <a:schemeClr val="tx1"/>
                </a:solidFill>
              </a:rPr>
              <a:t>Generative Agent</a:t>
            </a:r>
          </a:p>
          <a:p>
            <a:pPr algn="ctr"/>
            <a:r>
              <a:rPr kumimoji="1" lang="zh-CN" altLang="en-US" sz="2160" b="1" dirty="0">
                <a:solidFill>
                  <a:schemeClr val="tx1"/>
                </a:solidFill>
              </a:rPr>
              <a:t> </a:t>
            </a:r>
            <a:r>
              <a:rPr kumimoji="1" lang="en-US" altLang="zh-CN" sz="2160" b="1" dirty="0">
                <a:solidFill>
                  <a:schemeClr val="tx1"/>
                </a:solidFill>
              </a:rPr>
              <a:t>(</a:t>
            </a:r>
            <a:r>
              <a:rPr kumimoji="1" lang="zh-CN" altLang="en-US" sz="2160" b="1" dirty="0">
                <a:solidFill>
                  <a:schemeClr val="tx1"/>
                </a:solidFill>
              </a:rPr>
              <a:t>智能体</a:t>
            </a:r>
            <a:r>
              <a:rPr kumimoji="1" lang="en-US" altLang="zh-CN" sz="216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kumimoji="1" lang="en-US" altLang="zh-CN" sz="2160" dirty="0">
                <a:solidFill>
                  <a:schemeClr val="tx1"/>
                </a:solidFill>
              </a:rPr>
              <a:t>[</a:t>
            </a:r>
            <a:r>
              <a:rPr kumimoji="1" lang="zh-CN" altLang="en-US" sz="2160" dirty="0">
                <a:solidFill>
                  <a:schemeClr val="tx1"/>
                </a:solidFill>
              </a:rPr>
              <a:t>主动</a:t>
            </a:r>
            <a:r>
              <a:rPr kumimoji="1" lang="en-US" altLang="zh-CN" sz="2160" dirty="0">
                <a:solidFill>
                  <a:schemeClr val="tx1"/>
                </a:solidFill>
              </a:rPr>
              <a:t>]</a:t>
            </a:r>
            <a:r>
              <a:rPr kumimoji="1" lang="zh-CN" altLang="en-US" sz="2160" dirty="0">
                <a:solidFill>
                  <a:schemeClr val="tx1"/>
                </a:solidFill>
              </a:rPr>
              <a:t> 具备类人格特征，是参与社会的新的个体，涉及新的社会结构和社会参与的契约</a:t>
            </a: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C049F41-E3B0-FE75-0293-4C853417A105}"/>
              </a:ext>
            </a:extLst>
          </p:cNvPr>
          <p:cNvCxnSpPr/>
          <p:nvPr/>
        </p:nvCxnSpPr>
        <p:spPr>
          <a:xfrm flipH="1">
            <a:off x="1689111" y="4465915"/>
            <a:ext cx="6579556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5823CD95-9DE7-0D94-D6A3-73B941DEB3F2}"/>
              </a:ext>
            </a:extLst>
          </p:cNvPr>
          <p:cNvCxnSpPr>
            <a:cxnSpLocks/>
            <a:stCxn id="8" idx="2"/>
            <a:endCxn id="15" idx="3"/>
          </p:cNvCxnSpPr>
          <p:nvPr/>
        </p:nvCxnSpPr>
        <p:spPr>
          <a:xfrm flipH="1">
            <a:off x="9811612" y="4728281"/>
            <a:ext cx="74537" cy="1145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5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F94A8-9107-77D5-F83C-7C6F2562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E2A08-147E-728B-6DFD-AC132733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j-lt"/>
              </a:rPr>
              <a:t>养龙虾（</a:t>
            </a:r>
            <a:r>
              <a:rPr kumimoji="1" lang="en-US" altLang="zh-CN" b="1" dirty="0" err="1">
                <a:latin typeface="+mj-lt"/>
              </a:rPr>
              <a:t>OpenClaw</a:t>
            </a:r>
            <a:r>
              <a:rPr kumimoji="1" lang="zh-CN" altLang="en-US" dirty="0">
                <a:latin typeface="+mj-lt"/>
              </a:rPr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93B38F-A4D3-3C04-9D95-8072C3A0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401591-15F2-F6BB-FC26-E78775D70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智能体真能具备类人特征吗？春节期间爆火的小龙虾</a:t>
            </a:r>
            <a:endParaRPr lang="en-US" altLang="zh-CN" dirty="0"/>
          </a:p>
          <a:p>
            <a:pPr lvl="1"/>
            <a:r>
              <a:rPr lang="en-US" altLang="zh-CN" dirty="0" err="1"/>
              <a:t>OpenClaw</a:t>
            </a:r>
            <a:r>
              <a:rPr lang="en-US" altLang="zh-CN" dirty="0"/>
              <a:t> </a:t>
            </a:r>
            <a:r>
              <a:rPr lang="zh-CN" altLang="en-US" dirty="0"/>
              <a:t>是一个通用智能体系统，因为</a:t>
            </a:r>
            <a:r>
              <a:rPr lang="en-US" altLang="zh-CN" dirty="0"/>
              <a:t> logo </a:t>
            </a:r>
            <a:r>
              <a:rPr lang="zh-CN" altLang="en-US" dirty="0"/>
              <a:t>是一个龙虾，所以被叫做小龙虾</a:t>
            </a: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C8B16F41-4552-3FD8-F63D-1E3B50DE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639" y="2812260"/>
            <a:ext cx="479679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B0B720-59A9-DB33-B6AE-13FF42052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50" y="2384451"/>
            <a:ext cx="4215484" cy="42093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51E6BD9-9331-56C9-AFA3-BC31CB214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548" y="2300880"/>
            <a:ext cx="9326880" cy="79257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CFF86B0-FD2D-2DA3-4ADA-6FEBAA7EA992}"/>
              </a:ext>
            </a:extLst>
          </p:cNvPr>
          <p:cNvSpPr/>
          <p:nvPr/>
        </p:nvSpPr>
        <p:spPr>
          <a:xfrm>
            <a:off x="8387159" y="2300880"/>
            <a:ext cx="2851270" cy="7925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</p:spTree>
    <p:extLst>
      <p:ext uri="{BB962C8B-B14F-4D97-AF65-F5344CB8AC3E}">
        <p14:creationId xmlns:p14="http://schemas.microsoft.com/office/powerpoint/2010/main" val="136601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9973-2BE5-3D73-4984-CCAF8BF0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B154-C69D-41A6-ED68-5F2958BA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计算机编程实践（暑期课程）的主要任务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0A31-EBF6-B782-91ED-3A5A1C619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编程实践：对于编程能力的实践</a:t>
            </a:r>
            <a:endParaRPr lang="en-US" altLang="zh-CN" dirty="0"/>
          </a:p>
          <a:p>
            <a:r>
              <a:rPr lang="zh-CN" altLang="en-US" dirty="0"/>
              <a:t>编程能力：</a:t>
            </a:r>
            <a:endParaRPr lang="en-US" altLang="zh-CN" dirty="0"/>
          </a:p>
          <a:p>
            <a:pPr lvl="1"/>
            <a:r>
              <a:rPr lang="zh-CN" altLang="en-US" dirty="0"/>
              <a:t>基础能力：掌握一门编程语言（能编程）、数据结构课程、一些基础的开发经历（春季学期的</a:t>
            </a:r>
            <a:r>
              <a:rPr lang="en-US" altLang="zh-CN" dirty="0"/>
              <a:t> Lab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rgbClr val="C00000"/>
                </a:solidFill>
              </a:rPr>
              <a:t>➡️</a:t>
            </a:r>
            <a:r>
              <a:rPr lang="zh-CN" altLang="en-US" dirty="0">
                <a:solidFill>
                  <a:srgbClr val="C00000"/>
                </a:solidFill>
              </a:rPr>
              <a:t> 这些是大家都已经掌握的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08299-4FCF-BD93-EE38-E688CDF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1631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5A8A-9E59-E236-5BF1-A3EA127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4D6A-AF6A-53FD-4B4F-9790103C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计算机编程实践（暑期课程）的主要任务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6EAB9-B5DA-B2DC-8633-F00997E11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编程实践：对于编程能力的实践</a:t>
            </a:r>
            <a:endParaRPr lang="en-US" altLang="zh-CN" dirty="0"/>
          </a:p>
          <a:p>
            <a:r>
              <a:rPr lang="zh-CN" altLang="en-US" dirty="0"/>
              <a:t>编程能力：</a:t>
            </a:r>
            <a:endParaRPr lang="en-US" altLang="zh-CN" dirty="0"/>
          </a:p>
          <a:p>
            <a:pPr lvl="1"/>
            <a:r>
              <a:rPr lang="zh-CN" altLang="en-US" dirty="0"/>
              <a:t>基础能力：掌握一门编程语言（能编程）、数据结构课程、一些基础的开发经历（春季学期的</a:t>
            </a:r>
            <a:r>
              <a:rPr lang="en-US" altLang="zh-CN" dirty="0"/>
              <a:t> Lab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rgbClr val="C00000"/>
                </a:solidFill>
              </a:rPr>
              <a:t>➡️</a:t>
            </a:r>
            <a:r>
              <a:rPr lang="zh-CN" altLang="en-US" dirty="0">
                <a:solidFill>
                  <a:srgbClr val="C00000"/>
                </a:solidFill>
              </a:rPr>
              <a:t> 这些是大家都已经掌握的</a:t>
            </a:r>
            <a:endParaRPr lang="en-US" altLang="zh-CN" dirty="0"/>
          </a:p>
          <a:p>
            <a:pPr lvl="1"/>
            <a:r>
              <a:rPr lang="zh-CN" altLang="en-US" dirty="0"/>
              <a:t>新的变化：</a:t>
            </a:r>
            <a:r>
              <a:rPr lang="en-US" altLang="zh-CN" dirty="0"/>
              <a:t>AI/LLM </a:t>
            </a:r>
            <a:r>
              <a:rPr lang="zh-CN" altLang="en-US" dirty="0"/>
              <a:t>也能写代码，而且很多时候写的还挺好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AA48A-231D-1B77-CB37-0F68BCB4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pic>
        <p:nvPicPr>
          <p:cNvPr id="5" name="Picture 2" descr="Download · Cursor">
            <a:extLst>
              <a:ext uri="{FF2B5EF4-FFF2-40B4-BE49-F238E27FC236}">
                <a16:creationId xmlns:a16="http://schemas.microsoft.com/office/drawing/2014/main" id="{742AD7B5-B55F-6BFC-FF34-127F05516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500" y="4637282"/>
            <a:ext cx="726207" cy="726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B1E7E-3BA9-4BE9-A4B4-CECED4292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118" y="4695415"/>
            <a:ext cx="609962" cy="593086"/>
          </a:xfrm>
          <a:prstGeom prst="rect">
            <a:avLst/>
          </a:prstGeom>
        </p:spPr>
      </p:pic>
      <p:pic>
        <p:nvPicPr>
          <p:cNvPr id="8" name="Picture 4" descr="Qoder (@qoder_ai_ide) / X">
            <a:extLst>
              <a:ext uri="{FF2B5EF4-FFF2-40B4-BE49-F238E27FC236}">
                <a16:creationId xmlns:a16="http://schemas.microsoft.com/office/drawing/2014/main" id="{7A188BD6-AE35-9924-2255-A8DD5ABDD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4691922"/>
            <a:ext cx="608856" cy="60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9E15DC-513D-81A6-8FCF-64F3F56C7CE5}"/>
              </a:ext>
            </a:extLst>
          </p:cNvPr>
          <p:cNvSpPr txBox="1"/>
          <p:nvPr/>
        </p:nvSpPr>
        <p:spPr>
          <a:xfrm>
            <a:off x="6814974" y="5363489"/>
            <a:ext cx="792088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/>
            </a:pPr>
            <a:r>
              <a:rPr lang="en-US" altLang="zh-CN" sz="1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 panose="020B0503020204020204" pitchFamily="34" charset="-122"/>
              </a:rPr>
              <a:t>Cursor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0B948E-DA05-4505-B1F6-D56966ADE6C9}"/>
              </a:ext>
            </a:extLst>
          </p:cNvPr>
          <p:cNvSpPr txBox="1"/>
          <p:nvPr/>
        </p:nvSpPr>
        <p:spPr>
          <a:xfrm>
            <a:off x="8036822" y="5363387"/>
            <a:ext cx="792088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defRPr/>
            </a:pPr>
            <a:r>
              <a:rPr lang="en-US" altLang="zh-CN" sz="1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 panose="020B0503020204020204" pitchFamily="34" charset="-122"/>
              </a:rPr>
              <a:t>Trae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F503A1-A43E-C384-CE97-C7AC231EC662}"/>
              </a:ext>
            </a:extLst>
          </p:cNvPr>
          <p:cNvSpPr txBox="1"/>
          <p:nvPr/>
        </p:nvSpPr>
        <p:spPr>
          <a:xfrm>
            <a:off x="9244744" y="5363386"/>
            <a:ext cx="792088" cy="3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defRPr/>
            </a:pPr>
            <a:r>
              <a:rPr lang="en-US" altLang="zh-CN" sz="1400" b="1" dirty="0" err="1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 panose="020B0503020204020204" pitchFamily="34" charset="-122"/>
              </a:rPr>
              <a:t>Qoder</a:t>
            </a:r>
            <a:endParaRPr lang="en-US" altLang="zh-CN" sz="1400" b="1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12" name="Picture 11" descr="A graph of bar graph&#10;&#10;AI-generated content may be incorrect.">
            <a:extLst>
              <a:ext uri="{FF2B5EF4-FFF2-40B4-BE49-F238E27FC236}">
                <a16:creationId xmlns:a16="http://schemas.microsoft.com/office/drawing/2014/main" id="{A7D4EC0E-A070-EFAF-B341-0B209B8E2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212" y="3407850"/>
            <a:ext cx="4032448" cy="2260079"/>
          </a:xfrm>
          <a:prstGeom prst="rect">
            <a:avLst/>
          </a:prstGeom>
        </p:spPr>
      </p:pic>
      <p:sp>
        <p:nvSpPr>
          <p:cNvPr id="13" name="TextBox 15">
            <a:extLst>
              <a:ext uri="{FF2B5EF4-FFF2-40B4-BE49-F238E27FC236}">
                <a16:creationId xmlns:a16="http://schemas.microsoft.com/office/drawing/2014/main" id="{0CBE9B1B-AE79-7367-480B-6837E2F3749E}"/>
              </a:ext>
            </a:extLst>
          </p:cNvPr>
          <p:cNvSpPr txBox="1"/>
          <p:nvPr/>
        </p:nvSpPr>
        <p:spPr>
          <a:xfrm>
            <a:off x="6638946" y="3661568"/>
            <a:ext cx="3397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Deepseek-R1</a:t>
            </a:r>
            <a:r>
              <a:rPr lang="zh-CN" altLang="en-US" dirty="0"/>
              <a:t>在</a:t>
            </a:r>
            <a:r>
              <a:rPr lang="en-US" altLang="zh-CN" dirty="0" err="1"/>
              <a:t>Codeforces</a:t>
            </a:r>
            <a:r>
              <a:rPr lang="zh-CN" altLang="en-US" dirty="0"/>
              <a:t>中</a:t>
            </a:r>
            <a:endParaRPr lang="en-US" altLang="zh-CN" dirty="0"/>
          </a:p>
          <a:p>
            <a:pPr algn="ctr"/>
            <a:r>
              <a:rPr lang="zh-CN" altLang="en-US" dirty="0"/>
              <a:t>战胜了</a:t>
            </a:r>
            <a:r>
              <a:rPr lang="en-US" altLang="zh-CN" b="1" dirty="0"/>
              <a:t>96.3%</a:t>
            </a:r>
            <a:r>
              <a:rPr lang="zh-CN" altLang="en-US" dirty="0"/>
              <a:t>的人类选手</a:t>
            </a:r>
            <a:endParaRPr lang="en-US" dirty="0"/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B28DE1D3-968E-0ADB-F513-658334907E66}"/>
              </a:ext>
            </a:extLst>
          </p:cNvPr>
          <p:cNvSpPr txBox="1"/>
          <p:nvPr/>
        </p:nvSpPr>
        <p:spPr>
          <a:xfrm>
            <a:off x="-44345" y="4367827"/>
            <a:ext cx="1693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LLM</a:t>
            </a:r>
            <a:r>
              <a:rPr lang="zh-CN" altLang="en-US" b="1" dirty="0"/>
              <a:t>具有编程竞赛金牌实力</a:t>
            </a:r>
            <a:endParaRPr lang="en-US" b="1" dirty="0"/>
          </a:p>
        </p:txBody>
      </p:sp>
      <p:pic>
        <p:nvPicPr>
          <p:cNvPr id="15" name="Picture 18">
            <a:extLst>
              <a:ext uri="{FF2B5EF4-FFF2-40B4-BE49-F238E27FC236}">
                <a16:creationId xmlns:a16="http://schemas.microsoft.com/office/drawing/2014/main" id="{150B7E75-2B8F-D7D2-E3B8-7F98BEDDA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854" y="5667929"/>
            <a:ext cx="4750070" cy="11577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TextBox 19">
            <a:extLst>
              <a:ext uri="{FF2B5EF4-FFF2-40B4-BE49-F238E27FC236}">
                <a16:creationId xmlns:a16="http://schemas.microsoft.com/office/drawing/2014/main" id="{A3A0E6C4-8900-0B31-CF10-C49A47D3186E}"/>
              </a:ext>
            </a:extLst>
          </p:cNvPr>
          <p:cNvSpPr txBox="1"/>
          <p:nvPr/>
        </p:nvSpPr>
        <p:spPr>
          <a:xfrm>
            <a:off x="6898274" y="5905029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AI Coding</a:t>
            </a:r>
            <a:r>
              <a:rPr lang="zh-CN" altLang="en-US" b="1" dirty="0"/>
              <a:t>工具层出不穷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959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7782-5ED7-9755-A063-5E99DF0C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9EB9-5D1E-2B8E-1E20-CC7DC2B9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计算机编程实践（暑期课程）的主要任务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DA13-5435-9FD8-DAF0-4CAC6596B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编程实践：对于编程能力的实践</a:t>
            </a:r>
            <a:endParaRPr lang="en-US" altLang="zh-CN" dirty="0"/>
          </a:p>
          <a:p>
            <a:r>
              <a:rPr lang="zh-CN" altLang="en-US" dirty="0"/>
              <a:t>编程能力：</a:t>
            </a:r>
            <a:endParaRPr lang="en-US" altLang="zh-CN" dirty="0"/>
          </a:p>
          <a:p>
            <a:pPr lvl="1"/>
            <a:r>
              <a:rPr lang="zh-CN" altLang="en-US" dirty="0"/>
              <a:t>基础能力：掌握一门编程语言（能编程）、数据结构课程、一些基础的开发经历（春季学期的</a:t>
            </a:r>
            <a:r>
              <a:rPr lang="en-US" altLang="zh-CN" dirty="0"/>
              <a:t> Lab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rgbClr val="C00000"/>
                </a:solidFill>
              </a:rPr>
              <a:t>➡️</a:t>
            </a:r>
            <a:r>
              <a:rPr lang="zh-CN" altLang="en-US" dirty="0">
                <a:solidFill>
                  <a:srgbClr val="C00000"/>
                </a:solidFill>
              </a:rPr>
              <a:t> 这些是大家都已经掌握的</a:t>
            </a:r>
            <a:endParaRPr lang="en-US" altLang="zh-CN" dirty="0"/>
          </a:p>
          <a:p>
            <a:pPr lvl="1"/>
            <a:r>
              <a:rPr lang="zh-CN" altLang="en-US" dirty="0"/>
              <a:t>新的变化：</a:t>
            </a:r>
            <a:r>
              <a:rPr lang="en-US" altLang="zh-CN" dirty="0"/>
              <a:t>AI/LLM </a:t>
            </a:r>
            <a:r>
              <a:rPr lang="zh-CN" altLang="en-US" dirty="0"/>
              <a:t>也能写代码，而且很多时候写的还挺好</a:t>
            </a:r>
            <a:endParaRPr lang="en-US" altLang="zh-CN" dirty="0"/>
          </a:p>
          <a:p>
            <a:pPr lvl="1"/>
            <a:r>
              <a:rPr lang="zh-CN" altLang="en-US" dirty="0"/>
              <a:t>本课程中的要求：</a:t>
            </a:r>
            <a:r>
              <a:rPr lang="zh-CN" altLang="en-US" dirty="0">
                <a:solidFill>
                  <a:srgbClr val="C00000"/>
                </a:solidFill>
              </a:rPr>
              <a:t>鼓励</a:t>
            </a:r>
            <a:r>
              <a:rPr lang="zh-CN" altLang="en-US" dirty="0"/>
              <a:t>大家在基础能力的基础上，充分使用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AI/LLM</a:t>
            </a:r>
            <a:r>
              <a:rPr lang="en-US" altLang="zh-CN" dirty="0"/>
              <a:t> </a:t>
            </a:r>
            <a:r>
              <a:rPr lang="zh-CN" altLang="en-US" dirty="0"/>
              <a:t>来进行实践！</a:t>
            </a:r>
            <a:endParaRPr lang="en-US" altLang="zh-CN" dirty="0"/>
          </a:p>
          <a:p>
            <a:pPr lvl="2"/>
            <a:r>
              <a:rPr lang="zh-CN" altLang="en-US" dirty="0"/>
              <a:t>其实也不用鼓励，大家肯定都在用了，但是这门课希望更加正面地引导大家去用，让大家能够知道怎么用得更好，怎么能够利用</a:t>
            </a:r>
            <a:r>
              <a:rPr lang="en-US" altLang="zh-CN" dirty="0"/>
              <a:t> AI/LLM </a:t>
            </a:r>
            <a:r>
              <a:rPr lang="zh-CN" altLang="en-US" dirty="0"/>
              <a:t>来完成有意思的项目</a:t>
            </a:r>
            <a:endParaRPr lang="en-US" altLang="zh-CN" dirty="0"/>
          </a:p>
          <a:p>
            <a:r>
              <a:rPr lang="zh-CN" altLang="en-US" dirty="0"/>
              <a:t>实践什么？</a:t>
            </a:r>
            <a:endParaRPr lang="en-US" altLang="zh-CN" dirty="0"/>
          </a:p>
          <a:p>
            <a:pPr lvl="1"/>
            <a:r>
              <a:rPr lang="zh-CN" altLang="en-US" dirty="0"/>
              <a:t>过往已经</a:t>
            </a:r>
            <a:r>
              <a:rPr lang="en-US" altLang="zh-CN" dirty="0"/>
              <a:t> well-designed </a:t>
            </a:r>
            <a:r>
              <a:rPr lang="zh-CN" altLang="en-US" dirty="0"/>
              <a:t>的项目？</a:t>
            </a:r>
            <a:r>
              <a:rPr lang="en-US" altLang="zh-CN" dirty="0"/>
              <a:t>SEP </a:t>
            </a:r>
            <a:r>
              <a:rPr lang="zh-CN" altLang="en-US" dirty="0"/>
              <a:t>的</a:t>
            </a:r>
            <a:r>
              <a:rPr lang="en-US" altLang="zh-CN" dirty="0"/>
              <a:t> </a:t>
            </a:r>
            <a:r>
              <a:rPr lang="en-US" altLang="zh-CN" dirty="0" err="1"/>
              <a:t>Qlink</a:t>
            </a:r>
            <a:r>
              <a:rPr lang="en-US" altLang="zh-CN" dirty="0"/>
              <a:t>/</a:t>
            </a:r>
            <a:r>
              <a:rPr lang="en-US" altLang="zh-CN" dirty="0" err="1"/>
              <a:t>Qbasic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其他新设计的传统项目？</a:t>
            </a:r>
            <a:r>
              <a:rPr lang="en-US" altLang="zh-CN" dirty="0"/>
              <a:t>UI</a:t>
            </a:r>
            <a:r>
              <a:rPr lang="zh-CN" altLang="en-US" dirty="0"/>
              <a:t>、</a:t>
            </a:r>
            <a:r>
              <a:rPr lang="en-US" altLang="zh-CN" dirty="0"/>
              <a:t>Web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F1DC2-B780-5D99-101A-88A0BD70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AC50BD-F778-6838-5AC4-F592265280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2016" y1="26689" x2="12016" y2="26689"/>
                        <a14:foregroundMark x1="15116" y1="31081" x2="15116" y2="31081"/>
                        <a14:foregroundMark x1="20930" y1="29054" x2="20930" y2="29054"/>
                        <a14:foregroundMark x1="89922" y1="47297" x2="89922" y2="472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0336" y="4727575"/>
            <a:ext cx="16383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4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5094-8593-41CD-67FA-B988ED523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1AE1-8BD0-3C37-937A-66851B19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计算机编程实践（暑期课程）的主要任务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1D559-E082-3B05-D007-9F90A364E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计算机编程实践：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项目</a:t>
            </a:r>
            <a:endParaRPr lang="en-US" altLang="zh-CN" dirty="0"/>
          </a:p>
          <a:p>
            <a:pPr lvl="1"/>
            <a:r>
              <a:rPr lang="zh-CN" altLang="en-US" b="1" dirty="0"/>
              <a:t>简单来说</a:t>
            </a:r>
            <a:r>
              <a:rPr lang="zh-CN" altLang="en-US" dirty="0"/>
              <a:t>：不是去用龙虾，不是去养龙虾，</a:t>
            </a:r>
            <a:r>
              <a:rPr lang="zh-CN" altLang="en-US" dirty="0">
                <a:solidFill>
                  <a:srgbClr val="C00000"/>
                </a:solidFill>
              </a:rPr>
              <a:t>每个人需要自己实现一个类龙虾的</a:t>
            </a:r>
            <a:r>
              <a:rPr lang="en-US" altLang="zh-CN" dirty="0">
                <a:solidFill>
                  <a:srgbClr val="C00000"/>
                </a:solidFill>
              </a:rPr>
              <a:t>Agent </a:t>
            </a:r>
            <a:r>
              <a:rPr lang="zh-CN" altLang="en-US" dirty="0">
                <a:solidFill>
                  <a:srgbClr val="C00000"/>
                </a:solidFill>
              </a:rPr>
              <a:t>系统</a:t>
            </a:r>
            <a:r>
              <a:rPr lang="zh-CN" altLang="en-US" dirty="0"/>
              <a:t>，我们叫做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endParaRPr lang="en-US" altLang="zh-CN" dirty="0"/>
          </a:p>
          <a:p>
            <a:pPr lvl="1"/>
            <a:r>
              <a:rPr lang="zh-CN" altLang="en-US" dirty="0"/>
              <a:t>需要支持：</a:t>
            </a:r>
            <a:r>
              <a:rPr lang="en-US" altLang="zh-CN" dirty="0"/>
              <a:t>API</a:t>
            </a:r>
            <a:r>
              <a:rPr lang="zh-CN" altLang="en-US" dirty="0"/>
              <a:t>调用、会话管理、智能体记忆与</a:t>
            </a:r>
            <a:r>
              <a:rPr lang="en-US" altLang="zh-CN" dirty="0"/>
              <a:t> SOUL</a:t>
            </a:r>
            <a:r>
              <a:rPr lang="zh-CN" altLang="en-US" dirty="0"/>
              <a:t>（灵魂）、工具调用、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Skill </a:t>
            </a:r>
            <a:r>
              <a:rPr lang="zh-CN" altLang="en-US" dirty="0"/>
              <a:t>等一个通用智能体需要支持的任务</a:t>
            </a:r>
            <a:endParaRPr lang="en-US" altLang="zh-CN" dirty="0"/>
          </a:p>
          <a:p>
            <a:pPr lvl="1"/>
            <a:r>
              <a:rPr lang="zh-CN" altLang="en-US" dirty="0"/>
              <a:t>最终大家会从头完成一个</a:t>
            </a:r>
            <a:r>
              <a:rPr lang="en-US" altLang="zh-CN" dirty="0"/>
              <a:t> </a:t>
            </a:r>
            <a:r>
              <a:rPr lang="en-US" altLang="zh-CN" dirty="0" err="1"/>
              <a:t>OpenClaw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 mini </a:t>
            </a:r>
            <a:r>
              <a:rPr lang="zh-CN" altLang="en-US" dirty="0"/>
              <a:t>版本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详细的要求：已经发布在了</a:t>
            </a:r>
            <a:r>
              <a:rPr lang="en-US" altLang="zh-CN" dirty="0">
                <a:solidFill>
                  <a:srgbClr val="C00000"/>
                </a:solidFill>
              </a:rPr>
              <a:t> OC </a:t>
            </a:r>
            <a:r>
              <a:rPr lang="zh-CN" altLang="en-US" dirty="0">
                <a:solidFill>
                  <a:srgbClr val="C00000"/>
                </a:solidFill>
              </a:rPr>
              <a:t>上面，大家今天开始就要做起来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课程的定位：实践课（大家做项目为主）</a:t>
            </a:r>
            <a:endParaRPr lang="en-US" altLang="zh-CN" dirty="0"/>
          </a:p>
          <a:p>
            <a:pPr lvl="1"/>
            <a:r>
              <a:rPr lang="zh-CN" altLang="en-US" dirty="0"/>
              <a:t>授课的部分主要在前期，大家上手后以大家实践为主，助教们会辅助答疑</a:t>
            </a:r>
            <a:endParaRPr lang="en-US" altLang="zh-CN" dirty="0"/>
          </a:p>
          <a:p>
            <a:pPr lvl="1"/>
            <a:r>
              <a:rPr lang="zh-CN" altLang="en-US" dirty="0"/>
              <a:t>评分：上学期的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 Lab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本学期项目答辩分数 </a:t>
            </a:r>
            <a:r>
              <a:rPr lang="en-US" altLang="zh-CN" dirty="0"/>
              <a:t>+</a:t>
            </a:r>
            <a:r>
              <a:rPr lang="zh-CN" altLang="en-US" dirty="0"/>
              <a:t> 考勤</a:t>
            </a:r>
            <a:r>
              <a:rPr lang="en-US" altLang="zh-CN" dirty="0"/>
              <a:t>/</a:t>
            </a:r>
            <a:r>
              <a:rPr lang="zh-CN" altLang="en-US" dirty="0"/>
              <a:t>讨论</a:t>
            </a:r>
            <a:endParaRPr lang="en-US" altLang="zh-CN" dirty="0"/>
          </a:p>
          <a:p>
            <a:pPr lvl="1"/>
            <a:r>
              <a:rPr lang="zh-CN" altLang="en-US" b="1" dirty="0"/>
              <a:t>重要说明：</a:t>
            </a:r>
            <a:r>
              <a:rPr lang="zh-CN" altLang="en-US" dirty="0"/>
              <a:t>如果有同学没有参与上学期的春季学期的实践（首次加入课程的），小学期结束前需要补完 </a:t>
            </a:r>
            <a:r>
              <a:rPr lang="en-US" altLang="zh-CN" dirty="0"/>
              <a:t>3 </a:t>
            </a:r>
            <a:r>
              <a:rPr lang="zh-CN" altLang="en-US" dirty="0"/>
              <a:t>个</a:t>
            </a:r>
            <a:r>
              <a:rPr lang="en-US" altLang="zh-CN" dirty="0"/>
              <a:t> Lab </a:t>
            </a:r>
            <a:r>
              <a:rPr lang="zh-CN" altLang="en-US" dirty="0"/>
              <a:t>的作业练习</a:t>
            </a:r>
            <a:endParaRPr lang="en-US" altLang="zh-CN" dirty="0"/>
          </a:p>
          <a:p>
            <a:pPr lvl="1"/>
            <a:r>
              <a:rPr lang="zh-CN" altLang="en-US" b="1" dirty="0"/>
              <a:t>可以用</a:t>
            </a:r>
            <a:r>
              <a:rPr lang="en-US" altLang="zh-CN" b="1" dirty="0"/>
              <a:t> AI </a:t>
            </a:r>
            <a:r>
              <a:rPr lang="zh-CN" altLang="en-US" b="1" dirty="0"/>
              <a:t>工具，但是严禁抄袭！</a:t>
            </a:r>
            <a:endParaRPr lang="en-US" altLang="zh-CN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13503-3E4A-DB6C-5AEF-B84B994A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014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B4EA-724A-6023-17D2-3776314E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A231-3028-17E3-71E4-DABCBBAF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计算机编程实践（暑期课程）的主要任务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85EE0-D709-E11B-79CF-F47ABC7E0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/>
              <a:t>老师，我连什么是小龙虾智能体都不知道，我完全无从下手呀</a:t>
            </a:r>
            <a:r>
              <a:rPr lang="en-US" altLang="zh-CN" sz="4000" dirty="0"/>
              <a:t>…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/>
              <a:t>不要担心！虽然是实践课程，而且答辩的形式偏开放，但是课程中和项目的说明文档中，我们会将</a:t>
            </a:r>
            <a:r>
              <a:rPr lang="en-US" altLang="zh-CN" sz="4000" dirty="0"/>
              <a:t> </a:t>
            </a:r>
            <a:r>
              <a:rPr lang="en-US" altLang="zh-CN" sz="4000" dirty="0" err="1"/>
              <a:t>SJTUClaw</a:t>
            </a:r>
            <a:r>
              <a:rPr lang="en-US" altLang="zh-CN" sz="4000" dirty="0"/>
              <a:t> </a:t>
            </a:r>
            <a:r>
              <a:rPr lang="zh-CN" altLang="en-US" sz="4000" dirty="0"/>
              <a:t>项目拆解成一步一步的形式</a:t>
            </a:r>
            <a:endParaRPr lang="en-US" altLang="zh-CN" sz="4000" dirty="0"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/>
              <a:t>最简单的办法，大家严格按照课程</a:t>
            </a:r>
            <a:r>
              <a:rPr lang="en-US" altLang="zh-CN" sz="4000" dirty="0"/>
              <a:t>/</a:t>
            </a:r>
            <a:r>
              <a:rPr lang="zh-CN" altLang="en-US" sz="4000" dirty="0"/>
              <a:t>项目文档中的节奏，一个个完成对应的功能和任务，是能够在小学期内，完成整个项目的</a:t>
            </a:r>
            <a:endParaRPr lang="en-US" altLang="zh-CN" sz="4000" dirty="0"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b="1" dirty="0">
                <a:solidFill>
                  <a:srgbClr val="C00000"/>
                </a:solidFill>
              </a:rPr>
              <a:t>第</a:t>
            </a:r>
            <a:r>
              <a:rPr lang="en-US" altLang="zh-CN" sz="4000" b="1" dirty="0">
                <a:solidFill>
                  <a:srgbClr val="C00000"/>
                </a:solidFill>
              </a:rPr>
              <a:t>0</a:t>
            </a:r>
            <a:r>
              <a:rPr lang="zh-CN" altLang="en-US" sz="4000" b="1" dirty="0">
                <a:solidFill>
                  <a:srgbClr val="C00000"/>
                </a:solidFill>
              </a:rPr>
              <a:t>步：工欲善其事，必先利其器</a:t>
            </a:r>
            <a:r>
              <a:rPr lang="zh-CN" altLang="en-US" sz="4000" dirty="0"/>
              <a:t>。请大家务必按照</a:t>
            </a:r>
            <a:r>
              <a:rPr lang="en-US" altLang="zh-CN" sz="4000" dirty="0"/>
              <a:t> PP.0 </a:t>
            </a:r>
            <a:r>
              <a:rPr lang="zh-CN" altLang="en-US" sz="4000" dirty="0"/>
              <a:t>的课件中的说明，去准备好一个自己习惯使用的</a:t>
            </a:r>
            <a:r>
              <a:rPr lang="en-US" altLang="zh-CN" sz="4000" dirty="0"/>
              <a:t> AI/LLM IDE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/>
              <a:t>具体使用的</a:t>
            </a:r>
            <a:r>
              <a:rPr lang="en-US" altLang="zh-CN" sz="4000" dirty="0"/>
              <a:t> IDE </a:t>
            </a:r>
            <a:r>
              <a:rPr lang="zh-CN" altLang="en-US" sz="4000" dirty="0"/>
              <a:t>不限，大家能找到自己习惯和好用的即可</a:t>
            </a:r>
            <a:endParaRPr lang="en-US" altLang="zh-CN" sz="4000" dirty="0"/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/>
              <a:t>推荐大家使用国产的</a:t>
            </a:r>
            <a:r>
              <a:rPr lang="en-US" altLang="zh-CN" sz="4000" dirty="0"/>
              <a:t> IDE</a:t>
            </a:r>
            <a:r>
              <a:rPr lang="zh-CN" altLang="en-US" sz="4000" dirty="0"/>
              <a:t>（不存在网络等问题）：如</a:t>
            </a:r>
            <a:r>
              <a:rPr lang="en-US" altLang="zh-CN" sz="4000" dirty="0"/>
              <a:t> Trae</a:t>
            </a:r>
            <a:r>
              <a:rPr lang="zh-CN" altLang="en-US" sz="4000" dirty="0"/>
              <a:t> </a:t>
            </a:r>
            <a:r>
              <a:rPr lang="en-US" altLang="zh-CN" sz="4000" dirty="0"/>
              <a:t>CN</a:t>
            </a:r>
            <a:r>
              <a:rPr lang="zh-CN" altLang="en-US" sz="4000" dirty="0"/>
              <a:t>、</a:t>
            </a:r>
            <a:r>
              <a:rPr lang="en-US" altLang="zh-CN" sz="4000" dirty="0"/>
              <a:t>Z-Code</a:t>
            </a:r>
            <a:r>
              <a:rPr lang="zh-CN" altLang="en-US" sz="4000" dirty="0"/>
              <a:t>、</a:t>
            </a:r>
            <a:r>
              <a:rPr lang="en-US" altLang="zh-CN" sz="4000" dirty="0" err="1"/>
              <a:t>VSCode</a:t>
            </a:r>
            <a:r>
              <a:rPr lang="en-US" altLang="zh-CN" sz="4000" dirty="0"/>
              <a:t>+</a:t>
            </a:r>
            <a:r>
              <a:rPr lang="zh-CN" altLang="en-US" sz="4000" dirty="0"/>
              <a:t>插件等</a:t>
            </a:r>
            <a:endParaRPr lang="en-US" altLang="zh-CN" sz="4000" dirty="0"/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/>
              <a:t>其他的</a:t>
            </a:r>
            <a:r>
              <a:rPr lang="en-US" altLang="zh-CN" sz="4000" dirty="0"/>
              <a:t> IDE</a:t>
            </a:r>
            <a:r>
              <a:rPr lang="zh-CN" altLang="en-US" sz="4000" dirty="0"/>
              <a:t>：</a:t>
            </a:r>
            <a:r>
              <a:rPr lang="en-US" altLang="zh-CN" sz="4000" dirty="0"/>
              <a:t>Codex</a:t>
            </a:r>
            <a:r>
              <a:rPr lang="zh-CN" altLang="en-US" sz="4000" dirty="0"/>
              <a:t>、</a:t>
            </a:r>
            <a:r>
              <a:rPr lang="en-US" altLang="zh-CN" sz="4000" dirty="0"/>
              <a:t>Claude</a:t>
            </a:r>
            <a:r>
              <a:rPr lang="zh-CN" altLang="en-US" sz="4000" dirty="0"/>
              <a:t> </a:t>
            </a:r>
            <a:r>
              <a:rPr lang="en-US" altLang="zh-CN" sz="4000" dirty="0"/>
              <a:t>Code</a:t>
            </a:r>
            <a:r>
              <a:rPr lang="zh-CN" altLang="en-US" sz="4000" dirty="0"/>
              <a:t>、</a:t>
            </a:r>
            <a:r>
              <a:rPr lang="en-US" altLang="zh-CN" sz="4000" dirty="0" err="1"/>
              <a:t>OpenCode</a:t>
            </a:r>
            <a:r>
              <a:rPr lang="zh-CN" altLang="en-US" sz="4000" dirty="0"/>
              <a:t>、</a:t>
            </a:r>
            <a:r>
              <a:rPr lang="en-US" altLang="zh-CN" sz="4000" dirty="0"/>
              <a:t>Cursor </a:t>
            </a:r>
            <a:r>
              <a:rPr lang="zh-CN" altLang="en-US" sz="4000" dirty="0"/>
              <a:t>如果大家能够处理好环境，而且也能够承担对应的如</a:t>
            </a:r>
            <a:r>
              <a:rPr lang="en-US" altLang="zh-CN" sz="4000" dirty="0"/>
              <a:t> API</a:t>
            </a:r>
            <a:r>
              <a:rPr lang="zh-CN" altLang="en-US" sz="4000" dirty="0"/>
              <a:t>、</a:t>
            </a:r>
            <a:r>
              <a:rPr lang="en-US" altLang="zh-CN" sz="4000" dirty="0"/>
              <a:t>Coding</a:t>
            </a:r>
            <a:r>
              <a:rPr lang="zh-CN" altLang="en-US" sz="4000" dirty="0"/>
              <a:t> </a:t>
            </a:r>
            <a:r>
              <a:rPr lang="en-US" altLang="zh-CN" sz="4000" dirty="0"/>
              <a:t>Plan </a:t>
            </a:r>
            <a:r>
              <a:rPr lang="zh-CN" altLang="en-US" sz="4000" dirty="0"/>
              <a:t>的费用，也可以</a:t>
            </a:r>
            <a:endParaRPr lang="en-US" altLang="zh-CN" sz="4000" dirty="0"/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/>
              <a:t>如果大家的免费版本的</a:t>
            </a:r>
            <a:r>
              <a:rPr lang="en-US" altLang="zh-CN" sz="4000" dirty="0"/>
              <a:t>AI</a:t>
            </a:r>
            <a:r>
              <a:rPr lang="zh-CN" altLang="en-US" sz="4000" dirty="0"/>
              <a:t> </a:t>
            </a:r>
            <a:r>
              <a:rPr lang="en-US" altLang="zh-CN" sz="4000" dirty="0"/>
              <a:t>IDE </a:t>
            </a:r>
            <a:r>
              <a:rPr lang="zh-CN" altLang="en-US" sz="4000" dirty="0"/>
              <a:t>面临</a:t>
            </a:r>
            <a:r>
              <a:rPr lang="en-US" altLang="zh-CN" sz="4000" dirty="0"/>
              <a:t>token </a:t>
            </a:r>
            <a:r>
              <a:rPr lang="zh-CN" altLang="en-US" sz="4000" dirty="0"/>
              <a:t>等问题，可以使用交大交我办致远一号进行</a:t>
            </a:r>
            <a:r>
              <a:rPr lang="en-US" altLang="zh-CN" sz="4000" dirty="0"/>
              <a:t> API </a:t>
            </a:r>
            <a:r>
              <a:rPr lang="zh-CN" altLang="en-US" sz="4000" dirty="0"/>
              <a:t>申请，可以免费使用</a:t>
            </a:r>
            <a:r>
              <a:rPr lang="en-US" altLang="zh-CN" sz="4000" dirty="0"/>
              <a:t> DEEPSEEK</a:t>
            </a:r>
            <a:r>
              <a:rPr lang="zh-CN" altLang="en-US" sz="4000" dirty="0"/>
              <a:t>、</a:t>
            </a:r>
            <a:r>
              <a:rPr lang="en-US" altLang="zh-CN" sz="4000" dirty="0"/>
              <a:t>GLM </a:t>
            </a:r>
            <a:r>
              <a:rPr lang="zh-CN" altLang="en-US" sz="4000" dirty="0"/>
              <a:t>等比较好的模型来进行编程任务（注意：大家要保管好自己的</a:t>
            </a:r>
            <a:r>
              <a:rPr lang="en-US" altLang="zh-CN" sz="4000" dirty="0"/>
              <a:t> API</a:t>
            </a:r>
            <a:r>
              <a:rPr lang="zh-CN" altLang="en-US" sz="4000" dirty="0"/>
              <a:t> </a:t>
            </a:r>
            <a:r>
              <a:rPr lang="en-US" altLang="zh-CN" sz="4000" dirty="0"/>
              <a:t>key</a:t>
            </a:r>
            <a:r>
              <a:rPr lang="zh-CN" altLang="en-US" sz="4000" dirty="0"/>
              <a:t>，并且仅将对应的</a:t>
            </a:r>
            <a:r>
              <a:rPr lang="en-US" altLang="zh-CN" sz="4000" dirty="0"/>
              <a:t> key </a:t>
            </a:r>
            <a:r>
              <a:rPr lang="zh-CN" altLang="en-US" sz="4000" dirty="0"/>
              <a:t>用于课程）</a:t>
            </a:r>
            <a:endParaRPr lang="en-US" altLang="zh-CN" sz="4000" dirty="0"/>
          </a:p>
          <a:p>
            <a:pPr lvl="1" indent="-264600">
              <a:spcBef>
                <a:spcPts val="600"/>
              </a:spcBef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79495-4443-C7EC-161C-4AFA9520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34879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E5D24-37A4-F6E0-04FF-384B283A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智能体与我们的第一个智能体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2133BD-DDFD-0557-2C35-1457E4E60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66A1E-2984-BA13-B116-14ADC8DB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264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051C6-6344-4448-CF99-C9E8F5E17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什么是智能体（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38A12-3DF9-DF23-FE00-E537F4AFF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7547101" cy="4968552"/>
          </a:xfrm>
        </p:spPr>
        <p:txBody>
          <a:bodyPr/>
          <a:lstStyle/>
          <a:p>
            <a:r>
              <a:rPr kumimoji="1" lang="zh-CN" altLang="en-US" dirty="0"/>
              <a:t>我们先来看下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ChatBot</a:t>
            </a:r>
            <a:r>
              <a:rPr kumimoji="1" lang="en-US" altLang="zh-CN" dirty="0"/>
              <a:t> </a:t>
            </a:r>
            <a:r>
              <a:rPr kumimoji="1" lang="zh-CN" altLang="en-US" dirty="0"/>
              <a:t>的一个常见对话场景</a:t>
            </a:r>
            <a:endParaRPr kumimoji="1" lang="en-US" altLang="zh-CN" dirty="0"/>
          </a:p>
          <a:p>
            <a:pPr lvl="1"/>
            <a:r>
              <a:rPr lang="zh-CN" altLang="en-US" dirty="0"/>
              <a:t>想象一个很真实的学习场景：</a:t>
            </a:r>
            <a:endParaRPr lang="en-US" altLang="zh-CN" dirty="0"/>
          </a:p>
          <a:p>
            <a:pPr lvl="2"/>
            <a:r>
              <a:rPr lang="zh-CN" altLang="en-US" dirty="0"/>
              <a:t>你正在复习</a:t>
            </a:r>
            <a:r>
              <a:rPr lang="en-US" altLang="zh-CN" dirty="0"/>
              <a:t>《</a:t>
            </a:r>
            <a:r>
              <a:rPr lang="zh-CN" altLang="en-US" dirty="0"/>
              <a:t>操作系统课程</a:t>
            </a:r>
            <a:r>
              <a:rPr lang="en-US" altLang="zh-CN" dirty="0"/>
              <a:t>》</a:t>
            </a:r>
            <a:r>
              <a:rPr lang="zh-CN" altLang="en-US" dirty="0"/>
              <a:t>，明天有一次小测。你打开一个普通聊天机器人，输入：帮我复习网络分层模型</a:t>
            </a:r>
            <a:endParaRPr lang="en-US" altLang="zh-CN" dirty="0"/>
          </a:p>
          <a:p>
            <a:pPr lvl="1"/>
            <a:r>
              <a:rPr lang="zh-CN" altLang="en-US" dirty="0"/>
              <a:t>右侧是</a:t>
            </a:r>
            <a:r>
              <a:rPr lang="en-US" altLang="zh-CN" dirty="0"/>
              <a:t> </a:t>
            </a:r>
            <a:r>
              <a:rPr lang="en-US" altLang="zh-CN" dirty="0" err="1"/>
              <a:t>DeepSeek</a:t>
            </a:r>
            <a:r>
              <a:rPr lang="en-US" altLang="zh-CN" dirty="0"/>
              <a:t> </a:t>
            </a:r>
            <a:r>
              <a:rPr lang="zh-CN" altLang="en-US" dirty="0"/>
              <a:t>的一个回复</a:t>
            </a:r>
            <a:endParaRPr lang="en-US" altLang="zh-CN" dirty="0"/>
          </a:p>
          <a:p>
            <a:pPr lvl="2"/>
            <a:r>
              <a:rPr lang="zh-CN" altLang="en-US" dirty="0"/>
              <a:t>网络分层模型通常包括 </a:t>
            </a:r>
            <a:r>
              <a:rPr lang="en" altLang="zh-CN" dirty="0"/>
              <a:t>OSI </a:t>
            </a:r>
            <a:r>
              <a:rPr lang="zh-CN" altLang="en-US" dirty="0"/>
              <a:t>七层模型和 </a:t>
            </a:r>
            <a:r>
              <a:rPr lang="en" altLang="zh-CN" dirty="0"/>
              <a:t>TCP/IP </a:t>
            </a:r>
            <a:r>
              <a:rPr lang="zh-CN" altLang="en-US" dirty="0"/>
              <a:t>四层模型。</a:t>
            </a:r>
            <a:r>
              <a:rPr lang="en" altLang="zh-CN" dirty="0"/>
              <a:t>OSI </a:t>
            </a:r>
            <a:r>
              <a:rPr lang="zh-CN" altLang="en-US" dirty="0"/>
              <a:t>七层包括物理层、数据链路层、网络层、传输层、会话层、表示层、应用层</a:t>
            </a:r>
            <a:r>
              <a:rPr lang="en-US" altLang="zh-CN" dirty="0"/>
              <a:t>……</a:t>
            </a:r>
          </a:p>
          <a:p>
            <a:pPr lvl="2"/>
            <a:endParaRPr lang="en-US" altLang="zh-CN" dirty="0"/>
          </a:p>
          <a:p>
            <a:r>
              <a:rPr lang="zh-CN" altLang="en-US" dirty="0"/>
              <a:t>所以，普通 </a:t>
            </a:r>
            <a:r>
              <a:rPr lang="en-US" altLang="zh-CN" dirty="0"/>
              <a:t>chatbot </a:t>
            </a:r>
            <a:r>
              <a:rPr lang="zh-CN" altLang="en-US" dirty="0"/>
              <a:t>的核心形态可以先理解成：</a:t>
            </a:r>
          </a:p>
          <a:p>
            <a:pPr lvl="1"/>
            <a:r>
              <a:rPr lang="zh-CN" altLang="en-US" dirty="0"/>
              <a:t>用户输入一句话 </a:t>
            </a:r>
            <a:r>
              <a:rPr lang="en-US" altLang="zh-CN" dirty="0"/>
              <a:t>-&gt; </a:t>
            </a:r>
            <a:r>
              <a:rPr lang="zh-CN" altLang="en-US" dirty="0"/>
              <a:t>模型生成一段回复 </a:t>
            </a:r>
            <a:r>
              <a:rPr lang="en-US" altLang="zh-CN" dirty="0"/>
              <a:t>-&gt; </a:t>
            </a:r>
            <a:r>
              <a:rPr lang="zh-CN" altLang="en-US" dirty="0"/>
              <a:t>对话结束或进入下一轮</a:t>
            </a:r>
          </a:p>
          <a:p>
            <a:endParaRPr lang="en-US" altLang="zh-CN" dirty="0"/>
          </a:p>
          <a:p>
            <a:pPr lvl="2"/>
            <a:endParaRPr lang="zh-CN" altLang="en-US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BDB0B1-7A8F-45C7-C661-F73E12A5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B697E0-90DE-AC6B-A82B-485C84088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216" y="1113547"/>
            <a:ext cx="3704233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57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85E9-5F88-6BF9-F099-37C65E38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3B92F-CBE1-4EB0-C6D8-E2CCBF83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什么是智能体（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F46AF4-FCD6-D999-9A0B-CA1437322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219509" cy="496855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Agent</a:t>
            </a:r>
            <a:r>
              <a:rPr kumimoji="1" lang="zh-CN" altLang="en-US" dirty="0"/>
              <a:t>：将模型的智能能力整合到软件的一个形态（非严谨的定义）</a:t>
            </a:r>
            <a:endParaRPr kumimoji="1" lang="en-US" altLang="zh-CN" dirty="0"/>
          </a:p>
          <a:p>
            <a:r>
              <a:rPr lang="zh-CN" altLang="en-US" dirty="0"/>
              <a:t>面对同一个问题，一个</a:t>
            </a:r>
            <a:r>
              <a:rPr lang="en-US" altLang="zh-CN" dirty="0"/>
              <a:t>A</a:t>
            </a:r>
            <a:r>
              <a:rPr lang="en" altLang="zh-CN" dirty="0"/>
              <a:t>gent </a:t>
            </a:r>
            <a:r>
              <a:rPr lang="zh-CN" altLang="en-US" dirty="0"/>
              <a:t>不应该急着只生成一段百科式回答，而是应该先在内部做一组判断：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这个问题属于哪门课？能否从 </a:t>
            </a:r>
            <a:r>
              <a:rPr lang="en-US" altLang="zh-CN" dirty="0"/>
              <a:t>memory </a:t>
            </a:r>
            <a:r>
              <a:rPr lang="zh-CN" altLang="en-US" dirty="0"/>
              <a:t>或 </a:t>
            </a:r>
            <a:r>
              <a:rPr lang="en-US" altLang="zh-CN" dirty="0"/>
              <a:t>course index </a:t>
            </a:r>
            <a:r>
              <a:rPr lang="zh-CN" altLang="en-US" dirty="0"/>
              <a:t>中找到相关资料？</a:t>
            </a:r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用户想要的是概念解释、考前复习、</a:t>
            </a:r>
            <a:r>
              <a:rPr lang="en-US" altLang="zh-CN" dirty="0"/>
              <a:t>PPT </a:t>
            </a:r>
            <a:r>
              <a:rPr lang="zh-CN" altLang="en-US" dirty="0"/>
              <a:t>大纲、测验题，还是学习计划？</a:t>
            </a:r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是否需要调用工具读取课程文件？</a:t>
            </a:r>
          </a:p>
          <a:p>
            <a:pPr lvl="1"/>
            <a:r>
              <a:rPr lang="en-US" altLang="zh-CN" dirty="0"/>
              <a:t>4. </a:t>
            </a:r>
            <a:r>
              <a:rPr lang="zh-CN" altLang="en-US" dirty="0"/>
              <a:t>回答时要不要结合用户偏好，例如“先给例子再讲定义”？</a:t>
            </a:r>
          </a:p>
          <a:p>
            <a:pPr lvl="1"/>
            <a:r>
              <a:rPr lang="en-US" altLang="zh-CN" dirty="0"/>
              <a:t>5. </a:t>
            </a:r>
            <a:r>
              <a:rPr lang="zh-CN" altLang="en-US" dirty="0"/>
              <a:t>这个请求有没有学术诚信风险？</a:t>
            </a:r>
          </a:p>
          <a:p>
            <a:pPr lvl="1"/>
            <a:r>
              <a:rPr lang="en-US" altLang="zh-CN" dirty="0"/>
              <a:t>6. </a:t>
            </a:r>
            <a:r>
              <a:rPr lang="zh-CN" altLang="en-US" dirty="0"/>
              <a:t>最后是否需要保存 </a:t>
            </a:r>
            <a:r>
              <a:rPr lang="en-US" altLang="zh-CN" dirty="0"/>
              <a:t>artifact </a:t>
            </a:r>
            <a:r>
              <a:rPr lang="zh-CN" altLang="en-US" dirty="0"/>
              <a:t>或 </a:t>
            </a:r>
            <a:r>
              <a:rPr lang="en-US" altLang="zh-CN" dirty="0"/>
              <a:t>trace</a:t>
            </a:r>
            <a:r>
              <a:rPr lang="zh-CN" altLang="en-US" dirty="0"/>
              <a:t>，方便学生和老师检查？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663D0-811B-743D-57CF-418C24B9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BD18E0-8C5D-9418-D5FE-6CA8BF50FC42}"/>
              </a:ext>
            </a:extLst>
          </p:cNvPr>
          <p:cNvSpPr txBox="1"/>
          <p:nvPr/>
        </p:nvSpPr>
        <p:spPr>
          <a:xfrm>
            <a:off x="107576" y="6077285"/>
            <a:ext cx="11976847" cy="646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* </a:t>
            </a:r>
            <a:r>
              <a:rPr kumimoji="1" lang="en-US" altLang="zh-CN" dirty="0"/>
              <a:t>memory:</a:t>
            </a:r>
            <a:r>
              <a:rPr kumimoji="1" lang="zh-CN" altLang="en-US" dirty="0"/>
              <a:t> 指的是智能体的记忆能力，后续课程中会进一步解释，但是当前可以粗略理解为，智能体会维护和用户历史的交互信息，这样会给人一种，</a:t>
            </a:r>
            <a:r>
              <a:rPr kumimoji="1" lang="en-US" altLang="zh-CN" dirty="0"/>
              <a:t>AI</a:t>
            </a:r>
            <a:r>
              <a:rPr kumimoji="1" lang="zh-CN" altLang="en-US" dirty="0"/>
              <a:t>智能体是理解和了解你的这种感觉</a:t>
            </a:r>
          </a:p>
        </p:txBody>
      </p:sp>
    </p:spTree>
    <p:extLst>
      <p:ext uri="{BB962C8B-B14F-4D97-AF65-F5344CB8AC3E}">
        <p14:creationId xmlns:p14="http://schemas.microsoft.com/office/powerpoint/2010/main" val="196815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0DFA-AF62-53BD-E3AB-86D91D06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115F8-30C7-073D-A75A-7FB9C2F9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什么是智能体（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C52D7-CDC1-98FC-3594-90DA0981D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Agent</a:t>
            </a:r>
            <a:r>
              <a:rPr kumimoji="1" lang="zh-CN" altLang="en-US" dirty="0"/>
              <a:t>：将模型的智能能力整合到软件的一个形态（非严谨的定义）</a:t>
            </a:r>
            <a:endParaRPr kumimoji="1" lang="en-US" altLang="zh-CN" dirty="0"/>
          </a:p>
          <a:p>
            <a:r>
              <a:rPr lang="zh-CN" altLang="en-US" dirty="0"/>
              <a:t>面对同一个问题，一个</a:t>
            </a:r>
            <a:r>
              <a:rPr lang="en-US" altLang="zh-CN" dirty="0"/>
              <a:t>A</a:t>
            </a:r>
            <a:r>
              <a:rPr lang="en" altLang="zh-CN" dirty="0"/>
              <a:t>gent </a:t>
            </a:r>
            <a:r>
              <a:rPr lang="zh-CN" altLang="en-US" dirty="0"/>
              <a:t>不应该急着只生成一段百科式回答，而是应该先在内部做一组判断</a:t>
            </a:r>
            <a:endParaRPr lang="en-US" altLang="zh-CN" dirty="0"/>
          </a:p>
          <a:p>
            <a:r>
              <a:rPr lang="zh-CN" altLang="en-US" dirty="0"/>
              <a:t>最终的执行效果可能是：</a:t>
            </a:r>
            <a:endParaRPr lang="en-US" altLang="zh-CN" dirty="0"/>
          </a:p>
          <a:p>
            <a:pPr lvl="1"/>
            <a:r>
              <a:rPr lang="zh-CN" altLang="en-US" dirty="0"/>
              <a:t>用户：帮我复习网络分层模型。</a:t>
            </a:r>
          </a:p>
          <a:p>
            <a:pPr lvl="1"/>
            <a:endParaRPr lang="zh-CN" altLang="en-US" dirty="0"/>
          </a:p>
          <a:p>
            <a:pPr lvl="1"/>
            <a:r>
              <a:rPr lang="en-US" altLang="zh-CN" dirty="0" err="1"/>
              <a:t>SJTUClaw</a:t>
            </a:r>
            <a:r>
              <a:rPr lang="zh-CN" altLang="en-US" dirty="0"/>
              <a:t>：</a:t>
            </a:r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我先在 </a:t>
            </a:r>
            <a:r>
              <a:rPr lang="en-US" altLang="zh-CN" dirty="0"/>
              <a:t>course index </a:t>
            </a:r>
            <a:r>
              <a:rPr lang="zh-CN" altLang="en-US" dirty="0"/>
              <a:t>中找到</a:t>
            </a:r>
            <a:r>
              <a:rPr lang="en-US" altLang="zh-CN" dirty="0"/>
              <a:t>《</a:t>
            </a:r>
            <a:r>
              <a:rPr lang="zh-CN" altLang="en-US" dirty="0"/>
              <a:t>计算机网络</a:t>
            </a:r>
            <a:r>
              <a:rPr lang="en-US" altLang="zh-CN" dirty="0"/>
              <a:t>》</a:t>
            </a:r>
            <a:r>
              <a:rPr lang="zh-CN" altLang="en-US" dirty="0"/>
              <a:t>相关笔记。</a:t>
            </a:r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读取 </a:t>
            </a:r>
            <a:r>
              <a:rPr lang="en-US" altLang="zh-CN" dirty="0"/>
              <a:t>data/courses/</a:t>
            </a:r>
            <a:r>
              <a:rPr lang="en-US" altLang="zh-CN" dirty="0" err="1"/>
              <a:t>networking.md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发现你的 </a:t>
            </a:r>
            <a:r>
              <a:rPr lang="en-US" altLang="zh-CN" dirty="0"/>
              <a:t>profile </a:t>
            </a:r>
            <a:r>
              <a:rPr lang="zh-CN" altLang="en-US" dirty="0"/>
              <a:t>里写着“喜欢先看例子再看定义”。</a:t>
            </a:r>
          </a:p>
          <a:p>
            <a:pPr lvl="1"/>
            <a:r>
              <a:rPr lang="en-US" altLang="zh-CN" dirty="0"/>
              <a:t>4. </a:t>
            </a:r>
            <a:r>
              <a:rPr lang="zh-CN" altLang="en-US" dirty="0"/>
              <a:t>生成一份 </a:t>
            </a:r>
            <a:r>
              <a:rPr lang="en-US" altLang="zh-CN" dirty="0"/>
              <a:t>10 </a:t>
            </a:r>
            <a:r>
              <a:rPr lang="zh-CN" altLang="en-US" dirty="0"/>
              <a:t>分钟复习提纲：</a:t>
            </a:r>
          </a:p>
          <a:p>
            <a:pPr lvl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先用“快递分拣”类比解释分层；</a:t>
            </a:r>
          </a:p>
          <a:p>
            <a:pPr lvl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再对比 </a:t>
            </a:r>
            <a:r>
              <a:rPr lang="en-US" altLang="zh-CN" dirty="0"/>
              <a:t>OSI </a:t>
            </a:r>
            <a:r>
              <a:rPr lang="zh-CN" altLang="en-US" dirty="0"/>
              <a:t>七层和 </a:t>
            </a:r>
            <a:r>
              <a:rPr lang="en-US" altLang="zh-CN" dirty="0"/>
              <a:t>TCP/IP </a:t>
            </a:r>
            <a:r>
              <a:rPr lang="zh-CN" altLang="en-US" dirty="0"/>
              <a:t>四层；</a:t>
            </a:r>
          </a:p>
          <a:p>
            <a:pPr lvl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最后给 </a:t>
            </a:r>
            <a:r>
              <a:rPr lang="en-US" altLang="zh-CN" dirty="0"/>
              <a:t>3 </a:t>
            </a:r>
            <a:r>
              <a:rPr lang="zh-CN" altLang="en-US" dirty="0"/>
              <a:t>道自测题。</a:t>
            </a:r>
          </a:p>
          <a:p>
            <a:pPr lvl="1"/>
            <a:r>
              <a:rPr lang="en-US" altLang="zh-CN" dirty="0"/>
              <a:t>5. </a:t>
            </a:r>
            <a:r>
              <a:rPr lang="zh-CN" altLang="en-US" dirty="0"/>
              <a:t>在 </a:t>
            </a:r>
            <a:r>
              <a:rPr lang="en-US" altLang="zh-CN" dirty="0"/>
              <a:t>trace </a:t>
            </a:r>
            <a:r>
              <a:rPr lang="zh-CN" altLang="en-US" dirty="0"/>
              <a:t>中记录本次读取了哪个文件、调用了哪个工具。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B4C26C-E4E4-BFCA-52C0-374B578A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2277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3B1E4-970F-DA9A-CBBD-977B13BC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7E9E6-D3F6-7444-8A2D-BAD46C49B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什么是智能体（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E12C60-103D-EF24-590F-050DE847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16</a:t>
            </a:fld>
            <a:endParaRPr lang="en-CN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3758EE5D-717D-F6D4-88EC-4F02675BA1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401277"/>
              </p:ext>
            </p:extLst>
          </p:nvPr>
        </p:nvGraphicFramePr>
        <p:xfrm>
          <a:off x="1514220" y="1737360"/>
          <a:ext cx="9154417" cy="4535426"/>
        </p:xfrm>
        <a:graphic>
          <a:graphicData uri="http://schemas.openxmlformats.org/drawingml/2006/table">
            <a:tbl>
              <a:tblPr/>
              <a:tblGrid>
                <a:gridCol w="1532067">
                  <a:extLst>
                    <a:ext uri="{9D8B030D-6E8A-4147-A177-3AD203B41FA5}">
                      <a16:colId xmlns:a16="http://schemas.microsoft.com/office/drawing/2014/main" val="686407850"/>
                    </a:ext>
                  </a:extLst>
                </a:gridCol>
                <a:gridCol w="3241398">
                  <a:extLst>
                    <a:ext uri="{9D8B030D-6E8A-4147-A177-3AD203B41FA5}">
                      <a16:colId xmlns:a16="http://schemas.microsoft.com/office/drawing/2014/main" val="1376982395"/>
                    </a:ext>
                  </a:extLst>
                </a:gridCol>
                <a:gridCol w="4380952">
                  <a:extLst>
                    <a:ext uri="{9D8B030D-6E8A-4147-A177-3AD203B41FA5}">
                      <a16:colId xmlns:a16="http://schemas.microsoft.com/office/drawing/2014/main" val="1199127189"/>
                    </a:ext>
                  </a:extLst>
                </a:gridCol>
              </a:tblGrid>
              <a:tr h="5014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>
                          <a:effectLst/>
                          <a:latin typeface="Arial" panose="020B0604020202020204" pitchFamily="34" charset="0"/>
                        </a:rPr>
                        <a:t>维度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普通 </a:t>
                      </a:r>
                      <a:r>
                        <a:rPr lang="en-US" sz="2200" b="1" i="0" u="none" strike="noStrike" dirty="0">
                          <a:effectLst/>
                          <a:latin typeface="Arial" panose="020B0604020202020204" pitchFamily="34" charset="0"/>
                        </a:rPr>
                        <a:t>chatbot</a:t>
                      </a:r>
                      <a:endParaRPr lang="zh-CN" sz="2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1" i="0" u="none" strike="noStrike" dirty="0" err="1">
                          <a:effectLst/>
                          <a:latin typeface="Arial" panose="020B0604020202020204" pitchFamily="34" charset="0"/>
                        </a:rPr>
                        <a:t>SJTUClaw</a:t>
                      </a:r>
                      <a:r>
                        <a:rPr lang="en-US" sz="2200" b="1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这样的 </a:t>
                      </a:r>
                      <a:r>
                        <a:rPr lang="en-US" sz="2200" b="1" i="0" u="none" strike="noStrike" dirty="0">
                          <a:effectLst/>
                          <a:latin typeface="Arial" panose="020B0604020202020204" pitchFamily="34" charset="0"/>
                        </a:rPr>
                        <a:t>agent</a:t>
                      </a:r>
                      <a:endParaRPr lang="zh-CN" sz="22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992266"/>
                  </a:ext>
                </a:extLst>
              </a:tr>
              <a:tr h="5014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输入输出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主要是“一问一答”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会把问题转成任务流程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878476"/>
                  </a:ext>
                </a:extLst>
              </a:tr>
              <a:tr h="8432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上下文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依赖当前对话窗口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可以读取 </a:t>
                      </a:r>
                      <a:r>
                        <a:rPr lang="en-US" sz="2200" b="0" i="0" u="none" strike="noStrike" dirty="0" err="1">
                          <a:effectLst/>
                          <a:latin typeface="Arial" panose="020B0604020202020204" pitchFamily="34" charset="0"/>
                        </a:rPr>
                        <a:t>SOUL.md、memory</a:t>
                      </a: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、</a:t>
                      </a: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课程索引和文件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33052"/>
                  </a:ext>
                </a:extLst>
              </a:tr>
              <a:tr h="8432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行动能力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主要生成文本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能调用工具，例如读文件、生成 </a:t>
                      </a: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PPT、</a:t>
                      </a: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调用 </a:t>
                      </a: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PI</a:t>
                      </a:r>
                      <a:endParaRPr lang="zh-CN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00645"/>
                  </a:ext>
                </a:extLst>
              </a:tr>
              <a:tr h="5014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可验证性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很难知道答案依据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可以保存 </a:t>
                      </a: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trace </a:t>
                      </a: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和 </a:t>
                      </a: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artifact</a:t>
                      </a:r>
                      <a:endParaRPr lang="zh-CN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597901"/>
                  </a:ext>
                </a:extLst>
              </a:tr>
              <a:tr h="5014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个性化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依赖用户每次重复说明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能记住稳定学习偏好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953"/>
                  </a:ext>
                </a:extLst>
              </a:tr>
              <a:tr h="8432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1" i="0" u="none" strike="noStrike" dirty="0">
                          <a:effectLst/>
                          <a:latin typeface="Arial" panose="020B0604020202020204" pitchFamily="34" charset="0"/>
                        </a:rPr>
                        <a:t>边界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主要靠模型临场判断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200" b="0" i="0" u="none" strike="noStrike" dirty="0">
                          <a:effectLst/>
                          <a:latin typeface="Arial" panose="020B0604020202020204" pitchFamily="34" charset="0"/>
                        </a:rPr>
                        <a:t>有明确的学习契约和学术诚信规则</a:t>
                      </a:r>
                    </a:p>
                  </a:txBody>
                  <a:tcPr marL="113955" marR="113955" marT="56978" marB="56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91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056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F281-FE0C-E4E4-9A69-B1EB1EFE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EC0F7-D7AC-AE3E-3C3B-16C66F18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LLM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调用与智能体软件的</a:t>
            </a:r>
            <a:r>
              <a:rPr kumimoji="1" lang="en-US" altLang="zh-CN" dirty="0"/>
              <a:t> HelloWorld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C0B345-489F-B785-E4F0-037C51F7F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zh-CN" altLang="en-US" dirty="0"/>
              <a:t>怎么样让</a:t>
            </a:r>
            <a:r>
              <a:rPr lang="en-US" altLang="zh-CN" dirty="0"/>
              <a:t>LLM </a:t>
            </a:r>
            <a:r>
              <a:rPr lang="zh-CN" altLang="en-US" dirty="0"/>
              <a:t>的模型智能能力集成到我们的软件中呢？</a:t>
            </a:r>
            <a:endParaRPr lang="en-US" altLang="zh-CN" dirty="0"/>
          </a:p>
          <a:p>
            <a:r>
              <a:rPr lang="zh-CN" altLang="en-US" dirty="0"/>
              <a:t>关键在于：</a:t>
            </a:r>
            <a:r>
              <a:rPr lang="en-US" altLang="zh-CN" dirty="0"/>
              <a:t>LLM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r>
              <a:rPr lang="zh-CN" altLang="en-US" dirty="0"/>
              <a:t>调用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LLM </a:t>
            </a:r>
            <a:r>
              <a:rPr lang="zh-CN" altLang="en-US" dirty="0"/>
              <a:t>的</a:t>
            </a:r>
            <a:r>
              <a:rPr lang="en-US" altLang="zh-CN" dirty="0"/>
              <a:t> API </a:t>
            </a:r>
            <a:r>
              <a:rPr lang="zh-CN" altLang="en-US" dirty="0"/>
              <a:t>调用：是大语言模型推理服务平台提供的一个接口，允许一个软件通过调用该接口，来进行</a:t>
            </a:r>
            <a:r>
              <a:rPr lang="en-US" altLang="zh-CN" dirty="0"/>
              <a:t> LLM </a:t>
            </a:r>
            <a:r>
              <a:rPr lang="zh-CN" altLang="en-US" dirty="0"/>
              <a:t>推理任务</a:t>
            </a:r>
            <a:endParaRPr lang="en-US" altLang="zh-CN" dirty="0"/>
          </a:p>
          <a:p>
            <a:pPr lvl="1"/>
            <a:r>
              <a:rPr lang="zh-CN" altLang="en-US" dirty="0"/>
              <a:t>大家可以类比为我们在</a:t>
            </a:r>
            <a:r>
              <a:rPr lang="en-US" altLang="zh-CN" dirty="0"/>
              <a:t> chatbot </a:t>
            </a:r>
            <a:r>
              <a:rPr lang="zh-CN" altLang="en-US" dirty="0"/>
              <a:t>里面和模型交互，但是把发起交互的这个主体由我们自己，变成了我们写的软件（或者说</a:t>
            </a:r>
            <a:r>
              <a:rPr lang="en-US" altLang="zh-CN" dirty="0"/>
              <a:t>Agent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E815F8-2270-B914-C4DE-341B7B5D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85408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920F-5AA5-88BF-770B-82D78F1B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AE004-2B56-285B-2456-34A6EB9F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LLM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调用与智能体软件的</a:t>
            </a:r>
            <a:r>
              <a:rPr kumimoji="1" lang="en-US" altLang="zh-CN" dirty="0"/>
              <a:t> HelloWorld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5A11DD-67F7-B519-ACAF-01BCC5BCB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en-US" altLang="zh-CN" dirty="0"/>
              <a:t>LLM </a:t>
            </a:r>
            <a:r>
              <a:rPr lang="zh-CN" altLang="en-US" dirty="0"/>
              <a:t>的</a:t>
            </a:r>
            <a:r>
              <a:rPr lang="en-US" altLang="zh-CN" dirty="0"/>
              <a:t> API </a:t>
            </a:r>
            <a:r>
              <a:rPr lang="zh-CN" altLang="en-US" dirty="0"/>
              <a:t>调用，以</a:t>
            </a:r>
            <a:r>
              <a:rPr lang="en-US" altLang="zh-CN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为例（</a:t>
            </a:r>
            <a:r>
              <a:rPr lang="en-US" altLang="zh-CN" dirty="0" err="1"/>
              <a:t>DeepSeek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 API </a:t>
            </a:r>
            <a:r>
              <a:rPr lang="zh-CN" altLang="en-US" dirty="0"/>
              <a:t>需要充值才能用，但是</a:t>
            </a:r>
            <a:r>
              <a:rPr lang="en-US" altLang="zh-CN" dirty="0"/>
              <a:t> DS </a:t>
            </a:r>
            <a:r>
              <a:rPr lang="zh-CN" altLang="en-US" dirty="0"/>
              <a:t>的</a:t>
            </a:r>
            <a:r>
              <a:rPr lang="en-US" altLang="zh-CN" dirty="0"/>
              <a:t> API </a:t>
            </a:r>
            <a:r>
              <a:rPr lang="zh-CN" altLang="en-US" dirty="0"/>
              <a:t>的费用整体来看性价比非常高，</a:t>
            </a:r>
            <a:r>
              <a:rPr lang="en-US" altLang="zh-CN" dirty="0"/>
              <a:t>50</a:t>
            </a:r>
            <a:r>
              <a:rPr lang="zh-CN" altLang="en-US" dirty="0"/>
              <a:t>元可用想当长时间）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F3CD8-0D69-80BD-E631-E0846F7F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18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0E5395-8128-423F-933B-1305D60B38BB}"/>
              </a:ext>
            </a:extLst>
          </p:cNvPr>
          <p:cNvSpPr txBox="1"/>
          <p:nvPr/>
        </p:nvSpPr>
        <p:spPr>
          <a:xfrm>
            <a:off x="479704" y="2554804"/>
            <a:ext cx="3682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2400" dirty="0"/>
              <a:t>https://</a:t>
            </a:r>
            <a:r>
              <a:rPr kumimoji="1" lang="en" altLang="zh-CN" sz="2400" dirty="0" err="1"/>
              <a:t>chat.deepseek.com</a:t>
            </a:r>
            <a:r>
              <a:rPr kumimoji="1" lang="en" altLang="zh-CN" sz="2400" dirty="0"/>
              <a:t>/</a:t>
            </a:r>
            <a:endParaRPr kumimoji="1"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24B9F6-9A91-3835-FF98-0B1301EF2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8" y="3272315"/>
            <a:ext cx="5931116" cy="23278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74F2393-ADFE-CBA3-DACC-F27A678A329C}"/>
              </a:ext>
            </a:extLst>
          </p:cNvPr>
          <p:cNvSpPr txBox="1"/>
          <p:nvPr/>
        </p:nvSpPr>
        <p:spPr>
          <a:xfrm>
            <a:off x="7176448" y="2610377"/>
            <a:ext cx="402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platform.deepseek.com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api_keys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9C09EB1-D1D7-E389-A3E8-D77755269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155" y="3090603"/>
            <a:ext cx="6254208" cy="232786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666EF73-043E-D0EB-FF58-40D5E323607A}"/>
              </a:ext>
            </a:extLst>
          </p:cNvPr>
          <p:cNvSpPr txBox="1"/>
          <p:nvPr/>
        </p:nvSpPr>
        <p:spPr>
          <a:xfrm>
            <a:off x="960363" y="5857562"/>
            <a:ext cx="396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这是大家比较熟悉的</a:t>
            </a:r>
            <a:r>
              <a:rPr kumimoji="1" lang="en-US" altLang="zh-CN" dirty="0"/>
              <a:t> chatbot</a:t>
            </a:r>
            <a:r>
              <a:rPr kumimoji="1" lang="zh-CN" altLang="en-US" dirty="0"/>
              <a:t>对话界面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DC9FC8-FBBF-567F-FF36-FB64C095E83E}"/>
              </a:ext>
            </a:extLst>
          </p:cNvPr>
          <p:cNvSpPr txBox="1"/>
          <p:nvPr/>
        </p:nvSpPr>
        <p:spPr>
          <a:xfrm>
            <a:off x="6744072" y="5857562"/>
            <a:ext cx="4589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这是大家可能不太熟悉的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DeepSeek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 </a:t>
            </a:r>
            <a:r>
              <a:rPr kumimoji="1" lang="zh-CN" altLang="en-US" dirty="0"/>
              <a:t>界面</a:t>
            </a:r>
            <a:endParaRPr kumimoji="1" lang="en-US" altLang="zh-CN" dirty="0"/>
          </a:p>
          <a:p>
            <a:r>
              <a:rPr kumimoji="1" lang="zh-CN" altLang="en-US" dirty="0"/>
              <a:t>图片中</a:t>
            </a:r>
            <a:r>
              <a:rPr kumimoji="1" lang="en-US" altLang="zh-CN" dirty="0"/>
              <a:t> </a:t>
            </a:r>
            <a:r>
              <a:rPr kumimoji="1" lang="en-US" altLang="zh-CN" dirty="0" err="1">
                <a:highlight>
                  <a:srgbClr val="FFFF00"/>
                </a:highlight>
              </a:rPr>
              <a:t>sk</a:t>
            </a:r>
            <a:r>
              <a:rPr kumimoji="1" lang="en-US" altLang="zh-CN" dirty="0">
                <a:highlight>
                  <a:srgbClr val="FFFF00"/>
                </a:highlight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</a:rPr>
              <a:t> 开头的这一串就是</a:t>
            </a:r>
            <a:r>
              <a:rPr kumimoji="1" lang="en-US" altLang="zh-CN" dirty="0">
                <a:highlight>
                  <a:srgbClr val="FFFF00"/>
                </a:highlight>
              </a:rPr>
              <a:t> API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5067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1DC5-DAF8-501B-1D57-E611241A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7350B-967D-E747-0DE4-10B6F728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LLM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调用与智能体软件的</a:t>
            </a:r>
            <a:r>
              <a:rPr kumimoji="1" lang="en-US" altLang="zh-CN" dirty="0"/>
              <a:t> HelloWorld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609E9-157E-F06F-C882-ED7D0C108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en-US" altLang="zh-CN" dirty="0"/>
              <a:t>LLM </a:t>
            </a:r>
            <a:r>
              <a:rPr lang="zh-CN" altLang="en-US" dirty="0"/>
              <a:t>的</a:t>
            </a:r>
            <a:r>
              <a:rPr lang="en-US" altLang="zh-CN" dirty="0"/>
              <a:t> API </a:t>
            </a:r>
            <a:r>
              <a:rPr lang="zh-CN" altLang="en-US" dirty="0"/>
              <a:t>调用，以交我办为例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30351-1E02-5F32-FA5D-D49C6695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19</a:t>
            </a:fld>
            <a:endParaRPr lang="en-CN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06C558-7C74-A153-09F6-D87646502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924698"/>
            <a:ext cx="4903238" cy="458112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F03FE07-5491-B98C-6EB5-53141754C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614" y="2194984"/>
            <a:ext cx="5061010" cy="4032677"/>
          </a:xfrm>
          <a:prstGeom prst="rect">
            <a:avLst/>
          </a:prstGeom>
        </p:spPr>
      </p:pic>
      <p:sp>
        <p:nvSpPr>
          <p:cNvPr id="15" name="右箭头 14">
            <a:extLst>
              <a:ext uri="{FF2B5EF4-FFF2-40B4-BE49-F238E27FC236}">
                <a16:creationId xmlns:a16="http://schemas.microsoft.com/office/drawing/2014/main" id="{677BA2F7-1A56-2E81-61DD-60D17BFD7EA3}"/>
              </a:ext>
            </a:extLst>
          </p:cNvPr>
          <p:cNvSpPr/>
          <p:nvPr/>
        </p:nvSpPr>
        <p:spPr>
          <a:xfrm>
            <a:off x="5455766" y="4211322"/>
            <a:ext cx="908943" cy="628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18A320-5F96-1F0B-37E3-5F0604F2A347}"/>
              </a:ext>
            </a:extLst>
          </p:cNvPr>
          <p:cNvSpPr txBox="1"/>
          <p:nvPr/>
        </p:nvSpPr>
        <p:spPr>
          <a:xfrm>
            <a:off x="7012294" y="1676050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申请一般很快会通过，通过后会收到邮件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5520E0-FDF1-4137-D133-FEAEDFE05220}"/>
              </a:ext>
            </a:extLst>
          </p:cNvPr>
          <p:cNvSpPr/>
          <p:nvPr/>
        </p:nvSpPr>
        <p:spPr>
          <a:xfrm>
            <a:off x="6682438" y="3212976"/>
            <a:ext cx="239671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8344C1-5D5A-ABB5-4153-317DBD45C885}"/>
              </a:ext>
            </a:extLst>
          </p:cNvPr>
          <p:cNvSpPr txBox="1"/>
          <p:nvPr/>
        </p:nvSpPr>
        <p:spPr>
          <a:xfrm>
            <a:off x="8695220" y="3888156"/>
            <a:ext cx="3304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这里是你的</a:t>
            </a:r>
            <a:r>
              <a:rPr kumimoji="1" lang="en-US" altLang="zh-CN" dirty="0"/>
              <a:t> API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（务必保存好不要公开不要放到公网上）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A7474020-8ED4-1423-8709-0F71B808D504}"/>
              </a:ext>
            </a:extLst>
          </p:cNvPr>
          <p:cNvCxnSpPr>
            <a:endCxn id="17" idx="3"/>
          </p:cNvCxnSpPr>
          <p:nvPr/>
        </p:nvCxnSpPr>
        <p:spPr>
          <a:xfrm flipH="1" flipV="1">
            <a:off x="9079152" y="3284984"/>
            <a:ext cx="1017894" cy="595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75862A7-B9D8-3EE0-CCF6-D57D90A198F6}"/>
              </a:ext>
            </a:extLst>
          </p:cNvPr>
          <p:cNvSpPr txBox="1"/>
          <p:nvPr/>
        </p:nvSpPr>
        <p:spPr>
          <a:xfrm>
            <a:off x="7880795" y="5533778"/>
            <a:ext cx="588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学校还准备了非常详细的</a:t>
            </a:r>
            <a:r>
              <a:rPr kumimoji="1" lang="en-US" altLang="zh-CN" b="1" dirty="0">
                <a:solidFill>
                  <a:srgbClr val="C00000"/>
                </a:solidFill>
              </a:rPr>
              <a:t> API </a:t>
            </a:r>
            <a:r>
              <a:rPr kumimoji="1" lang="zh-CN" altLang="en-US" b="1" dirty="0">
                <a:solidFill>
                  <a:srgbClr val="C00000"/>
                </a:solidFill>
              </a:rPr>
              <a:t>使用文档：</a:t>
            </a:r>
            <a:r>
              <a:rPr kumimoji="1" lang="en" altLang="zh-CN" b="1" dirty="0">
                <a:solidFill>
                  <a:srgbClr val="C00000"/>
                </a:solidFill>
              </a:rPr>
              <a:t>https://</a:t>
            </a:r>
            <a:r>
              <a:rPr kumimoji="1" lang="en" altLang="zh-CN" b="1" dirty="0" err="1">
                <a:solidFill>
                  <a:srgbClr val="C00000"/>
                </a:solidFill>
              </a:rPr>
              <a:t>claw.sjtu.edu.cn</a:t>
            </a:r>
            <a:r>
              <a:rPr kumimoji="1" lang="en" altLang="zh-CN" b="1" dirty="0">
                <a:solidFill>
                  <a:srgbClr val="C00000"/>
                </a:solidFill>
              </a:rPr>
              <a:t>/guide/</a:t>
            </a:r>
            <a:r>
              <a:rPr kumimoji="1" lang="en" altLang="zh-CN" b="1" dirty="0" err="1">
                <a:solidFill>
                  <a:srgbClr val="C00000"/>
                </a:solidFill>
              </a:rPr>
              <a:t>sjtu-api</a:t>
            </a:r>
            <a:r>
              <a:rPr kumimoji="1" lang="en" altLang="zh-CN" b="1" dirty="0">
                <a:solidFill>
                  <a:srgbClr val="C00000"/>
                </a:solidFill>
              </a:rPr>
              <a:t>/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540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BA83-B377-3B9F-C617-035ABC75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DDBB2-4D4F-24EA-2D7C-661FA27A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LLM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调用与智能体软件的</a:t>
            </a:r>
            <a:r>
              <a:rPr kumimoji="1" lang="en-US" altLang="zh-CN" dirty="0"/>
              <a:t> HelloWorld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121CD7-FB24-4401-55C6-D343E9705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en-US" altLang="zh-CN" dirty="0"/>
              <a:t>LLM </a:t>
            </a:r>
            <a:r>
              <a:rPr lang="zh-CN" altLang="en-US" dirty="0"/>
              <a:t>的</a:t>
            </a:r>
            <a:r>
              <a:rPr lang="en-US" altLang="zh-CN" dirty="0"/>
              <a:t> API </a:t>
            </a:r>
            <a:r>
              <a:rPr lang="zh-CN" altLang="en-US" dirty="0"/>
              <a:t>调用，以交我办为例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4D4F11-A3BE-A096-1BF3-E669F932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20</a:t>
            </a:fld>
            <a:endParaRPr lang="en-CN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DA4AF0D-D233-0A6A-1127-DAD25F03F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14" y="2194984"/>
            <a:ext cx="5061010" cy="403267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7D7E452-50BF-BF23-77E6-6D8C1AB89E37}"/>
              </a:ext>
            </a:extLst>
          </p:cNvPr>
          <p:cNvSpPr txBox="1"/>
          <p:nvPr/>
        </p:nvSpPr>
        <p:spPr>
          <a:xfrm>
            <a:off x="7012294" y="1676050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申请一般很快会通过，通过后会收到邮件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76386A-A5A9-A788-7739-B40ABE20E34C}"/>
              </a:ext>
            </a:extLst>
          </p:cNvPr>
          <p:cNvSpPr/>
          <p:nvPr/>
        </p:nvSpPr>
        <p:spPr>
          <a:xfrm>
            <a:off x="6682438" y="3212976"/>
            <a:ext cx="2396714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052113-3328-B35B-56C9-D8C2461D081B}"/>
              </a:ext>
            </a:extLst>
          </p:cNvPr>
          <p:cNvSpPr txBox="1"/>
          <p:nvPr/>
        </p:nvSpPr>
        <p:spPr>
          <a:xfrm>
            <a:off x="8695220" y="3888156"/>
            <a:ext cx="3304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这里是你的</a:t>
            </a:r>
            <a:r>
              <a:rPr kumimoji="1" lang="en-US" altLang="zh-CN" dirty="0"/>
              <a:t> API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（务必保存好不要公开不要放到公网上）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B9D29461-1C49-4D66-2B0F-575163ED1127}"/>
              </a:ext>
            </a:extLst>
          </p:cNvPr>
          <p:cNvCxnSpPr>
            <a:endCxn id="17" idx="3"/>
          </p:cNvCxnSpPr>
          <p:nvPr/>
        </p:nvCxnSpPr>
        <p:spPr>
          <a:xfrm flipH="1" flipV="1">
            <a:off x="9079152" y="3284984"/>
            <a:ext cx="1017894" cy="595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5995097-68FD-9027-6A62-645554380D71}"/>
              </a:ext>
            </a:extLst>
          </p:cNvPr>
          <p:cNvSpPr txBox="1"/>
          <p:nvPr/>
        </p:nvSpPr>
        <p:spPr>
          <a:xfrm>
            <a:off x="7880795" y="5533778"/>
            <a:ext cx="588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学校还准备了非常详细的</a:t>
            </a:r>
            <a:r>
              <a:rPr kumimoji="1" lang="en-US" altLang="zh-CN" b="1" dirty="0">
                <a:solidFill>
                  <a:srgbClr val="C00000"/>
                </a:solidFill>
              </a:rPr>
              <a:t> API </a:t>
            </a:r>
            <a:r>
              <a:rPr kumimoji="1" lang="zh-CN" altLang="en-US" b="1" dirty="0">
                <a:solidFill>
                  <a:srgbClr val="C00000"/>
                </a:solidFill>
              </a:rPr>
              <a:t>使用文档：</a:t>
            </a:r>
            <a:r>
              <a:rPr kumimoji="1" lang="en" altLang="zh-CN" b="1" dirty="0">
                <a:solidFill>
                  <a:srgbClr val="C00000"/>
                </a:solidFill>
              </a:rPr>
              <a:t>https://</a:t>
            </a:r>
            <a:r>
              <a:rPr kumimoji="1" lang="en" altLang="zh-CN" b="1" dirty="0" err="1">
                <a:solidFill>
                  <a:srgbClr val="C00000"/>
                </a:solidFill>
              </a:rPr>
              <a:t>claw.sjtu.edu.cn</a:t>
            </a:r>
            <a:r>
              <a:rPr kumimoji="1" lang="en" altLang="zh-CN" b="1" dirty="0">
                <a:solidFill>
                  <a:srgbClr val="C00000"/>
                </a:solidFill>
              </a:rPr>
              <a:t>/guide/</a:t>
            </a:r>
            <a:r>
              <a:rPr kumimoji="1" lang="en" altLang="zh-CN" b="1" dirty="0" err="1">
                <a:solidFill>
                  <a:srgbClr val="C00000"/>
                </a:solidFill>
              </a:rPr>
              <a:t>sjtu-api</a:t>
            </a:r>
            <a:r>
              <a:rPr kumimoji="1" lang="en" altLang="zh-CN" b="1" dirty="0">
                <a:solidFill>
                  <a:srgbClr val="C00000"/>
                </a:solidFill>
              </a:rPr>
              <a:t>/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256F89-AEB1-39A3-88D4-90867CB545D1}"/>
              </a:ext>
            </a:extLst>
          </p:cNvPr>
          <p:cNvSpPr txBox="1"/>
          <p:nvPr/>
        </p:nvSpPr>
        <p:spPr>
          <a:xfrm>
            <a:off x="268788" y="1856831"/>
            <a:ext cx="4955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除了</a:t>
            </a:r>
            <a:r>
              <a:rPr kumimoji="1" lang="en-US" altLang="zh-CN" dirty="0"/>
              <a:t> API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，还有一些信息是让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使用远端</a:t>
            </a:r>
            <a:r>
              <a:rPr kumimoji="1" lang="en-US" altLang="zh-CN" dirty="0"/>
              <a:t>LLM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 </a:t>
            </a:r>
            <a:r>
              <a:rPr kumimoji="1" lang="zh-CN" altLang="en-US" dirty="0"/>
              <a:t>的必须要知道的信息：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API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URL</a:t>
            </a:r>
            <a:r>
              <a:rPr kumimoji="1" lang="zh-CN" altLang="en-US" dirty="0"/>
              <a:t>：这是让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去发送网络请求的地址（对应提供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推理服务的接口）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API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：能否有权限</a:t>
            </a:r>
            <a:r>
              <a:rPr kumimoji="1" lang="en-US" altLang="zh-CN" dirty="0"/>
              <a:t>/</a:t>
            </a:r>
            <a:r>
              <a:rPr kumimoji="1" lang="zh-CN" altLang="en-US" dirty="0"/>
              <a:t>有</a:t>
            </a:r>
            <a:r>
              <a:rPr kumimoji="1" lang="en-US" altLang="zh-CN" dirty="0"/>
              <a:t> token</a:t>
            </a:r>
            <a:r>
              <a:rPr kumimoji="1" lang="zh-CN" altLang="en-US" dirty="0"/>
              <a:t>使用服务的关键，类似于密码，务必保存好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模型服务方能够支持的模型类型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4678CF-373E-5265-3501-642A500346F4}"/>
              </a:ext>
            </a:extLst>
          </p:cNvPr>
          <p:cNvSpPr txBox="1"/>
          <p:nvPr/>
        </p:nvSpPr>
        <p:spPr>
          <a:xfrm>
            <a:off x="217671" y="4261365"/>
            <a:ext cx="620942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以右图交我办为例：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API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URL</a:t>
            </a:r>
            <a:r>
              <a:rPr kumimoji="1" lang="zh-CN" altLang="en-US" dirty="0"/>
              <a:t>：</a:t>
            </a:r>
            <a:r>
              <a:rPr kumimoji="1" lang="en" altLang="zh-CN" dirty="0"/>
              <a:t> https://</a:t>
            </a:r>
            <a:r>
              <a:rPr kumimoji="1" lang="en" altLang="zh-CN" dirty="0" err="1"/>
              <a:t>models.sjtu.edu.cn</a:t>
            </a:r>
            <a:r>
              <a:rPr kumimoji="1" lang="en" altLang="zh-CN" dirty="0"/>
              <a:t>/</a:t>
            </a:r>
            <a:r>
              <a:rPr kumimoji="1" lang="en" altLang="zh-CN" dirty="0" err="1"/>
              <a:t>api</a:t>
            </a:r>
            <a:r>
              <a:rPr kumimoji="1" lang="en" altLang="zh-CN" dirty="0"/>
              <a:t>/v1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API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sk</a:t>
            </a:r>
            <a:r>
              <a:rPr kumimoji="1" lang="en-US" altLang="zh-CN" dirty="0"/>
              <a:t>-xxx (</a:t>
            </a:r>
            <a:r>
              <a:rPr kumimoji="1" lang="zh-CN" altLang="en-US" dirty="0"/>
              <a:t>为了安全这里不写全</a:t>
            </a:r>
            <a:r>
              <a:rPr kumimoji="1"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模型服务方能够支持的模型类型：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sz="14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DeepSeek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V3.2</a:t>
            </a:r>
            <a:r>
              <a:rPr lang="zh-CN" altLang="e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（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常规模式）：调用名 </a:t>
            </a:r>
            <a:r>
              <a:rPr lang="en" altLang="zh-CN" sz="14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deepseek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-chat</a:t>
            </a:r>
            <a:br>
              <a:rPr lang="en" altLang="zh-CN" sz="1400" dirty="0"/>
            </a:br>
            <a:r>
              <a:rPr lang="en" altLang="zh-CN" sz="14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DeepSeek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V3.2</a:t>
            </a:r>
            <a:r>
              <a:rPr lang="zh-CN" altLang="e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（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思考模式）：调用名 </a:t>
            </a:r>
            <a:r>
              <a:rPr lang="en" altLang="zh-CN" sz="14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deepseek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-reasoner</a:t>
            </a:r>
            <a:br>
              <a:rPr lang="en" altLang="zh-CN" sz="1400" dirty="0"/>
            </a:b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MiniMax-M2.7</a:t>
            </a:r>
            <a:r>
              <a:rPr lang="zh-CN" altLang="e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：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调用名 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minimax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或 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minimax-m2.7</a:t>
            </a:r>
            <a:br>
              <a:rPr lang="en" altLang="zh-CN" sz="1400" dirty="0"/>
            </a:b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GLM-5.1</a:t>
            </a:r>
            <a:r>
              <a:rPr lang="zh-CN" altLang="e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：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调用名 </a:t>
            </a:r>
            <a:r>
              <a:rPr lang="en" altLang="zh-CN" sz="14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glm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或 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glm-5.1</a:t>
            </a:r>
            <a:br>
              <a:rPr lang="en" altLang="zh-CN" sz="1400" dirty="0"/>
            </a:b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Qwen3.5-27B</a:t>
            </a:r>
            <a:r>
              <a:rPr lang="zh-CN" altLang="e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：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调用名 </a:t>
            </a:r>
            <a:r>
              <a:rPr lang="en" altLang="zh-CN" sz="14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qwen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或 </a:t>
            </a:r>
            <a:r>
              <a:rPr lang="en" altLang="zh-CN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qwen3.5-27b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65306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A545-4AE6-18DB-7EDC-F9872FF7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F3F6A-EDF2-BD0D-40BE-2C92CE30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来写第一个</a:t>
            </a:r>
            <a:r>
              <a:rPr kumimoji="1" lang="en-US" altLang="zh-CN" dirty="0"/>
              <a:t> HelloWorld </a:t>
            </a:r>
            <a:r>
              <a:rPr kumimoji="1" lang="zh-CN" altLang="en-US" dirty="0"/>
              <a:t>级别的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应用！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B53EEA-2E64-BA20-6189-F1829CE4C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zh-CN" altLang="en-US" dirty="0"/>
              <a:t>编程语言：课程不限制大家完成的编程语言</a:t>
            </a:r>
            <a:endParaRPr lang="en-US" altLang="zh-CN" dirty="0"/>
          </a:p>
          <a:p>
            <a:pPr lvl="1"/>
            <a:r>
              <a:rPr lang="zh-CN" altLang="en-US" dirty="0"/>
              <a:t>说明：理论上，</a:t>
            </a:r>
            <a:r>
              <a:rPr lang="en-US" altLang="zh-CN" dirty="0"/>
              <a:t>C/C++</a:t>
            </a:r>
            <a:r>
              <a:rPr lang="zh-CN" altLang="en-US" dirty="0"/>
              <a:t>仍然能够完成项目，但是开发难度和要求会更高</a:t>
            </a:r>
            <a:endParaRPr lang="en-US" altLang="zh-CN" dirty="0"/>
          </a:p>
          <a:p>
            <a:pPr lvl="1"/>
            <a:r>
              <a:rPr lang="zh-CN" altLang="en-US" dirty="0"/>
              <a:t>目前开发</a:t>
            </a:r>
            <a:r>
              <a:rPr lang="en-US" altLang="zh-CN" dirty="0"/>
              <a:t> Agent </a:t>
            </a:r>
            <a:r>
              <a:rPr lang="zh-CN" altLang="en-US" dirty="0"/>
              <a:t>方面，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 err="1"/>
              <a:t>Node.JS</a:t>
            </a:r>
            <a:r>
              <a:rPr lang="zh-CN" altLang="en-US" dirty="0"/>
              <a:t>、</a:t>
            </a:r>
            <a:r>
              <a:rPr lang="en-US" altLang="zh-CN" dirty="0"/>
              <a:t>Typescript </a:t>
            </a:r>
            <a:r>
              <a:rPr lang="zh-CN" altLang="en-US" dirty="0"/>
              <a:t>等语言的生态相对会更加完善</a:t>
            </a:r>
            <a:endParaRPr lang="en-US" altLang="zh-CN" dirty="0"/>
          </a:p>
          <a:p>
            <a:pPr lvl="1"/>
            <a:r>
              <a:rPr lang="zh-CN" altLang="en-US" dirty="0"/>
              <a:t>问：老师，这些语言我都没学过怎么办？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Vibe Coding/Spec Coding</a:t>
            </a:r>
            <a:r>
              <a:rPr lang="zh-CN" altLang="en-US" dirty="0"/>
              <a:t>（后面的课程里面大家会更加感受到</a:t>
            </a:r>
            <a:r>
              <a:rPr lang="en-US" altLang="zh-CN" dirty="0"/>
              <a:t> Spec</a:t>
            </a:r>
            <a:r>
              <a:rPr lang="zh-CN" altLang="en-US" dirty="0"/>
              <a:t> </a:t>
            </a:r>
            <a:r>
              <a:rPr lang="en-US" altLang="zh-CN" dirty="0"/>
              <a:t>Coding </a:t>
            </a:r>
            <a:r>
              <a:rPr lang="zh-CN" altLang="en-US" dirty="0"/>
              <a:t>的重要性，我们目前不区分这两个概念）</a:t>
            </a:r>
            <a:endParaRPr lang="en-US" altLang="zh-CN" dirty="0"/>
          </a:p>
          <a:p>
            <a:pPr lvl="1"/>
            <a:r>
              <a:rPr lang="zh-CN" altLang="en-US" dirty="0"/>
              <a:t>我们现在的开发工具是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，它能够完成核心的开发任务，我们的目的是，准确描述我们的需求，并且让它在完成开发任务之后进行验证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5617C6-5984-6D09-09F6-17B20B79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1363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5854D-A26C-B7C7-5FE8-7A2C211B8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02BB45-EDC1-7482-A304-F8026002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来写第一个</a:t>
            </a:r>
            <a:r>
              <a:rPr kumimoji="1" lang="en-US" altLang="zh-CN" dirty="0"/>
              <a:t> HelloWorld </a:t>
            </a:r>
            <a:r>
              <a:rPr kumimoji="1" lang="zh-CN" altLang="en-US" dirty="0"/>
              <a:t>级别的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应用！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B5CF8-654A-8490-C67F-02AE8B43C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en-US" altLang="zh-CN" dirty="0"/>
              <a:t>Vibe Coding/Spec Coding</a:t>
            </a:r>
          </a:p>
          <a:p>
            <a:pPr lvl="1"/>
            <a:r>
              <a:rPr lang="zh-CN" altLang="en-US" dirty="0"/>
              <a:t>我们现在的开发工具是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，它能够完成核心的开发任务，我们的目的是，准确描述我们的需求，并且让它在完成开发任务之后进行验证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6BE35-13FC-0477-E1ED-CBF10789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22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A79971-F93B-AE20-38A5-A42C46DD4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224" y="2578482"/>
            <a:ext cx="4409684" cy="43651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7CCD7C6-5BFC-5D40-A93F-DC4D407AB061}"/>
              </a:ext>
            </a:extLst>
          </p:cNvPr>
          <p:cNvSpPr txBox="1"/>
          <p:nvPr/>
        </p:nvSpPr>
        <p:spPr>
          <a:xfrm>
            <a:off x="0" y="2579140"/>
            <a:ext cx="717612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完整的提示词如下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endParaRPr lang="en-US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我现在要新建一个项目，叫做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DD-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SJTUClaw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。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现在，这个项目的第一步，是构建一个基于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LLM API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调用，和大语言模型交互的本地的程序。我计划使用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Python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的编程语言。现在，我已经获得了以下的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API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信息：</a:t>
            </a:r>
          </a:p>
          <a:p>
            <a:pPr algn="l"/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•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API base URL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 </a:t>
            </a:r>
            <a:r>
              <a:rPr lang="en" altLang="zh-CN" sz="1400" b="0" i="0" u="none" strike="noStrike" dirty="0">
                <a:solidFill>
                  <a:srgbClr val="4183C4"/>
                </a:solidFill>
                <a:effectLst/>
                <a:latin typeface="Open Sans" panose="020B0606030504020204" pitchFamily="34" charset="0"/>
                <a:hlinkClick r:id="rId4"/>
              </a:rPr>
              <a:t>https://models.sjtu.edu.cn/api/v1</a:t>
            </a:r>
            <a:endParaRPr lang="en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•API Key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放在了本地的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sjtu_api_key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的文件中（请你也不要直接将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API key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内置到程序中，避免可能的泄露）</a:t>
            </a:r>
          </a:p>
          <a:p>
            <a:pPr algn="l"/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•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模型服务方能够支持的模型类型：</a:t>
            </a:r>
          </a:p>
          <a:p>
            <a:pPr algn="l"/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•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DeepSeek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V3.2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（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常规模式）：调用名 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deepseek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-chat 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DeepSeek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V3.2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（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思考模式）：调用名 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deepseek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-reasoner MiniMax-M2.7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调用名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minimax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或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minimax-m2.7 GLM-5.1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调用名 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glm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或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glm-5.1 Qwen3.5-27B</a:t>
            </a:r>
            <a:r>
              <a:rPr lang="zh-CN" altLang="e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：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调用名 </a:t>
            </a:r>
            <a:r>
              <a:rPr lang="en" altLang="zh-CN" sz="1400" b="0" i="0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qwen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或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qwen3.5-27b</a:t>
            </a:r>
          </a:p>
          <a:p>
            <a:pPr algn="l"/>
            <a:endParaRPr lang="en-US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请帮我实现这个程序，并且基于 </a:t>
            </a:r>
            <a:r>
              <a:rPr lang="en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GLM 5.1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实现和模型的调用。你需要先实现整个程序，并且进行测试，如果测试出现问题，进行修复，直到完成任务。最后，你需要给我汇报，你的任务的完成情况以及你的完成思路和验证思路。</a:t>
            </a:r>
          </a:p>
          <a:p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65008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A229-F54D-67E6-4DD7-CF8C254C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8ACEE-019A-F9B1-143B-45B5A0C0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来写第一个</a:t>
            </a:r>
            <a:r>
              <a:rPr kumimoji="1" lang="en-US" altLang="zh-CN" dirty="0"/>
              <a:t> HelloWorld </a:t>
            </a:r>
            <a:r>
              <a:rPr kumimoji="1" lang="zh-CN" altLang="en-US" dirty="0"/>
              <a:t>级别的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应用！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BF6386-A45B-74B3-B86A-0C470E96B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en-US" altLang="zh-CN" dirty="0"/>
              <a:t>Vibe Coding/Spec Coding</a:t>
            </a:r>
          </a:p>
          <a:p>
            <a:pPr lvl="1"/>
            <a:r>
              <a:rPr lang="zh-CN" altLang="en-US" dirty="0"/>
              <a:t>我们现在的开发工具是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，它能够完成核心的开发任务，我们的目的是，准确描述我们的需求，并且让它在完成开发任务之后进行验证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BD49EA-FBB3-D04B-E657-8DB3B089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23</a:t>
            </a:fld>
            <a:endParaRPr lang="en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6D7C18-7593-2847-5B75-D6E788A5C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2433099"/>
            <a:ext cx="2094899" cy="42930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84CC970-C402-F69B-794C-07A236D1BC87}"/>
              </a:ext>
            </a:extLst>
          </p:cNvPr>
          <p:cNvSpPr txBox="1"/>
          <p:nvPr/>
        </p:nvSpPr>
        <p:spPr>
          <a:xfrm>
            <a:off x="479376" y="3334391"/>
            <a:ext cx="2094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chemeClr val="bg1"/>
                </a:solidFill>
              </a:rPr>
              <a:t>Zcode</a:t>
            </a:r>
            <a:r>
              <a:rPr kumimoji="1" lang="en-US" altLang="zh-CN" dirty="0">
                <a:solidFill>
                  <a:schemeClr val="bg1"/>
                </a:solidFill>
              </a:rPr>
              <a:t> </a:t>
            </a:r>
            <a:r>
              <a:rPr kumimoji="1" lang="zh-CN" altLang="en-US" dirty="0">
                <a:solidFill>
                  <a:schemeClr val="bg1"/>
                </a:solidFill>
              </a:rPr>
              <a:t>开始执行我们发送的请求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B3520E-5E8C-3B9F-E8F7-CCE340A43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648" y="260647"/>
            <a:ext cx="3523250" cy="65027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9B3F48B-65C4-73D5-8768-DA2CBE1A2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058" y="2780928"/>
            <a:ext cx="3991406" cy="300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56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F956-96A5-B102-4F34-FC77EF84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21662-A66A-1654-557C-C676CACE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来写第一个</a:t>
            </a:r>
            <a:r>
              <a:rPr kumimoji="1" lang="en-US" altLang="zh-CN" dirty="0"/>
              <a:t> HelloWorld </a:t>
            </a:r>
            <a:r>
              <a:rPr kumimoji="1" lang="zh-CN" altLang="en-US" dirty="0"/>
              <a:t>级别的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应用！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B27D82-B90D-C138-359C-197AF641E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en-US" altLang="zh-CN" dirty="0"/>
              <a:t>Vibe Coding/Spec Coding</a:t>
            </a:r>
          </a:p>
          <a:p>
            <a:pPr lvl="1"/>
            <a:r>
              <a:rPr lang="zh-CN" altLang="en-US" dirty="0"/>
              <a:t>我们现在的开发工具是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，它能够完成核心的开发任务，我们的目的是，准确描述我们的需求，并且让它在完成开发任务之后进行验证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21F6F4-CCA9-A0AA-3304-F74A4023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24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CD6F66-04B2-7C66-3A07-0C554A794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1" y="-114103"/>
            <a:ext cx="4558862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2771E12-F7AC-6331-A8E8-5383E182692F}"/>
              </a:ext>
            </a:extLst>
          </p:cNvPr>
          <p:cNvSpPr txBox="1"/>
          <p:nvPr/>
        </p:nvSpPr>
        <p:spPr>
          <a:xfrm>
            <a:off x="2469188" y="2492896"/>
            <a:ext cx="2147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需要审阅</a:t>
            </a:r>
            <a:r>
              <a:rPr kumimoji="1" lang="en-US" altLang="zh-CN" dirty="0">
                <a:solidFill>
                  <a:schemeClr val="bg1"/>
                </a:solidFill>
              </a:rPr>
              <a:t> Code</a:t>
            </a:r>
            <a:r>
              <a:rPr kumimoji="1" lang="zh-CN" altLang="en-US" dirty="0">
                <a:solidFill>
                  <a:schemeClr val="bg1"/>
                </a:solidFill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</a:rPr>
              <a:t>Agent </a:t>
            </a:r>
            <a:r>
              <a:rPr kumimoji="1" lang="zh-CN" altLang="en-US" dirty="0">
                <a:solidFill>
                  <a:schemeClr val="bg1"/>
                </a:solidFill>
              </a:rPr>
              <a:t>写的代码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FE07D8-DC2D-F1A0-618D-502062E2822E}"/>
              </a:ext>
            </a:extLst>
          </p:cNvPr>
          <p:cNvSpPr txBox="1"/>
          <p:nvPr/>
        </p:nvSpPr>
        <p:spPr>
          <a:xfrm>
            <a:off x="4616463" y="5934670"/>
            <a:ext cx="5769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注：在没有系统性学过</a:t>
            </a:r>
            <a:r>
              <a:rPr kumimoji="1" lang="en-US" altLang="zh-CN" dirty="0"/>
              <a:t> Python </a:t>
            </a:r>
            <a:r>
              <a:rPr kumimoji="1" lang="zh-CN" altLang="en-US" dirty="0"/>
              <a:t>等语言的情况下，让大家去写类似的代码是困难的，但是去读</a:t>
            </a:r>
            <a:r>
              <a:rPr kumimoji="1" lang="en-US" altLang="zh-CN" dirty="0"/>
              <a:t>/review </a:t>
            </a:r>
            <a:r>
              <a:rPr kumimoji="1" lang="zh-CN" altLang="en-US" dirty="0"/>
              <a:t>类似的代码其实是可以完成的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F3522E5-5CEA-BC32-5F46-5D8F909C4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71028"/>
            <a:ext cx="5151609" cy="322467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809D609-CBD3-DD58-53CD-55C1F346BE68}"/>
              </a:ext>
            </a:extLst>
          </p:cNvPr>
          <p:cNvSpPr txBox="1"/>
          <p:nvPr/>
        </p:nvSpPr>
        <p:spPr>
          <a:xfrm>
            <a:off x="8261307" y="2575870"/>
            <a:ext cx="3087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rgbClr val="FFFF00"/>
                </a:solidFill>
              </a:rPr>
              <a:t>运行一下，可以访问交我办的</a:t>
            </a:r>
            <a:r>
              <a:rPr kumimoji="1" lang="en-US" altLang="zh-CN" sz="1400" b="1" dirty="0">
                <a:solidFill>
                  <a:srgbClr val="FFFF00"/>
                </a:solidFill>
              </a:rPr>
              <a:t> API </a:t>
            </a:r>
            <a:r>
              <a:rPr kumimoji="1" lang="zh-CN" altLang="en-US" sz="1400" b="1" dirty="0">
                <a:solidFill>
                  <a:srgbClr val="FFFF00"/>
                </a:solidFill>
              </a:rPr>
              <a:t>来在我们的程序中和</a:t>
            </a:r>
            <a:r>
              <a:rPr kumimoji="1" lang="en-US" altLang="zh-CN" sz="1400" b="1" dirty="0">
                <a:solidFill>
                  <a:srgbClr val="FFFF00"/>
                </a:solidFill>
              </a:rPr>
              <a:t> LLM </a:t>
            </a:r>
            <a:r>
              <a:rPr kumimoji="1" lang="zh-CN" altLang="en-US" sz="1400" b="1" dirty="0">
                <a:solidFill>
                  <a:srgbClr val="FFFF00"/>
                </a:solidFill>
              </a:rPr>
              <a:t>进行对话了！这已经是一个最简单的</a:t>
            </a:r>
            <a:r>
              <a:rPr kumimoji="1" lang="en-US" altLang="zh-CN" sz="1400" b="1" dirty="0">
                <a:solidFill>
                  <a:srgbClr val="FFFF00"/>
                </a:solidFill>
              </a:rPr>
              <a:t> Agent </a:t>
            </a:r>
            <a:r>
              <a:rPr kumimoji="1" lang="zh-CN" altLang="en-US" sz="1400" b="1" dirty="0">
                <a:solidFill>
                  <a:srgbClr val="FFFF00"/>
                </a:solidFill>
              </a:rPr>
              <a:t>了！</a:t>
            </a:r>
            <a:endParaRPr kumimoji="1" lang="en-US" altLang="zh-CN" sz="1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470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1F54-FA84-C3B2-2D01-59DD086F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ACDEF-9403-0E5C-8615-FFEC343E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LLM API </a:t>
            </a:r>
            <a:r>
              <a:rPr kumimoji="1" lang="zh-CN" altLang="en-US" dirty="0"/>
              <a:t>怎么用？（手动版本）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D3DC58-3662-4A23-C793-6527F4A4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zh-CN" altLang="en-US" dirty="0"/>
              <a:t>一般软件和</a:t>
            </a:r>
            <a:r>
              <a:rPr lang="en-US" altLang="zh-CN" dirty="0"/>
              <a:t> LLM</a:t>
            </a:r>
            <a:r>
              <a:rPr lang="zh-CN" altLang="en-US" dirty="0"/>
              <a:t>推理服务提供方之间通过</a:t>
            </a:r>
            <a:r>
              <a:rPr lang="en-US" altLang="zh-CN" dirty="0"/>
              <a:t> Json </a:t>
            </a:r>
            <a:r>
              <a:rPr lang="zh-CN" altLang="en-US" dirty="0"/>
              <a:t>等格式进行交互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853EF-F3FC-ECD2-D5A4-A20BD07B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25</a:t>
            </a:fld>
            <a:endParaRPr lang="en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B27771-295A-312A-2CDF-21191EA19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954" y="3391934"/>
            <a:ext cx="4608512" cy="21434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B669D06-8B0E-D267-371D-FDAFCADEEAE1}"/>
              </a:ext>
            </a:extLst>
          </p:cNvPr>
          <p:cNvSpPr txBox="1"/>
          <p:nvPr/>
        </p:nvSpPr>
        <p:spPr>
          <a:xfrm>
            <a:off x="420131" y="3781168"/>
            <a:ext cx="6179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model</a:t>
            </a:r>
            <a:r>
              <a:rPr lang="zh-CN" altLang="en" dirty="0"/>
              <a:t>：</a:t>
            </a:r>
            <a:r>
              <a:rPr lang="zh-CN" altLang="en-US" dirty="0"/>
              <a:t>选择哪个模型，例如 </a:t>
            </a:r>
            <a:r>
              <a:rPr lang="en" altLang="zh-CN" dirty="0"/>
              <a:t>deepseek-v4-flash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messages</a:t>
            </a:r>
            <a:r>
              <a:rPr lang="zh-CN" altLang="en" dirty="0"/>
              <a:t>：</a:t>
            </a:r>
            <a:r>
              <a:rPr lang="zh-CN" altLang="en-US" dirty="0"/>
              <a:t>对话历史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system </a:t>
            </a:r>
            <a:r>
              <a:rPr lang="zh-CN" altLang="en-US" dirty="0"/>
              <a:t>是规则，</a:t>
            </a:r>
            <a:r>
              <a:rPr lang="en" altLang="zh-CN" dirty="0"/>
              <a:t>user </a:t>
            </a:r>
            <a:r>
              <a:rPr lang="zh-CN" altLang="en-US" dirty="0"/>
              <a:t>是用户输入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Authorization</a:t>
            </a:r>
            <a:r>
              <a:rPr lang="zh-CN" altLang="en" dirty="0"/>
              <a:t>：</a:t>
            </a:r>
            <a:r>
              <a:rPr lang="zh-CN" altLang="en-US" dirty="0"/>
              <a:t>用 </a:t>
            </a:r>
            <a:r>
              <a:rPr lang="en" altLang="zh-CN" dirty="0"/>
              <a:t>API key </a:t>
            </a:r>
            <a:r>
              <a:rPr lang="zh-CN" altLang="en-US" dirty="0"/>
              <a:t>证明你有调用权限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temperature</a:t>
            </a:r>
            <a:r>
              <a:rPr lang="zh-CN" altLang="en" dirty="0"/>
              <a:t>：</a:t>
            </a:r>
            <a:r>
              <a:rPr lang="zh-CN" altLang="en-US" dirty="0"/>
              <a:t>控制输出随机性，越低越稳定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550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F139-1442-FF80-32D6-86CE6BD5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8902E-6843-2F16-8077-051F0177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LLM API </a:t>
            </a:r>
            <a:r>
              <a:rPr kumimoji="1" lang="zh-CN" altLang="en-US" dirty="0"/>
              <a:t>怎么用？（手动版本）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7CD34-178E-805B-C158-CE580BFC5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zh-CN" altLang="en-US" dirty="0"/>
              <a:t>一般软件和</a:t>
            </a:r>
            <a:r>
              <a:rPr lang="en-US" altLang="zh-CN" dirty="0"/>
              <a:t> LLM</a:t>
            </a:r>
            <a:r>
              <a:rPr lang="zh-CN" altLang="en-US" dirty="0"/>
              <a:t>推理服务提供方之间通过</a:t>
            </a:r>
            <a:r>
              <a:rPr lang="en-US" altLang="zh-CN" dirty="0"/>
              <a:t> Json </a:t>
            </a:r>
            <a:r>
              <a:rPr lang="zh-CN" altLang="en-US" dirty="0"/>
              <a:t>等格式进行交互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0394C-65A1-6221-90ED-5C52E234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26</a:t>
            </a:fld>
            <a:endParaRPr lang="en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E8F947-3064-A3A4-170B-AA39917A904A}"/>
              </a:ext>
            </a:extLst>
          </p:cNvPr>
          <p:cNvSpPr txBox="1"/>
          <p:nvPr/>
        </p:nvSpPr>
        <p:spPr>
          <a:xfrm>
            <a:off x="60345" y="2690336"/>
            <a:ext cx="6179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model</a:t>
            </a:r>
            <a:r>
              <a:rPr lang="zh-CN" altLang="en" dirty="0"/>
              <a:t>：</a:t>
            </a:r>
            <a:r>
              <a:rPr lang="zh-CN" altLang="en-US" dirty="0"/>
              <a:t>选择哪个模型，例如 </a:t>
            </a:r>
            <a:r>
              <a:rPr lang="en" altLang="zh-CN" dirty="0"/>
              <a:t>deepseek-v4-flash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messages</a:t>
            </a:r>
            <a:r>
              <a:rPr lang="zh-CN" altLang="en" dirty="0"/>
              <a:t>：</a:t>
            </a:r>
            <a:r>
              <a:rPr lang="zh-CN" altLang="en-US" dirty="0"/>
              <a:t>对话历史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system </a:t>
            </a:r>
            <a:r>
              <a:rPr lang="zh-CN" altLang="en-US" dirty="0"/>
              <a:t>是规则，</a:t>
            </a:r>
            <a:r>
              <a:rPr lang="en" altLang="zh-CN" dirty="0"/>
              <a:t>user </a:t>
            </a:r>
            <a:r>
              <a:rPr lang="zh-CN" altLang="en-US" dirty="0"/>
              <a:t>是用户输入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Authorization</a:t>
            </a:r>
            <a:r>
              <a:rPr lang="zh-CN" altLang="en" dirty="0"/>
              <a:t>：</a:t>
            </a:r>
            <a:r>
              <a:rPr lang="zh-CN" altLang="en-US" dirty="0"/>
              <a:t>用 </a:t>
            </a:r>
            <a:r>
              <a:rPr lang="en" altLang="zh-CN" dirty="0"/>
              <a:t>API key </a:t>
            </a:r>
            <a:r>
              <a:rPr lang="zh-CN" altLang="en-US" dirty="0"/>
              <a:t>证明你有调用权限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temperature</a:t>
            </a:r>
            <a:r>
              <a:rPr lang="zh-CN" altLang="en" dirty="0"/>
              <a:t>：</a:t>
            </a:r>
            <a:r>
              <a:rPr lang="zh-CN" altLang="en-US" dirty="0"/>
              <a:t>控制输出随机性，越低越稳定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9C5E03-CBA5-C24D-27A9-B9F6BADA1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524" y="1716905"/>
            <a:ext cx="5748345" cy="489026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C10A3E9-8DC9-9AAC-46AB-B0A0477EE6B6}"/>
              </a:ext>
            </a:extLst>
          </p:cNvPr>
          <p:cNvSpPr/>
          <p:nvPr/>
        </p:nvSpPr>
        <p:spPr>
          <a:xfrm>
            <a:off x="60345" y="2690336"/>
            <a:ext cx="11076216" cy="1602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8F67B1-5030-9B5F-8F0F-88661FF1AA72}"/>
              </a:ext>
            </a:extLst>
          </p:cNvPr>
          <p:cNvSpPr txBox="1"/>
          <p:nvPr/>
        </p:nvSpPr>
        <p:spPr>
          <a:xfrm>
            <a:off x="135720" y="4741242"/>
            <a:ext cx="552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这里去构造网络包，往</a:t>
            </a:r>
            <a:r>
              <a:rPr lang="en-US" altLang="zh-CN" dirty="0"/>
              <a:t> API</a:t>
            </a:r>
            <a:r>
              <a:rPr lang="zh-CN" altLang="en-US" dirty="0"/>
              <a:t> </a:t>
            </a:r>
            <a:r>
              <a:rPr lang="en-US" altLang="zh-CN" dirty="0"/>
              <a:t>base </a:t>
            </a:r>
            <a:r>
              <a:rPr lang="zh-CN" altLang="en-US" dirty="0"/>
              <a:t>的地址发出请求，并且将本地的</a:t>
            </a:r>
            <a:r>
              <a:rPr lang="en-US" altLang="zh-CN" dirty="0"/>
              <a:t> </a:t>
            </a:r>
            <a:r>
              <a:rPr lang="en-US" altLang="zh-CN" dirty="0" err="1"/>
              <a:t>api_key</a:t>
            </a:r>
            <a:r>
              <a:rPr lang="en-US" altLang="zh-CN" dirty="0"/>
              <a:t> </a:t>
            </a:r>
            <a:r>
              <a:rPr lang="zh-CN" altLang="en-US" dirty="0"/>
              <a:t>放到请求中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请求的主要内容就是</a:t>
            </a:r>
            <a:r>
              <a:rPr kumimoji="1" lang="en-US" altLang="zh-CN" dirty="0"/>
              <a:t> payload </a:t>
            </a:r>
            <a:r>
              <a:rPr kumimoji="1" lang="zh-CN" altLang="en-US" dirty="0"/>
              <a:t>里面的会话信息了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DEC5981-3FA8-F4AB-6665-9AC18CCD70FE}"/>
              </a:ext>
            </a:extLst>
          </p:cNvPr>
          <p:cNvCxnSpPr/>
          <p:nvPr/>
        </p:nvCxnSpPr>
        <p:spPr>
          <a:xfrm>
            <a:off x="5375920" y="5229200"/>
            <a:ext cx="115212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AD20523-CEEA-FAC0-EDFF-F7243772C041}"/>
              </a:ext>
            </a:extLst>
          </p:cNvPr>
          <p:cNvSpPr txBox="1"/>
          <p:nvPr/>
        </p:nvSpPr>
        <p:spPr>
          <a:xfrm>
            <a:off x="22921" y="6220182"/>
            <a:ext cx="5575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C00000"/>
                </a:solidFill>
              </a:rPr>
              <a:t>注：这里仍然只是一个代码片段，但是可以看出，虽然手写这部分代码完全可行，但是需要仔细考虑和学习各种</a:t>
            </a:r>
            <a:r>
              <a:rPr kumimoji="1" lang="en-US" altLang="zh-CN" sz="1200" b="1" dirty="0">
                <a:solidFill>
                  <a:srgbClr val="C00000"/>
                </a:solidFill>
              </a:rPr>
              <a:t> Python </a:t>
            </a:r>
            <a:r>
              <a:rPr kumimoji="1" lang="zh-CN" altLang="en-US" sz="1200" b="1" dirty="0">
                <a:solidFill>
                  <a:srgbClr val="C00000"/>
                </a:solidFill>
              </a:rPr>
              <a:t>中的</a:t>
            </a:r>
            <a:r>
              <a:rPr kumimoji="1" lang="en-US" altLang="zh-CN" sz="1200" b="1" dirty="0">
                <a:solidFill>
                  <a:srgbClr val="C00000"/>
                </a:solidFill>
              </a:rPr>
              <a:t> API </a:t>
            </a:r>
            <a:r>
              <a:rPr kumimoji="1" lang="zh-CN" altLang="en-US" sz="1200" b="1" dirty="0">
                <a:solidFill>
                  <a:srgbClr val="C00000"/>
                </a:solidFill>
              </a:rPr>
              <a:t>调用的接口，网络处理，</a:t>
            </a:r>
            <a:r>
              <a:rPr kumimoji="1" lang="en-US" altLang="zh-CN" sz="1200" b="1" dirty="0">
                <a:solidFill>
                  <a:srgbClr val="C00000"/>
                </a:solidFill>
              </a:rPr>
              <a:t>Json </a:t>
            </a:r>
            <a:r>
              <a:rPr kumimoji="1" lang="zh-CN" altLang="en-US" sz="1200" b="1" dirty="0">
                <a:solidFill>
                  <a:srgbClr val="C00000"/>
                </a:solidFill>
              </a:rPr>
              <a:t>处理等，一不小心非常容易出错</a:t>
            </a:r>
          </a:p>
        </p:txBody>
      </p:sp>
    </p:spTree>
    <p:extLst>
      <p:ext uri="{BB962C8B-B14F-4D97-AF65-F5344CB8AC3E}">
        <p14:creationId xmlns:p14="http://schemas.microsoft.com/office/powerpoint/2010/main" val="1941553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5299-41F9-C0C5-30C2-E6F74AE2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F2828-1762-22C1-4949-E052FDD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一些补充说明（和</a:t>
            </a:r>
            <a:r>
              <a:rPr kumimoji="1" lang="en-US" altLang="zh-CN" dirty="0"/>
              <a:t> AI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 </a:t>
            </a:r>
            <a:r>
              <a:rPr kumimoji="1" lang="zh-CN" altLang="en-US" dirty="0"/>
              <a:t>的配合）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31ABA-1C9D-D120-C6D5-7526572FE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435533" cy="5224115"/>
          </a:xfrm>
        </p:spPr>
        <p:txBody>
          <a:bodyPr>
            <a:normAutofit/>
          </a:bodyPr>
          <a:lstStyle/>
          <a:p>
            <a:r>
              <a:rPr lang="zh-CN" altLang="en-US" dirty="0"/>
              <a:t>会有同学选择</a:t>
            </a:r>
            <a:r>
              <a:rPr lang="en-US" altLang="zh-CN" dirty="0"/>
              <a:t> Python/JS </a:t>
            </a:r>
            <a:r>
              <a:rPr lang="zh-CN" altLang="en-US" dirty="0"/>
              <a:t>等此前没有系统性学过的语言作为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完成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的语言，虽然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能够比较好的完成开发任务，但是如果对写的代码完全不了解，还是会让人有点担心</a:t>
            </a:r>
            <a:endParaRPr lang="en-US" altLang="zh-CN" dirty="0"/>
          </a:p>
          <a:p>
            <a:r>
              <a:rPr lang="zh-CN" altLang="en-US" dirty="0"/>
              <a:t>一些应对：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写完对应的代码后，去看懂这段代码，对于的代码的语法，执行方式等大家都可以通过简单的自学快速了解</a:t>
            </a:r>
            <a:endParaRPr lang="en-US" altLang="zh-CN" dirty="0"/>
          </a:p>
          <a:p>
            <a:pPr lvl="1"/>
            <a:r>
              <a:rPr lang="zh-CN" altLang="en-US" dirty="0"/>
              <a:t>如果确实看不懂，可以通过和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对话来询问对应的实现是怎么做的</a:t>
            </a:r>
            <a:endParaRPr lang="en-US" altLang="zh-CN" dirty="0"/>
          </a:p>
          <a:p>
            <a:pPr lvl="1"/>
            <a:r>
              <a:rPr lang="zh-CN" altLang="en-US" dirty="0"/>
              <a:t>一个简单的原则是：不需要能手写，但是要能读懂并理解对应的代码</a:t>
            </a:r>
            <a:endParaRPr lang="en-US" altLang="zh-CN" dirty="0"/>
          </a:p>
          <a:p>
            <a:pPr lvl="1"/>
            <a:r>
              <a:rPr lang="zh-CN" altLang="en-US" dirty="0"/>
              <a:t>在当下，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很容易在实现到比较复杂的功能后开始出现问题，人依然需要做好代码的</a:t>
            </a:r>
            <a:r>
              <a:rPr lang="en-US" altLang="zh-CN" dirty="0"/>
              <a:t> Review </a:t>
            </a:r>
            <a:r>
              <a:rPr lang="zh-CN" altLang="en-US" dirty="0"/>
              <a:t>工作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141346-17D2-8594-BA7C-87251BC8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0668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请大家按照今天的课程内容，开始阅读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要求文档，并且进行开发和实践～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如果提前完成了课上的内容，可以根据文档继续往后面提前进行开发任务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4381</Words>
  <Application>Microsoft Macintosh PowerPoint</Application>
  <PresentationFormat>宽屏</PresentationFormat>
  <Paragraphs>340</Paragraphs>
  <Slides>28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-apple-system</vt:lpstr>
      <vt:lpstr>Microsoft YaHei</vt:lpstr>
      <vt:lpstr>Arial</vt:lpstr>
      <vt:lpstr>Calibri</vt:lpstr>
      <vt:lpstr>Courier New</vt:lpstr>
      <vt:lpstr>Open Sans</vt:lpstr>
      <vt:lpstr>Office Theme</vt:lpstr>
      <vt:lpstr>计算机编程实践#2 Agent、大作业&amp; 我们的第一个能跑的Agent系统</vt:lpstr>
      <vt:lpstr>智能化的演进</vt:lpstr>
      <vt:lpstr>从工具 Tool 到助手 CoPilot</vt:lpstr>
      <vt:lpstr>从工具 Tool 到助手 CoPilot</vt:lpstr>
      <vt:lpstr>从工具 Tool 到助手 CoPilot</vt:lpstr>
      <vt:lpstr>养龙虾（OpenClaw）</vt:lpstr>
      <vt:lpstr>计算机编程实践（暑期课程）的主要任务</vt:lpstr>
      <vt:lpstr>计算机编程实践（暑期课程）的主要任务</vt:lpstr>
      <vt:lpstr>计算机编程实践（暑期课程）的主要任务</vt:lpstr>
      <vt:lpstr>计算机编程实践（暑期课程）的主要任务</vt:lpstr>
      <vt:lpstr>计算机编程实践（暑期课程）的主要任务</vt:lpstr>
      <vt:lpstr>智能体与我们的第一个智能体</vt:lpstr>
      <vt:lpstr>什么是智能体（Agent）</vt:lpstr>
      <vt:lpstr>什么是智能体（Agent）</vt:lpstr>
      <vt:lpstr>什么是智能体（Agent）</vt:lpstr>
      <vt:lpstr>什么是智能体（Agent）</vt:lpstr>
      <vt:lpstr>LLM API调用与智能体软件的 HelloWorld</vt:lpstr>
      <vt:lpstr>LLM API调用与智能体软件的 HelloWorld</vt:lpstr>
      <vt:lpstr>LLM API调用与智能体软件的 HelloWorld</vt:lpstr>
      <vt:lpstr>LLM API调用与智能体软件的 HelloWorld</vt:lpstr>
      <vt:lpstr>来写第一个 HelloWorld 级别的 Agent 应用！</vt:lpstr>
      <vt:lpstr>来写第一个 HelloWorld 级别的 Agent 应用！</vt:lpstr>
      <vt:lpstr>来写第一个 HelloWorld 级别的 Agent 应用！</vt:lpstr>
      <vt:lpstr>来写第一个 HelloWorld 级别的 Agent 应用！</vt:lpstr>
      <vt:lpstr>LLM API 怎么用？（手动版本）</vt:lpstr>
      <vt:lpstr>LLM API 怎么用？（手动版本）</vt:lpstr>
      <vt:lpstr>一些补充说明（和 AI IDE 的配合）</vt:lpstr>
      <vt:lpstr>请大家按照今天的课程内容，开始阅读 SJTUClaw 要求文档，并且进行开发和实践～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199</cp:revision>
  <dcterms:created xsi:type="dcterms:W3CDTF">2021-02-24T11:14:01Z</dcterms:created>
  <dcterms:modified xsi:type="dcterms:W3CDTF">2026-07-06T02:38:24Z</dcterms:modified>
</cp:coreProperties>
</file>