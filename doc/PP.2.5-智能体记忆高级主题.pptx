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90" r:id="rId3"/>
    <p:sldId id="287" r:id="rId4"/>
    <p:sldId id="261" r:id="rId5"/>
    <p:sldId id="262" r:id="rId6"/>
    <p:sldId id="288" r:id="rId7"/>
    <p:sldId id="289" r:id="rId8"/>
    <p:sldId id="291" r:id="rId9"/>
    <p:sldId id="292" r:id="rId10"/>
    <p:sldId id="293" r:id="rId11"/>
    <p:sldId id="294" r:id="rId12"/>
    <p:sldId id="295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6"/>
    <p:restoredTop sz="85578"/>
  </p:normalViewPr>
  <p:slideViewPr>
    <p:cSldViewPr snapToObjects="1" showGuides="1">
      <p:cViewPr>
        <p:scale>
          <a:sx n="78" d="100"/>
          <a:sy n="78" d="100"/>
        </p:scale>
        <p:origin x="168" y="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7/8/26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7/8/26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290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BFE9-E284-B34B-9DD9-9734E072A10D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5C36-DE89-754B-AADC-BE098732BA55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2F05-C132-444E-8CB1-83285020EE6B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A035-3CCE-DA49-8248-4DECF1480FAD}" type="datetime1">
              <a:rPr lang="en-US" smtClean="0"/>
              <a:t>7/8/26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8968-DCED-034C-A9F9-63C7B612155B}" type="datetime1">
              <a:rPr lang="en-US" smtClean="0"/>
              <a:t>7/8/26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C6-ADAB-5E41-86AC-7F6081FE7CAC}" type="datetime1">
              <a:rPr lang="en-US" smtClean="0"/>
              <a:t>7/8/26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856D-977A-F642-9AEB-80D2F107EFF4}" type="datetime1">
              <a:rPr lang="en-US" smtClean="0"/>
              <a:t>7/8/26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4B7F-BC74-F14F-8BF9-586EC96745A0}" type="datetime1">
              <a:rPr lang="en-US" smtClean="0"/>
              <a:t>7/8/26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7302-2114-A74D-8389-8181128E4BC3}" type="datetime1">
              <a:rPr lang="en-US" smtClean="0"/>
              <a:t>7/8/26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8223-6D33-DE4C-9F51-4A38614FD791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0E2A-2758-4248-AC6A-4E927F9F5533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/>
          </a:bodyPr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</a:t>
            </a:r>
            <a:r>
              <a:rPr lang="zh-CN" altLang="en-US" dirty="0"/>
              <a:t>高阶分享</a:t>
            </a:r>
            <a:br>
              <a:rPr lang="en-US" altLang="zh-CN" dirty="0"/>
            </a:br>
            <a:r>
              <a:rPr lang="zh-CN" altLang="en-US" dirty="0"/>
              <a:t>智能体记忆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rPr lang="zh-CN" altLang="en-US" dirty="0"/>
              <a:t>杜冬冬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小学期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ED41E-CE0D-14BA-53B0-3F63E505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开源智能体记忆系统案例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9E98BA-774C-A62E-71C6-87A5819E3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84E488-C2E0-F37C-A0BB-CFEC64C9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7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9973-2BE5-3D73-4984-CCAF8BF0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B154-C69D-41A6-ED68-5F2958BA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MemPalace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0A31-EBF6-B782-91ED-3A5A1C619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4991940" cy="5352562"/>
          </a:xfrm>
        </p:spPr>
        <p:txBody>
          <a:bodyPr/>
          <a:lstStyle/>
          <a:p>
            <a:r>
              <a:rPr lang="zh-CN" altLang="en-US" dirty="0"/>
              <a:t>一个跨界的智能体记忆系统</a:t>
            </a:r>
            <a:endParaRPr lang="en-US" altLang="zh-CN" dirty="0"/>
          </a:p>
          <a:p>
            <a:r>
              <a:rPr lang="zh-CN" altLang="e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系统</a:t>
            </a:r>
            <a:r>
              <a:rPr lang="zh-CN" altLang="en-US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开源在： </a:t>
            </a:r>
            <a:r>
              <a:rPr lang="en" altLang="zh-C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https://</a:t>
            </a:r>
            <a:r>
              <a:rPr lang="en" altLang="zh-CN" b="0" i="0" u="none" strike="noStrike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github.com</a:t>
            </a:r>
            <a:r>
              <a:rPr lang="en" altLang="zh-C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/</a:t>
            </a:r>
            <a:r>
              <a:rPr lang="en" altLang="zh-CN" b="0" i="0" u="none" strike="noStrike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milla-jovovich</a:t>
            </a:r>
            <a:r>
              <a:rPr lang="en" altLang="zh-C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/</a:t>
            </a:r>
            <a:r>
              <a:rPr lang="en" altLang="zh-CN" b="0" i="0" u="none" strike="noStrike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mempalace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08299-4FCF-BD93-EE38-E688CDF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E53599A-C08E-6C55-FB64-456D3DD6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4" y="849854"/>
            <a:ext cx="5760640" cy="546297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84AAFCB-3C36-32B3-7CB7-A4DF317794E2}"/>
              </a:ext>
            </a:extLst>
          </p:cNvPr>
          <p:cNvSpPr txBox="1"/>
          <p:nvPr/>
        </p:nvSpPr>
        <p:spPr>
          <a:xfrm>
            <a:off x="0" y="6451704"/>
            <a:ext cx="3196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</a:t>
            </a:r>
            <a:r>
              <a:rPr kumimoji="1" lang="en-US" altLang="zh-CN" dirty="0"/>
              <a:t>: </a:t>
            </a:r>
            <a:r>
              <a:rPr kumimoji="1" lang="zh-CN" altLang="en-US" dirty="0"/>
              <a:t>图片来自量子位公众号截图</a:t>
            </a:r>
          </a:p>
        </p:txBody>
      </p:sp>
    </p:spTree>
    <p:extLst>
      <p:ext uri="{BB962C8B-B14F-4D97-AF65-F5344CB8AC3E}">
        <p14:creationId xmlns:p14="http://schemas.microsoft.com/office/powerpoint/2010/main" val="286163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3DDE-15AF-5FBA-7A38-9050ECBF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25B3B1-21E2-0C44-1ED2-3F7A79166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876" y="2512809"/>
            <a:ext cx="7763124" cy="3698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E3D2F-2697-1B7D-D106-C7277CFD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MemPalace</a:t>
            </a:r>
            <a:r>
              <a:rPr lang="zh-CN" altLang="en-US" dirty="0"/>
              <a:t>：记忆宫殿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E8D4-2869-4347-0258-AF815308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328644" cy="5352562"/>
          </a:xfrm>
        </p:spPr>
        <p:txBody>
          <a:bodyPr/>
          <a:lstStyle/>
          <a:p>
            <a:r>
              <a:rPr lang="zh-CN" altLang="en-US" dirty="0"/>
              <a:t>核心：应用了记忆宫殿的记忆法</a:t>
            </a:r>
            <a:endParaRPr lang="en-US" altLang="zh-CN" dirty="0"/>
          </a:p>
          <a:p>
            <a:r>
              <a:rPr lang="zh-CN" altLang="en-US" b="1" dirty="0"/>
              <a:t>记忆宫殿记忆法</a:t>
            </a:r>
            <a:r>
              <a:rPr lang="zh-CN" altLang="en-US" dirty="0"/>
              <a:t>：</a:t>
            </a:r>
            <a:r>
              <a:rPr lang="zh-CN" altLang="en-US" dirty="0">
                <a:effectLst/>
              </a:rPr>
              <a:t>古希腊演说家为了记住长篇演讲，会在脑中</a:t>
            </a:r>
            <a:r>
              <a:rPr lang="zh-CN" altLang="en-US" b="1" dirty="0">
                <a:solidFill>
                  <a:srgbClr val="FF0000"/>
                </a:solidFill>
                <a:effectLst/>
              </a:rPr>
              <a:t>想象一座建筑，把不同的信息放进不同房间</a:t>
            </a:r>
            <a:r>
              <a:rPr lang="zh-CN" altLang="en-US" dirty="0">
                <a:effectLst/>
              </a:rPr>
              <a:t>。需要回忆时，就像在宫殿里行走一样，沿着空间位置找到对应内容。</a:t>
            </a:r>
            <a:endParaRPr lang="en-US" altLang="zh-CN" dirty="0">
              <a:effectLst/>
            </a:endParaRPr>
          </a:p>
          <a:p>
            <a:endParaRPr lang="zh-CN" altLang="en-US" dirty="0">
              <a:effectLst/>
            </a:endParaRPr>
          </a:p>
          <a:p>
            <a:r>
              <a:rPr lang="zh-CN" altLang="en-US" dirty="0"/>
              <a:t>将记忆组织成可导航的层级结构：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DD6D3-F46B-63F9-687D-CD03432D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0342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7BC4D-4B55-7FF8-32D0-C28C52F8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9F14D65-A6BD-AF80-27E2-960186B4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72" y="4445119"/>
            <a:ext cx="5064876" cy="24128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CACDCD-743D-06E0-5721-AD2C80D8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MemPalace</a:t>
            </a:r>
            <a:r>
              <a:rPr lang="zh-CN" altLang="en-US" dirty="0"/>
              <a:t>：记忆宫殿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BD73C-6F1C-19D2-576D-A1268EB38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602936" cy="5352562"/>
          </a:xfrm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具体包括：</a:t>
            </a:r>
            <a:r>
              <a:rPr lang="en" altLang="zh-CN" dirty="0"/>
              <a:t>Wing</a:t>
            </a:r>
            <a:r>
              <a:rPr lang="zh-CN" altLang="en" dirty="0"/>
              <a:t>、</a:t>
            </a:r>
            <a:r>
              <a:rPr lang="en" altLang="zh-CN" dirty="0"/>
              <a:t>Room</a:t>
            </a:r>
            <a:r>
              <a:rPr lang="zh-CN" altLang="en" dirty="0"/>
              <a:t>、</a:t>
            </a:r>
            <a:r>
              <a:rPr lang="en" altLang="zh-CN" dirty="0"/>
              <a:t>Hall</a:t>
            </a:r>
            <a:r>
              <a:rPr lang="zh-CN" altLang="en" dirty="0"/>
              <a:t>、</a:t>
            </a:r>
            <a:r>
              <a:rPr lang="en" altLang="zh-CN" dirty="0"/>
              <a:t>Closet</a:t>
            </a:r>
            <a:r>
              <a:rPr lang="zh-CN" altLang="en" dirty="0"/>
              <a:t>、</a:t>
            </a:r>
            <a:r>
              <a:rPr lang="en" altLang="zh-CN" dirty="0"/>
              <a:t>Drawer</a:t>
            </a:r>
            <a:r>
              <a:rPr lang="zh-CN" altLang="en" dirty="0"/>
              <a:t>、</a:t>
            </a:r>
            <a:r>
              <a:rPr lang="en" altLang="zh-CN" dirty="0"/>
              <a:t>Tunnel</a:t>
            </a:r>
          </a:p>
          <a:p>
            <a:pPr lvl="1"/>
            <a:r>
              <a:rPr lang="zh-CN" altLang="en-US" dirty="0">
                <a:effectLst/>
              </a:rPr>
              <a:t>翼（</a:t>
            </a:r>
            <a:r>
              <a:rPr lang="en" altLang="zh-CN" dirty="0">
                <a:effectLst/>
              </a:rPr>
              <a:t>wings</a:t>
            </a:r>
            <a:r>
              <a:rPr lang="zh-CN" altLang="en" dirty="0">
                <a:effectLst/>
              </a:rPr>
              <a:t>） </a:t>
            </a:r>
            <a:r>
              <a:rPr lang="zh-CN" altLang="en-US" dirty="0">
                <a:effectLst/>
              </a:rPr>
              <a:t>：一个人或一个长期主题。比如某个产品项目、某个客户、某个研究方向，都可以成为一个 </a:t>
            </a:r>
            <a:r>
              <a:rPr lang="en" altLang="zh-CN" dirty="0">
                <a:effectLst/>
              </a:rPr>
              <a:t>Wing</a:t>
            </a:r>
            <a:endParaRPr lang="zh-CN" altLang="en" dirty="0">
              <a:effectLst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effectLst/>
              </a:rPr>
              <a:t>房间（</a:t>
            </a:r>
            <a:r>
              <a:rPr lang="en" altLang="zh-CN" b="1" dirty="0">
                <a:solidFill>
                  <a:srgbClr val="FF0000"/>
                </a:solidFill>
                <a:effectLst/>
              </a:rPr>
              <a:t>rooms</a:t>
            </a:r>
            <a:r>
              <a:rPr lang="zh-CN" altLang="en" b="1" dirty="0">
                <a:solidFill>
                  <a:srgbClr val="FF0000"/>
                </a:solidFill>
                <a:effectLst/>
              </a:rPr>
              <a:t>）</a:t>
            </a:r>
            <a:r>
              <a:rPr lang="zh-CN" altLang="en-US" dirty="0">
                <a:effectLst/>
              </a:rPr>
              <a:t>：则是 </a:t>
            </a:r>
            <a:r>
              <a:rPr lang="en" altLang="zh-CN" dirty="0">
                <a:effectLst/>
              </a:rPr>
              <a:t>Wing </a:t>
            </a:r>
            <a:r>
              <a:rPr lang="zh-CN" altLang="en-US" dirty="0">
                <a:effectLst/>
              </a:rPr>
              <a:t>里的具体话题，比如 </a:t>
            </a:r>
            <a:r>
              <a:rPr lang="en" altLang="zh-CN" dirty="0">
                <a:effectLst/>
              </a:rPr>
              <a:t>auth-migration</a:t>
            </a:r>
            <a:r>
              <a:rPr lang="zh-CN" altLang="en" dirty="0">
                <a:effectLst/>
              </a:rPr>
              <a:t>、</a:t>
            </a:r>
            <a:r>
              <a:rPr lang="en" altLang="zh-CN" dirty="0" err="1">
                <a:effectLst/>
              </a:rPr>
              <a:t>graphql</a:t>
            </a:r>
            <a:r>
              <a:rPr lang="en" altLang="zh-CN" dirty="0">
                <a:effectLst/>
              </a:rPr>
              <a:t>-switch</a:t>
            </a:r>
            <a:r>
              <a:rPr lang="zh-CN" altLang="en" dirty="0">
                <a:effectLst/>
              </a:rPr>
              <a:t>、</a:t>
            </a:r>
            <a:r>
              <a:rPr lang="en" altLang="zh-CN" dirty="0">
                <a:effectLst/>
              </a:rPr>
              <a:t>ci-pipeline</a:t>
            </a:r>
            <a:endParaRPr lang="zh-CN" altLang="e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大厅（</a:t>
            </a:r>
            <a:r>
              <a:rPr lang="en" altLang="zh-CN" dirty="0">
                <a:effectLst/>
              </a:rPr>
              <a:t>halls</a:t>
            </a:r>
            <a:r>
              <a:rPr lang="zh-CN" altLang="en" dirty="0">
                <a:effectLst/>
              </a:rPr>
              <a:t>）</a:t>
            </a:r>
            <a:r>
              <a:rPr lang="zh-CN" altLang="en-US" dirty="0">
                <a:effectLst/>
              </a:rPr>
              <a:t>：用来描述记忆类型，比如事实、事件、发现、偏好、建议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  <a:effectLst/>
              </a:rPr>
              <a:t>抽屉（</a:t>
            </a:r>
            <a:r>
              <a:rPr lang="en" altLang="zh-CN" b="1" dirty="0">
                <a:solidFill>
                  <a:srgbClr val="FF0000"/>
                </a:solidFill>
                <a:effectLst/>
              </a:rPr>
              <a:t>Drawer</a:t>
            </a:r>
            <a:r>
              <a:rPr lang="zh-CN" altLang="en" b="1" dirty="0">
                <a:solidFill>
                  <a:srgbClr val="FF0000"/>
                </a:solidFill>
                <a:effectLst/>
              </a:rPr>
              <a:t>）</a:t>
            </a:r>
            <a:r>
              <a:rPr lang="zh-CN" altLang="en-US" dirty="0">
                <a:effectLst/>
              </a:rPr>
              <a:t>是最底层、也是最关键的一层：它保存的是</a:t>
            </a:r>
            <a:r>
              <a:rPr lang="zh-CN" altLang="en-US" b="1" dirty="0">
                <a:solidFill>
                  <a:srgbClr val="FF0000"/>
                </a:solidFill>
                <a:effectLst/>
              </a:rPr>
              <a:t>原始文本片段</a:t>
            </a:r>
            <a:r>
              <a:rPr lang="zh-CN" altLang="en-US" dirty="0">
                <a:effectLst/>
              </a:rPr>
              <a:t>，也就是没有被 </a:t>
            </a:r>
            <a:r>
              <a:rPr lang="en" altLang="zh-CN" dirty="0">
                <a:effectLst/>
              </a:rPr>
              <a:t>LLM </a:t>
            </a:r>
            <a:r>
              <a:rPr lang="zh-CN" altLang="en-US" dirty="0">
                <a:effectLst/>
              </a:rPr>
              <a:t>擅自取舍的原文记忆（</a:t>
            </a:r>
            <a:r>
              <a:rPr lang="zh-CN" altLang="en-US" dirty="0"/>
              <a:t>在</a:t>
            </a:r>
            <a:r>
              <a:rPr lang="en-US" altLang="zh-CN" dirty="0"/>
              <a:t> Drawer </a:t>
            </a:r>
            <a:r>
              <a:rPr lang="zh-CN" altLang="en-US" dirty="0"/>
              <a:t>前还有</a:t>
            </a:r>
            <a:r>
              <a:rPr lang="en-US" altLang="zh-CN" dirty="0"/>
              <a:t> Closet </a:t>
            </a:r>
            <a:r>
              <a:rPr lang="zh-CN" altLang="en-US" dirty="0"/>
              <a:t>存放摘要</a:t>
            </a:r>
            <a:r>
              <a:rPr lang="zh-CN" altLang="en-US" dirty="0">
                <a:effectLst/>
              </a:rPr>
              <a:t>）</a:t>
            </a:r>
          </a:p>
          <a:p>
            <a:pPr lvl="1"/>
            <a:r>
              <a:rPr lang="zh-CN" altLang="en-US" dirty="0">
                <a:effectLst/>
              </a:rPr>
              <a:t>隧道（</a:t>
            </a:r>
            <a:r>
              <a:rPr lang="en" altLang="zh-CN" dirty="0">
                <a:effectLst/>
              </a:rPr>
              <a:t>tunnels</a:t>
            </a:r>
            <a:r>
              <a:rPr lang="zh-CN" altLang="en" dirty="0">
                <a:effectLst/>
              </a:rPr>
              <a:t>）</a:t>
            </a:r>
            <a:r>
              <a:rPr lang="zh-CN" altLang="en-US" dirty="0">
                <a:effectLst/>
              </a:rPr>
              <a:t>实现跨翼连接，让 </a:t>
            </a:r>
            <a:r>
              <a:rPr lang="en" altLang="zh-CN" dirty="0">
                <a:effectLst/>
              </a:rPr>
              <a:t>Agent </a:t>
            </a:r>
            <a:r>
              <a:rPr lang="zh-CN" altLang="en-US" dirty="0">
                <a:effectLst/>
              </a:rPr>
              <a:t>不只是在一个项目里搜索，也可以发现不同项目之间的共性。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955B1-C060-103A-3A83-9A5639C8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0883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F446C-EA3D-0A68-2E70-EEF7D74F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1E6C-D450-1326-BFAC-A43436B53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MemPalace</a:t>
            </a:r>
            <a:r>
              <a:rPr lang="zh-CN" altLang="en-US" dirty="0"/>
              <a:t>：记忆宫殿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8BBE2-1635-8D2A-9251-161AB0374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602936" cy="5352562"/>
          </a:xfrm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一些设计上的考虑</a:t>
            </a:r>
            <a:endParaRPr lang="en-US" altLang="zh-CN" dirty="0">
              <a:effectLst/>
            </a:endParaRPr>
          </a:p>
          <a:p>
            <a:pPr lvl="1"/>
            <a:r>
              <a:rPr lang="zh-CN" altLang="en-US" b="0" i="0" dirty="0">
                <a:effectLst/>
                <a:latin typeface="mp-quote"/>
              </a:rPr>
              <a:t>坚持逐字存储（</a:t>
            </a:r>
            <a:r>
              <a:rPr lang="en" altLang="zh-CN" b="0" i="0" dirty="0">
                <a:effectLst/>
                <a:latin typeface="mp-quote"/>
              </a:rPr>
              <a:t>Verbatim storage</a:t>
            </a:r>
            <a:r>
              <a:rPr lang="zh-CN" altLang="en" b="0" i="0" dirty="0">
                <a:effectLst/>
                <a:latin typeface="mp-quote"/>
              </a:rPr>
              <a:t>）</a:t>
            </a:r>
            <a:r>
              <a:rPr lang="zh-CN" altLang="en-US" b="0" i="0" dirty="0">
                <a:effectLst/>
                <a:latin typeface="mp-quote"/>
              </a:rPr>
              <a:t>对话历史和项目内容</a:t>
            </a:r>
            <a:endParaRPr lang="en-US" altLang="zh-CN" b="0" i="0" dirty="0">
              <a:effectLst/>
              <a:latin typeface="mp-quote"/>
            </a:endParaRPr>
          </a:p>
          <a:p>
            <a:pPr lvl="1"/>
            <a:r>
              <a:rPr lang="zh-CN" altLang="en-US" b="0" i="0" dirty="0">
                <a:effectLst/>
                <a:latin typeface="mp-quote"/>
              </a:rPr>
              <a:t>不默认对你的对话做摘要、改写或事实抽取，而是把原始内容作为</a:t>
            </a:r>
            <a:r>
              <a:rPr lang="en" altLang="zh-CN" b="0" i="0" dirty="0">
                <a:effectLst/>
                <a:latin typeface="mp-quote"/>
              </a:rPr>
              <a:t>Drawer </a:t>
            </a:r>
            <a:r>
              <a:rPr lang="zh-CN" altLang="en-US" b="0" i="0" dirty="0">
                <a:effectLst/>
                <a:latin typeface="mp-quote"/>
              </a:rPr>
              <a:t>存入本地记忆库</a:t>
            </a:r>
            <a:endParaRPr lang="en-US" altLang="zh-CN" b="0" i="0" dirty="0">
              <a:effectLst/>
              <a:latin typeface="mp-quote"/>
            </a:endParaRPr>
          </a:p>
          <a:p>
            <a:pPr lvl="1"/>
            <a:r>
              <a:rPr lang="zh-CN" altLang="en-US" b="0" i="0" dirty="0">
                <a:effectLst/>
                <a:latin typeface="mp-quote"/>
              </a:rPr>
              <a:t>在需要使用的时候，通过语义搜索把相关内容找回来（感兴趣的同学可以去了解</a:t>
            </a:r>
            <a:r>
              <a:rPr lang="en-US" altLang="zh-CN" b="0" i="0" dirty="0">
                <a:effectLst/>
                <a:latin typeface="mp-quote"/>
              </a:rPr>
              <a:t> embedding</a:t>
            </a:r>
            <a:r>
              <a:rPr lang="zh-CN" altLang="en-US" b="0" i="0" dirty="0">
                <a:effectLst/>
                <a:latin typeface="mp-quote"/>
              </a:rPr>
              <a:t>、</a:t>
            </a:r>
            <a:r>
              <a:rPr lang="en-US" altLang="zh-CN" b="0" i="0" dirty="0">
                <a:effectLst/>
                <a:latin typeface="mp-quote"/>
              </a:rPr>
              <a:t>RAG </a:t>
            </a:r>
            <a:r>
              <a:rPr lang="zh-CN" altLang="en-US" b="0" i="0" dirty="0">
                <a:effectLst/>
                <a:latin typeface="mp-quote"/>
              </a:rPr>
              <a:t>等相关的主题内容）</a:t>
            </a:r>
            <a:endParaRPr lang="en-US" altLang="zh-CN" b="0" i="0" dirty="0">
              <a:effectLst/>
              <a:latin typeface="mp-quote"/>
            </a:endParaRPr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1C0E8-97B8-7A12-9B96-DA7F97BF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642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F452-D81B-46C8-07C4-EEDF8629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0334-1487-1BAD-1BC7-84375DB3D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MemPalace</a:t>
            </a:r>
            <a:r>
              <a:rPr lang="zh-CN" altLang="en-US" dirty="0"/>
              <a:t>：面向上下文空间的记忆分层设计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4A555-AD93-8E0C-4CB2-001383BDE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6501383" cy="571768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模型的上下文空间是有限的，而且也非常宝贵</a:t>
            </a:r>
            <a:endParaRPr lang="en-US" altLang="zh-CN" dirty="0"/>
          </a:p>
          <a:p>
            <a:r>
              <a:rPr lang="en" altLang="zh-CN" dirty="0" err="1"/>
              <a:t>MemPalace</a:t>
            </a:r>
            <a:r>
              <a:rPr lang="zh-CN" altLang="en" dirty="0"/>
              <a:t>引入</a:t>
            </a:r>
            <a:r>
              <a:rPr lang="en-US" altLang="zh-CN" dirty="0"/>
              <a:t>4</a:t>
            </a:r>
            <a:r>
              <a:rPr lang="zh-CN" altLang="en-US" dirty="0"/>
              <a:t>层 </a:t>
            </a:r>
            <a:r>
              <a:rPr lang="en" altLang="zh-CN" dirty="0"/>
              <a:t>Memory Stack</a:t>
            </a:r>
            <a:r>
              <a:rPr lang="zh-CN" altLang="en" dirty="0"/>
              <a:t>，</a:t>
            </a:r>
            <a:r>
              <a:rPr lang="zh-CN" altLang="en-US" dirty="0"/>
              <a:t>精心地控制进入上下文空间的记忆内容</a:t>
            </a:r>
            <a:endParaRPr lang="en-US" altLang="zh-CN" dirty="0"/>
          </a:p>
          <a:p>
            <a:r>
              <a:rPr lang="en" altLang="zh-CN" dirty="0"/>
              <a:t>L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" altLang="zh-CN" dirty="0"/>
              <a:t>Identity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也就是 </a:t>
            </a:r>
            <a:r>
              <a:rPr lang="en" altLang="zh-CN" dirty="0"/>
              <a:t>AI </a:t>
            </a:r>
            <a:r>
              <a:rPr lang="zh-CN" altLang="en-US" dirty="0"/>
              <a:t>的身份设定和基本工作关系</a:t>
            </a:r>
          </a:p>
          <a:p>
            <a:r>
              <a:rPr lang="en" altLang="zh-CN" dirty="0"/>
              <a:t>L1</a:t>
            </a:r>
            <a:r>
              <a:rPr lang="zh-CN" altLang="en-US" dirty="0"/>
              <a:t>（</a:t>
            </a:r>
            <a:r>
              <a:rPr lang="en" altLang="zh-CN" dirty="0"/>
              <a:t>Essential Story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最重要的历史片段，形成一个压缩版的长期背景</a:t>
            </a:r>
          </a:p>
          <a:p>
            <a:r>
              <a:rPr lang="en" altLang="zh-CN" dirty="0"/>
              <a:t>L2</a:t>
            </a:r>
            <a:r>
              <a:rPr lang="zh-CN" altLang="en-US" dirty="0"/>
              <a:t>（核心记忆）：</a:t>
            </a:r>
            <a:endParaRPr lang="en-US" altLang="zh-CN" dirty="0"/>
          </a:p>
          <a:p>
            <a:pPr lvl="1"/>
            <a:r>
              <a:rPr lang="zh-CN" altLang="en-US" dirty="0"/>
              <a:t>按 </a:t>
            </a:r>
            <a:r>
              <a:rPr lang="en" altLang="zh-CN" dirty="0"/>
              <a:t>Wing </a:t>
            </a:r>
            <a:r>
              <a:rPr lang="zh-CN" altLang="en-US" dirty="0"/>
              <a:t>或 </a:t>
            </a:r>
            <a:r>
              <a:rPr lang="en" altLang="zh-CN" dirty="0"/>
              <a:t>Room </a:t>
            </a:r>
            <a:r>
              <a:rPr lang="zh-CN" altLang="en-US" dirty="0"/>
              <a:t>触发的主题召回，只有当对话涉及某个项目或话题时才加载</a:t>
            </a:r>
          </a:p>
          <a:p>
            <a:r>
              <a:rPr lang="en" altLang="zh-CN" dirty="0"/>
              <a:t>L3 </a:t>
            </a:r>
            <a:r>
              <a:rPr lang="zh-CN" altLang="en-US" dirty="0"/>
              <a:t>（完整语义搜索）：</a:t>
            </a:r>
            <a:endParaRPr lang="en-US" altLang="zh-CN" dirty="0"/>
          </a:p>
          <a:p>
            <a:pPr lvl="1"/>
            <a:r>
              <a:rPr lang="zh-CN" altLang="en-US" dirty="0"/>
              <a:t>当用户或 </a:t>
            </a:r>
            <a:r>
              <a:rPr lang="en" altLang="zh-CN" dirty="0"/>
              <a:t>Agent </a:t>
            </a:r>
            <a:r>
              <a:rPr lang="zh-CN" altLang="en-US" dirty="0"/>
              <a:t>明确提出问题时，再去整个宫殿里做深度检索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83097-B917-7ABD-FC69-4C69C835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8C9FA5-44B0-241B-5C91-4E13B5988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632" y="1340768"/>
            <a:ext cx="5101553" cy="29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0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37BF-5694-7B72-3EB5-60840F50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D1071-039A-3A2F-36AD-10AA6C99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智能体记忆总是用文件吗？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20B9D8-3A51-FEBE-88A3-9F2C04240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C0B80-3A79-5DD2-F1AD-E71CFBF5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0542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72602-8C45-D0FB-218F-8C76B62C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10BF8-2611-318E-FC19-CACE0F519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650572"/>
            <a:ext cx="11018520" cy="847693"/>
          </a:xfrm>
        </p:spPr>
        <p:txBody>
          <a:bodyPr anchor="b">
            <a:normAutofit/>
          </a:bodyPr>
          <a:lstStyle/>
          <a:p>
            <a:r>
              <a:rPr lang="zh-CN" altLang="en-US" sz="4600" dirty="0"/>
              <a:t>智能体记忆中短期记忆与长期记忆的概念</a:t>
            </a:r>
            <a:endParaRPr lang="en-CN" sz="460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C551B-AC20-7B0A-3B4A-BEDFEE7A4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zh-CN" altLang="en-US" sz="2200" dirty="0"/>
              <a:t>比较早期的关于短期记忆和长期记忆的定义：</a:t>
            </a:r>
            <a:endParaRPr lang="en-US" altLang="zh-CN" sz="2200" dirty="0"/>
          </a:p>
          <a:p>
            <a:endParaRPr lang="en-US" altLang="zh-CN" sz="2200" dirty="0"/>
          </a:p>
          <a:p>
            <a:r>
              <a:rPr lang="zh-CN" altLang="en-US" sz="2200" b="1" dirty="0"/>
              <a:t>短期记忆</a:t>
            </a:r>
            <a:r>
              <a:rPr lang="zh-CN" altLang="en-US" sz="2200" dirty="0"/>
              <a:t>（</a:t>
            </a:r>
            <a:r>
              <a:rPr lang="en-US" altLang="zh-CN" sz="2200" dirty="0"/>
              <a:t>Short-term</a:t>
            </a:r>
            <a:r>
              <a:rPr lang="zh-CN" altLang="en-US" sz="2200" dirty="0"/>
              <a:t> </a:t>
            </a:r>
            <a:r>
              <a:rPr lang="en-US" altLang="zh-CN" sz="2200" dirty="0"/>
              <a:t>Memory</a:t>
            </a:r>
            <a:r>
              <a:rPr lang="zh-CN" altLang="en-US" sz="2200" dirty="0"/>
              <a:t>，</a:t>
            </a:r>
            <a:r>
              <a:rPr lang="en-US" altLang="zh-CN" sz="2200" dirty="0"/>
              <a:t>STM</a:t>
            </a:r>
            <a:r>
              <a:rPr lang="zh-CN" altLang="en-US" sz="2200" dirty="0"/>
              <a:t>）：主要指对话上下文，包括 </a:t>
            </a:r>
            <a:r>
              <a:rPr lang="en" altLang="zh-CN" sz="2200" dirty="0"/>
              <a:t>System Prompt</a:t>
            </a:r>
            <a:r>
              <a:rPr lang="zh-CN" altLang="en" sz="2200" dirty="0"/>
              <a:t>、</a:t>
            </a:r>
            <a:r>
              <a:rPr lang="zh-CN" altLang="en-US" sz="2200" dirty="0"/>
              <a:t>历史对话中的 </a:t>
            </a:r>
            <a:r>
              <a:rPr lang="en" altLang="zh-CN" sz="2200" dirty="0"/>
              <a:t>User </a:t>
            </a:r>
            <a:r>
              <a:rPr lang="zh-CN" altLang="en-US" sz="2200" dirty="0"/>
              <a:t>和 </a:t>
            </a:r>
            <a:r>
              <a:rPr lang="en" altLang="zh-CN" sz="2200" dirty="0"/>
              <a:t>Assistant </a:t>
            </a:r>
            <a:r>
              <a:rPr lang="zh-CN" altLang="en-US" sz="2200" dirty="0"/>
              <a:t>回复等。</a:t>
            </a:r>
          </a:p>
          <a:p>
            <a:endParaRPr lang="en-US" altLang="zh-CN" sz="2200" dirty="0"/>
          </a:p>
          <a:p>
            <a:r>
              <a:rPr lang="zh-CN" altLang="en-US" sz="2200" b="1" dirty="0"/>
              <a:t>长期记忆</a:t>
            </a:r>
            <a:r>
              <a:rPr lang="zh-CN" altLang="en-US" sz="2200" dirty="0"/>
              <a:t>（</a:t>
            </a:r>
            <a:r>
              <a:rPr lang="en" altLang="zh-CN" sz="2200" dirty="0"/>
              <a:t>Long-term Memory</a:t>
            </a:r>
            <a:r>
              <a:rPr lang="zh-CN" altLang="en-US" sz="2200" dirty="0"/>
              <a:t>，</a:t>
            </a:r>
            <a:r>
              <a:rPr lang="en-US" altLang="zh-CN" sz="2200" dirty="0"/>
              <a:t>LTM</a:t>
            </a:r>
            <a:r>
              <a:rPr lang="zh-CN" altLang="en" sz="2200" dirty="0"/>
              <a:t>） </a:t>
            </a:r>
            <a:r>
              <a:rPr lang="zh-CN" altLang="en-US" sz="2200" dirty="0"/>
              <a:t>：主要指外部知识库，通常通过 </a:t>
            </a:r>
            <a:r>
              <a:rPr lang="en" altLang="zh-CN" sz="2200" dirty="0"/>
              <a:t>RAG </a:t>
            </a:r>
            <a:r>
              <a:rPr lang="zh-CN" altLang="en-US" sz="2200" dirty="0"/>
              <a:t>从向量数据库中检索相关的文档或知识片段，作为背景信息注入给大模型</a:t>
            </a:r>
          </a:p>
          <a:p>
            <a:endParaRPr lang="zh-CN" altLang="en-US" sz="2200" dirty="0"/>
          </a:p>
        </p:txBody>
      </p:sp>
      <p:pic>
        <p:nvPicPr>
          <p:cNvPr id="5" name="图片 4" descr="图形用户界面&#10;&#10;描述已自动生成">
            <a:extLst>
              <a:ext uri="{FF2B5EF4-FFF2-40B4-BE49-F238E27FC236}">
                <a16:creationId xmlns:a16="http://schemas.microsoft.com/office/drawing/2014/main" id="{FF1D403C-D617-E1EA-633E-9DFE04508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" r="4" b="9676"/>
          <a:stretch>
            <a:fillRect/>
          </a:stretch>
        </p:blipFill>
        <p:spPr>
          <a:xfrm>
            <a:off x="7337410" y="1797756"/>
            <a:ext cx="3941064" cy="40965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00788-2DC1-5EAC-6D8F-9AF1E070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FE1A1A-A846-1244-B210-CC29CD60D5AB}" type="slidenum">
              <a:rPr lang="en-CN" smtClean="0"/>
              <a:pPr>
                <a:spcAft>
                  <a:spcPts val="600"/>
                </a:spcAft>
              </a:pPr>
              <a:t>9</a:t>
            </a:fld>
            <a:endParaRPr lang="en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ABC331-7389-9F6D-430E-F116C7ABC0B7}"/>
              </a:ext>
            </a:extLst>
          </p:cNvPr>
          <p:cNvSpPr txBox="1"/>
          <p:nvPr/>
        </p:nvSpPr>
        <p:spPr>
          <a:xfrm>
            <a:off x="6028" y="6488668"/>
            <a:ext cx="734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Credit: </a:t>
            </a:r>
            <a:r>
              <a:rPr kumimoji="1" lang="zh-CN" altLang="en-US" i="1" dirty="0"/>
              <a:t>图片来自</a:t>
            </a:r>
            <a:r>
              <a:rPr kumimoji="1" lang="en" altLang="zh-CN" i="1" dirty="0"/>
              <a:t>https://</a:t>
            </a:r>
            <a:r>
              <a:rPr kumimoji="1" lang="en" altLang="zh-CN" i="1" dirty="0" err="1"/>
              <a:t>mp.weixin.qq.com</a:t>
            </a:r>
            <a:r>
              <a:rPr kumimoji="1" lang="en" altLang="zh-CN" i="1" dirty="0"/>
              <a:t>/s/11Krmb5KYmCHDQ4zN9O4uQ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622689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041F-412E-B888-CE17-3FCFEDF9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5A49-1675-E43B-85D1-97F7F5AF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简单的管理方式已经无法满足需求了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B19A-DAA2-F777-0A78-E43CEF6AC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400652" cy="5717688"/>
          </a:xfrm>
        </p:spPr>
        <p:txBody>
          <a:bodyPr>
            <a:normAutofit/>
          </a:bodyPr>
          <a:lstStyle/>
          <a:p>
            <a:r>
              <a:rPr lang="zh-CN" altLang="en-US" b="1" dirty="0"/>
              <a:t>短期记忆（</a:t>
            </a:r>
            <a:r>
              <a:rPr lang="en-US" altLang="zh-CN" b="1" dirty="0"/>
              <a:t>STM</a:t>
            </a:r>
            <a:r>
              <a:rPr lang="zh-CN" altLang="en-US" b="1" dirty="0"/>
              <a:t>）</a:t>
            </a:r>
            <a:r>
              <a:rPr lang="zh-CN" altLang="en-US" dirty="0"/>
              <a:t>：核心挑战从存储转移到了管理</a:t>
            </a:r>
            <a:r>
              <a:rPr lang="en-US" altLang="zh-CN" dirty="0"/>
              <a:t>/</a:t>
            </a:r>
            <a:r>
              <a:rPr lang="zh-CN" altLang="en-US" dirty="0"/>
              <a:t>压缩</a:t>
            </a:r>
            <a:endParaRPr lang="en-US" altLang="zh-CN" dirty="0"/>
          </a:p>
          <a:p>
            <a:pPr lvl="1"/>
            <a:r>
              <a:rPr lang="zh-CN" altLang="en-US" dirty="0"/>
              <a:t>由于上下文窗口有限，成本敏感，为了保证长上下文</a:t>
            </a:r>
            <a:r>
              <a:rPr lang="en-US" altLang="zh-CN" dirty="0"/>
              <a:t> Agent </a:t>
            </a:r>
            <a:r>
              <a:rPr lang="zh-CN" altLang="en-US" dirty="0"/>
              <a:t>的效果，高效利用上下文的</a:t>
            </a:r>
            <a:r>
              <a:rPr lang="en-US" altLang="zh-CN" dirty="0"/>
              <a:t> token </a:t>
            </a:r>
            <a:r>
              <a:rPr lang="zh-CN" altLang="en-US" dirty="0"/>
              <a:t>变得十分关键</a:t>
            </a:r>
            <a:endParaRPr lang="en-US" altLang="zh-CN" dirty="0"/>
          </a:p>
          <a:p>
            <a:r>
              <a:rPr lang="zh-CN" altLang="en-US" dirty="0"/>
              <a:t>短期记忆中引入了多种记忆压缩策略</a:t>
            </a:r>
            <a:endParaRPr lang="en-US" altLang="zh-CN" dirty="0"/>
          </a:p>
          <a:p>
            <a:pPr lvl="1"/>
            <a:r>
              <a:rPr lang="zh-CN" altLang="en-US" dirty="0"/>
              <a:t>阈值控制：基于固定的</a:t>
            </a:r>
            <a:r>
              <a:rPr lang="en-US" altLang="zh-CN" dirty="0"/>
              <a:t> Token</a:t>
            </a:r>
            <a:r>
              <a:rPr lang="zh-CN" altLang="en-US" dirty="0"/>
              <a:t>数或者动态语义密度阈值出发压缩</a:t>
            </a:r>
            <a:endParaRPr lang="en-US" altLang="zh-CN" dirty="0"/>
          </a:p>
          <a:p>
            <a:pPr lvl="1"/>
            <a:r>
              <a:rPr lang="zh-CN" altLang="en-US" dirty="0"/>
              <a:t>结构化控制：对中间过程的对话进行</a:t>
            </a:r>
            <a:r>
              <a:rPr lang="en-US" altLang="zh-CN" dirty="0"/>
              <a:t> Summary </a:t>
            </a:r>
            <a:r>
              <a:rPr lang="zh-CN" altLang="en-US" dirty="0"/>
              <a:t>提炼，同时保留头尾的关键指令和最终结论，确保核心意图不丢失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218A8-14CD-9256-578D-5CE89595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53F4D0-5C75-0593-9F55-CEF02CDE9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13" y="3992384"/>
            <a:ext cx="11587472" cy="21897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C618A83-18F4-EEE6-85AF-3BC11AAB149F}"/>
              </a:ext>
            </a:extLst>
          </p:cNvPr>
          <p:cNvSpPr txBox="1"/>
          <p:nvPr/>
        </p:nvSpPr>
        <p:spPr>
          <a:xfrm>
            <a:off x="6028" y="6488668"/>
            <a:ext cx="734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Credit: </a:t>
            </a:r>
            <a:r>
              <a:rPr kumimoji="1" lang="zh-CN" altLang="en-US" i="1" dirty="0"/>
              <a:t>图片来自</a:t>
            </a:r>
            <a:r>
              <a:rPr kumimoji="1" lang="en" altLang="zh-CN" i="1" dirty="0"/>
              <a:t>https://</a:t>
            </a:r>
            <a:r>
              <a:rPr kumimoji="1" lang="en" altLang="zh-CN" i="1" dirty="0" err="1"/>
              <a:t>mp.weixin.qq.com</a:t>
            </a:r>
            <a:r>
              <a:rPr kumimoji="1" lang="en" altLang="zh-CN" i="1" dirty="0"/>
              <a:t>/s/11Krmb5KYmCHDQ4zN9O4uQ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31859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0930-499C-9042-4695-1DBBFC81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E51C2-AF0A-F690-627D-9E696055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简单的管理方式已经无法满足需求了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35AC-EC96-A11B-EC79-2CFD35C45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400652" cy="5717688"/>
          </a:xfrm>
        </p:spPr>
        <p:txBody>
          <a:bodyPr>
            <a:normAutofit/>
          </a:bodyPr>
          <a:lstStyle/>
          <a:p>
            <a:r>
              <a:rPr lang="zh-CN" altLang="en-US" dirty="0"/>
              <a:t>长期记忆（</a:t>
            </a:r>
            <a:r>
              <a:rPr lang="en-US" altLang="zh-CN" dirty="0"/>
              <a:t>STM</a:t>
            </a:r>
            <a:r>
              <a:rPr lang="zh-CN" altLang="en-US" dirty="0"/>
              <a:t>）：从最初的向量数据库主导，向文件系统主导回归</a:t>
            </a:r>
            <a:endParaRPr lang="en-US" altLang="zh-CN" dirty="0"/>
          </a:p>
          <a:p>
            <a:r>
              <a:rPr lang="zh-CN" altLang="en-US" dirty="0"/>
              <a:t>主要包括两个子方向：</a:t>
            </a:r>
            <a:endParaRPr lang="en-US" altLang="zh-CN" dirty="0"/>
          </a:p>
          <a:p>
            <a:r>
              <a:rPr lang="zh-CN" altLang="en-US" dirty="0"/>
              <a:t>事项性记忆（</a:t>
            </a:r>
            <a:r>
              <a:rPr lang="en-US" altLang="zh-CN" dirty="0"/>
              <a:t>Episodic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）：针对用户偏好、历史行为、每日待办等动态变化的“事实”</a:t>
            </a:r>
            <a:endParaRPr lang="en-US" altLang="zh-CN" dirty="0"/>
          </a:p>
          <a:p>
            <a:pPr lvl="1"/>
            <a:r>
              <a:rPr lang="zh-CN" altLang="en-US" dirty="0"/>
              <a:t>越来越多的框架，比如 </a:t>
            </a:r>
            <a:r>
              <a:rPr lang="en" altLang="zh-CN" dirty="0" err="1"/>
              <a:t>OpenClaw</a:t>
            </a:r>
            <a:r>
              <a:rPr lang="zh-CN" altLang="en" dirty="0"/>
              <a:t>、</a:t>
            </a:r>
            <a:r>
              <a:rPr lang="en" altLang="zh-CN" dirty="0"/>
              <a:t>Hermes Agent</a:t>
            </a:r>
            <a:r>
              <a:rPr lang="zh-CN" altLang="en-US" dirty="0"/>
              <a:t>等就倾向于使用文件系统进行记录</a:t>
            </a:r>
            <a:endParaRPr lang="en-US" altLang="zh-CN" dirty="0"/>
          </a:p>
          <a:p>
            <a:pPr lvl="1"/>
            <a:r>
              <a:rPr lang="zh-CN" altLang="en-US" dirty="0"/>
              <a:t>例如，通过生成 </a:t>
            </a:r>
            <a:r>
              <a:rPr lang="en" altLang="zh-CN" dirty="0" err="1"/>
              <a:t>MEMORY.md</a:t>
            </a:r>
            <a:r>
              <a:rPr lang="en" altLang="zh-CN" dirty="0"/>
              <a:t> </a:t>
            </a:r>
            <a:r>
              <a:rPr lang="zh-CN" altLang="en-US" dirty="0"/>
              <a:t>或每日的</a:t>
            </a:r>
            <a:r>
              <a:rPr lang="en" altLang="zh-CN" dirty="0"/>
              <a:t>Memory</a:t>
            </a:r>
            <a:r>
              <a:rPr lang="zh-CN" altLang="en-US" dirty="0"/>
              <a:t>日志文件，以结构化的 </a:t>
            </a:r>
            <a:r>
              <a:rPr lang="en" altLang="zh-CN" dirty="0"/>
              <a:t>Markdown </a:t>
            </a:r>
            <a:r>
              <a:rPr lang="zh-CN" altLang="en-US" dirty="0"/>
              <a:t>格式存储关键事件</a:t>
            </a:r>
            <a:endParaRPr lang="en-US" altLang="zh-CN" dirty="0"/>
          </a:p>
          <a:p>
            <a:pPr lvl="1"/>
            <a:r>
              <a:rPr lang="zh-CN" altLang="en-US" dirty="0"/>
              <a:t>更可控、更易读，也便于 </a:t>
            </a:r>
            <a:r>
              <a:rPr lang="en" altLang="zh-CN" dirty="0"/>
              <a:t>Agent </a:t>
            </a:r>
            <a:r>
              <a:rPr lang="zh-CN" altLang="en-US" dirty="0"/>
              <a:t>直接读取和理解时间序列上的状态变化</a:t>
            </a:r>
            <a:endParaRPr lang="en-US" altLang="zh-CN" dirty="0"/>
          </a:p>
          <a:p>
            <a:r>
              <a:rPr lang="zh-CN" altLang="en-US" dirty="0"/>
              <a:t>知识型记忆（</a:t>
            </a:r>
            <a:r>
              <a:rPr lang="en" altLang="zh-CN" dirty="0"/>
              <a:t>Semantic Memory</a:t>
            </a:r>
            <a:r>
              <a:rPr lang="zh-CN" altLang="en-US" dirty="0"/>
              <a:t>）：传统</a:t>
            </a:r>
            <a:r>
              <a:rPr lang="en-US" altLang="zh-CN" dirty="0"/>
              <a:t> RAG </a:t>
            </a:r>
            <a:r>
              <a:rPr lang="zh-CN" altLang="en-US" dirty="0"/>
              <a:t>到文件系统</a:t>
            </a:r>
            <a:r>
              <a:rPr lang="en-US" altLang="zh-CN" dirty="0"/>
              <a:t>+Obsidian</a:t>
            </a:r>
          </a:p>
          <a:p>
            <a:pPr lvl="1"/>
            <a:r>
              <a:rPr lang="en-US" altLang="zh-CN" dirty="0" err="1"/>
              <a:t>Karpathy</a:t>
            </a:r>
            <a:r>
              <a:rPr lang="en-US" altLang="zh-CN" dirty="0"/>
              <a:t> </a:t>
            </a:r>
            <a:r>
              <a:rPr lang="zh-CN" altLang="en-US" dirty="0"/>
              <a:t>等提出</a:t>
            </a:r>
            <a:r>
              <a:rPr lang="en-US" altLang="zh-CN" dirty="0"/>
              <a:t> LLM-Wiki </a:t>
            </a:r>
            <a:r>
              <a:rPr lang="zh-CN" altLang="en-US" dirty="0"/>
              <a:t>本地知识库的概念（本地文件系统</a:t>
            </a:r>
            <a:r>
              <a:rPr lang="en-US" altLang="zh-CN" dirty="0"/>
              <a:t>+</a:t>
            </a:r>
            <a:r>
              <a:rPr lang="zh-CN" altLang="en-US" dirty="0"/>
              <a:t>笔记工具）</a:t>
            </a:r>
            <a:endParaRPr lang="en-US" altLang="zh-CN" dirty="0"/>
          </a:p>
          <a:p>
            <a:pPr lvl="1"/>
            <a:r>
              <a:rPr lang="en-US" altLang="zh-CN" dirty="0"/>
              <a:t>Agent </a:t>
            </a:r>
            <a:r>
              <a:rPr lang="zh-CN" altLang="en-US" dirty="0"/>
              <a:t>可以直接访问组织结构良好的</a:t>
            </a:r>
            <a:r>
              <a:rPr lang="en-US" altLang="zh-CN" dirty="0"/>
              <a:t> Markdown </a:t>
            </a:r>
            <a:r>
              <a:rPr lang="zh-CN" altLang="en-US" dirty="0"/>
              <a:t>知识库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B016-20D5-5083-6EED-43A4A5A8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267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1BF6-C403-E8A3-CB0C-F2C51354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F426-B3CC-972F-A3A7-46C34904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简单的管理方式已经无法满足需求了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AA9C-98D8-F86E-EADE-5C09D3426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400652" cy="5717688"/>
          </a:xfrm>
        </p:spPr>
        <p:txBody>
          <a:bodyPr>
            <a:normAutofit/>
          </a:bodyPr>
          <a:lstStyle/>
          <a:p>
            <a:r>
              <a:rPr lang="zh-CN" altLang="en-US" dirty="0"/>
              <a:t>长期记忆（</a:t>
            </a:r>
            <a:r>
              <a:rPr lang="en-US" altLang="zh-CN" dirty="0"/>
              <a:t>STM</a:t>
            </a:r>
            <a:r>
              <a:rPr lang="zh-CN" altLang="en-US" dirty="0"/>
              <a:t>）：从最初的向量数据库主导，向文件系统主导回归</a:t>
            </a:r>
            <a:endParaRPr lang="en-US" altLang="zh-CN" dirty="0"/>
          </a:p>
          <a:p>
            <a:r>
              <a:rPr lang="zh-CN" altLang="en-US" dirty="0"/>
              <a:t>主要包括两个子方向：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32CB7-28A1-639B-291C-CFCC956C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D41A59-ADD6-4492-6E72-AC680215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99" y="2078737"/>
            <a:ext cx="11877002" cy="363895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994CAD9-EB78-B3AF-627C-85E2BC7C3290}"/>
              </a:ext>
            </a:extLst>
          </p:cNvPr>
          <p:cNvSpPr txBox="1"/>
          <p:nvPr/>
        </p:nvSpPr>
        <p:spPr>
          <a:xfrm>
            <a:off x="6028" y="6488668"/>
            <a:ext cx="734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Credit: </a:t>
            </a:r>
            <a:r>
              <a:rPr kumimoji="1" lang="zh-CN" altLang="en-US" i="1" dirty="0"/>
              <a:t>图片来自</a:t>
            </a:r>
            <a:r>
              <a:rPr kumimoji="1" lang="en" altLang="zh-CN" i="1" dirty="0"/>
              <a:t>https://</a:t>
            </a:r>
            <a:r>
              <a:rPr kumimoji="1" lang="en" altLang="zh-CN" i="1" dirty="0" err="1"/>
              <a:t>mp.weixin.qq.com</a:t>
            </a:r>
            <a:r>
              <a:rPr kumimoji="1" lang="en" altLang="zh-CN" i="1" dirty="0"/>
              <a:t>/s/11Krmb5KYmCHDQ4zN9O4uQ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407724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939</Words>
  <Application>Microsoft Macintosh PowerPoint</Application>
  <PresentationFormat>宽屏</PresentationFormat>
  <Paragraphs>77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Microsoft YaHei</vt:lpstr>
      <vt:lpstr>mp-quote</vt:lpstr>
      <vt:lpstr>PingFang SC NEW</vt:lpstr>
      <vt:lpstr>Arial</vt:lpstr>
      <vt:lpstr>Calibri</vt:lpstr>
      <vt:lpstr>Office Theme</vt:lpstr>
      <vt:lpstr>计算机编程实践#高阶分享 智能体记忆</vt:lpstr>
      <vt:lpstr>开源智能体记忆系统案例</vt:lpstr>
      <vt:lpstr>MemPalace</vt:lpstr>
      <vt:lpstr>MemPalace：记忆宫殿</vt:lpstr>
      <vt:lpstr>MemPalace：记忆宫殿</vt:lpstr>
      <vt:lpstr>MemPalace：记忆宫殿</vt:lpstr>
      <vt:lpstr>MemPalace：面向上下文空间的记忆分层设计</vt:lpstr>
      <vt:lpstr>智能体记忆总是用文件吗？</vt:lpstr>
      <vt:lpstr>智能体记忆中短期记忆与长期记忆的概念</vt:lpstr>
      <vt:lpstr>简单的管理方式已经无法满足需求了</vt:lpstr>
      <vt:lpstr>简单的管理方式已经无法满足需求了</vt:lpstr>
      <vt:lpstr>简单的管理方式已经无法满足需求了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228</cp:revision>
  <dcterms:created xsi:type="dcterms:W3CDTF">2021-02-24T11:14:01Z</dcterms:created>
  <dcterms:modified xsi:type="dcterms:W3CDTF">2026-07-08T02:29:28Z</dcterms:modified>
</cp:coreProperties>
</file>