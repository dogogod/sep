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2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4" r:id="rId11"/>
    <p:sldId id="282" r:id="rId12"/>
    <p:sldId id="2147483645" r:id="rId13"/>
    <p:sldId id="2147483646" r:id="rId14"/>
    <p:sldId id="2147483647" r:id="rId15"/>
    <p:sldId id="284" r:id="rId16"/>
    <p:sldId id="257" r:id="rId17"/>
    <p:sldId id="258" r:id="rId18"/>
    <p:sldId id="259" r:id="rId19"/>
    <p:sldId id="261" r:id="rId20"/>
    <p:sldId id="275" r:id="rId21"/>
    <p:sldId id="276" r:id="rId22"/>
    <p:sldId id="262" r:id="rId23"/>
    <p:sldId id="260" r:id="rId24"/>
    <p:sldId id="263" r:id="rId25"/>
    <p:sldId id="264" r:id="rId26"/>
    <p:sldId id="273" r:id="rId2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55"/>
    <p:restoredTop sz="85644"/>
  </p:normalViewPr>
  <p:slideViewPr>
    <p:cSldViewPr snapToObjects="1" showGuides="1">
      <p:cViewPr>
        <p:scale>
          <a:sx n="80" d="100"/>
          <a:sy n="80" d="100"/>
        </p:scale>
        <p:origin x="216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7/14/26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7/14/26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1A88-C9F0-E226-A840-D4441F59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D472B-4BAA-F5E2-8FEE-5C1F8EBC7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C720EF-C52C-C88E-D8DD-A69CB14B5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0EE60-4C52-4F16-9C20-0E2550037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7804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D99E5-E0EE-99AC-5AC4-88BCEC7E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11552A-B447-39A9-086D-47CAA7B05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A3948F-4B5B-A232-FB47-46AAE56E2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95E76-46E8-0D57-85D8-92191B55A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880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759EC-7259-69DF-00FA-92C4C9B3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BB02F9-B2CF-CD18-DA3E-3828D2416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9827AF-137C-ABA4-490E-1FD23A404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6EE136-BD17-DD34-7C3E-BD7F6FE28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60319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0502-CFED-A8B2-FB81-3EC7E90B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0C54AA-D4D9-14BC-3EAB-020F79FE8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FB23E8-5F9C-5213-9698-B41AF0E3F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2BD87-6074-6106-1E80-B489FD028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527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D987-699F-D4B1-EFDC-B6E99C75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157432-5192-052F-DED6-D1281430B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EB79AC-C4F9-71B0-311B-CC9190ADB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78BB6B-30A0-D131-95D7-309AE2A2F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3907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E281-1689-4ACE-DA4C-7ABE36A7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BA9FA7-A38D-65B7-FBE2-7F5F2C7FB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659B6-E8DD-FED7-EFB9-5B55DD548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8BFCB7-FDE9-77F8-62B8-3AB408D0A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8564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4915-4A0B-03D6-A9A8-AA3C150F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F4E0D2-4E26-B291-A167-53179F796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F5C3CA-695B-3AAA-6686-6F8D4C311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C0440F-B90A-2E7E-A36F-6DE339DD4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804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02D3-DD38-81C9-1E2F-8584CB949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DEFE02-C191-CD49-68F8-0CC1045F8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20B99B-7BCC-7C20-2817-4FEB76D74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5D532-1634-4C73-06A3-F4EBEAAC5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6528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38485-2A13-FAA4-CAE6-CFC7B850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6171F9-2FB6-A66D-1EE1-9F40376A2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BDBDFF-B9F8-EEF8-96DF-704EB984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A290C4-2C95-363F-79B6-7AD691BFD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6067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8E5D-249F-84F8-04E4-9D8973AC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B14BFE-23B2-1DFD-E76D-4E0A1AE8F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C8522B-A599-7C38-F991-FC50F321D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D6FB27-9216-0DC8-923B-88F7ED2C0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1876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5FAD-AFA9-5C23-C069-D30200B9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5DC7AF-5B88-89F3-0779-D3CFDEC3F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3AD21D-DD03-4674-A0AE-C0DFB00A3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3C8746-05AC-2CD5-E418-7BE24B052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0644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2068-3302-4A4A-137E-88619490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715577-83A1-C507-ACC5-779E01AF4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7B13F6-E819-7956-019F-F6B5E1596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3681C-1CFE-2F68-0921-00E65B5DD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0210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CB8E-225E-C3E1-97C0-21315472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FD972E-136C-C8F8-016C-2F12F20B5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94873F-0027-64AA-F74E-ECA1C4BCF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F1C448-DF53-CBE5-4676-F0467ABC6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7884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ACE7-AF0C-E6FF-BDB1-9D17C0493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713DC8-07A1-33AE-6D2D-83B37A179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BD7251-B242-EAEC-E5B0-6FB0B3A91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321AAE-5737-3BEA-E37D-9F156CF35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9645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1389-99EB-4D2C-D90C-78940A08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868C97-43B4-E35A-AFDF-8DEF7FBCD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B98265-1517-E907-A2BA-2CC45F0B5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180FC-B2ED-E3B4-1296-58626E86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0685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9B7A-28BB-BE5A-3B77-D2133F54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713F42-E28C-0799-23C3-A7A3798C6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55C53E-E7C6-928A-DC3D-90BC77E9C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E989E-7320-E961-8B7D-1979E1436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9788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2D12-3153-0014-B465-F6D6803C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C34D78-CB8C-2476-26E1-EBB1E5229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874B9B-115D-9F4E-51B7-3158574C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FE4B1-6F9E-0A66-6527-2BAD3D3AD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2647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F716-459C-AD34-4115-54F27464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CC69BD-CCF0-F796-F07E-DC7DB4686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327DA4-B3F1-F9CB-2821-DDB892BB0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400 | </a:t>
            </a:r>
            <a:r>
              <a:rPr kumimoji="1" lang="zh-CN" altLang="en-US" dirty="0"/>
              <a:t>请求不合法 </a:t>
            </a:r>
            <a:r>
              <a:rPr kumimoji="1" lang="en-US" altLang="zh-CN" dirty="0"/>
              <a:t>| </a:t>
            </a:r>
            <a:r>
              <a:rPr kumimoji="1" lang="zh-CN" altLang="en-US" dirty="0"/>
              <a:t>空消息、错误参数 </a:t>
            </a:r>
            <a:r>
              <a:rPr kumimoji="1" lang="en-US" altLang="zh-CN" dirty="0"/>
              <a:t>|</a:t>
            </a:r>
          </a:p>
          <a:p>
            <a:r>
              <a:rPr kumimoji="1" lang="en-US" altLang="zh-CN" dirty="0"/>
              <a:t>| 404 | </a:t>
            </a:r>
            <a:r>
              <a:rPr kumimoji="1" lang="zh-CN" altLang="en-US" dirty="0"/>
              <a:t>资源不存在 </a:t>
            </a:r>
            <a:r>
              <a:rPr kumimoji="1" lang="en-US" altLang="zh-CN" dirty="0"/>
              <a:t>| </a:t>
            </a:r>
            <a:r>
              <a:rPr kumimoji="1" lang="en" altLang="zh-CN" dirty="0"/>
              <a:t>session </a:t>
            </a:r>
            <a:r>
              <a:rPr kumimoji="1" lang="zh-CN" altLang="en-US" dirty="0"/>
              <a:t>不存在</a:t>
            </a:r>
            <a:endParaRPr kumimoji="1" lang="en-US" altLang="zh-CN" dirty="0"/>
          </a:p>
          <a:p>
            <a:r>
              <a:rPr kumimoji="1" lang="en-US" altLang="zh-CN" dirty="0"/>
              <a:t>500 | </a:t>
            </a:r>
            <a:r>
              <a:rPr kumimoji="1" lang="zh-CN" altLang="en-US" dirty="0"/>
              <a:t>服务端错误 </a:t>
            </a:r>
            <a:r>
              <a:rPr kumimoji="1" lang="en-US" altLang="zh-CN" dirty="0"/>
              <a:t>| </a:t>
            </a:r>
            <a:r>
              <a:rPr kumimoji="1" lang="zh-CN" altLang="en-US" dirty="0"/>
              <a:t>未预期异常 </a:t>
            </a:r>
            <a:r>
              <a:rPr kumimoji="1" lang="en-US" altLang="zh-CN" dirty="0"/>
              <a:t>|</a:t>
            </a:r>
          </a:p>
          <a:p>
            <a:r>
              <a:rPr kumimoji="1" lang="en-US" altLang="zh-CN" dirty="0"/>
              <a:t>| 503 | </a:t>
            </a:r>
            <a:r>
              <a:rPr kumimoji="1" lang="zh-CN" altLang="en-US" dirty="0"/>
              <a:t>暂不可用 </a:t>
            </a:r>
            <a:r>
              <a:rPr kumimoji="1" lang="en-US" altLang="zh-CN" dirty="0"/>
              <a:t>| </a:t>
            </a:r>
            <a:r>
              <a:rPr kumimoji="1" lang="en" altLang="zh-CN" dirty="0"/>
              <a:t>LLM provider </a:t>
            </a:r>
            <a:r>
              <a:rPr kumimoji="1" lang="zh-CN" altLang="en-US" dirty="0"/>
              <a:t>暂时失败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FDF551-F3DB-D956-F7C0-BC2A32D15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1168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A095A-585E-DBE2-A16D-AB9AF572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F740DD-8105-EC02-A46C-BCE3B4397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13A6EF-F147-AD0B-5589-E73609C9C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4D7C0-1886-A3BF-3180-92068DA43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3950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1962-2BBC-A5D9-426E-EF734BB34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309554-D486-F64C-BAC5-011D08ED4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7C16FC-4A77-DE57-30F6-FAEF7E327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5D73C0-429C-5F85-37EA-DCA6E0A4E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235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7/14/26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7/14/26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7/14/26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7/14/26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7/14/26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7/14/26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27.0.0.1:8000/chat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github.com/leonxlnx/taste-skil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tencent.com/developer/article/2649087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#6</a:t>
            </a:r>
            <a:br>
              <a:rPr lang="en-US" altLang="zh-CN" dirty="0"/>
            </a:br>
            <a:r>
              <a:rPr lang="en-US" altLang="zh-CN" dirty="0"/>
              <a:t>Gateway</a:t>
            </a:r>
            <a:r>
              <a:rPr lang="zh-CN" altLang="en-US" dirty="0"/>
              <a:t>与前端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78D99-C742-C208-E97A-A203A62A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编程技巧篇：</a:t>
            </a:r>
            <a:r>
              <a:rPr kumimoji="1" lang="en-US" altLang="zh-CN" dirty="0" err="1"/>
              <a:t>DeepWiki&amp;CodeGraph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E33291-EFCD-37F5-237F-CFA3D4F39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BF50EE-85B2-4282-E148-EA29DA1D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61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8A8B-FCD4-0D90-72EC-B8855CAC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DC37-6F55-1E84-3FE5-93E7DD69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技巧篇：如何更好地理解代码？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61A26-BDD2-BAC6-FDD2-6174E786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AEB93556-6AED-6050-5BE6-7ECF65735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基于一个现有的项目进行二次开发</a:t>
            </a:r>
            <a:endParaRPr lang="en-US" altLang="zh-CN" dirty="0"/>
          </a:p>
          <a:p>
            <a:r>
              <a:rPr lang="zh-CN" altLang="en-US" dirty="0"/>
              <a:t>基于团队（比如</a:t>
            </a:r>
            <a:r>
              <a:rPr lang="en-US" altLang="zh-CN" dirty="0"/>
              <a:t> Lab</a:t>
            </a:r>
            <a:r>
              <a:rPr lang="zh-CN" altLang="en-US" dirty="0"/>
              <a:t>、公司）内的现有的工作做扩展</a:t>
            </a:r>
            <a:endParaRPr lang="en-US" altLang="zh-CN" dirty="0"/>
          </a:p>
          <a:p>
            <a:r>
              <a:rPr lang="zh-CN" altLang="en-US" dirty="0"/>
              <a:t>理解代码是开发的第一部</a:t>
            </a:r>
            <a:endParaRPr lang="en-US" altLang="zh-CN" dirty="0"/>
          </a:p>
          <a:p>
            <a:pPr lvl="1"/>
            <a:r>
              <a:rPr lang="zh-CN" altLang="en-US" dirty="0"/>
              <a:t>人怎么更好的理解？</a:t>
            </a:r>
            <a:endParaRPr lang="en-US" altLang="zh-CN" dirty="0"/>
          </a:p>
          <a:p>
            <a:pPr lvl="1"/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怎么更好的理解？</a:t>
            </a:r>
          </a:p>
        </p:txBody>
      </p:sp>
    </p:spTree>
    <p:extLst>
      <p:ext uri="{BB962C8B-B14F-4D97-AF65-F5344CB8AC3E}">
        <p14:creationId xmlns:p14="http://schemas.microsoft.com/office/powerpoint/2010/main" val="26999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CE76-3FA0-E2E4-9116-C01F46F9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1C3C-FD30-B6B3-A956-6EBD707D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 Devin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en-US" altLang="zh-CN" dirty="0" err="1"/>
              <a:t>DeepWiki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7398-7B2A-601B-AFAD-B57E7199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E99F600-7278-B7DC-6821-E7E2252CC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一个比较早期的新闻：第一个</a:t>
            </a:r>
            <a:r>
              <a:rPr lang="en-US" altLang="zh-CN" dirty="0"/>
              <a:t> AI </a:t>
            </a:r>
            <a:r>
              <a:rPr lang="zh-CN" altLang="en-US" dirty="0"/>
              <a:t>软件工程师</a:t>
            </a:r>
            <a:r>
              <a:rPr lang="en-US" altLang="zh-CN" dirty="0"/>
              <a:t> Devin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BB60B9-685B-E9A6-0595-52641B866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1916832"/>
            <a:ext cx="7772400" cy="12511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74EFB3C-329C-229B-50DC-FF84DDDD850C}"/>
              </a:ext>
            </a:extLst>
          </p:cNvPr>
          <p:cNvSpPr txBox="1"/>
          <p:nvPr/>
        </p:nvSpPr>
        <p:spPr>
          <a:xfrm>
            <a:off x="3844" y="6471552"/>
            <a:ext cx="5485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</a:t>
            </a:r>
            <a:r>
              <a:rPr kumimoji="1" lang="en-US" altLang="zh-CN" dirty="0"/>
              <a:t>: https://</a:t>
            </a:r>
            <a:r>
              <a:rPr kumimoji="1" lang="en-US" altLang="zh-CN" dirty="0" err="1"/>
              <a:t>mp.weixin.qq.com</a:t>
            </a:r>
            <a:r>
              <a:rPr kumimoji="1" lang="en-US" altLang="zh-CN" dirty="0"/>
              <a:t>/s/Gk0srB15rEYxrz1AXhTIBg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C06751-E89A-56EA-A2B3-80CE560AC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07" y="2319576"/>
            <a:ext cx="4747021" cy="45213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1F2BF1-592D-86BF-CC42-864CFAE657A7}"/>
              </a:ext>
            </a:extLst>
          </p:cNvPr>
          <p:cNvSpPr txBox="1"/>
          <p:nvPr/>
        </p:nvSpPr>
        <p:spPr>
          <a:xfrm>
            <a:off x="623392" y="4365104"/>
            <a:ext cx="4601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Devin </a:t>
            </a:r>
            <a:r>
              <a:rPr kumimoji="1" lang="zh-CN" altLang="en-US" dirty="0"/>
              <a:t>当时能够提供的开发能力，现在已经被当下的</a:t>
            </a:r>
            <a:r>
              <a:rPr kumimoji="1" lang="en-US" altLang="zh-CN" dirty="0"/>
              <a:t> 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 </a:t>
            </a:r>
            <a:r>
              <a:rPr kumimoji="1" lang="zh-CN" altLang="en-US" dirty="0"/>
              <a:t>远远超过了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37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091C-C0D9-3DD1-B5BF-9C99C63B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9064-8EA4-4466-26C8-BC833148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 Devin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en-US" altLang="zh-CN" dirty="0" err="1"/>
              <a:t>DeepWiki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C989F-125E-DC43-5BEB-1C362E7D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97E289B-F10F-39C2-4349-FD87089B2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更有用的一个衍生：</a:t>
            </a:r>
            <a:r>
              <a:rPr lang="en-US" altLang="zh-CN" dirty="0" err="1"/>
              <a:t>deepwiki</a:t>
            </a:r>
            <a:r>
              <a:rPr lang="zh-CN" altLang="en-US" dirty="0"/>
              <a:t>（</a:t>
            </a:r>
            <a:r>
              <a:rPr lang="en" altLang="zh-CN" dirty="0"/>
              <a:t>https://</a:t>
            </a:r>
            <a:r>
              <a:rPr lang="en" altLang="zh-CN" dirty="0" err="1"/>
              <a:t>deepwiki.com</a:t>
            </a:r>
            <a:r>
              <a:rPr lang="en" altLang="zh-CN" dirty="0"/>
              <a:t>/</a:t>
            </a:r>
            <a:r>
              <a:rPr lang="zh-CN" altLang="en-US" dirty="0"/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7BA287-CE8E-441C-25D2-F04C94FC9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41" y="1988840"/>
            <a:ext cx="7772400" cy="267710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3FCABAE-0617-8578-1059-1F8F5FA732C2}"/>
              </a:ext>
            </a:extLst>
          </p:cNvPr>
          <p:cNvSpPr txBox="1"/>
          <p:nvPr/>
        </p:nvSpPr>
        <p:spPr>
          <a:xfrm>
            <a:off x="192169" y="4970523"/>
            <a:ext cx="116910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dirty="0" err="1"/>
              <a:t>DeepWiki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是一个基于大模型构建的代码分析的平台，主要面向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Github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等主流代码仓库</a:t>
            </a:r>
            <a:endParaRPr kumimoji="1" lang="en-US" altLang="zh-CN" sz="2400" dirty="0"/>
          </a:p>
          <a:p>
            <a:pPr algn="ctr"/>
            <a:r>
              <a:rPr kumimoji="1" lang="zh-CN" altLang="en-US" sz="2400" dirty="0"/>
              <a:t>能够提供对代码非常深入的解读，并且支持实时交互</a:t>
            </a:r>
          </a:p>
        </p:txBody>
      </p:sp>
    </p:spTree>
    <p:extLst>
      <p:ext uri="{BB962C8B-B14F-4D97-AF65-F5344CB8AC3E}">
        <p14:creationId xmlns:p14="http://schemas.microsoft.com/office/powerpoint/2010/main" val="68888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FC08-2D1B-13F7-C8C8-4C98E0A95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ED5-85D7-4179-26C7-5D851489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 Devin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en-US" altLang="zh-CN" dirty="0" err="1"/>
              <a:t>DeepWiki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52428-ED3E-8409-F5CE-6D508E2D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0CD841A-4C78-83F4-1621-77243F95C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一个很有意思的玩法，把任意一个</a:t>
            </a:r>
            <a:r>
              <a:rPr lang="en-US" altLang="zh-CN" dirty="0"/>
              <a:t> </a:t>
            </a:r>
            <a:r>
              <a:rPr lang="en-US" altLang="zh-CN" dirty="0" err="1"/>
              <a:t>github</a:t>
            </a:r>
            <a:r>
              <a:rPr lang="en-US" altLang="zh-CN" dirty="0"/>
              <a:t> </a:t>
            </a:r>
            <a:r>
              <a:rPr lang="zh-CN" altLang="en-US" dirty="0"/>
              <a:t>的项目页的</a:t>
            </a:r>
            <a:r>
              <a:rPr lang="en-US" altLang="zh-CN" dirty="0"/>
              <a:t> </a:t>
            </a:r>
            <a:r>
              <a:rPr lang="en-US" altLang="zh-CN" dirty="0" err="1"/>
              <a:t>github</a:t>
            </a:r>
            <a:r>
              <a:rPr lang="zh-CN" altLang="en-US" dirty="0"/>
              <a:t>链接改成</a:t>
            </a:r>
            <a:r>
              <a:rPr lang="en-US" altLang="zh-CN" dirty="0"/>
              <a:t> </a:t>
            </a:r>
            <a:r>
              <a:rPr lang="en-US" altLang="zh-CN" dirty="0" err="1"/>
              <a:t>deepwiki</a:t>
            </a:r>
            <a:r>
              <a:rPr lang="en-US" altLang="zh-CN" dirty="0"/>
              <a:t> </a:t>
            </a:r>
            <a:r>
              <a:rPr lang="zh-CN" altLang="en-US" dirty="0"/>
              <a:t>链接，就能进入那个项目的</a:t>
            </a:r>
            <a:r>
              <a:rPr lang="en-US" altLang="zh-CN" dirty="0"/>
              <a:t> wiki </a:t>
            </a:r>
            <a:r>
              <a:rPr lang="zh-CN" altLang="en-US" dirty="0"/>
              <a:t>页面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3B2EEB-E7CC-B74F-EA84-06593441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2564904"/>
            <a:ext cx="7772400" cy="32975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28EE558-5099-3AA4-50CF-06227DB18C09}"/>
              </a:ext>
            </a:extLst>
          </p:cNvPr>
          <p:cNvSpPr txBox="1"/>
          <p:nvPr/>
        </p:nvSpPr>
        <p:spPr>
          <a:xfrm>
            <a:off x="2145431" y="2780928"/>
            <a:ext cx="4364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2000" dirty="0">
                <a:solidFill>
                  <a:srgbClr val="FF0000"/>
                </a:solidFill>
              </a:rPr>
              <a:t>https://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github.com</a:t>
            </a:r>
            <a:r>
              <a:rPr kumimoji="1" lang="en" altLang="zh-CN" sz="2000" dirty="0">
                <a:solidFill>
                  <a:srgbClr val="FF0000"/>
                </a:solidFill>
              </a:rPr>
              <a:t>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openclaw</a:t>
            </a:r>
            <a:r>
              <a:rPr kumimoji="1" lang="en" altLang="zh-CN" sz="2000" dirty="0">
                <a:solidFill>
                  <a:srgbClr val="FF0000"/>
                </a:solidFill>
              </a:rPr>
              <a:t>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openclaw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6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1C59-D2A7-A54A-810D-E98D00E4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9E16-09BE-E594-CF2C-E3A2BA83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 Devin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en-US" altLang="zh-CN" dirty="0" err="1"/>
              <a:t>DeepWiki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D6F90-7F75-24D8-33DB-9E6948F8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A166876-C07A-7386-2EF2-BDCEC9A3A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一个很有意思的玩法，把任意一个</a:t>
            </a:r>
            <a:r>
              <a:rPr lang="en-US" altLang="zh-CN" dirty="0"/>
              <a:t> </a:t>
            </a:r>
            <a:r>
              <a:rPr lang="en-US" altLang="zh-CN" dirty="0" err="1"/>
              <a:t>github</a:t>
            </a:r>
            <a:r>
              <a:rPr lang="en-US" altLang="zh-CN" dirty="0"/>
              <a:t> </a:t>
            </a:r>
            <a:r>
              <a:rPr lang="zh-CN" altLang="en-US" dirty="0"/>
              <a:t>的项目页的</a:t>
            </a:r>
            <a:r>
              <a:rPr lang="en-US" altLang="zh-CN" dirty="0"/>
              <a:t> </a:t>
            </a:r>
            <a:r>
              <a:rPr lang="en-US" altLang="zh-CN" dirty="0" err="1"/>
              <a:t>github</a:t>
            </a:r>
            <a:r>
              <a:rPr lang="zh-CN" altLang="en-US" dirty="0"/>
              <a:t>链接改成</a:t>
            </a:r>
            <a:r>
              <a:rPr lang="en-US" altLang="zh-CN" dirty="0"/>
              <a:t> </a:t>
            </a:r>
            <a:r>
              <a:rPr lang="en-US" altLang="zh-CN" dirty="0" err="1"/>
              <a:t>deepwiki</a:t>
            </a:r>
            <a:r>
              <a:rPr lang="en-US" altLang="zh-CN" dirty="0"/>
              <a:t> </a:t>
            </a:r>
            <a:r>
              <a:rPr lang="zh-CN" altLang="en-US" dirty="0"/>
              <a:t>链接，就能进入那个项目的</a:t>
            </a:r>
            <a:r>
              <a:rPr lang="en-US" altLang="zh-CN" dirty="0"/>
              <a:t> wiki </a:t>
            </a:r>
            <a:r>
              <a:rPr lang="zh-CN" altLang="en-US" dirty="0"/>
              <a:t>页面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505236-D57A-0D94-4402-2CF85E21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2564904"/>
            <a:ext cx="7772400" cy="32975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BCFC404-886A-D740-83C7-94A4D1982C63}"/>
              </a:ext>
            </a:extLst>
          </p:cNvPr>
          <p:cNvSpPr txBox="1"/>
          <p:nvPr/>
        </p:nvSpPr>
        <p:spPr>
          <a:xfrm>
            <a:off x="232425" y="2865509"/>
            <a:ext cx="3631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000" dirty="0">
                <a:solidFill>
                  <a:srgbClr val="FF0000"/>
                </a:solidFill>
              </a:rPr>
              <a:t>https://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github.com</a:t>
            </a:r>
            <a:r>
              <a:rPr kumimoji="1" lang="en" altLang="zh-CN" sz="2000" dirty="0">
                <a:solidFill>
                  <a:srgbClr val="FF0000"/>
                </a:solidFill>
              </a:rPr>
              <a:t>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openclaw</a:t>
            </a:r>
            <a:r>
              <a:rPr kumimoji="1" lang="en" altLang="zh-CN" sz="2000" dirty="0">
                <a:solidFill>
                  <a:srgbClr val="FF0000"/>
                </a:solidFill>
              </a:rPr>
              <a:t>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openclaw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8861D4-BCB4-BB56-5D1D-0D8E41649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841" y="171259"/>
            <a:ext cx="7772400" cy="62078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71C25A-1D35-4186-B0F4-E522E604F089}"/>
              </a:ext>
            </a:extLst>
          </p:cNvPr>
          <p:cNvSpPr txBox="1"/>
          <p:nvPr/>
        </p:nvSpPr>
        <p:spPr>
          <a:xfrm>
            <a:off x="5663952" y="419069"/>
            <a:ext cx="3631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000" dirty="0">
                <a:solidFill>
                  <a:srgbClr val="FF0000"/>
                </a:solidFill>
              </a:rPr>
              <a:t>https://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deepwiki.com</a:t>
            </a:r>
            <a:r>
              <a:rPr kumimoji="1" lang="en" altLang="zh-CN" sz="2000" dirty="0">
                <a:solidFill>
                  <a:srgbClr val="FF0000"/>
                </a:solidFill>
              </a:rPr>
              <a:t>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openclaw</a:t>
            </a:r>
            <a:r>
              <a:rPr kumimoji="1" lang="en" altLang="zh-CN" sz="2000" dirty="0">
                <a:solidFill>
                  <a:srgbClr val="FF0000"/>
                </a:solidFill>
              </a:rPr>
              <a:t>/</a:t>
            </a:r>
            <a:r>
              <a:rPr kumimoji="1" lang="en" altLang="zh-CN" sz="2000" dirty="0" err="1">
                <a:solidFill>
                  <a:srgbClr val="FF0000"/>
                </a:solidFill>
              </a:rPr>
              <a:t>openclaw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58583E8-FE8F-04DC-1C2B-93BA48CAABC9}"/>
              </a:ext>
            </a:extLst>
          </p:cNvPr>
          <p:cNvSpPr/>
          <p:nvPr/>
        </p:nvSpPr>
        <p:spPr>
          <a:xfrm>
            <a:off x="4163291" y="995561"/>
            <a:ext cx="1687550" cy="52417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76E2F1-242C-0396-96E5-72ED46069779}"/>
              </a:ext>
            </a:extLst>
          </p:cNvPr>
          <p:cNvSpPr txBox="1"/>
          <p:nvPr/>
        </p:nvSpPr>
        <p:spPr>
          <a:xfrm>
            <a:off x="3942905" y="4203140"/>
            <a:ext cx="3161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大量的分模块、分主体的文档，介绍这个项目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824A56-6D2E-C26E-1BB7-F0B3F8DCFCDD}"/>
              </a:ext>
            </a:extLst>
          </p:cNvPr>
          <p:cNvSpPr txBox="1"/>
          <p:nvPr/>
        </p:nvSpPr>
        <p:spPr>
          <a:xfrm>
            <a:off x="7330718" y="1149722"/>
            <a:ext cx="196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具体的文档内容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341BA1-4B4A-4053-EEEF-C0B020347FA0}"/>
              </a:ext>
            </a:extLst>
          </p:cNvPr>
          <p:cNvSpPr txBox="1"/>
          <p:nvPr/>
        </p:nvSpPr>
        <p:spPr>
          <a:xfrm>
            <a:off x="7778900" y="5732786"/>
            <a:ext cx="4181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可以直接在这里面提问（免费的目前），比如：</a:t>
            </a:r>
            <a:r>
              <a:rPr kumimoji="1" lang="en-US" altLang="zh-CN" b="1" dirty="0" err="1">
                <a:solidFill>
                  <a:srgbClr val="C00000"/>
                </a:solidFill>
                <a:highlight>
                  <a:srgbClr val="FFFF00"/>
                </a:highlight>
              </a:rPr>
              <a:t>Oepnclaw</a:t>
            </a:r>
            <a:r>
              <a:rPr kumimoji="1" lang="en-US" altLang="zh-CN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的工具包含哪些？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0E34502-A788-DFA3-CFB3-27B08C4AD739}"/>
              </a:ext>
            </a:extLst>
          </p:cNvPr>
          <p:cNvSpPr/>
          <p:nvPr/>
        </p:nvSpPr>
        <p:spPr>
          <a:xfrm>
            <a:off x="6091350" y="5706536"/>
            <a:ext cx="1687550" cy="7434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321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A3DD-7406-16C7-BD84-1BE14268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081F-8F37-3D9B-F961-CA9632FD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让</a:t>
            </a:r>
            <a:r>
              <a:rPr lang="en-US" altLang="zh-CN" dirty="0"/>
              <a:t> 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更好的理解项目和代码：</a:t>
            </a:r>
            <a:r>
              <a:rPr lang="en-US" altLang="zh-CN" dirty="0" err="1"/>
              <a:t>CodeGraph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B8757-CC23-696C-4C0D-BD957DE1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B9911C9-1224-5F2E-3E10-816963D10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当前的</a:t>
            </a:r>
            <a:r>
              <a:rPr lang="en-US" altLang="zh-CN" dirty="0"/>
              <a:t> 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现状：简单项目非常容易开发，但复杂项目难</a:t>
            </a:r>
            <a:endParaRPr lang="en-US" altLang="zh-CN" dirty="0"/>
          </a:p>
          <a:p>
            <a:pPr lvl="1"/>
            <a:r>
              <a:rPr lang="zh-CN" altLang="en-US" dirty="0"/>
              <a:t>简单项目：</a:t>
            </a:r>
            <a:r>
              <a:rPr lang="en" altLang="zh-CN" dirty="0"/>
              <a:t>bug</a:t>
            </a:r>
            <a:r>
              <a:rPr lang="zh-CN" altLang="en-US" dirty="0"/>
              <a:t>能查，需求能改，甚至可以交互来了解项目的具体设计</a:t>
            </a:r>
          </a:p>
          <a:p>
            <a:pPr lvl="1"/>
            <a:r>
              <a:rPr lang="zh-CN" altLang="en-US" dirty="0"/>
              <a:t>复杂项目：跟一个普通人一样，各种查看和审阅项目，花费大量</a:t>
            </a:r>
            <a:r>
              <a:rPr lang="en-US" altLang="zh-CN" dirty="0"/>
              <a:t> token</a:t>
            </a:r>
            <a:r>
              <a:rPr lang="zh-CN" altLang="en-US" dirty="0"/>
              <a:t>，进展有限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CodeGraph</a:t>
            </a:r>
            <a:r>
              <a:rPr lang="zh-CN" altLang="en-US" dirty="0"/>
              <a:t>：给</a:t>
            </a:r>
            <a:r>
              <a:rPr lang="en-US" altLang="zh-CN" dirty="0"/>
              <a:t> </a:t>
            </a:r>
            <a:r>
              <a:rPr lang="en-US" altLang="zh-CN" dirty="0" err="1"/>
              <a:t>CodeAgent</a:t>
            </a:r>
            <a:r>
              <a:rPr lang="en-US" altLang="zh-CN" dirty="0"/>
              <a:t> </a:t>
            </a:r>
            <a:r>
              <a:rPr lang="zh-CN" altLang="en-US" dirty="0"/>
              <a:t>加一层经过索引的代码知识图谱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83E5F0-0222-FDCD-7AE2-AB1FDCE06036}"/>
              </a:ext>
            </a:extLst>
          </p:cNvPr>
          <p:cNvSpPr txBox="1"/>
          <p:nvPr/>
        </p:nvSpPr>
        <p:spPr>
          <a:xfrm>
            <a:off x="23829" y="6485448"/>
            <a:ext cx="4454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colbymchenry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codegraph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D99CF4-375A-FD1D-F899-ACE5F17A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3454576"/>
            <a:ext cx="7126560" cy="2994671"/>
          </a:xfrm>
          <a:prstGeom prst="rect">
            <a:avLst/>
          </a:prstGeom>
        </p:spPr>
      </p:pic>
      <p:sp>
        <p:nvSpPr>
          <p:cNvPr id="12" name="圆角矩形 11">
            <a:extLst>
              <a:ext uri="{FF2B5EF4-FFF2-40B4-BE49-F238E27FC236}">
                <a16:creationId xmlns:a16="http://schemas.microsoft.com/office/drawing/2014/main" id="{6947B2D7-2100-B5A5-D151-AD8AD40DA4EB}"/>
              </a:ext>
            </a:extLst>
          </p:cNvPr>
          <p:cNvSpPr/>
          <p:nvPr/>
        </p:nvSpPr>
        <p:spPr>
          <a:xfrm>
            <a:off x="7176120" y="5661248"/>
            <a:ext cx="1080120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132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5549B-8306-CDB4-7403-E80EE1B1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9D4D-3899-D585-C5E0-A0B20832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让</a:t>
            </a:r>
            <a:r>
              <a:rPr lang="en-US" altLang="zh-CN" dirty="0"/>
              <a:t> 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更好的理解项目和代码：</a:t>
            </a:r>
            <a:r>
              <a:rPr lang="en-US" altLang="zh-CN" dirty="0" err="1"/>
              <a:t>CodeGraph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53CC1-A2A9-8579-02D3-47E558BA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7035F4B-B483-747B-0C99-4FC53B07B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3672408"/>
          </a:xfrm>
        </p:spPr>
        <p:txBody>
          <a:bodyPr/>
          <a:lstStyle/>
          <a:p>
            <a:r>
              <a:rPr lang="zh-CN" altLang="en-US" dirty="0"/>
              <a:t>当你要</a:t>
            </a:r>
            <a:r>
              <a:rPr lang="en-US" altLang="zh-CN" dirty="0"/>
              <a:t> 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去接手一个新的复杂的项目的时候</a:t>
            </a:r>
            <a:endParaRPr lang="en-US" altLang="zh-CN" dirty="0"/>
          </a:p>
          <a:p>
            <a:r>
              <a:rPr lang="en-US" altLang="zh-CN" dirty="0"/>
              <a:t> 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可以先通过</a:t>
            </a:r>
            <a:r>
              <a:rPr lang="en-US" altLang="zh-CN" dirty="0"/>
              <a:t> </a:t>
            </a:r>
            <a:r>
              <a:rPr lang="en-US" altLang="zh-CN" dirty="0" err="1"/>
              <a:t>CodeGraph</a:t>
            </a:r>
            <a:r>
              <a:rPr lang="zh-CN" altLang="en-US" dirty="0"/>
              <a:t>（</a:t>
            </a:r>
            <a:r>
              <a:rPr lang="en-US" altLang="zh-CN" dirty="0"/>
              <a:t>MCP</a:t>
            </a:r>
            <a:r>
              <a:rPr lang="zh-CN" altLang="en-US" dirty="0"/>
              <a:t> </a:t>
            </a:r>
            <a:r>
              <a:rPr lang="en-US" altLang="zh-CN" dirty="0"/>
              <a:t>Server</a:t>
            </a:r>
            <a:r>
              <a:rPr lang="zh-CN" altLang="en-US" dirty="0"/>
              <a:t>），来奖当前的项目进行一个完整的分析，并构建一个结构化的图谱</a:t>
            </a:r>
            <a:endParaRPr lang="en-US" altLang="zh-CN" dirty="0"/>
          </a:p>
          <a:p>
            <a:r>
              <a:rPr lang="zh-CN" altLang="en-US" dirty="0"/>
              <a:t>后续，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就能够在这个图谱的帮助下，更加明确应该怎样去完成项目的任务</a:t>
            </a:r>
            <a:endParaRPr lang="en-US" altLang="zh-CN" dirty="0"/>
          </a:p>
          <a:p>
            <a:r>
              <a:rPr lang="en-US" altLang="zh-CN" dirty="0" err="1"/>
              <a:t>CodeGraph</a:t>
            </a:r>
            <a:r>
              <a:rPr lang="zh-CN" altLang="en-US" dirty="0"/>
              <a:t>可以通过命令行直接安装，</a:t>
            </a:r>
            <a:br>
              <a:rPr lang="en-US" altLang="zh-CN" dirty="0"/>
            </a:br>
            <a:r>
              <a:rPr lang="zh-CN" altLang="en-US" dirty="0"/>
              <a:t>也可以让大家自己的</a:t>
            </a:r>
            <a:r>
              <a:rPr lang="en-US" altLang="zh-CN" dirty="0"/>
              <a:t> Code</a:t>
            </a:r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帮</a:t>
            </a:r>
            <a:br>
              <a:rPr lang="en-US" altLang="zh-CN" dirty="0"/>
            </a:br>
            <a:r>
              <a:rPr lang="zh-CN" altLang="en-US" dirty="0"/>
              <a:t>大家去做安装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ECEE67-9A8E-494F-ABEA-3AD186CE8103}"/>
              </a:ext>
            </a:extLst>
          </p:cNvPr>
          <p:cNvSpPr txBox="1"/>
          <p:nvPr/>
        </p:nvSpPr>
        <p:spPr>
          <a:xfrm>
            <a:off x="23829" y="6485448"/>
            <a:ext cx="4454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colbymchenry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codegraph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AB311B-AA1E-3A80-3D9F-9DC0BB807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71" y="3393175"/>
            <a:ext cx="4680520" cy="29036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C78B37D-D9B3-1671-889D-F1AAA9BEAE77}"/>
              </a:ext>
            </a:extLst>
          </p:cNvPr>
          <p:cNvSpPr txBox="1"/>
          <p:nvPr/>
        </p:nvSpPr>
        <p:spPr>
          <a:xfrm>
            <a:off x="407368" y="4970927"/>
            <a:ext cx="4271860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colbymchenry.github.io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codegraph</a:t>
            </a:r>
            <a:r>
              <a:rPr kumimoji="1" lang="en" altLang="zh-CN" dirty="0"/>
              <a:t>/getting-started/</a:t>
            </a:r>
            <a:r>
              <a:rPr kumimoji="1" lang="en" altLang="zh-CN" dirty="0" err="1"/>
              <a:t>quickstart</a:t>
            </a:r>
            <a:r>
              <a:rPr kumimoji="1" lang="en" altLang="zh-CN" dirty="0"/>
              <a:t>/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547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C78F-9EB0-D733-E290-4791A4E0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B48A-CBD3-6ECE-1CB7-0C33D94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SJTUClaw</a:t>
            </a:r>
            <a:r>
              <a:rPr kumimoji="1" lang="en-US" altLang="zh-CN" dirty="0"/>
              <a:t> </a:t>
            </a:r>
            <a:r>
              <a:rPr kumimoji="1" lang="zh-CN" altLang="en-US" dirty="0"/>
              <a:t>篇：</a:t>
            </a:r>
            <a:r>
              <a:rPr kumimoji="1" lang="en-US" altLang="zh-CN" dirty="0"/>
              <a:t>Gateway </a:t>
            </a:r>
            <a:r>
              <a:rPr kumimoji="1" lang="zh-CN" altLang="en-US" dirty="0"/>
              <a:t>与前端支持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AD4CE-2802-80E9-E4F9-46F903002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53464-7E12-9E53-F72D-CB49282E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2999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A944-05FC-D9A6-E274-B64FA945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一个真实的</a:t>
            </a:r>
            <a:r>
              <a:rPr lang="en-US" altLang="zh-CN" dirty="0"/>
              <a:t> Claw</a:t>
            </a:r>
            <a:r>
              <a:rPr lang="zh-CN" altLang="en-US" dirty="0"/>
              <a:t> </a:t>
            </a:r>
            <a:r>
              <a:rPr lang="en-US" altLang="zh-CN" dirty="0"/>
              <a:t>Agent/</a:t>
            </a:r>
            <a:r>
              <a:rPr lang="zh-CN" altLang="en-US" dirty="0"/>
              <a:t>通用智能体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龙虾本身作为一个成员</a:t>
            </a:r>
            <a:endParaRPr lang="en-US" altLang="zh-CN" dirty="0"/>
          </a:p>
          <a:p>
            <a:r>
              <a:rPr lang="zh-CN" altLang="en-US" dirty="0"/>
              <a:t>加入了飞书的聊天群里</a:t>
            </a:r>
            <a:endParaRPr lang="en-US" altLang="zh-CN" dirty="0"/>
          </a:p>
          <a:p>
            <a:r>
              <a:rPr lang="zh-CN" altLang="en-US" dirty="0"/>
              <a:t>接受指令、完成任务、在群里回复结果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97CA85-CCA4-CDD9-0DEE-BBC2C1A3B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2158" y="3305051"/>
            <a:ext cx="5995396" cy="34164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CED56C-D14A-E652-7D8D-96DE7C4F0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849" y="0"/>
            <a:ext cx="3806084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31AB4E1-56FC-21FE-9530-DE38692277A2}"/>
              </a:ext>
            </a:extLst>
          </p:cNvPr>
          <p:cNvSpPr/>
          <p:nvPr/>
        </p:nvSpPr>
        <p:spPr>
          <a:xfrm>
            <a:off x="1127448" y="3573016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马赛克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50E66F-1B06-00BB-3F9B-AC395CF16960}"/>
              </a:ext>
            </a:extLst>
          </p:cNvPr>
          <p:cNvSpPr/>
          <p:nvPr/>
        </p:nvSpPr>
        <p:spPr>
          <a:xfrm>
            <a:off x="8184232" y="1029220"/>
            <a:ext cx="1296144" cy="45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马赛克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1E7D30-311F-DC54-A482-1EC7606A9951}"/>
              </a:ext>
            </a:extLst>
          </p:cNvPr>
          <p:cNvSpPr/>
          <p:nvPr/>
        </p:nvSpPr>
        <p:spPr>
          <a:xfrm>
            <a:off x="9048328" y="4005064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DAC0F4-485D-B240-0C94-629DDF8C8428}"/>
              </a:ext>
            </a:extLst>
          </p:cNvPr>
          <p:cNvSpPr/>
          <p:nvPr/>
        </p:nvSpPr>
        <p:spPr>
          <a:xfrm>
            <a:off x="8760296" y="4581128"/>
            <a:ext cx="976300" cy="45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C915A2-E926-7B2B-CA16-BD8F39A6B122}"/>
              </a:ext>
            </a:extLst>
          </p:cNvPr>
          <p:cNvSpPr/>
          <p:nvPr/>
        </p:nvSpPr>
        <p:spPr>
          <a:xfrm>
            <a:off x="9474891" y="5336559"/>
            <a:ext cx="261705" cy="252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F80D77-82C9-C3F3-34BD-C1EF9E1F889B}"/>
              </a:ext>
            </a:extLst>
          </p:cNvPr>
          <p:cNvSpPr/>
          <p:nvPr/>
        </p:nvSpPr>
        <p:spPr>
          <a:xfrm>
            <a:off x="9474890" y="6131774"/>
            <a:ext cx="261705" cy="252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5DFA-663C-B7F9-5E10-13133D0D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7303-3901-596A-7C1A-79A91294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一个真实的</a:t>
            </a:r>
            <a:r>
              <a:rPr lang="en-US" altLang="zh-CN" dirty="0"/>
              <a:t> Claw</a:t>
            </a:r>
            <a:r>
              <a:rPr lang="zh-CN" altLang="en-US" dirty="0"/>
              <a:t> </a:t>
            </a:r>
            <a:r>
              <a:rPr lang="en-US" altLang="zh-CN" dirty="0"/>
              <a:t>Agent/</a:t>
            </a:r>
            <a:r>
              <a:rPr lang="zh-CN" altLang="en-US" dirty="0"/>
              <a:t>通用智能体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D6EFC-C345-253B-B036-AF844645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AB20D60-B63E-5E85-CCA3-661216FF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-US" altLang="zh-CN" dirty="0"/>
              <a:t>Codex</a:t>
            </a:r>
            <a:r>
              <a:rPr lang="zh-CN" altLang="en-US" dirty="0"/>
              <a:t>的桌面宠物，可以简单互动，换到</a:t>
            </a:r>
            <a:r>
              <a:rPr lang="en-US" altLang="zh-CN" dirty="0"/>
              <a:t> Codex </a:t>
            </a:r>
            <a:r>
              <a:rPr lang="zh-CN" altLang="en-US" dirty="0"/>
              <a:t>主界面来交互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CFBE45-1A22-474F-2264-14AEFCB85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260" y="2161604"/>
            <a:ext cx="4115161" cy="339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5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C20D-8000-CBB1-B099-D561B4F0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D222-A2E3-E756-C47B-E4A04FCA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用户是否满意，是一个优秀软件很关键的指标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8446A-5111-03DD-011E-B5001948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55AD008-00BB-2A9A-DA11-EE49420E6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252028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我们的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到最后，也是一个软件，一个智能体软件</a:t>
            </a:r>
            <a:endParaRPr lang="en-US" altLang="zh-CN" dirty="0"/>
          </a:p>
          <a:p>
            <a:r>
              <a:rPr lang="zh-CN" altLang="en-US" dirty="0"/>
              <a:t>一些希望</a:t>
            </a:r>
            <a:endParaRPr lang="en-US" altLang="zh-CN" dirty="0"/>
          </a:p>
          <a:p>
            <a:pPr lvl="1"/>
            <a:r>
              <a:rPr lang="zh-CN" altLang="en-US" dirty="0"/>
              <a:t>我们的用户，必须自身理解</a:t>
            </a:r>
            <a:r>
              <a:rPr lang="en-US" altLang="zh-CN" dirty="0"/>
              <a:t> Agent</a:t>
            </a:r>
            <a:r>
              <a:rPr lang="zh-CN" altLang="en-US" dirty="0"/>
              <a:t>，不需要会运行命令行，应该就是大部分的普通人</a:t>
            </a:r>
            <a:endParaRPr lang="en-US" altLang="zh-CN" dirty="0"/>
          </a:p>
          <a:p>
            <a:pPr lvl="1"/>
            <a:r>
              <a:rPr lang="zh-CN" altLang="en-US" dirty="0"/>
              <a:t>当他们安装好之后，应该以一种比较容易使用的方式来使用智能体系统</a:t>
            </a:r>
            <a:endParaRPr lang="en-US" altLang="zh-CN" dirty="0"/>
          </a:p>
          <a:p>
            <a:pPr lvl="1"/>
            <a:r>
              <a:rPr lang="zh-CN" altLang="en-US" dirty="0"/>
              <a:t>类似前面的接入飞书等生态、或者是有自己的</a:t>
            </a:r>
            <a:r>
              <a:rPr lang="en-US" altLang="zh-CN" dirty="0"/>
              <a:t> UI </a:t>
            </a:r>
            <a:r>
              <a:rPr lang="zh-CN" altLang="en-US" dirty="0"/>
              <a:t>界面、或者网页端，都是一个系统的前端在负责的任务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8CB91F-86FA-3188-B2F4-BFDF92081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64" y="3656181"/>
            <a:ext cx="5176882" cy="29119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6D4F2E-6883-6019-36CC-8E2E33A81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8" y="3656181"/>
            <a:ext cx="7772400" cy="1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22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8014-BA8A-6744-1F2A-D6C60917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2C86-AFAC-5197-BDA6-FF695ACE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在进入到技术正文前，还是一些小提示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C1C6-410C-CF4A-79B2-983D2E5D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9612AD8-28AD-CE4F-F539-F140FB2F9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2520280"/>
          </a:xfrm>
        </p:spPr>
        <p:txBody>
          <a:bodyPr>
            <a:normAutofit/>
          </a:bodyPr>
          <a:lstStyle/>
          <a:p>
            <a:r>
              <a:rPr lang="zh-CN" altLang="en-US"/>
              <a:t>注意信息安全，不管是大家自己的，还是大家智能体用户的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8148FB-9D7E-D36D-0D93-A0905302E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04" y="2348880"/>
            <a:ext cx="4600759" cy="44736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FCFCFD-B09B-30F2-653B-3E2C73CA1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689" y="3009751"/>
            <a:ext cx="5483556" cy="29749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28B83A-F363-E660-5102-369ABA283ADB}"/>
              </a:ext>
            </a:extLst>
          </p:cNvPr>
          <p:cNvSpPr txBox="1"/>
          <p:nvPr/>
        </p:nvSpPr>
        <p:spPr>
          <a:xfrm>
            <a:off x="5850841" y="2520995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来自我的群聊（仅供警示参考，万万不可尝试深入研究）</a:t>
            </a:r>
          </a:p>
        </p:txBody>
      </p:sp>
    </p:spTree>
    <p:extLst>
      <p:ext uri="{BB962C8B-B14F-4D97-AF65-F5344CB8AC3E}">
        <p14:creationId xmlns:p14="http://schemas.microsoft.com/office/powerpoint/2010/main" val="2098554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1228-F96B-CDD0-9E0D-B6B32A50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191E-7406-FC6F-E2D5-73ADF2F0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让我们的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更具备交互性：</a:t>
            </a:r>
            <a:r>
              <a:rPr lang="en-US" altLang="zh-CN" dirty="0"/>
              <a:t>Gateway </a:t>
            </a:r>
            <a:r>
              <a:rPr lang="zh-CN" altLang="en-US" dirty="0"/>
              <a:t>和前端缺一不可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EF43E-6CF0-D9D5-B02D-B3A4978A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D01FE8F-26CC-25D6-6975-7B191BD2F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Gateway</a:t>
            </a:r>
            <a:r>
              <a:rPr lang="zh-CN" altLang="en-US" dirty="0"/>
              <a:t>（网关、入口），为什么需要有</a:t>
            </a:r>
            <a:r>
              <a:rPr lang="en-US" altLang="zh-CN" dirty="0"/>
              <a:t> Gateway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我们考虑一个情况，比如大家为了实现好看的前端，让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设计了一个网页，并且能够通过网页来调用此前的</a:t>
            </a:r>
            <a:r>
              <a:rPr lang="en-US" altLang="zh-CN" dirty="0"/>
              <a:t> agent </a:t>
            </a:r>
            <a:r>
              <a:rPr lang="zh-CN" altLang="en-US" dirty="0"/>
              <a:t>系统</a:t>
            </a:r>
            <a:endParaRPr lang="en-US" altLang="zh-CN" dirty="0"/>
          </a:p>
          <a:p>
            <a:r>
              <a:rPr lang="zh-CN" altLang="en-US" dirty="0"/>
              <a:t>那么，可能会出现下面的场景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CLI&gt; </a:t>
            </a:r>
            <a:r>
              <a:rPr lang="zh-CN" altLang="en-US" dirty="0">
                <a:solidFill>
                  <a:srgbClr val="C00000"/>
                </a:solidFill>
              </a:rPr>
              <a:t>我这门课叫“计算机网络”。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Web&gt; </a:t>
            </a:r>
            <a:r>
              <a:rPr lang="zh-CN" altLang="en-US" dirty="0">
                <a:solidFill>
                  <a:srgbClr val="C00000"/>
                </a:solidFill>
              </a:rPr>
              <a:t>我刚才说这门课叫什么？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Web Assistant&gt; </a:t>
            </a:r>
            <a:r>
              <a:rPr lang="zh-CN" altLang="en-US" dirty="0">
                <a:solidFill>
                  <a:srgbClr val="C00000"/>
                </a:solidFill>
              </a:rPr>
              <a:t>我不知道你之前说过什么。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这是由于，我们同时有两个入口（</a:t>
            </a:r>
            <a:r>
              <a:rPr lang="en-US" altLang="zh-CN" dirty="0" err="1"/>
              <a:t>Cli</a:t>
            </a:r>
            <a:r>
              <a:rPr lang="zh-CN" altLang="en-US" dirty="0"/>
              <a:t>、</a:t>
            </a:r>
            <a:r>
              <a:rPr lang="en-US" altLang="zh-CN" dirty="0"/>
              <a:t>Web</a:t>
            </a:r>
            <a:r>
              <a:rPr lang="zh-CN" altLang="en-US" dirty="0"/>
              <a:t>）来访问</a:t>
            </a:r>
            <a:r>
              <a:rPr lang="en-US" altLang="zh-CN" dirty="0"/>
              <a:t> Agent </a:t>
            </a:r>
            <a:r>
              <a:rPr lang="zh-CN" altLang="en-US" dirty="0"/>
              <a:t>系统导致的</a:t>
            </a:r>
          </a:p>
        </p:txBody>
      </p:sp>
    </p:spTree>
    <p:extLst>
      <p:ext uri="{BB962C8B-B14F-4D97-AF65-F5344CB8AC3E}">
        <p14:creationId xmlns:p14="http://schemas.microsoft.com/office/powerpoint/2010/main" val="217737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E3DE-7061-2D15-90BB-09C18AE7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02669-C82C-29E9-B126-171BC563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让我们的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更具备交互性：</a:t>
            </a:r>
            <a:r>
              <a:rPr lang="en-US" altLang="zh-CN" dirty="0"/>
              <a:t>Gateway </a:t>
            </a:r>
            <a:r>
              <a:rPr lang="zh-CN" altLang="en-US" dirty="0"/>
              <a:t>和前端缺一不可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1195A-699C-EEA3-78F8-55D5051E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44BD9E7-CEC7-EC16-EBE6-9698B3AE5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Gateway</a:t>
            </a:r>
            <a:r>
              <a:rPr lang="zh-CN" altLang="en-US" dirty="0"/>
              <a:t>（网关、入口），为什么需要有</a:t>
            </a:r>
            <a:r>
              <a:rPr lang="en-US" altLang="zh-CN" dirty="0"/>
              <a:t> Gateway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Gateway</a:t>
            </a:r>
            <a:r>
              <a:rPr lang="zh-CN" altLang="en-US" dirty="0"/>
              <a:t>是外部入口和 </a:t>
            </a:r>
            <a:r>
              <a:rPr lang="en-US" altLang="zh-CN" dirty="0"/>
              <a:t>Agent Runtime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zh-CN" altLang="en-US" dirty="0"/>
              <a:t>之间的服务边界</a:t>
            </a:r>
            <a:endParaRPr lang="en-US" altLang="zh-CN" dirty="0"/>
          </a:p>
          <a:p>
            <a:r>
              <a:rPr lang="zh-CN" altLang="en-US" dirty="0"/>
              <a:t>实现多个不同前端和</a:t>
            </a:r>
            <a:r>
              <a:rPr lang="en-US" altLang="zh-CN" dirty="0"/>
              <a:t> Agent </a:t>
            </a:r>
            <a:r>
              <a:rPr lang="zh-CN" altLang="en-US" dirty="0"/>
              <a:t>的交互</a:t>
            </a:r>
            <a:endParaRPr lang="en-US" altLang="zh-CN" dirty="0"/>
          </a:p>
          <a:p>
            <a:pPr lvl="1"/>
            <a:r>
              <a:rPr lang="zh-CN" altLang="en-US" dirty="0"/>
              <a:t>接收外部请求</a:t>
            </a:r>
          </a:p>
          <a:p>
            <a:pPr lvl="1"/>
            <a:r>
              <a:rPr lang="zh-CN" altLang="en-US" dirty="0"/>
              <a:t>校验输入</a:t>
            </a:r>
          </a:p>
          <a:p>
            <a:pPr lvl="1"/>
            <a:r>
              <a:rPr lang="zh-CN" altLang="en-US" dirty="0"/>
              <a:t>识别 </a:t>
            </a:r>
            <a:r>
              <a:rPr lang="en-US" altLang="zh-CN" dirty="0"/>
              <a:t>session</a:t>
            </a:r>
            <a:endParaRPr lang="zh-CN" altLang="en-US" dirty="0"/>
          </a:p>
          <a:p>
            <a:pPr lvl="1"/>
            <a:r>
              <a:rPr lang="zh-CN" altLang="en-US" dirty="0"/>
              <a:t>调用共享 </a:t>
            </a:r>
            <a:r>
              <a:rPr lang="en-US" altLang="zh-CN" dirty="0"/>
              <a:t>Runtime Service</a:t>
            </a:r>
            <a:endParaRPr lang="zh-CN" altLang="en-US" dirty="0"/>
          </a:p>
          <a:p>
            <a:pPr lvl="1"/>
            <a:r>
              <a:rPr lang="zh-CN" altLang="en-US" dirty="0"/>
              <a:t>返回结构化响应</a:t>
            </a:r>
          </a:p>
          <a:p>
            <a:pPr lvl="1"/>
            <a:r>
              <a:rPr lang="zh-CN" altLang="en-US" dirty="0"/>
              <a:t>管理附件上传入口</a:t>
            </a:r>
          </a:p>
          <a:p>
            <a:pPr lvl="1"/>
            <a:r>
              <a:rPr lang="zh-CN" altLang="en-US" dirty="0"/>
              <a:t>把异常变成稳定错误 </a:t>
            </a:r>
            <a:r>
              <a:rPr lang="en-US" altLang="zh-CN" dirty="0"/>
              <a:t>contract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3A159A-ED43-2BBA-069B-93F7A7F52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425" y="1748537"/>
            <a:ext cx="4000541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8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941C4-6719-4CEC-7763-D4A2E4A4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89A6-6139-3F23-7F30-F7E93604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简单理解下</a:t>
            </a:r>
            <a:r>
              <a:rPr lang="en-US" altLang="zh-CN" dirty="0"/>
              <a:t> Client-Server</a:t>
            </a:r>
            <a:r>
              <a:rPr lang="zh-CN" altLang="en-US" dirty="0"/>
              <a:t>（</a:t>
            </a:r>
            <a:r>
              <a:rPr lang="en-US" altLang="zh-CN" dirty="0"/>
              <a:t>C-S</a:t>
            </a:r>
            <a:r>
              <a:rPr lang="zh-CN" altLang="en-US" dirty="0"/>
              <a:t>）架构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17DD7-AE41-6DD5-EE7A-01A6B6AB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32354372-3EB8-7A43-886A-9BB87418D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en" altLang="zh-CN" dirty="0"/>
              <a:t>Client</a:t>
            </a:r>
            <a:r>
              <a:rPr lang="zh-CN" altLang="en" dirty="0"/>
              <a:t>：</a:t>
            </a:r>
            <a:r>
              <a:rPr lang="zh-CN" altLang="en-US" dirty="0"/>
              <a:t>主动发送请求，例如浏览器页面</a:t>
            </a:r>
          </a:p>
          <a:p>
            <a:r>
              <a:rPr lang="en" altLang="zh-CN" dirty="0"/>
              <a:t>Server</a:t>
            </a:r>
            <a:r>
              <a:rPr lang="zh-CN" altLang="en" dirty="0"/>
              <a:t>：</a:t>
            </a:r>
            <a:r>
              <a:rPr lang="zh-CN" altLang="en-US" dirty="0"/>
              <a:t>长期运行，等待并处理请求，例如 </a:t>
            </a:r>
            <a:r>
              <a:rPr lang="en" altLang="zh-CN" dirty="0" err="1"/>
              <a:t>FastAPI</a:t>
            </a:r>
            <a:r>
              <a:rPr lang="zh-CN" altLang="en-US" baseline="30000" dirty="0"/>
              <a:t>*</a:t>
            </a:r>
            <a:endParaRPr lang="en-US" altLang="zh-CN" baseline="30000" dirty="0"/>
          </a:p>
          <a:p>
            <a:r>
              <a:rPr lang="zh-CN" altLang="en-US" dirty="0"/>
              <a:t>图形化入口通常是 </a:t>
            </a:r>
            <a:r>
              <a:rPr lang="en-US" altLang="zh-CN" dirty="0"/>
              <a:t>Client</a:t>
            </a:r>
            <a:r>
              <a:rPr lang="zh-CN" altLang="en-US" dirty="0"/>
              <a:t>，</a:t>
            </a:r>
            <a:r>
              <a:rPr lang="en-US" altLang="zh-CN" dirty="0"/>
              <a:t>Gateway </a:t>
            </a:r>
            <a:r>
              <a:rPr lang="zh-CN" altLang="en-US" dirty="0"/>
              <a:t>是 </a:t>
            </a:r>
            <a:r>
              <a:rPr lang="en-US" altLang="zh-CN" dirty="0"/>
              <a:t>Server</a:t>
            </a:r>
          </a:p>
          <a:p>
            <a:r>
              <a:rPr lang="zh-CN" altLang="en-US" dirty="0"/>
              <a:t>一次简单的交互：</a:t>
            </a:r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3E562C-6735-8F63-62A7-8583A13D3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3344503"/>
            <a:ext cx="5135562" cy="295232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AB80BEB-3CF7-6B72-0982-A9F26CA4DCEE}"/>
              </a:ext>
            </a:extLst>
          </p:cNvPr>
          <p:cNvSpPr txBox="1"/>
          <p:nvPr/>
        </p:nvSpPr>
        <p:spPr>
          <a:xfrm>
            <a:off x="192505" y="6432884"/>
            <a:ext cx="967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FastAPI</a:t>
            </a:r>
            <a:r>
              <a:rPr kumimoji="1" lang="en-US" altLang="zh-CN" dirty="0"/>
              <a:t> </a:t>
            </a:r>
            <a:r>
              <a:rPr kumimoji="1" lang="zh-CN" altLang="en-US" dirty="0"/>
              <a:t>是基于</a:t>
            </a:r>
            <a:r>
              <a:rPr kumimoji="1" lang="en-US" altLang="zh-CN" dirty="0"/>
              <a:t> Python </a:t>
            </a:r>
            <a:r>
              <a:rPr kumimoji="1" lang="zh-CN" altLang="en-US" dirty="0"/>
              <a:t>的快速支持</a:t>
            </a:r>
            <a:r>
              <a:rPr kumimoji="1" lang="en-US" altLang="zh-CN" dirty="0"/>
              <a:t> API </a:t>
            </a:r>
            <a:r>
              <a:rPr kumimoji="1" lang="zh-CN" altLang="en-US" dirty="0"/>
              <a:t>设计和实现的一个框架（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fastapi.tiangolo.com</a:t>
            </a:r>
            <a:r>
              <a:rPr kumimoji="1" lang="en" altLang="zh-CN" dirty="0"/>
              <a:t>/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10151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B164F-262B-E2FF-C8B1-5B445B71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CCA2-9D61-79B1-AB1C-44567DDD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场景下，需要设计下前端和</a:t>
            </a:r>
            <a:r>
              <a:rPr lang="en-US" altLang="zh-CN" dirty="0"/>
              <a:t> Gateway </a:t>
            </a:r>
            <a:r>
              <a:rPr lang="zh-CN" altLang="en-US" dirty="0"/>
              <a:t>之间的交互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03B5D-8AC9-9156-DEB6-C9C411DF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D3C6CB1-6269-8836-DC48-AA5D73D2F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比如：</a:t>
            </a:r>
            <a:r>
              <a:rPr lang="en" altLang="zh-CN" dirty="0"/>
              <a:t>HTTP </a:t>
            </a:r>
            <a:r>
              <a:rPr lang="zh-CN" altLang="en-US" dirty="0"/>
              <a:t>是 </a:t>
            </a:r>
            <a:r>
              <a:rPr lang="en" altLang="zh-CN" dirty="0"/>
              <a:t>Client </a:t>
            </a:r>
            <a:r>
              <a:rPr lang="zh-CN" altLang="en-US" dirty="0"/>
              <a:t>和 </a:t>
            </a:r>
            <a:r>
              <a:rPr lang="en" altLang="zh-CN" dirty="0"/>
              <a:t>Server </a:t>
            </a:r>
            <a:r>
              <a:rPr lang="zh-CN" altLang="en-US" dirty="0"/>
              <a:t>交换请求与响应的一套协议</a:t>
            </a:r>
            <a:endParaRPr lang="en-US" altLang="zh-CN" dirty="0"/>
          </a:p>
          <a:p>
            <a:r>
              <a:rPr lang="zh-CN" altLang="en-US" dirty="0"/>
              <a:t>或者使用</a:t>
            </a:r>
            <a:r>
              <a:rPr lang="en-US" altLang="zh-CN" dirty="0"/>
              <a:t> WebSocket</a:t>
            </a:r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建议大家先通过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进行讨论，确定几个可能的选项之后，再结合自己的判断，进行技术选型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7987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6C283-48D5-3794-6046-13E97D54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262B-38CC-5C26-72C3-C6D8F6DF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 从 </a:t>
            </a:r>
            <a:r>
              <a:rPr lang="en" altLang="zh-CN" dirty="0"/>
              <a:t>CLI </a:t>
            </a:r>
            <a:r>
              <a:rPr lang="zh-CN" altLang="en-US" dirty="0"/>
              <a:t>中抽出 </a:t>
            </a:r>
            <a:r>
              <a:rPr lang="en" altLang="zh-CN" dirty="0"/>
              <a:t>Runtime Service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79B0-C48A-34BC-D5D7-86D430C5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19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2C1E641-09A1-9E04-D22D-4E57DCB52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有了</a:t>
            </a:r>
            <a:r>
              <a:rPr lang="en-US" altLang="zh-CN" dirty="0"/>
              <a:t>Gateway </a:t>
            </a:r>
            <a:r>
              <a:rPr lang="zh-CN" altLang="en-US" dirty="0"/>
              <a:t>之后，我们需要让</a:t>
            </a:r>
            <a:r>
              <a:rPr lang="en-US" altLang="zh-CN" dirty="0"/>
              <a:t> Gateway </a:t>
            </a:r>
            <a:r>
              <a:rPr lang="zh-CN" altLang="en-US" dirty="0"/>
              <a:t>来调用真正的</a:t>
            </a:r>
            <a:r>
              <a:rPr lang="en-US" altLang="zh-CN" dirty="0"/>
              <a:t> Agent </a:t>
            </a:r>
            <a:r>
              <a:rPr lang="zh-CN" altLang="en-US" dirty="0"/>
              <a:t>服务（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Runtime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此前的</a:t>
            </a:r>
            <a:r>
              <a:rPr lang="en-US" altLang="zh-CN" dirty="0"/>
              <a:t> </a:t>
            </a:r>
            <a:r>
              <a:rPr lang="en-US" altLang="zh-CN" dirty="0" err="1"/>
              <a:t>Cli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Agent </a:t>
            </a:r>
            <a:r>
              <a:rPr lang="zh-CN" altLang="en-US" dirty="0"/>
              <a:t>系统的主要能力其实是耦合在一起的，需要进行拆分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9CAE7A-C74C-1C4A-672A-DA28A6B2A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3759250"/>
            <a:ext cx="4032448" cy="29622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9BCEC5C-BD66-0379-5670-C1D710553F9A}"/>
              </a:ext>
            </a:extLst>
          </p:cNvPr>
          <p:cNvSpPr txBox="1"/>
          <p:nvPr/>
        </p:nvSpPr>
        <p:spPr>
          <a:xfrm>
            <a:off x="265840" y="3244334"/>
            <a:ext cx="3671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之前</a:t>
            </a:r>
            <a:r>
              <a:rPr kumimoji="1" lang="en-US" altLang="zh-CN" sz="2400" dirty="0"/>
              <a:t> cli </a:t>
            </a:r>
            <a:r>
              <a:rPr kumimoji="1" lang="zh-CN" altLang="en-US" sz="2400" dirty="0"/>
              <a:t>中可能的一个逻辑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8AE99D-1268-7148-8BB1-8E58E972ED00}"/>
              </a:ext>
            </a:extLst>
          </p:cNvPr>
          <p:cNvSpPr txBox="1"/>
          <p:nvPr/>
        </p:nvSpPr>
        <p:spPr>
          <a:xfrm>
            <a:off x="5346856" y="3198167"/>
            <a:ext cx="6845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分离之后的一个结构，</a:t>
            </a:r>
            <a:r>
              <a:rPr kumimoji="1" lang="en-US" altLang="zh-CN" sz="2400" dirty="0"/>
              <a:t>cli </a:t>
            </a:r>
            <a:r>
              <a:rPr kumimoji="1" lang="zh-CN" altLang="en-US" sz="2400" dirty="0"/>
              <a:t>只负责对接终端的输入</a:t>
            </a:r>
            <a:endParaRPr kumimoji="1"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BA6633-8C13-F314-B385-C263B4075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551" y="3655676"/>
            <a:ext cx="7736825" cy="2862178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2D45674-7AAC-74D1-E11E-EA5284E6D89C}"/>
              </a:ext>
            </a:extLst>
          </p:cNvPr>
          <p:cNvSpPr/>
          <p:nvPr/>
        </p:nvSpPr>
        <p:spPr>
          <a:xfrm>
            <a:off x="4386551" y="3753036"/>
            <a:ext cx="1709449" cy="4680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84AA9D-903D-8F53-74E0-1E720471066D}"/>
              </a:ext>
            </a:extLst>
          </p:cNvPr>
          <p:cNvSpPr txBox="1"/>
          <p:nvPr/>
        </p:nvSpPr>
        <p:spPr>
          <a:xfrm>
            <a:off x="3937038" y="4415605"/>
            <a:ext cx="6919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Gateway </a:t>
            </a:r>
            <a:r>
              <a:rPr kumimoji="1" lang="zh-CN" altLang="en-US" dirty="0">
                <a:solidFill>
                  <a:srgbClr val="C00000"/>
                </a:solidFill>
              </a:rPr>
              <a:t>也主要调用该函数来实现调用真正的</a:t>
            </a:r>
            <a:r>
              <a:rPr kumimoji="1" lang="en-US" altLang="zh-CN" dirty="0">
                <a:solidFill>
                  <a:srgbClr val="C00000"/>
                </a:solidFill>
              </a:rPr>
              <a:t> Agent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runtime </a:t>
            </a:r>
            <a:r>
              <a:rPr kumimoji="1" lang="zh-CN" altLang="en-US" dirty="0">
                <a:solidFill>
                  <a:srgbClr val="C00000"/>
                </a:solidFill>
              </a:rPr>
              <a:t>的目的</a:t>
            </a:r>
          </a:p>
        </p:txBody>
      </p:sp>
    </p:spTree>
    <p:extLst>
      <p:ext uri="{BB962C8B-B14F-4D97-AF65-F5344CB8AC3E}">
        <p14:creationId xmlns:p14="http://schemas.microsoft.com/office/powerpoint/2010/main" val="472189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65CF-467B-F212-8A83-45614DAD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53A9-A17F-8AC5-B866-37690F63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 从 </a:t>
            </a:r>
            <a:r>
              <a:rPr lang="en" altLang="zh-CN" dirty="0"/>
              <a:t>CLI </a:t>
            </a:r>
            <a:r>
              <a:rPr lang="zh-CN" altLang="en-US" dirty="0"/>
              <a:t>中抽出 </a:t>
            </a:r>
            <a:r>
              <a:rPr lang="en" altLang="zh-CN" dirty="0"/>
              <a:t>Runtime Service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0FC8-71C5-F010-8CC6-3BDD39F3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20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FE007AB7-7EDD-CD2D-0612-0D1A1E26C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一个拆分的思路，让</a:t>
            </a:r>
            <a:r>
              <a:rPr lang="en-US" altLang="zh-CN" dirty="0"/>
              <a:t> CLI </a:t>
            </a:r>
            <a:r>
              <a:rPr lang="zh-CN" altLang="en-US" dirty="0"/>
              <a:t>和其他的前端（</a:t>
            </a:r>
            <a:r>
              <a:rPr lang="en-US" altLang="zh-CN" dirty="0"/>
              <a:t>Web</a:t>
            </a:r>
            <a:r>
              <a:rPr lang="zh-CN" altLang="en-US" dirty="0"/>
              <a:t>、桌面端等）一样使用通信的协议进行交互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A517C5D-AA22-7D61-5BAC-01C9EC4A7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2062340"/>
            <a:ext cx="5616493" cy="417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66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864E-04D9-B20C-914B-A82233E4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7F73-10C7-09B9-7FC7-EA32E8221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关于</a:t>
            </a:r>
            <a:r>
              <a:rPr lang="en-US" altLang="zh-CN" dirty="0"/>
              <a:t> Gateway </a:t>
            </a:r>
            <a:r>
              <a:rPr lang="zh-CN" altLang="en-US" dirty="0"/>
              <a:t>的一些其他设计需要考虑的地方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E4931-D8DA-DD18-E338-DAD4BBCE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21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11896D2-C544-8EE2-405F-B96F839D0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en-US" altLang="zh-CN" dirty="0"/>
              <a:t>Gateway </a:t>
            </a:r>
            <a:r>
              <a:rPr lang="zh-CN" altLang="en-US" dirty="0"/>
              <a:t>内部的代码我们应该怎样去设计，比如包括哪些模块，怎么做分层等？</a:t>
            </a:r>
            <a:endParaRPr lang="en-US" altLang="zh-CN" dirty="0"/>
          </a:p>
          <a:p>
            <a:r>
              <a:rPr lang="zh-CN" altLang="en-US" dirty="0"/>
              <a:t>是否需要引入校验机制，比如哪些人</a:t>
            </a:r>
            <a:r>
              <a:rPr lang="en-US" altLang="zh-CN" dirty="0"/>
              <a:t>/</a:t>
            </a:r>
            <a:r>
              <a:rPr lang="zh-CN" altLang="en-US" dirty="0"/>
              <a:t>端口可以接入</a:t>
            </a:r>
            <a:r>
              <a:rPr lang="en-US" altLang="zh-CN" dirty="0"/>
              <a:t> agent</a:t>
            </a:r>
            <a:r>
              <a:rPr lang="zh-CN" altLang="en-US" dirty="0"/>
              <a:t>，哪些不行（类似密码</a:t>
            </a:r>
            <a:r>
              <a:rPr lang="en-US" altLang="zh-CN" dirty="0"/>
              <a:t>/key </a:t>
            </a:r>
            <a:r>
              <a:rPr lang="zh-CN" altLang="en-US" dirty="0"/>
              <a:t>等方式）</a:t>
            </a:r>
            <a:endParaRPr lang="en-US" altLang="zh-CN" dirty="0"/>
          </a:p>
          <a:p>
            <a:r>
              <a:rPr lang="zh-CN" altLang="en-US" dirty="0"/>
              <a:t>如果多端同时访问（比如</a:t>
            </a:r>
            <a:r>
              <a:rPr lang="en-US" altLang="zh-CN" dirty="0"/>
              <a:t> cli </a:t>
            </a:r>
            <a:r>
              <a:rPr lang="zh-CN" altLang="en-US" dirty="0"/>
              <a:t>和</a:t>
            </a:r>
            <a:r>
              <a:rPr lang="en-US" altLang="zh-CN" dirty="0"/>
              <a:t> web</a:t>
            </a:r>
            <a:r>
              <a:rPr lang="zh-CN" altLang="en-US" dirty="0"/>
              <a:t>，或者两个</a:t>
            </a:r>
            <a:r>
              <a:rPr lang="en-US" altLang="zh-CN" dirty="0"/>
              <a:t> web</a:t>
            </a:r>
            <a:r>
              <a:rPr lang="zh-CN" altLang="en-US" dirty="0"/>
              <a:t>），怎么保证会话内容的一致性？</a:t>
            </a:r>
            <a:endParaRPr lang="en-US" altLang="zh-CN" dirty="0"/>
          </a:p>
          <a:p>
            <a:r>
              <a:rPr lang="zh-CN" altLang="en-US" dirty="0"/>
              <a:t>不同的会话</a:t>
            </a:r>
            <a:r>
              <a:rPr lang="en-US" altLang="zh-CN" dirty="0"/>
              <a:t>/</a:t>
            </a:r>
            <a:r>
              <a:rPr lang="zh-CN" altLang="en-US" dirty="0"/>
              <a:t>不同的连接进入的用户，是否能够看到不同的工具能力？</a:t>
            </a:r>
            <a:endParaRPr lang="en-US" altLang="zh-CN" dirty="0"/>
          </a:p>
          <a:p>
            <a:r>
              <a:rPr lang="zh-CN" altLang="en-US" dirty="0"/>
              <a:t>如果出现网络连接</a:t>
            </a:r>
            <a:r>
              <a:rPr lang="en-US" altLang="zh-CN" dirty="0"/>
              <a:t>/</a:t>
            </a:r>
            <a:r>
              <a:rPr lang="zh-CN" altLang="en-US" dirty="0"/>
              <a:t>服务错误，怎么识别？（</a:t>
            </a:r>
            <a:r>
              <a:rPr lang="en-US" altLang="zh-CN" dirty="0"/>
              <a:t>400</a:t>
            </a:r>
            <a:r>
              <a:rPr lang="zh-CN" altLang="en-US" dirty="0"/>
              <a:t>、</a:t>
            </a:r>
            <a:r>
              <a:rPr lang="en-US" altLang="zh-CN" dirty="0"/>
              <a:t>404</a:t>
            </a:r>
            <a:r>
              <a:rPr lang="zh-CN" altLang="en-US" dirty="0"/>
              <a:t>、</a:t>
            </a:r>
            <a:r>
              <a:rPr lang="en-US" altLang="zh-CN" dirty="0"/>
              <a:t>500</a:t>
            </a:r>
            <a:r>
              <a:rPr lang="zh-CN" altLang="en-US" dirty="0"/>
              <a:t>、</a:t>
            </a:r>
            <a:r>
              <a:rPr lang="en-US" altLang="zh-CN" dirty="0"/>
              <a:t>503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4028949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6B0D2-0FAD-7964-7B22-9233E784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前端：网页版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0B2DE-1B24-0AB4-9B73-6A554752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快速</a:t>
            </a:r>
            <a:r>
              <a:rPr kumimoji="1" lang="en-US" altLang="zh-CN" dirty="0"/>
              <a:t> vibe </a:t>
            </a:r>
            <a:r>
              <a:rPr kumimoji="1" lang="zh-CN" altLang="en-US" dirty="0"/>
              <a:t>出来的前端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F582F7-DDED-9E81-28BB-65462A31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22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F71E88-D562-6E0F-E13D-64BDAFBE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395" y="6638"/>
            <a:ext cx="5511225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9BCF7C-2951-2194-5C2F-D69304184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3908078"/>
            <a:ext cx="4437493" cy="24482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E5F7C2-7383-1C4A-FAAF-F7027F31A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7620" y="-4232"/>
            <a:ext cx="2517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2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E090-F66F-B5C9-7590-9E8EE00B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D36D-2C08-6C23-D5B4-099E896C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以本地网页作为前端为例：</a:t>
            </a:r>
            <a:r>
              <a:rPr lang="en-US" altLang="zh-CN" dirty="0"/>
              <a:t>URL</a:t>
            </a:r>
            <a:r>
              <a:rPr lang="zh-CN" altLang="en-US" dirty="0"/>
              <a:t>、端口与 </a:t>
            </a:r>
            <a:r>
              <a:rPr lang="en-US" altLang="zh-CN" dirty="0"/>
              <a:t>localhost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47C0-4873-CF98-ECBF-A76A4CC6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23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12960E0-3F4C-48DA-EF3F-562D2541A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当大家设计好网页端，并且让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在本地启动之后，怎么实验呢？</a:t>
            </a:r>
            <a:endParaRPr lang="en-US" altLang="zh-CN" dirty="0"/>
          </a:p>
          <a:p>
            <a:r>
              <a:rPr lang="zh-CN" altLang="en-US" dirty="0"/>
              <a:t>一般，本地的网页前端会监听本地的某个端口，大家可以打开自己的浏览器，输入：</a:t>
            </a:r>
            <a:r>
              <a:rPr lang="en-US" altLang="zh-CN" dirty="0"/>
              <a:t>localhost:</a:t>
            </a:r>
            <a:r>
              <a:rPr lang="zh-CN" altLang="en-US" dirty="0"/>
              <a:t>端口，或者 </a:t>
            </a:r>
            <a:r>
              <a:rPr lang="en-US" altLang="zh-CN" dirty="0"/>
              <a:t>127.0.0.1:</a:t>
            </a:r>
            <a:r>
              <a:rPr lang="zh-CN" altLang="en-US" dirty="0"/>
              <a:t>端口，来查看对应的页面</a:t>
            </a:r>
            <a:endParaRPr lang="en-US" altLang="zh-CN" dirty="0"/>
          </a:p>
          <a:p>
            <a:pPr lvl="1"/>
            <a:r>
              <a:rPr lang="zh-CN" altLang="en-US" dirty="0"/>
              <a:t>一个常见的例子（这里使用 </a:t>
            </a:r>
            <a:r>
              <a:rPr lang="en-US" altLang="zh-CN" dirty="0"/>
              <a:t>8000 </a:t>
            </a:r>
            <a:r>
              <a:rPr lang="zh-CN" altLang="en-US" dirty="0"/>
              <a:t>端口）：</a:t>
            </a:r>
            <a:r>
              <a:rPr lang="en-US" altLang="zh-CN" dirty="0">
                <a:hlinkClick r:id="rId3"/>
              </a:rPr>
              <a:t>http://127.0.0.1:8000</a:t>
            </a:r>
            <a:endParaRPr lang="en-US" altLang="zh-CN" dirty="0"/>
          </a:p>
          <a:p>
            <a:pPr lvl="1"/>
            <a:r>
              <a:rPr lang="en-US" altLang="zh-CN" dirty="0"/>
              <a:t>http://       </a:t>
            </a:r>
            <a:r>
              <a:rPr lang="zh-CN" altLang="en-US" dirty="0"/>
              <a:t>协议，如果做得更好的情况下可以是</a:t>
            </a:r>
            <a:r>
              <a:rPr lang="en-US" altLang="zh-CN" dirty="0"/>
              <a:t> https</a:t>
            </a:r>
            <a:r>
              <a:rPr lang="zh-CN" altLang="en-US" dirty="0"/>
              <a:t>（支持</a:t>
            </a:r>
            <a:r>
              <a:rPr lang="en-US" altLang="zh-CN" dirty="0"/>
              <a:t> </a:t>
            </a:r>
            <a:r>
              <a:rPr lang="en-US" altLang="zh-CN" dirty="0" err="1"/>
              <a:t>ssl</a:t>
            </a:r>
            <a:r>
              <a:rPr lang="en-US" altLang="zh-CN" dirty="0"/>
              <a:t> </a:t>
            </a:r>
            <a:r>
              <a:rPr lang="zh-CN" altLang="en-US" dirty="0"/>
              <a:t>加解密）</a:t>
            </a:r>
          </a:p>
          <a:p>
            <a:pPr lvl="1"/>
            <a:r>
              <a:rPr lang="en-US" altLang="zh-CN" dirty="0"/>
              <a:t>127.0.0.1     </a:t>
            </a:r>
            <a:r>
              <a:rPr lang="zh-CN" altLang="en-US" dirty="0"/>
              <a:t>本机地址，也可写 </a:t>
            </a:r>
            <a:r>
              <a:rPr lang="en-US" altLang="zh-CN" dirty="0"/>
              <a:t>localhost</a:t>
            </a:r>
          </a:p>
          <a:p>
            <a:pPr lvl="1"/>
            <a:r>
              <a:rPr lang="en-US" altLang="zh-CN" dirty="0"/>
              <a:t>8000          </a:t>
            </a:r>
            <a:r>
              <a:rPr lang="zh-CN" altLang="en-US" dirty="0"/>
              <a:t>端口</a:t>
            </a:r>
          </a:p>
          <a:p>
            <a:pPr lvl="1"/>
            <a:r>
              <a:rPr lang="en-US" altLang="zh-CN" dirty="0"/>
              <a:t>/chat         </a:t>
            </a:r>
            <a:r>
              <a:rPr lang="zh-CN" altLang="en-US" dirty="0"/>
              <a:t>路径（如果有后续的路径来作区分，</a:t>
            </a:r>
            <a:r>
              <a:rPr lang="en-US" altLang="zh-CN" dirty="0">
                <a:hlinkClick r:id="rId4"/>
              </a:rPr>
              <a:t>http://127.0.0.1:8000/chat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4973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01FF0-F0DE-6E7F-B310-10B481C7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C252E-F36A-0971-E892-71FED61B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前端：请大家发挥自己的审美和想象力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1E5AD9-5AFA-556A-2E58-8CC4995E5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Taste Skill</a:t>
            </a:r>
            <a:r>
              <a:rPr kumimoji="1" lang="zh-CN" altLang="en-US" dirty="0"/>
              <a:t>（</a:t>
            </a:r>
            <a:r>
              <a:rPr kumimoji="1" lang="en" altLang="zh-CN" dirty="0">
                <a:hlinkClick r:id="rId2"/>
              </a:rPr>
              <a:t>https://github.com/leonxlnx/taste-skill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5F66A7-FB7A-746C-DCE2-FC941720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24</a:t>
            </a:fld>
            <a:endParaRPr lang="en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6EFBD8A-54DA-D030-C207-C27BD9308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1713703"/>
            <a:ext cx="7772400" cy="50201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36E0A8-B22B-7B7A-F2CC-FC6E2A02E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1873618"/>
            <a:ext cx="2247900" cy="2362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821B6E-A2BC-C2F7-9542-24CAEEB73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588" y="1837833"/>
            <a:ext cx="4779320" cy="502016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BDF8A7-FB9E-B121-9C64-7797B2A1E10A}"/>
              </a:ext>
            </a:extLst>
          </p:cNvPr>
          <p:cNvSpPr/>
          <p:nvPr/>
        </p:nvSpPr>
        <p:spPr>
          <a:xfrm>
            <a:off x="4439816" y="2708920"/>
            <a:ext cx="1421692" cy="3457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2209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3052-BB75-D8D1-6C2E-DF69718F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58ED-DA3D-AAEC-2225-ADC90B50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本周的推荐阅读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2EB1E-7DA9-6EF9-51B8-299803A0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B2EC060-1C37-2FF4-C09B-6C115FCA7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pPr algn="l" fontAlgn="ctr">
              <a:lnSpc>
                <a:spcPts val="2400"/>
              </a:lnSpc>
              <a:spcAft>
                <a:spcPts val="1500"/>
              </a:spcAft>
            </a:pPr>
            <a:r>
              <a:rPr lang="en" altLang="zh-CN" b="0" i="0" dirty="0" err="1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OpenClaw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Gateway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架构深度解析：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层认证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+ 4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种部署，揭秘 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Agent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神经中枢（腾讯云开发者社区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Blog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）：</a:t>
            </a:r>
            <a:endParaRPr lang="en-US" altLang="zh-CN" b="0" i="0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fontAlgn="ctr">
              <a:lnSpc>
                <a:spcPts val="2400"/>
              </a:lnSpc>
              <a:spcAft>
                <a:spcPts val="1500"/>
              </a:spcAft>
            </a:pPr>
            <a:r>
              <a:rPr lang="en" altLang="zh-CN" dirty="0">
                <a:hlinkClick r:id="rId3"/>
              </a:rPr>
              <a:t>https://cloud.tencent.com/developer/article/2649087</a:t>
            </a:r>
            <a:endParaRPr lang="en" altLang="zh-CN" dirty="0"/>
          </a:p>
          <a:p>
            <a:pPr fontAlgn="ctr">
              <a:lnSpc>
                <a:spcPts val="2400"/>
              </a:lnSpc>
              <a:spcAft>
                <a:spcPts val="1500"/>
              </a:spcAft>
            </a:pPr>
            <a:r>
              <a:rPr lang="zh-CN" altLang="en-US" dirty="0"/>
              <a:t>给野马套上缰绳：</a:t>
            </a:r>
            <a:r>
              <a:rPr lang="en" altLang="zh-CN" dirty="0"/>
              <a:t>Agent Harness </a:t>
            </a:r>
            <a:r>
              <a:rPr lang="zh-CN" altLang="en-US" dirty="0"/>
              <a:t>工程实践（阿里云开发者文章）</a:t>
            </a:r>
            <a:endParaRPr lang="en-US" altLang="zh-CN" dirty="0"/>
          </a:p>
          <a:p>
            <a:pPr lvl="1" fontAlgn="ctr">
              <a:lnSpc>
                <a:spcPts val="2400"/>
              </a:lnSpc>
              <a:spcAft>
                <a:spcPts val="1500"/>
              </a:spcAft>
            </a:pPr>
            <a:r>
              <a:rPr lang="en" altLang="zh-CN" dirty="0"/>
              <a:t>https://</a:t>
            </a:r>
            <a:r>
              <a:rPr lang="en" altLang="zh-CN" dirty="0" err="1"/>
              <a:t>mp.weixin.qq.com</a:t>
            </a:r>
            <a:r>
              <a:rPr lang="en" altLang="zh-CN" dirty="0"/>
              <a:t>/s/0w_xMwto4sLx6J_85OhWQw</a:t>
            </a:r>
          </a:p>
          <a:p>
            <a:pPr fontAlgn="ctr">
              <a:lnSpc>
                <a:spcPts val="2400"/>
              </a:lnSpc>
              <a:spcAft>
                <a:spcPts val="1500"/>
              </a:spcAft>
            </a:pPr>
            <a:r>
              <a:rPr lang="zh-CN" altLang="en" dirty="0"/>
              <a:t>高阶</a:t>
            </a:r>
            <a:r>
              <a:rPr lang="zh-CN" altLang="en-US" dirty="0"/>
              <a:t>阅读（具备一定的难度，看不懂没关系）</a:t>
            </a:r>
            <a:endParaRPr lang="en-US" altLang="zh-CN" dirty="0"/>
          </a:p>
          <a:p>
            <a:pPr lvl="1" fontAlgn="ctr">
              <a:lnSpc>
                <a:spcPts val="2400"/>
              </a:lnSpc>
              <a:spcAft>
                <a:spcPts val="1500"/>
              </a:spcAft>
            </a:pPr>
            <a:r>
              <a:rPr lang="en" altLang="zh-CN" b="1" i="0" dirty="0">
                <a:solidFill>
                  <a:srgbClr val="1E1E1E"/>
                </a:solidFill>
                <a:effectLst/>
                <a:latin typeface="-apple-system"/>
              </a:rPr>
              <a:t>Harness Engineering for Self-Improvement</a:t>
            </a:r>
            <a:r>
              <a:rPr lang="zh-CN" altLang="en-US" b="1" i="0" dirty="0">
                <a:solidFill>
                  <a:srgbClr val="1E1E1E"/>
                </a:solidFill>
                <a:effectLst/>
                <a:latin typeface="-apple-system"/>
              </a:rPr>
              <a:t> </a:t>
            </a:r>
            <a:r>
              <a:rPr lang="en-US" altLang="zh-CN" b="1" i="0" dirty="0">
                <a:solidFill>
                  <a:srgbClr val="1E1E1E"/>
                </a:solidFill>
                <a:effectLst/>
                <a:latin typeface="-apple-system"/>
              </a:rPr>
              <a:t>by</a:t>
            </a:r>
            <a:r>
              <a:rPr lang="zh-CN" altLang="en-US" b="1" i="0" dirty="0">
                <a:solidFill>
                  <a:srgbClr val="1E1E1E"/>
                </a:solidFill>
                <a:effectLst/>
                <a:latin typeface="-apple-system"/>
              </a:rPr>
              <a:t> </a:t>
            </a:r>
            <a:r>
              <a:rPr lang="en" altLang="zh-CN" b="1" i="0" dirty="0">
                <a:solidFill>
                  <a:srgbClr val="1E1E1E"/>
                </a:solidFill>
                <a:effectLst/>
                <a:latin typeface="-apple-system"/>
              </a:rPr>
              <a:t>Lilian Weng</a:t>
            </a:r>
            <a:r>
              <a:rPr lang="zh-CN" altLang="en-US" b="1" i="0" dirty="0">
                <a:solidFill>
                  <a:srgbClr val="1E1E1E"/>
                </a:solidFill>
                <a:effectLst/>
                <a:latin typeface="-apple-system"/>
              </a:rPr>
              <a:t> （</a:t>
            </a:r>
            <a:r>
              <a:rPr lang="en" altLang="zh-CN" b="1" i="0" dirty="0">
                <a:solidFill>
                  <a:srgbClr val="1E1E1E"/>
                </a:solidFill>
                <a:effectLst/>
                <a:latin typeface="-apple-system"/>
              </a:rPr>
              <a:t>https://</a:t>
            </a:r>
            <a:r>
              <a:rPr lang="en" altLang="zh-CN" b="1" i="0" dirty="0" err="1">
                <a:solidFill>
                  <a:srgbClr val="1E1E1E"/>
                </a:solidFill>
                <a:effectLst/>
                <a:latin typeface="-apple-system"/>
              </a:rPr>
              <a:t>lilianweng.github.io</a:t>
            </a:r>
            <a:r>
              <a:rPr lang="en" altLang="zh-CN" b="1" i="0" dirty="0">
                <a:solidFill>
                  <a:srgbClr val="1E1E1E"/>
                </a:solidFill>
                <a:effectLst/>
                <a:latin typeface="-apple-system"/>
              </a:rPr>
              <a:t>/posts/2026-07-04-harness/</a:t>
            </a:r>
            <a:r>
              <a:rPr lang="zh-CN" altLang="en-US" b="1" i="0" dirty="0">
                <a:solidFill>
                  <a:srgbClr val="1E1E1E"/>
                </a:solidFill>
                <a:effectLst/>
                <a:latin typeface="-apple-system"/>
              </a:rPr>
              <a:t>）</a:t>
            </a:r>
            <a:endParaRPr lang="en" altLang="zh-CN" dirty="0"/>
          </a:p>
          <a:p>
            <a:pPr fontAlgn="ctr">
              <a:lnSpc>
                <a:spcPts val="2400"/>
              </a:lnSpc>
              <a:spcAft>
                <a:spcPts val="150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9804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5964</TotalTime>
  <Words>1738</Words>
  <Application>Microsoft Macintosh PowerPoint</Application>
  <PresentationFormat>宽屏</PresentationFormat>
  <Paragraphs>177</Paragraphs>
  <Slides>26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-apple-system</vt:lpstr>
      <vt:lpstr>Microsoft YaHei</vt:lpstr>
      <vt:lpstr>PingFang SC</vt:lpstr>
      <vt:lpstr>Arial</vt:lpstr>
      <vt:lpstr>Calibri</vt:lpstr>
      <vt:lpstr>Office Theme</vt:lpstr>
      <vt:lpstr>计算机编程实践#6 Gateway与前端</vt:lpstr>
      <vt:lpstr>编程技巧篇：DeepWiki&amp;CodeGraph</vt:lpstr>
      <vt:lpstr>技巧篇：如何更好地理解代码？</vt:lpstr>
      <vt:lpstr>从 Devin 到 DeepWiki</vt:lpstr>
      <vt:lpstr>从 Devin 到 DeepWiki</vt:lpstr>
      <vt:lpstr>从 Devin 到 DeepWiki</vt:lpstr>
      <vt:lpstr>从 Devin 到 DeepWiki</vt:lpstr>
      <vt:lpstr>让 Code Agent 更好的理解项目和代码：CodeGraph</vt:lpstr>
      <vt:lpstr>让 Code Agent 更好的理解项目和代码：CodeGraph</vt:lpstr>
      <vt:lpstr>SJTUClaw 篇：Gateway 与前端支持</vt:lpstr>
      <vt:lpstr>一个真实的 Claw Agent/通用智能体</vt:lpstr>
      <vt:lpstr>一个真实的 Claw Agent/通用智能体</vt:lpstr>
      <vt:lpstr>用户是否满意，是一个优秀软件很关键的指标</vt:lpstr>
      <vt:lpstr>在进入到技术正文前，还是一些小提示</vt:lpstr>
      <vt:lpstr>让我们的SJTUClaw 更具备交互性：Gateway 和前端缺一不可</vt:lpstr>
      <vt:lpstr>让我们的SJTUClaw 更具备交互性：Gateway 和前端缺一不可</vt:lpstr>
      <vt:lpstr>简单理解下 Client-Server（C-S）架构</vt:lpstr>
      <vt:lpstr>SJTUClaw 场景下，需要设计下前端和 Gateway 之间的交互</vt:lpstr>
      <vt:lpstr> 从 CLI 中抽出 Runtime Service</vt:lpstr>
      <vt:lpstr> 从 CLI 中抽出 Runtime Service</vt:lpstr>
      <vt:lpstr>关于 Gateway 的一些其他设计需要考虑的地方</vt:lpstr>
      <vt:lpstr>前端：网页版</vt:lpstr>
      <vt:lpstr>以本地网页作为前端为例：URL、端口与 localhost</vt:lpstr>
      <vt:lpstr>前端：请大家发挥自己的审美和想象力</vt:lpstr>
      <vt:lpstr>本周的推荐阅读</vt:lpstr>
      <vt:lpstr>请大家按照今天的课程内容，开始阅读 SJTUClaw 要求文档，并且进行开发和实践～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296</cp:revision>
  <dcterms:created xsi:type="dcterms:W3CDTF">2021-02-24T11:14:01Z</dcterms:created>
  <dcterms:modified xsi:type="dcterms:W3CDTF">2026-07-15T03:35:33Z</dcterms:modified>
</cp:coreProperties>
</file>