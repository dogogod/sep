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7" r:id="rId3"/>
    <p:sldId id="2147483644" r:id="rId4"/>
    <p:sldId id="267" r:id="rId5"/>
    <p:sldId id="268" r:id="rId6"/>
    <p:sldId id="269" r:id="rId7"/>
    <p:sldId id="270" r:id="rId8"/>
    <p:sldId id="2147483645" r:id="rId9"/>
    <p:sldId id="2147483646" r:id="rId10"/>
    <p:sldId id="2147483647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73" r:id="rId1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9"/>
    <p:restoredTop sz="85578"/>
  </p:normalViewPr>
  <p:slideViewPr>
    <p:cSldViewPr snapToObjects="1" showGuides="1">
      <p:cViewPr>
        <p:scale>
          <a:sx n="72" d="100"/>
          <a:sy n="72" d="100"/>
        </p:scale>
        <p:origin x="48" y="9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7/8/26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7/8/26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BFE9-E284-B34B-9DD9-9734E072A10D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5C36-DE89-754B-AADC-BE098732BA55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2F05-C132-444E-8CB1-83285020EE6B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A035-3CCE-DA49-8248-4DECF1480FAD}" type="datetime1">
              <a:rPr lang="en-US" smtClean="0"/>
              <a:t>7/8/26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8968-DCED-034C-A9F9-63C7B612155B}" type="datetime1">
              <a:rPr lang="en-US" smtClean="0"/>
              <a:t>7/8/26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C6-ADAB-5E41-86AC-7F6081FE7CAC}" type="datetime1">
              <a:rPr lang="en-US" smtClean="0"/>
              <a:t>7/8/26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856D-977A-F642-9AEB-80D2F107EFF4}" type="datetime1">
              <a:rPr lang="en-US" smtClean="0"/>
              <a:t>7/8/26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4B7F-BC74-F14F-8BF9-586EC96745A0}" type="datetime1">
              <a:rPr lang="en-US" smtClean="0"/>
              <a:t>7/8/26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7302-2114-A74D-8389-8181128E4BC3}" type="datetime1">
              <a:rPr lang="en-US" smtClean="0"/>
              <a:t>7/8/26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8223-6D33-DE4C-9F51-4A38614FD791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0E2A-2758-4248-AC6A-4E927F9F5533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rPr lang="en-US" smtClean="0"/>
              <a:t>7/8/26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计算机编程实践</a:t>
            </a:r>
            <a:r>
              <a:rPr lang="en-US" altLang="zh-CN" dirty="0"/>
              <a:t>#4</a:t>
            </a:r>
            <a:br>
              <a:rPr lang="en-US" altLang="zh-CN" dirty="0"/>
            </a:br>
            <a:r>
              <a:rPr lang="en-US" altLang="zh-CN" dirty="0"/>
              <a:t>Spec</a:t>
            </a:r>
            <a:r>
              <a:rPr lang="zh-CN" altLang="en-US" dirty="0"/>
              <a:t> </a:t>
            </a:r>
            <a:r>
              <a:rPr lang="en-US" altLang="zh-CN" dirty="0"/>
              <a:t>Coding</a:t>
            </a:r>
            <a:r>
              <a:rPr lang="zh-CN" altLang="en-US" dirty="0"/>
              <a:t>、</a:t>
            </a:r>
            <a:r>
              <a:rPr lang="en-US" altLang="zh-CN" dirty="0"/>
              <a:t>Loop</a:t>
            </a:r>
            <a:r>
              <a:rPr lang="zh-CN" altLang="en-US" dirty="0"/>
              <a:t>、与</a:t>
            </a:r>
            <a:r>
              <a:rPr lang="en-US" altLang="zh-CN" dirty="0"/>
              <a:t>Goal</a:t>
            </a:r>
            <a:r>
              <a:rPr lang="zh-CN" altLang="en-US" dirty="0"/>
              <a:t>模式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rPr lang="zh-CN" altLang="en-US" dirty="0"/>
              <a:t>杜冬冬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小学期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9973-2BE5-3D73-4984-CCAF8BF0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B154-C69D-41A6-ED68-5F2958BA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我们的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除了对话（</a:t>
            </a:r>
            <a:r>
              <a:rPr lang="en-US" altLang="zh-CN" dirty="0"/>
              <a:t>Vibe</a:t>
            </a:r>
            <a:r>
              <a:rPr lang="zh-CN" altLang="en-US" dirty="0"/>
              <a:t>）之外，还提供更加丰富的能力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0A31-EBF6-B782-91ED-3A5A1C619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/spec </a:t>
            </a:r>
            <a:r>
              <a:rPr lang="zh-CN" altLang="en-US" dirty="0"/>
              <a:t>与 </a:t>
            </a:r>
            <a:r>
              <a:rPr lang="en-US" altLang="zh-CN" dirty="0"/>
              <a:t>/goal </a:t>
            </a:r>
            <a:r>
              <a:rPr lang="zh-CN" altLang="en-US" dirty="0"/>
              <a:t>是两个很有用的</a:t>
            </a:r>
            <a:r>
              <a:rPr lang="en-US" altLang="zh-CN" dirty="0"/>
              <a:t> command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08299-4FCF-BD93-EE38-E688CDFD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C24B09E-B1C2-7753-1928-2F04A9C5A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2" y="1969202"/>
            <a:ext cx="4584842" cy="369478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3E489D9-7514-EAAF-DBFA-1F98E6505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343" y="2075847"/>
            <a:ext cx="6694512" cy="348149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000D169-5BB0-7B27-CB86-FF3840399C90}"/>
              </a:ext>
            </a:extLst>
          </p:cNvPr>
          <p:cNvSpPr txBox="1"/>
          <p:nvPr/>
        </p:nvSpPr>
        <p:spPr>
          <a:xfrm>
            <a:off x="1694977" y="5769776"/>
            <a:ext cx="909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Trae CN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C3359AC-AE77-681E-1B8D-BC29AB678B9F}"/>
              </a:ext>
            </a:extLst>
          </p:cNvPr>
          <p:cNvSpPr txBox="1"/>
          <p:nvPr/>
        </p:nvSpPr>
        <p:spPr>
          <a:xfrm>
            <a:off x="7826117" y="5772124"/>
            <a:ext cx="2423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Zcode</a:t>
            </a:r>
            <a:r>
              <a:rPr kumimoji="1" lang="en-US" altLang="zh-CN" dirty="0"/>
              <a:t> (Codex </a:t>
            </a:r>
            <a:r>
              <a:rPr kumimoji="1" lang="zh-CN" altLang="en-US" dirty="0"/>
              <a:t>等类似）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F5A1FF98-D490-B7C1-2BC2-13BBFFF81347}"/>
              </a:ext>
            </a:extLst>
          </p:cNvPr>
          <p:cNvSpPr/>
          <p:nvPr/>
        </p:nvSpPr>
        <p:spPr>
          <a:xfrm>
            <a:off x="551384" y="2276872"/>
            <a:ext cx="2736304" cy="100369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21ECBB6-1A7E-66E3-11EF-B300C644BD5F}"/>
              </a:ext>
            </a:extLst>
          </p:cNvPr>
          <p:cNvSpPr/>
          <p:nvPr/>
        </p:nvSpPr>
        <p:spPr>
          <a:xfrm>
            <a:off x="5375920" y="2276872"/>
            <a:ext cx="4248472" cy="5760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163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87BF-7360-4AE1-B5AA-5AF77ACD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6AA2E-F03B-F239-4C59-CF247328B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场景：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不是个许愿池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0E9C4-A1CC-C6AE-B5F2-35915A574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假设今天晚上 </a:t>
            </a:r>
            <a:r>
              <a:rPr lang="en-US" altLang="zh-CN" dirty="0"/>
              <a:t>10 </a:t>
            </a:r>
            <a:r>
              <a:rPr lang="zh-CN" altLang="en-US" dirty="0"/>
              <a:t>点，明天上午要验收第 </a:t>
            </a:r>
            <a:r>
              <a:rPr lang="en-US" altLang="zh-CN" dirty="0"/>
              <a:t>5 </a:t>
            </a:r>
            <a:r>
              <a:rPr lang="zh-CN" altLang="en-US" dirty="0"/>
              <a:t>次课。你打开 </a:t>
            </a:r>
            <a:r>
              <a:rPr lang="en" altLang="zh-CN" dirty="0"/>
              <a:t>AI IDE</a:t>
            </a:r>
            <a:r>
              <a:rPr lang="zh-CN" altLang="en" dirty="0"/>
              <a:t>，</a:t>
            </a:r>
            <a:r>
              <a:rPr lang="zh-CN" altLang="en-US" dirty="0"/>
              <a:t>心里很急，直接输入：</a:t>
            </a:r>
            <a:endParaRPr lang="en-US" altLang="zh-CN" dirty="0"/>
          </a:p>
          <a:p>
            <a:pPr lvl="1"/>
            <a:r>
              <a:rPr lang="zh-CN" altLang="en-US" dirty="0"/>
              <a:t>帮我把第 </a:t>
            </a:r>
            <a:r>
              <a:rPr lang="en-US" altLang="zh-CN" dirty="0"/>
              <a:t>5 </a:t>
            </a:r>
            <a:r>
              <a:rPr lang="zh-CN" altLang="en-US" dirty="0"/>
              <a:t>次课的工具系统做完。</a:t>
            </a:r>
          </a:p>
          <a:p>
            <a:r>
              <a:rPr lang="en" altLang="zh-CN" dirty="0"/>
              <a:t>AI IDE </a:t>
            </a:r>
            <a:r>
              <a:rPr lang="zh-CN" altLang="en-US" dirty="0"/>
              <a:t>很积极，几秒钟后开始改文件。它新建了三个模块，改了 </a:t>
            </a:r>
            <a:r>
              <a:rPr lang="en" altLang="zh-CN" dirty="0"/>
              <a:t>CLI</a:t>
            </a:r>
            <a:r>
              <a:rPr lang="zh-CN" altLang="en" dirty="0"/>
              <a:t>，</a:t>
            </a:r>
            <a:r>
              <a:rPr lang="zh-CN" altLang="en-US" dirty="0"/>
              <a:t>顺手加了一个工具调用协议，还写了几条测试。你看着终端滚动，觉得自己好像已经赢了一半。</a:t>
            </a:r>
          </a:p>
          <a:p>
            <a:r>
              <a:rPr lang="zh-CN" altLang="en-US" dirty="0"/>
              <a:t>十分钟后：</a:t>
            </a:r>
            <a:endParaRPr lang="en-US" altLang="zh-CN" dirty="0"/>
          </a:p>
          <a:p>
            <a:pPr lvl="1"/>
            <a:r>
              <a:rPr lang="en" altLang="zh-CN" dirty="0" err="1"/>
              <a:t>pytest</a:t>
            </a:r>
            <a:r>
              <a:rPr lang="en" altLang="zh-CN" dirty="0"/>
              <a:t> </a:t>
            </a:r>
            <a:r>
              <a:rPr lang="zh-CN" altLang="en-US" dirty="0"/>
              <a:t>挂了、读取不存在文件时，它偷偷读了 </a:t>
            </a:r>
            <a:r>
              <a:rPr lang="en" altLang="zh-CN" dirty="0" err="1"/>
              <a:t>networking.md</a:t>
            </a:r>
            <a:r>
              <a:rPr lang="zh-CN" altLang="en-US" dirty="0"/>
              <a:t>、</a:t>
            </a:r>
            <a:r>
              <a:rPr lang="en" altLang="zh-CN" dirty="0"/>
              <a:t>CLI </a:t>
            </a:r>
            <a:r>
              <a:rPr lang="zh-CN" altLang="en-US" dirty="0"/>
              <a:t>可以跑，但绕开了原来的 </a:t>
            </a:r>
            <a:r>
              <a:rPr lang="en" altLang="zh-CN" dirty="0" err="1"/>
              <a:t>SessionStore</a:t>
            </a:r>
            <a:r>
              <a:rPr lang="zh-CN" altLang="en-US" dirty="0"/>
              <a:t>、</a:t>
            </a:r>
            <a:r>
              <a:rPr lang="en" altLang="zh-CN" dirty="0"/>
              <a:t>trace </a:t>
            </a:r>
            <a:r>
              <a:rPr lang="zh-CN" altLang="en-US" dirty="0"/>
              <a:t>里没有 </a:t>
            </a:r>
            <a:r>
              <a:rPr lang="en" altLang="zh-CN" dirty="0" err="1"/>
              <a:t>tool_result</a:t>
            </a:r>
            <a:r>
              <a:rPr lang="zh-CN" altLang="en-US" dirty="0"/>
              <a:t>、你也说不清它为什么改了 </a:t>
            </a:r>
            <a:r>
              <a:rPr lang="en-US" altLang="zh-CN" dirty="0"/>
              <a:t>11 </a:t>
            </a:r>
            <a:r>
              <a:rPr lang="zh-CN" altLang="en-US" dirty="0"/>
              <a:t>个文件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AB8FF-060E-B73B-9CAF-A6E162274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31366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159E-9799-E186-35E0-B75B5E55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055A-72FB-E33C-C84F-6D8BB306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场景：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不是个许愿池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9EA1E-9517-6FF7-B85D-9AA446AD7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假设今天晚上 </a:t>
            </a:r>
            <a:r>
              <a:rPr lang="en-US" altLang="zh-CN" dirty="0"/>
              <a:t>10 </a:t>
            </a:r>
            <a:r>
              <a:rPr lang="zh-CN" altLang="en-US" dirty="0"/>
              <a:t>点，明天上午要验收第 </a:t>
            </a:r>
            <a:r>
              <a:rPr lang="en-US" altLang="zh-CN" dirty="0"/>
              <a:t>5 </a:t>
            </a:r>
            <a:r>
              <a:rPr lang="zh-CN" altLang="en-US" dirty="0"/>
              <a:t>次课。你打开 </a:t>
            </a:r>
            <a:r>
              <a:rPr lang="en" altLang="zh-CN" dirty="0"/>
              <a:t>AI IDE</a:t>
            </a:r>
            <a:r>
              <a:rPr lang="zh-CN" altLang="en" dirty="0"/>
              <a:t>，</a:t>
            </a:r>
            <a:r>
              <a:rPr lang="zh-CN" altLang="en-US" dirty="0"/>
              <a:t>心里很急，直接输入：</a:t>
            </a:r>
            <a:endParaRPr lang="en-US" altLang="zh-CN" dirty="0"/>
          </a:p>
          <a:p>
            <a:pPr lvl="1"/>
            <a:r>
              <a:rPr lang="zh-CN" altLang="en-US" dirty="0"/>
              <a:t>帮我把第 </a:t>
            </a:r>
            <a:r>
              <a:rPr lang="en-US" altLang="zh-CN" dirty="0"/>
              <a:t>5 </a:t>
            </a:r>
            <a:r>
              <a:rPr lang="zh-CN" altLang="en-US" dirty="0"/>
              <a:t>次课的工具系统做完。</a:t>
            </a:r>
          </a:p>
          <a:p>
            <a:r>
              <a:rPr lang="en" altLang="zh-CN" dirty="0"/>
              <a:t>AI IDE </a:t>
            </a:r>
            <a:r>
              <a:rPr lang="zh-CN" altLang="en-US" dirty="0"/>
              <a:t>很积极，几秒钟后开始改文件。它新建了三个模块，改了 </a:t>
            </a:r>
            <a:r>
              <a:rPr lang="en" altLang="zh-CN" dirty="0"/>
              <a:t>CLI</a:t>
            </a:r>
            <a:r>
              <a:rPr lang="zh-CN" altLang="en" dirty="0"/>
              <a:t>，</a:t>
            </a:r>
            <a:r>
              <a:rPr lang="zh-CN" altLang="en-US" dirty="0"/>
              <a:t>顺手加了一个工具调用协议，还写了几条测试。你看着终端滚动，觉得自己好像已经赢了一半。</a:t>
            </a:r>
          </a:p>
          <a:p>
            <a:r>
              <a:rPr lang="zh-CN" altLang="en-US" dirty="0"/>
              <a:t>十分钟后：</a:t>
            </a:r>
            <a:endParaRPr lang="en-US" altLang="zh-CN" dirty="0"/>
          </a:p>
          <a:p>
            <a:pPr lvl="1"/>
            <a:r>
              <a:rPr lang="en" altLang="zh-CN" dirty="0" err="1"/>
              <a:t>pytest</a:t>
            </a:r>
            <a:r>
              <a:rPr lang="en" altLang="zh-CN" dirty="0"/>
              <a:t> </a:t>
            </a:r>
            <a:r>
              <a:rPr lang="zh-CN" altLang="en-US" dirty="0"/>
              <a:t>挂了、读取不存在文件时，它偷偷读了 </a:t>
            </a:r>
            <a:r>
              <a:rPr lang="en" altLang="zh-CN" dirty="0" err="1"/>
              <a:t>networking.md</a:t>
            </a:r>
            <a:r>
              <a:rPr lang="zh-CN" altLang="en-US" dirty="0"/>
              <a:t>、</a:t>
            </a:r>
            <a:r>
              <a:rPr lang="en" altLang="zh-CN" dirty="0"/>
              <a:t>CLI </a:t>
            </a:r>
            <a:r>
              <a:rPr lang="zh-CN" altLang="en-US" dirty="0"/>
              <a:t>可以跑，但绕开了原来的 </a:t>
            </a:r>
            <a:r>
              <a:rPr lang="en" altLang="zh-CN" dirty="0" err="1"/>
              <a:t>SessionStore</a:t>
            </a:r>
            <a:r>
              <a:rPr lang="zh-CN" altLang="en-US" dirty="0"/>
              <a:t>、</a:t>
            </a:r>
            <a:r>
              <a:rPr lang="en" altLang="zh-CN" dirty="0"/>
              <a:t>trace </a:t>
            </a:r>
            <a:r>
              <a:rPr lang="zh-CN" altLang="en-US" dirty="0"/>
              <a:t>里没有 </a:t>
            </a:r>
            <a:r>
              <a:rPr lang="en" altLang="zh-CN" dirty="0" err="1"/>
              <a:t>tool_result</a:t>
            </a:r>
            <a:r>
              <a:rPr lang="zh-CN" altLang="en-US" dirty="0"/>
              <a:t>、你也说不清它为什么改了 </a:t>
            </a:r>
            <a:r>
              <a:rPr lang="en-US" altLang="zh-CN" dirty="0"/>
              <a:t>11 </a:t>
            </a:r>
            <a:r>
              <a:rPr lang="zh-CN" altLang="en-US" dirty="0"/>
              <a:t>个文件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4FF9B-E0F0-D27F-51BC-BF9C196D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466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BFE1-73EE-E8E4-FD7C-01B0DB21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4D26-AD74-989B-ACC2-B297AF6F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场景：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不是个许愿池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F8BD1-86A8-F944-CFFE-EF20B9F73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每天干活的日常，和“狡猾的”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斗智斗勇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EAEE1-D238-0818-6091-D6716847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D63D05-43D6-BCDD-EB2B-3DCCFECBE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" y="3816593"/>
            <a:ext cx="7289800" cy="1790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F9FE7C6-E50A-5329-21D3-C353A6995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949" y="2119343"/>
            <a:ext cx="4901079" cy="39104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E5ADD12-F44D-5CED-890C-720C60709704}"/>
              </a:ext>
            </a:extLst>
          </p:cNvPr>
          <p:cNvSpPr txBox="1"/>
          <p:nvPr/>
        </p:nvSpPr>
        <p:spPr>
          <a:xfrm>
            <a:off x="336380" y="320969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和我说完成了，仔细一看，发现都是假的实现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479E65-C84B-B965-4E75-653222ACD2BA}"/>
              </a:ext>
            </a:extLst>
          </p:cNvPr>
          <p:cNvSpPr txBox="1"/>
          <p:nvPr/>
        </p:nvSpPr>
        <p:spPr>
          <a:xfrm>
            <a:off x="7842483" y="1598052"/>
            <a:ext cx="3174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爱搞破坏（来自</a:t>
            </a:r>
            <a:r>
              <a:rPr kumimoji="1" lang="en-US" altLang="zh-CN" sz="2400" dirty="0"/>
              <a:t> </a:t>
            </a:r>
            <a:r>
              <a:rPr kumimoji="1" lang="en-US" altLang="zh-CN" sz="2400" dirty="0" err="1"/>
              <a:t>pyq</a:t>
            </a:r>
            <a:r>
              <a:rPr kumimoji="1"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14388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8521-1B38-5FC8-55C2-1A27AFCA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A522-81B2-AC34-C33F-DE31585E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场景：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不是个许愿池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E6221-4F09-71DF-B791-841C02E7D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每天干活的日常，和“狡猾的”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斗智斗勇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当下的一个判断</a:t>
            </a:r>
            <a:endParaRPr lang="en-US" altLang="zh-CN" dirty="0"/>
          </a:p>
          <a:p>
            <a:pPr lvl="1"/>
            <a:r>
              <a:rPr lang="en" altLang="zh-CN" dirty="0"/>
              <a:t>AI IDE </a:t>
            </a:r>
            <a:r>
              <a:rPr lang="zh-CN" altLang="en-US" dirty="0"/>
              <a:t>的强项是执行任务，不是做决策</a:t>
            </a:r>
            <a:endParaRPr lang="en-US" altLang="zh-CN" dirty="0"/>
          </a:p>
          <a:p>
            <a:pPr lvl="1"/>
            <a:r>
              <a:rPr lang="zh-CN" altLang="en-US" dirty="0"/>
              <a:t>作为人类开发者，需要负责把目标讲清楚，把边界画清楚，把验收标准定义清楚。</a:t>
            </a:r>
            <a:r>
              <a:rPr lang="en" altLang="zh-CN" dirty="0"/>
              <a:t>AI IDE </a:t>
            </a:r>
            <a:r>
              <a:rPr lang="zh-CN" altLang="en-US" dirty="0"/>
              <a:t>负责在这些边界内帮你读代码、写代码、跑测试、修改和完善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E9243-C2BA-098D-4BB2-DA44C74A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1877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AEEA-72E7-831A-FF9F-316C0704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DBCD-3139-4392-E246-913BA0A6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为什么不能只是“帮我实现一下”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3C710-1739-38BC-3E67-FC93C50C9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请求：帮我实现 </a:t>
            </a:r>
            <a:r>
              <a:rPr lang="en" altLang="zh-CN" dirty="0" err="1"/>
              <a:t>SJTUClaw</a:t>
            </a:r>
            <a:r>
              <a:rPr lang="en" altLang="zh-CN" dirty="0"/>
              <a:t> </a:t>
            </a:r>
            <a:r>
              <a:rPr lang="zh-CN" altLang="en-US" dirty="0"/>
              <a:t>的 </a:t>
            </a:r>
            <a:r>
              <a:rPr lang="en" altLang="zh-CN" dirty="0"/>
              <a:t>tool </a:t>
            </a:r>
            <a:r>
              <a:rPr lang="zh-CN" altLang="en-US" dirty="0"/>
              <a:t>功能</a:t>
            </a:r>
            <a:endParaRPr lang="en-US" altLang="zh-CN" dirty="0"/>
          </a:p>
          <a:p>
            <a:r>
              <a:rPr lang="zh-CN" altLang="en-US" dirty="0"/>
              <a:t>这个请求看似合理，但对复杂项目来说太模糊了。模型不知道：</a:t>
            </a:r>
          </a:p>
          <a:p>
            <a:pPr lvl="1"/>
            <a:r>
              <a:rPr lang="en" altLang="zh-CN" dirty="0"/>
              <a:t>Tool </a:t>
            </a:r>
            <a:r>
              <a:rPr lang="zh-CN" altLang="en-US" dirty="0"/>
              <a:t>功能具体包含哪些工具</a:t>
            </a:r>
          </a:p>
          <a:p>
            <a:pPr lvl="1"/>
            <a:r>
              <a:rPr lang="zh-CN" altLang="en-US" dirty="0"/>
              <a:t>哪些文件可以改，哪些文件不能改</a:t>
            </a:r>
          </a:p>
          <a:p>
            <a:pPr lvl="1"/>
            <a:r>
              <a:rPr lang="zh-CN" altLang="en-US" dirty="0"/>
              <a:t>已有架构是什么</a:t>
            </a:r>
          </a:p>
          <a:p>
            <a:pPr lvl="1"/>
            <a:r>
              <a:rPr lang="zh-CN" altLang="en-US" dirty="0"/>
              <a:t>成功标准是什么</a:t>
            </a:r>
          </a:p>
          <a:p>
            <a:pPr lvl="1"/>
            <a:r>
              <a:rPr lang="zh-CN" altLang="en-US" dirty="0"/>
              <a:t>失败时怎么处理</a:t>
            </a:r>
          </a:p>
          <a:p>
            <a:pPr lvl="1"/>
            <a:r>
              <a:rPr lang="zh-CN" altLang="en-US" dirty="0"/>
              <a:t>是否需要测试</a:t>
            </a:r>
          </a:p>
          <a:p>
            <a:pPr lvl="1"/>
            <a:r>
              <a:rPr lang="zh-CN" altLang="en-US" dirty="0"/>
              <a:t>是否允许引入依赖</a:t>
            </a:r>
          </a:p>
          <a:p>
            <a:pPr lvl="1"/>
            <a:r>
              <a:rPr lang="zh-CN" altLang="en-US" dirty="0"/>
              <a:t>是否需要保持与前几节课一致</a:t>
            </a:r>
            <a:endParaRPr lang="en-US" altLang="zh-CN" dirty="0"/>
          </a:p>
          <a:p>
            <a:r>
              <a:rPr lang="zh-CN" altLang="en-US" dirty="0"/>
              <a:t>结果：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很快能写出很多代码，但是很难判断是否正确，甚至可能只是表面正确</a:t>
            </a:r>
          </a:p>
          <a:p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0460D-EB55-6F83-5920-9B4A1AD3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7C1D69-0B0A-9733-A1B1-2AF2351C2DCF}"/>
              </a:ext>
            </a:extLst>
          </p:cNvPr>
          <p:cNvSpPr txBox="1"/>
          <p:nvPr/>
        </p:nvSpPr>
        <p:spPr>
          <a:xfrm>
            <a:off x="6672064" y="3286666"/>
            <a:ext cx="43204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C00000"/>
                </a:solidFill>
              </a:rPr>
              <a:t>当然，</a:t>
            </a:r>
            <a:r>
              <a:rPr kumimoji="1" lang="en-US" altLang="zh-CN" sz="2000" dirty="0" err="1">
                <a:solidFill>
                  <a:srgbClr val="C00000"/>
                </a:solidFill>
              </a:rPr>
              <a:t>SJTUClaw</a:t>
            </a:r>
            <a:r>
              <a:rPr kumimoji="1" lang="zh-CN" altLang="en-US" sz="2000" dirty="0">
                <a:solidFill>
                  <a:srgbClr val="C00000"/>
                </a:solidFill>
              </a:rPr>
              <a:t>对大家有个比较取巧的点在于，文档本身是“过饱和”的，助教仔细定义了很多要求和能力边界</a:t>
            </a:r>
          </a:p>
        </p:txBody>
      </p:sp>
    </p:spTree>
    <p:extLst>
      <p:ext uri="{BB962C8B-B14F-4D97-AF65-F5344CB8AC3E}">
        <p14:creationId xmlns:p14="http://schemas.microsoft.com/office/powerpoint/2010/main" val="3125422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0762D-D576-3DC6-8F0A-DF70F7FD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BBAAF-5B55-1839-67C8-A6D45A8E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四种使用方法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E9FD-8B26-CF3C-7040-8B8D81A71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b="1" dirty="0">
                <a:solidFill>
                  <a:srgbClr val="C00000"/>
                </a:solidFill>
              </a:rPr>
              <a:t>Chat</a:t>
            </a:r>
            <a:r>
              <a:rPr lang="zh-CN" altLang="en-US" dirty="0"/>
              <a:t>、</a:t>
            </a:r>
            <a:r>
              <a:rPr lang="en-US" altLang="zh-CN" dirty="0"/>
              <a:t>Spec</a:t>
            </a:r>
            <a:r>
              <a:rPr lang="zh-CN" altLang="en-US" dirty="0"/>
              <a:t>、</a:t>
            </a:r>
            <a:r>
              <a:rPr lang="en-US" altLang="zh-CN" dirty="0"/>
              <a:t>Loop</a:t>
            </a:r>
            <a:r>
              <a:rPr lang="zh-CN" altLang="en-US" dirty="0"/>
              <a:t>、</a:t>
            </a:r>
            <a:r>
              <a:rPr lang="en-US" altLang="zh-CN" dirty="0"/>
              <a:t>Goal</a:t>
            </a:r>
          </a:p>
          <a:p>
            <a:r>
              <a:rPr lang="en-US" altLang="zh-CN" dirty="0"/>
              <a:t>Chat</a:t>
            </a:r>
            <a:r>
              <a:rPr lang="zh-CN" altLang="en-US" dirty="0"/>
              <a:t>：聊天式交互提问（</a:t>
            </a:r>
            <a:r>
              <a:rPr lang="en-US" altLang="zh-CN" dirty="0"/>
              <a:t>Vibe</a:t>
            </a:r>
            <a:r>
              <a:rPr lang="zh-CN" altLang="en-US" dirty="0"/>
              <a:t> </a:t>
            </a:r>
            <a:r>
              <a:rPr lang="en-US" altLang="zh-CN" dirty="0"/>
              <a:t>Coding </a:t>
            </a:r>
            <a:r>
              <a:rPr lang="zh-CN" altLang="en-US" dirty="0"/>
              <a:t>的核心）</a:t>
            </a:r>
            <a:endParaRPr lang="en-US" altLang="zh-CN" dirty="0"/>
          </a:p>
          <a:p>
            <a:pPr lvl="1"/>
            <a:r>
              <a:rPr lang="zh-CN" altLang="en-US" dirty="0"/>
              <a:t>这个报错是什么意思？ </a:t>
            </a:r>
            <a:r>
              <a:rPr lang="en" altLang="zh-CN" dirty="0"/>
              <a:t>Python </a:t>
            </a:r>
            <a:r>
              <a:rPr lang="zh-CN" altLang="en-US" dirty="0"/>
              <a:t>里 </a:t>
            </a:r>
            <a:r>
              <a:rPr lang="en" altLang="zh-CN" dirty="0" err="1"/>
              <a:t>pathlib</a:t>
            </a:r>
            <a:r>
              <a:rPr lang="en" altLang="zh-CN" dirty="0"/>
              <a:t> </a:t>
            </a:r>
            <a:r>
              <a:rPr lang="zh-CN" altLang="en-US" dirty="0"/>
              <a:t>怎么用？ 帮我解释一下这段代码。</a:t>
            </a:r>
            <a:endParaRPr lang="en-US" altLang="zh-CN" dirty="0"/>
          </a:p>
          <a:p>
            <a:pPr lvl="1"/>
            <a:r>
              <a:rPr lang="zh-CN" altLang="en-US" dirty="0"/>
              <a:t>基于</a:t>
            </a:r>
            <a:r>
              <a:rPr lang="en-US" altLang="zh-CN" dirty="0"/>
              <a:t> Chat </a:t>
            </a:r>
            <a:r>
              <a:rPr lang="zh-CN" altLang="en-US" dirty="0"/>
              <a:t>的</a:t>
            </a:r>
            <a:r>
              <a:rPr lang="en-US" altLang="zh-CN" dirty="0"/>
              <a:t> Vibe</a:t>
            </a:r>
            <a:r>
              <a:rPr lang="zh-CN" altLang="en-US" dirty="0"/>
              <a:t> </a:t>
            </a:r>
            <a:r>
              <a:rPr lang="en-US" altLang="zh-CN" dirty="0"/>
              <a:t>Coding </a:t>
            </a:r>
            <a:r>
              <a:rPr lang="zh-CN" altLang="en-US" dirty="0"/>
              <a:t>是比较容易上手的</a:t>
            </a:r>
            <a:endParaRPr lang="en-US" altLang="zh-CN" dirty="0"/>
          </a:p>
          <a:p>
            <a:pPr lvl="1"/>
            <a:r>
              <a:rPr lang="zh-CN" altLang="en-US" dirty="0"/>
              <a:t>但是，很快大家会发现，本质上还是需要和</a:t>
            </a:r>
            <a:r>
              <a:rPr lang="en-US" altLang="zh-CN" dirty="0"/>
              <a:t> LLM </a:t>
            </a:r>
            <a:r>
              <a:rPr lang="zh-CN" altLang="en-US" dirty="0"/>
              <a:t>说清楚任务要求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AFF1-3B2E-FAD5-D26C-9D4B2C1B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2593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BE80-594D-EC1E-AB65-EB0008BF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8BBA-E532-F03A-30A6-CC3CE019B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四种使用方法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DC93F-7D2A-A413-A437-9D3633E6B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Chat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Spec</a:t>
            </a:r>
            <a:r>
              <a:rPr lang="zh-CN" altLang="en-US" dirty="0"/>
              <a:t>、</a:t>
            </a:r>
            <a:r>
              <a:rPr lang="en-US" altLang="zh-CN" dirty="0"/>
              <a:t>Loop</a:t>
            </a:r>
            <a:r>
              <a:rPr lang="zh-CN" altLang="en-US" dirty="0"/>
              <a:t>、</a:t>
            </a:r>
            <a:r>
              <a:rPr lang="en-US" altLang="zh-CN" dirty="0"/>
              <a:t>Goal</a:t>
            </a:r>
          </a:p>
          <a:p>
            <a:r>
              <a:rPr lang="en-US" altLang="zh-CN" dirty="0"/>
              <a:t>/spec</a:t>
            </a:r>
            <a:r>
              <a:rPr lang="zh-CN" altLang="en-US" dirty="0"/>
              <a:t>：</a:t>
            </a:r>
            <a:r>
              <a:rPr lang="en-US" altLang="zh-CN" dirty="0"/>
              <a:t>spec</a:t>
            </a:r>
            <a:r>
              <a:rPr lang="zh-CN" altLang="en-US" dirty="0"/>
              <a:t> </a:t>
            </a:r>
            <a:r>
              <a:rPr lang="en-US" altLang="zh-CN" dirty="0"/>
              <a:t>driven</a:t>
            </a:r>
            <a:r>
              <a:rPr lang="zh-CN" altLang="en-US" dirty="0"/>
              <a:t> </a:t>
            </a:r>
            <a:r>
              <a:rPr lang="en-US" altLang="zh-CN" dirty="0"/>
              <a:t>coding</a:t>
            </a:r>
          </a:p>
          <a:p>
            <a:pPr lvl="1"/>
            <a:r>
              <a:rPr lang="en" altLang="zh-CN" dirty="0"/>
              <a:t>/spec </a:t>
            </a:r>
            <a:r>
              <a:rPr lang="zh-CN" altLang="en-US" dirty="0"/>
              <a:t>我需要实现 </a:t>
            </a:r>
            <a:r>
              <a:rPr lang="en" altLang="zh-CN" dirty="0" err="1"/>
              <a:t>read_text_file</a:t>
            </a:r>
            <a:r>
              <a:rPr lang="en" altLang="zh-CN" dirty="0"/>
              <a:t> </a:t>
            </a:r>
            <a:r>
              <a:rPr lang="zh-CN" altLang="en-US" dirty="0"/>
              <a:t>工具。请根据下面需求生成完整规范： </a:t>
            </a:r>
            <a:r>
              <a:rPr lang="en-US" altLang="zh-CN" dirty="0"/>
              <a:t>...</a:t>
            </a:r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916E7-DADC-9F08-7A15-A72BE3A3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892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11C4-AE2E-945B-AFF4-4292FCD3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B13F3-1A6D-046D-B38B-B12AA404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什么是</a:t>
            </a:r>
            <a:r>
              <a:rPr lang="en-US" altLang="zh-CN" dirty="0"/>
              <a:t> Spec</a:t>
            </a:r>
            <a:r>
              <a:rPr lang="zh-CN" altLang="en-US" dirty="0"/>
              <a:t> </a:t>
            </a:r>
            <a:r>
              <a:rPr lang="en-US" altLang="zh-CN" dirty="0"/>
              <a:t>Driven</a:t>
            </a:r>
            <a:r>
              <a:rPr lang="zh-CN" altLang="en-US" dirty="0"/>
              <a:t> </a:t>
            </a:r>
            <a:r>
              <a:rPr lang="en-US" altLang="zh-CN" dirty="0"/>
              <a:t>Coding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C7D1F-22EC-195C-529B-07C740E8F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zh-CN" altLang="en-US" dirty="0"/>
              <a:t>核心思想是：不要一上来就让 </a:t>
            </a:r>
            <a:r>
              <a:rPr lang="en" altLang="zh-CN" dirty="0"/>
              <a:t>AI </a:t>
            </a:r>
            <a:r>
              <a:rPr lang="zh-CN" altLang="en-US" dirty="0"/>
              <a:t>写代码，先让 </a:t>
            </a:r>
            <a:r>
              <a:rPr lang="en" altLang="zh-CN" dirty="0"/>
              <a:t>AI </a:t>
            </a:r>
            <a:r>
              <a:rPr lang="zh-CN" altLang="en-US" dirty="0"/>
              <a:t>和你一起写清楚“代码应该满足什么规范”。</a:t>
            </a:r>
            <a:endParaRPr lang="en-US" altLang="zh-CN" dirty="0"/>
          </a:p>
          <a:p>
            <a:r>
              <a:rPr lang="zh-CN" altLang="en-US" dirty="0"/>
              <a:t>一份好的</a:t>
            </a:r>
            <a:r>
              <a:rPr lang="en-US" altLang="zh-CN" dirty="0"/>
              <a:t> spec </a:t>
            </a:r>
            <a:r>
              <a:rPr lang="zh-CN" altLang="en-US" dirty="0"/>
              <a:t>通常包含：</a:t>
            </a:r>
            <a:endParaRPr lang="en-US" altLang="zh-CN" dirty="0"/>
          </a:p>
          <a:p>
            <a:pPr lvl="1"/>
            <a:r>
              <a:rPr lang="zh-CN" altLang="en-US" dirty="0"/>
              <a:t>背景：为什么要做这个功能</a:t>
            </a:r>
            <a:endParaRPr lang="en-US" altLang="zh-CN" dirty="0"/>
          </a:p>
          <a:p>
            <a:pPr lvl="1"/>
            <a:r>
              <a:rPr lang="zh-CN" altLang="en-US" dirty="0"/>
              <a:t>目标：本次要实现什么</a:t>
            </a:r>
            <a:endParaRPr lang="en-US" altLang="zh-CN" dirty="0"/>
          </a:p>
          <a:p>
            <a:pPr lvl="1"/>
            <a:r>
              <a:rPr lang="zh-CN" altLang="en-US" dirty="0"/>
              <a:t>非目标：本次明确不做什么</a:t>
            </a:r>
            <a:endParaRPr lang="en-US" altLang="zh-CN" dirty="0"/>
          </a:p>
          <a:p>
            <a:pPr lvl="1"/>
            <a:r>
              <a:rPr lang="zh-CN" altLang="en-US" dirty="0"/>
              <a:t>输入输出：函数、命令、文件或 </a:t>
            </a:r>
            <a:r>
              <a:rPr lang="en" altLang="zh-CN" dirty="0"/>
              <a:t>API </a:t>
            </a:r>
            <a:r>
              <a:rPr lang="zh-CN" altLang="en-US" dirty="0"/>
              <a:t>的输入输出是什么</a:t>
            </a:r>
            <a:endParaRPr lang="en-US" altLang="zh-CN" dirty="0"/>
          </a:p>
          <a:p>
            <a:pPr lvl="1"/>
            <a:r>
              <a:rPr lang="zh-CN" altLang="en-US" dirty="0"/>
              <a:t>数据结构：关键对象长什么样</a:t>
            </a:r>
            <a:endParaRPr lang="en-US" altLang="zh-CN" dirty="0"/>
          </a:p>
          <a:p>
            <a:pPr lvl="1"/>
            <a:r>
              <a:rPr lang="zh-CN" altLang="en-US" dirty="0"/>
              <a:t>错误处理：失败时怎么返回，不能怎么失败</a:t>
            </a:r>
            <a:endParaRPr lang="en-US" altLang="zh-CN" dirty="0"/>
          </a:p>
          <a:p>
            <a:pPr lvl="1"/>
            <a:r>
              <a:rPr lang="zh-CN" altLang="en-US" dirty="0"/>
              <a:t>验收标准：用什么命令或现象证明完成</a:t>
            </a:r>
            <a:endParaRPr lang="en-US" altLang="zh-CN" dirty="0"/>
          </a:p>
          <a:p>
            <a:pPr lvl="1"/>
            <a:r>
              <a:rPr lang="zh-CN" altLang="en-US" dirty="0"/>
              <a:t>测试要求：需要哪些单元测试或端到端测试</a:t>
            </a:r>
            <a:endParaRPr lang="en-US" altLang="zh-CN" dirty="0"/>
          </a:p>
          <a:p>
            <a:pPr lvl="1"/>
            <a:r>
              <a:rPr lang="zh-CN" altLang="en-US" dirty="0"/>
              <a:t>约束：不能改哪些文件，不能引入哪些依赖，必须复用哪些模块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B7D08-FAA6-5EAB-F1A2-661AB7DB6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336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C3F73-2F2A-5FFD-C11B-579E6686D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F476-7147-BBFA-869E-291A89A0F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什么是</a:t>
            </a:r>
            <a:r>
              <a:rPr lang="en-US" altLang="zh-CN" dirty="0"/>
              <a:t> Spec</a:t>
            </a:r>
            <a:r>
              <a:rPr lang="zh-CN" altLang="en-US" dirty="0"/>
              <a:t> </a:t>
            </a:r>
            <a:r>
              <a:rPr lang="en-US" altLang="zh-CN" dirty="0"/>
              <a:t>Driven</a:t>
            </a:r>
            <a:r>
              <a:rPr lang="zh-CN" altLang="en-US" dirty="0"/>
              <a:t> </a:t>
            </a:r>
            <a:r>
              <a:rPr lang="en-US" altLang="zh-CN" dirty="0"/>
              <a:t>Coding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215C1-E1F7-A395-3980-674999C65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5135956" cy="5352562"/>
          </a:xfrm>
        </p:spPr>
        <p:txBody>
          <a:bodyPr>
            <a:normAutofit/>
          </a:bodyPr>
          <a:lstStyle/>
          <a:p>
            <a:r>
              <a:rPr lang="zh-CN" altLang="en-US" dirty="0"/>
              <a:t>一个不好的</a:t>
            </a:r>
            <a:r>
              <a:rPr lang="en-US" altLang="zh-CN" dirty="0"/>
              <a:t>spec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/spec </a:t>
            </a:r>
            <a:r>
              <a:rPr lang="zh-CN" altLang="en-US" dirty="0"/>
              <a:t>帮我做文件读取工具</a:t>
            </a:r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99DA8-C6D8-4571-0137-A16FB040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5E7522-EC04-20D0-DC56-7D28BAA18F5A}"/>
              </a:ext>
            </a:extLst>
          </p:cNvPr>
          <p:cNvSpPr txBox="1">
            <a:spLocks/>
          </p:cNvSpPr>
          <p:nvPr/>
        </p:nvSpPr>
        <p:spPr>
          <a:xfrm>
            <a:off x="6151097" y="1140312"/>
            <a:ext cx="5135956" cy="53525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一个好的</a:t>
            </a:r>
            <a:r>
              <a:rPr lang="en-US" altLang="zh-CN" dirty="0"/>
              <a:t>spec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/spec</a:t>
            </a:r>
          </a:p>
          <a:p>
            <a:pPr marL="0" indent="0">
              <a:buNone/>
            </a:pPr>
            <a:r>
              <a:rPr lang="zh-CN" altLang="en-US" dirty="0"/>
              <a:t>功能名称：</a:t>
            </a:r>
            <a:r>
              <a:rPr lang="en-US" altLang="zh-CN" dirty="0" err="1"/>
              <a:t>read_text_file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背景： </a:t>
            </a:r>
            <a:r>
              <a:rPr lang="en-US" altLang="zh-CN" sz="2200" dirty="0" err="1"/>
              <a:t>SJTUClaw</a:t>
            </a:r>
            <a:r>
              <a:rPr lang="en-US" altLang="zh-CN" sz="2200" dirty="0"/>
              <a:t> </a:t>
            </a:r>
            <a:r>
              <a:rPr lang="zh-CN" altLang="en-US" sz="2200" dirty="0"/>
              <a:t>第 </a:t>
            </a:r>
            <a:r>
              <a:rPr lang="en-US" altLang="zh-CN" sz="2200" dirty="0"/>
              <a:t>5 </a:t>
            </a:r>
            <a:r>
              <a:rPr lang="zh-CN" altLang="en-US" sz="2200" dirty="0"/>
              <a:t>次课</a:t>
            </a:r>
            <a:r>
              <a:rPr lang="en-US" altLang="zh-CN" sz="2200" dirty="0"/>
              <a:t>..</a:t>
            </a:r>
            <a:r>
              <a:rPr lang="zh-CN" altLang="en-US" sz="2200" dirty="0"/>
              <a:t> </a:t>
            </a:r>
            <a:r>
              <a:rPr lang="en-US" altLang="zh-CN" sz="2200" dirty="0"/>
              <a:t>runtime </a:t>
            </a:r>
            <a:r>
              <a:rPr lang="zh-CN" altLang="en-US" sz="2200" dirty="0"/>
              <a:t>调用工具读取真实文件。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目标： </a:t>
            </a:r>
            <a:r>
              <a:rPr lang="zh-CN" altLang="en-US" sz="2200" dirty="0"/>
              <a:t>实现一个只读 </a:t>
            </a:r>
            <a:r>
              <a:rPr lang="en-US" altLang="zh-CN" sz="2200" dirty="0"/>
              <a:t>tool</a:t>
            </a:r>
            <a:r>
              <a:rPr lang="zh-CN" altLang="en-US" sz="2200" dirty="0"/>
              <a:t>，读取 </a:t>
            </a:r>
            <a:r>
              <a:rPr lang="en-US" altLang="zh-CN" sz="2200" dirty="0"/>
              <a:t>workspace </a:t>
            </a:r>
            <a:r>
              <a:rPr lang="zh-CN" altLang="en-US" sz="2200" dirty="0"/>
              <a:t>或课程目录内的文本文件，并把内容作为 </a:t>
            </a:r>
            <a:r>
              <a:rPr lang="en-US" altLang="zh-CN" sz="2200" dirty="0" err="1"/>
              <a:t>ToolResult</a:t>
            </a:r>
            <a:r>
              <a:rPr lang="en-US" altLang="zh-CN" sz="2200" dirty="0"/>
              <a:t> </a:t>
            </a:r>
            <a:r>
              <a:rPr lang="zh-CN" altLang="en-US" sz="2200" dirty="0"/>
              <a:t>返回。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</a:t>
            </a:r>
            <a:r>
              <a:rPr lang="en-US" altLang="zh-CN" dirty="0"/>
              <a:t>/</a:t>
            </a:r>
            <a:r>
              <a:rPr lang="zh-CN" altLang="en-US" dirty="0"/>
              <a:t>输出 </a:t>
            </a:r>
            <a:r>
              <a:rPr lang="en-US" altLang="zh-CN" dirty="0"/>
              <a:t>…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错误处理 </a:t>
            </a:r>
            <a:r>
              <a:rPr lang="en-US" altLang="zh-CN" dirty="0"/>
              <a:t>…</a:t>
            </a:r>
          </a:p>
          <a:p>
            <a:pPr marL="0" indent="0">
              <a:buNone/>
            </a:pPr>
            <a:r>
              <a:rPr lang="zh-CN" altLang="en-US" dirty="0"/>
              <a:t>验收 。。。</a:t>
            </a:r>
          </a:p>
        </p:txBody>
      </p:sp>
    </p:spTree>
    <p:extLst>
      <p:ext uri="{BB962C8B-B14F-4D97-AF65-F5344CB8AC3E}">
        <p14:creationId xmlns:p14="http://schemas.microsoft.com/office/powerpoint/2010/main" val="1510706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7221-44CF-B7C9-AB6D-7FC6800D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CE8E-5358-7EEC-6BC4-464434208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什么是</a:t>
            </a:r>
            <a:r>
              <a:rPr lang="en-US" altLang="zh-CN" dirty="0"/>
              <a:t> Spec</a:t>
            </a:r>
            <a:r>
              <a:rPr lang="zh-CN" altLang="en-US" dirty="0"/>
              <a:t> </a:t>
            </a:r>
            <a:r>
              <a:rPr lang="en-US" altLang="zh-CN" dirty="0"/>
              <a:t>Driven</a:t>
            </a:r>
            <a:r>
              <a:rPr lang="zh-CN" altLang="en-US" dirty="0"/>
              <a:t> </a:t>
            </a:r>
            <a:r>
              <a:rPr lang="en-US" altLang="zh-CN" dirty="0"/>
              <a:t>Coding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08324-0A59-B619-9378-0A8534DD5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184628" cy="5352562"/>
          </a:xfrm>
        </p:spPr>
        <p:txBody>
          <a:bodyPr>
            <a:normAutofit/>
          </a:bodyPr>
          <a:lstStyle/>
          <a:p>
            <a:r>
              <a:rPr lang="zh-CN" altLang="en-US" dirty="0"/>
              <a:t>很多时候人是不太能写出非常完整的</a:t>
            </a:r>
            <a:r>
              <a:rPr lang="en-US" altLang="zh-CN" dirty="0"/>
              <a:t> spec 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 </a:t>
            </a:r>
            <a:r>
              <a:rPr lang="zh-CN" altLang="en-US" dirty="0"/>
              <a:t>的</a:t>
            </a:r>
            <a:r>
              <a:rPr lang="en-US" altLang="zh-CN" dirty="0"/>
              <a:t>/spec </a:t>
            </a:r>
            <a:r>
              <a:rPr lang="zh-CN" altLang="en-US" dirty="0"/>
              <a:t>命令通常会根据输入先生成一个</a:t>
            </a:r>
            <a:r>
              <a:rPr lang="en-US" altLang="zh-CN" dirty="0"/>
              <a:t> spec</a:t>
            </a:r>
            <a:r>
              <a:rPr lang="zh-CN" altLang="en-US" dirty="0"/>
              <a:t>，然后由你去验收，你确认</a:t>
            </a:r>
            <a:r>
              <a:rPr lang="en-US" altLang="zh-CN" dirty="0"/>
              <a:t> spec </a:t>
            </a:r>
            <a:r>
              <a:rPr lang="zh-CN" altLang="en-US" dirty="0"/>
              <a:t>后，再去执行这个</a:t>
            </a:r>
            <a:r>
              <a:rPr lang="en-US" altLang="zh-CN" dirty="0"/>
              <a:t> spec</a:t>
            </a:r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更能端到端完成一个任务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303D5-1D2D-7019-26DF-C62E7FF6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7976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49E1-2295-2298-E615-70D4AC43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B3EB-DDC0-95F9-7BD1-CC4A4F76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四种使用方法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FC547-E402-0757-81EE-4E926C726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Chat</a:t>
            </a:r>
            <a:r>
              <a:rPr lang="zh-CN" altLang="en-US" dirty="0"/>
              <a:t>、</a:t>
            </a:r>
            <a:r>
              <a:rPr lang="en-US" altLang="zh-CN" dirty="0"/>
              <a:t>Spec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Loop</a:t>
            </a:r>
            <a:r>
              <a:rPr lang="zh-CN" altLang="en-US" dirty="0"/>
              <a:t>、</a:t>
            </a:r>
            <a:r>
              <a:rPr lang="en-US" altLang="zh-CN" dirty="0"/>
              <a:t>Goal</a:t>
            </a:r>
          </a:p>
          <a:p>
            <a:r>
              <a:rPr lang="en-US" altLang="zh-CN" dirty="0"/>
              <a:t>Loop</a:t>
            </a:r>
            <a:r>
              <a:rPr lang="zh-CN" altLang="en-US" dirty="0"/>
              <a:t>：从</a:t>
            </a:r>
            <a:r>
              <a:rPr lang="en-US" altLang="zh-CN" dirty="0"/>
              <a:t> Ralph</a:t>
            </a:r>
            <a:r>
              <a:rPr lang="zh-CN" altLang="en-US" dirty="0"/>
              <a:t> </a:t>
            </a:r>
            <a:r>
              <a:rPr lang="en-US" altLang="zh-CN" dirty="0"/>
              <a:t>Loop </a:t>
            </a:r>
            <a:r>
              <a:rPr lang="zh-CN" altLang="en-US" dirty="0"/>
              <a:t>到现在的</a:t>
            </a:r>
            <a:r>
              <a:rPr lang="en-US" altLang="zh-CN" dirty="0"/>
              <a:t> Loop</a:t>
            </a:r>
            <a:r>
              <a:rPr lang="zh-CN" altLang="en-US" dirty="0"/>
              <a:t> </a:t>
            </a:r>
            <a:r>
              <a:rPr lang="en-US" altLang="zh-CN" dirty="0"/>
              <a:t>Engineering</a:t>
            </a:r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7FBAC-278B-94E8-372B-F1FA6895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13</a:t>
            </a:fld>
            <a:endParaRPr lang="en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B7CF56-E0D0-D2D5-0CBA-C1A80444C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91" y="2121197"/>
            <a:ext cx="7772400" cy="33907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A1F642B-3375-A77B-60B3-9BAE6D1B1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91" y="2595865"/>
            <a:ext cx="3365323" cy="31409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06E2F9-264C-C419-3166-CCB4EE1A4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10" y="3395423"/>
            <a:ext cx="7772400" cy="331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89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E3B0-10C2-12A6-2461-8CF6B151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7261-80AE-DA00-0D1D-D67DA4B9D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四种使用方法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EF403-68C5-34B5-BCC7-8B379A593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Chat</a:t>
            </a:r>
            <a:r>
              <a:rPr lang="zh-CN" altLang="en-US" dirty="0"/>
              <a:t>、</a:t>
            </a:r>
            <a:r>
              <a:rPr lang="en-US" altLang="zh-CN" dirty="0"/>
              <a:t>Spec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Loop</a:t>
            </a:r>
            <a:r>
              <a:rPr lang="zh-CN" altLang="en-US" dirty="0"/>
              <a:t>、</a:t>
            </a:r>
            <a:r>
              <a:rPr lang="en-US" altLang="zh-CN" dirty="0"/>
              <a:t>Goal</a:t>
            </a:r>
          </a:p>
          <a:p>
            <a:r>
              <a:rPr lang="en-US" altLang="zh-CN" dirty="0"/>
              <a:t>Loop</a:t>
            </a:r>
            <a:r>
              <a:rPr lang="zh-CN" altLang="en-US" dirty="0"/>
              <a:t>：从</a:t>
            </a:r>
            <a:r>
              <a:rPr lang="en-US" altLang="zh-CN" dirty="0"/>
              <a:t> Ralph</a:t>
            </a:r>
            <a:r>
              <a:rPr lang="zh-CN" altLang="en-US" dirty="0"/>
              <a:t> </a:t>
            </a:r>
            <a:r>
              <a:rPr lang="en-US" altLang="zh-CN" dirty="0"/>
              <a:t>Loop </a:t>
            </a:r>
            <a:r>
              <a:rPr lang="zh-CN" altLang="en-US" dirty="0"/>
              <a:t>到现在的</a:t>
            </a:r>
            <a:r>
              <a:rPr lang="en-US" altLang="zh-CN" dirty="0"/>
              <a:t> Loop</a:t>
            </a:r>
            <a:r>
              <a:rPr lang="zh-CN" altLang="en-US" dirty="0"/>
              <a:t> </a:t>
            </a:r>
            <a:r>
              <a:rPr lang="en-US" altLang="zh-CN" dirty="0"/>
              <a:t>Engineering</a:t>
            </a:r>
          </a:p>
          <a:p>
            <a:r>
              <a:rPr lang="en-US" altLang="zh-CN" dirty="0"/>
              <a:t>Ralph Loop</a:t>
            </a:r>
            <a:r>
              <a:rPr lang="zh-CN" altLang="en-US" dirty="0"/>
              <a:t>要解决什么问题？</a:t>
            </a:r>
            <a:endParaRPr lang="en-US" altLang="zh-CN" dirty="0"/>
          </a:p>
          <a:p>
            <a:pPr lvl="1"/>
            <a:r>
              <a:rPr lang="zh-CN" altLang="en-US" dirty="0"/>
              <a:t>解决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IDE/Agent </a:t>
            </a:r>
            <a:r>
              <a:rPr lang="zh-CN" altLang="en-US" dirty="0"/>
              <a:t>过早结束任务的问题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5FA61-BCFF-1C41-0C4B-8C6146B0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14</a:t>
            </a:fld>
            <a:endParaRPr lang="en-CN"/>
          </a:p>
        </p:txBody>
      </p:sp>
      <p:pic>
        <p:nvPicPr>
          <p:cNvPr id="7" name="图片 6" descr="电脑游戏画面&#10;&#10;中度可信度描述已自动生成">
            <a:extLst>
              <a:ext uri="{FF2B5EF4-FFF2-40B4-BE49-F238E27FC236}">
                <a16:creationId xmlns:a16="http://schemas.microsoft.com/office/drawing/2014/main" id="{E9AEB2BC-C71B-C782-A6BE-865A41F79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3429000"/>
            <a:ext cx="4887700" cy="23911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4194E53-025F-E8E1-4133-FA378846318A}"/>
              </a:ext>
            </a:extLst>
          </p:cNvPr>
          <p:cNvSpPr txBox="1"/>
          <p:nvPr/>
        </p:nvSpPr>
        <p:spPr>
          <a:xfrm>
            <a:off x="5630853" y="3405876"/>
            <a:ext cx="4631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Ralph</a:t>
            </a:r>
            <a:r>
              <a:rPr kumimoji="1" lang="zh-CN" altLang="en-US" dirty="0"/>
              <a:t>的名字，来源于</a:t>
            </a:r>
            <a:r>
              <a:rPr kumimoji="1" lang="en-US" altLang="zh-CN" dirty="0"/>
              <a:t>《</a:t>
            </a:r>
            <a:r>
              <a:rPr kumimoji="1" lang="zh-CN" altLang="en-US" dirty="0"/>
              <a:t>辛普森一家</a:t>
            </a:r>
            <a:r>
              <a:rPr kumimoji="1" lang="en-US" altLang="zh-CN" dirty="0"/>
              <a:t>》</a:t>
            </a:r>
            <a:r>
              <a:rPr kumimoji="1" lang="zh-CN" altLang="en-US" dirty="0"/>
              <a:t>中，那个永远天真却无比执着的角色</a:t>
            </a:r>
            <a:r>
              <a:rPr kumimoji="1" lang="en" altLang="zh-CN" dirty="0"/>
              <a:t>Ralph Wiggum</a:t>
            </a:r>
            <a:r>
              <a:rPr kumimoji="1" lang="zh-CN" altLang="en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C6A153-83D0-4D15-32C4-F1E9479E2C5A}"/>
              </a:ext>
            </a:extLst>
          </p:cNvPr>
          <p:cNvSpPr txBox="1"/>
          <p:nvPr/>
        </p:nvSpPr>
        <p:spPr>
          <a:xfrm>
            <a:off x="5630853" y="4881113"/>
            <a:ext cx="4631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Ralph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：本质上是希望让</a:t>
            </a:r>
            <a:r>
              <a:rPr kumimoji="1" lang="en-US" altLang="zh-CN" dirty="0"/>
              <a:t> AI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IDE/Code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Agent </a:t>
            </a:r>
            <a:r>
              <a:rPr kumimoji="1" lang="zh-CN" altLang="en-US" dirty="0"/>
              <a:t>在人类离开电脑后，</a:t>
            </a:r>
            <a:r>
              <a:rPr lang="zh-CN" altLang="en-US" dirty="0"/>
              <a:t>依然会无限构建软件的</a:t>
            </a:r>
            <a:r>
              <a:rPr lang="en" altLang="zh-CN" dirty="0"/>
              <a:t>AI</a:t>
            </a:r>
            <a:r>
              <a:rPr lang="zh-CN" altLang="en-US" dirty="0"/>
              <a:t>*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4A5D25-E8EE-5D43-64B4-005CE3CE5107}"/>
              </a:ext>
            </a:extLst>
          </p:cNvPr>
          <p:cNvSpPr txBox="1"/>
          <p:nvPr/>
        </p:nvSpPr>
        <p:spPr>
          <a:xfrm>
            <a:off x="5341" y="6436444"/>
            <a:ext cx="11355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*：请大家务必小心自己的</a:t>
            </a:r>
            <a:r>
              <a:rPr kumimoji="1" lang="en-US" altLang="zh-CN" dirty="0"/>
              <a:t> Token </a:t>
            </a:r>
            <a:r>
              <a:rPr kumimoji="1" lang="zh-CN" altLang="en-US" dirty="0"/>
              <a:t>用量，哪怕是</a:t>
            </a:r>
            <a:r>
              <a:rPr kumimoji="1" lang="en-US" altLang="zh-CN" dirty="0"/>
              <a:t> coding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plan</a:t>
            </a:r>
            <a:r>
              <a:rPr kumimoji="1" lang="zh-CN" altLang="en-US" dirty="0"/>
              <a:t>，用</a:t>
            </a:r>
            <a:r>
              <a:rPr kumimoji="1" lang="en-US" altLang="zh-CN" dirty="0"/>
              <a:t> ralph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 </a:t>
            </a:r>
            <a:r>
              <a:rPr kumimoji="1" lang="zh-CN" altLang="en-US" dirty="0"/>
              <a:t>和后面的</a:t>
            </a:r>
            <a:r>
              <a:rPr kumimoji="1" lang="en-US" altLang="zh-CN" dirty="0"/>
              <a:t> goal </a:t>
            </a:r>
            <a:r>
              <a:rPr kumimoji="1" lang="zh-CN" altLang="en-US" dirty="0"/>
              <a:t>模式也很容易触发限额</a:t>
            </a:r>
          </a:p>
        </p:txBody>
      </p:sp>
    </p:spTree>
    <p:extLst>
      <p:ext uri="{BB962C8B-B14F-4D97-AF65-F5344CB8AC3E}">
        <p14:creationId xmlns:p14="http://schemas.microsoft.com/office/powerpoint/2010/main" val="3759109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91FB-1EBB-0F88-EDF4-BB2BFFF8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7423-74D6-AEDE-3DF8-3F201388A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四种使用方法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A6C99-A355-242C-B542-C52238FB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Chat</a:t>
            </a:r>
            <a:r>
              <a:rPr lang="zh-CN" altLang="en-US" dirty="0"/>
              <a:t>、</a:t>
            </a:r>
            <a:r>
              <a:rPr lang="en-US" altLang="zh-CN" dirty="0"/>
              <a:t>Spec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Loop</a:t>
            </a:r>
            <a:r>
              <a:rPr lang="zh-CN" altLang="en-US" dirty="0"/>
              <a:t>、</a:t>
            </a:r>
            <a:r>
              <a:rPr lang="en-US" altLang="zh-CN" dirty="0"/>
              <a:t>Goal</a:t>
            </a:r>
          </a:p>
          <a:p>
            <a:r>
              <a:rPr lang="en-US" altLang="zh-CN" dirty="0"/>
              <a:t>Loop</a:t>
            </a:r>
            <a:r>
              <a:rPr lang="zh-CN" altLang="en-US" dirty="0"/>
              <a:t>：从</a:t>
            </a:r>
            <a:r>
              <a:rPr lang="en-US" altLang="zh-CN" dirty="0"/>
              <a:t> Ralph</a:t>
            </a:r>
            <a:r>
              <a:rPr lang="zh-CN" altLang="en-US" dirty="0"/>
              <a:t> </a:t>
            </a:r>
            <a:r>
              <a:rPr lang="en-US" altLang="zh-CN" dirty="0"/>
              <a:t>Loop </a:t>
            </a:r>
            <a:r>
              <a:rPr lang="zh-CN" altLang="en-US" dirty="0"/>
              <a:t>到现在的</a:t>
            </a:r>
            <a:r>
              <a:rPr lang="en-US" altLang="zh-CN" dirty="0"/>
              <a:t> Loop</a:t>
            </a:r>
            <a:r>
              <a:rPr lang="zh-CN" altLang="en-US" dirty="0"/>
              <a:t> </a:t>
            </a:r>
            <a:r>
              <a:rPr lang="en-US" altLang="zh-CN" dirty="0"/>
              <a:t>Engineering</a:t>
            </a:r>
          </a:p>
          <a:p>
            <a:r>
              <a:rPr lang="en-US" altLang="zh-CN" dirty="0"/>
              <a:t>Ralph Loop</a:t>
            </a:r>
            <a:r>
              <a:rPr lang="zh-CN" altLang="en-US" dirty="0"/>
              <a:t>要解决什么问题？</a:t>
            </a:r>
            <a:endParaRPr lang="en-US" altLang="zh-CN" dirty="0"/>
          </a:p>
          <a:p>
            <a:pPr lvl="1"/>
            <a:r>
              <a:rPr lang="zh-CN" altLang="en-US" dirty="0"/>
              <a:t>解决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IDE/Agent </a:t>
            </a:r>
            <a:r>
              <a:rPr lang="zh-CN" altLang="en-US" dirty="0"/>
              <a:t>过早结束任务的问题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6E52A-538F-30D4-DC7D-A00C28F6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15</a:t>
            </a:fld>
            <a:endParaRPr lang="en-CN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DB19D2-C88C-10E6-015D-F3F510B8870D}"/>
              </a:ext>
            </a:extLst>
          </p:cNvPr>
          <p:cNvSpPr txBox="1"/>
          <p:nvPr/>
        </p:nvSpPr>
        <p:spPr>
          <a:xfrm>
            <a:off x="5341" y="6436444"/>
            <a:ext cx="11355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*：请大家务必小心自己的</a:t>
            </a:r>
            <a:r>
              <a:rPr kumimoji="1" lang="en-US" altLang="zh-CN" dirty="0"/>
              <a:t> Token </a:t>
            </a:r>
            <a:r>
              <a:rPr kumimoji="1" lang="zh-CN" altLang="en-US" dirty="0"/>
              <a:t>用量，哪怕是</a:t>
            </a:r>
            <a:r>
              <a:rPr kumimoji="1" lang="en-US" altLang="zh-CN" dirty="0"/>
              <a:t> coding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plan</a:t>
            </a:r>
            <a:r>
              <a:rPr kumimoji="1" lang="zh-CN" altLang="en-US" dirty="0"/>
              <a:t>，用</a:t>
            </a:r>
            <a:r>
              <a:rPr kumimoji="1" lang="en-US" altLang="zh-CN" dirty="0"/>
              <a:t> ralph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 </a:t>
            </a:r>
            <a:r>
              <a:rPr kumimoji="1" lang="zh-CN" altLang="en-US" dirty="0"/>
              <a:t>和后面的</a:t>
            </a:r>
            <a:r>
              <a:rPr kumimoji="1" lang="en-US" altLang="zh-CN" dirty="0"/>
              <a:t> goal </a:t>
            </a:r>
            <a:r>
              <a:rPr kumimoji="1" lang="zh-CN" altLang="en-US" dirty="0"/>
              <a:t>模式也很容易触发限额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E0552E-3A1D-E2B2-1BC9-FF23FFD5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7" y="3224901"/>
            <a:ext cx="11934465" cy="210608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468EDF0-49E3-F0E5-E0D6-F21A2171694A}"/>
              </a:ext>
            </a:extLst>
          </p:cNvPr>
          <p:cNvSpPr txBox="1"/>
          <p:nvPr/>
        </p:nvSpPr>
        <p:spPr>
          <a:xfrm>
            <a:off x="311972" y="5348356"/>
            <a:ext cx="5415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没错，本质上是一个死循环，让</a:t>
            </a:r>
            <a:r>
              <a:rPr kumimoji="1" lang="en-US" altLang="zh-CN" b="1" dirty="0"/>
              <a:t> AI </a:t>
            </a:r>
            <a:r>
              <a:rPr kumimoji="1" lang="zh-CN" altLang="en-US" b="1" dirty="0"/>
              <a:t>一直工作下去</a:t>
            </a:r>
            <a:r>
              <a:rPr kumimoji="1" lang="en-US" altLang="zh-CN" b="1" dirty="0"/>
              <a:t>……</a:t>
            </a:r>
            <a:endParaRPr kumimoji="1" lang="zh-CN" altLang="en-US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E86200E-F081-9E1A-D24B-8E45B0D889F5}"/>
              </a:ext>
            </a:extLst>
          </p:cNvPr>
          <p:cNvSpPr txBox="1"/>
          <p:nvPr/>
        </p:nvSpPr>
        <p:spPr>
          <a:xfrm>
            <a:off x="6370118" y="5348356"/>
            <a:ext cx="3687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/>
              <a:t>Claude</a:t>
            </a:r>
            <a:r>
              <a:rPr lang="zh-CN" altLang="en-US" dirty="0"/>
              <a:t> </a:t>
            </a:r>
            <a:r>
              <a:rPr lang="en-US" altLang="zh-CN" dirty="0"/>
              <a:t>Code </a:t>
            </a:r>
            <a:r>
              <a:rPr lang="zh-CN" altLang="en-US" dirty="0"/>
              <a:t>中可以用：</a:t>
            </a:r>
            <a:r>
              <a:rPr lang="en" altLang="zh-CN" dirty="0"/>
              <a:t>/ralph-loop </a:t>
            </a:r>
            <a:endParaRPr lang="en" altLang="zh-C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14631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02F9-DD5C-7BC7-FCE8-9B7A3A5F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D6AC-C5D9-0412-8D20-7003980C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四种使用方法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E27B-098D-1519-1CEB-756171E45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Chat</a:t>
            </a:r>
            <a:r>
              <a:rPr lang="zh-CN" altLang="en-US" dirty="0"/>
              <a:t>、</a:t>
            </a:r>
            <a:r>
              <a:rPr lang="en-US" altLang="zh-CN" dirty="0"/>
              <a:t>Spec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Loop</a:t>
            </a:r>
            <a:r>
              <a:rPr lang="zh-CN" altLang="en-US" dirty="0"/>
              <a:t>、</a:t>
            </a:r>
            <a:r>
              <a:rPr lang="en-US" altLang="zh-CN" dirty="0"/>
              <a:t>Goal</a:t>
            </a:r>
          </a:p>
          <a:p>
            <a:r>
              <a:rPr lang="en-US" altLang="zh-CN" dirty="0"/>
              <a:t>Loop</a:t>
            </a:r>
            <a:r>
              <a:rPr lang="zh-CN" altLang="en-US" dirty="0"/>
              <a:t>：从</a:t>
            </a:r>
            <a:r>
              <a:rPr lang="en-US" altLang="zh-CN" dirty="0"/>
              <a:t> Ralph</a:t>
            </a:r>
            <a:r>
              <a:rPr lang="zh-CN" altLang="en-US" dirty="0"/>
              <a:t> </a:t>
            </a:r>
            <a:r>
              <a:rPr lang="en-US" altLang="zh-CN" dirty="0"/>
              <a:t>Loop </a:t>
            </a:r>
            <a:r>
              <a:rPr lang="zh-CN" altLang="en-US" dirty="0"/>
              <a:t>到现在的</a:t>
            </a:r>
            <a:r>
              <a:rPr lang="en-US" altLang="zh-CN" dirty="0"/>
              <a:t> Loop</a:t>
            </a:r>
            <a:r>
              <a:rPr lang="zh-CN" altLang="en-US" dirty="0"/>
              <a:t> </a:t>
            </a:r>
            <a:r>
              <a:rPr lang="en-US" altLang="zh-CN" dirty="0"/>
              <a:t>Engineering</a:t>
            </a:r>
          </a:p>
          <a:p>
            <a:r>
              <a:rPr lang="en-US" altLang="zh-CN" dirty="0"/>
              <a:t>Ralph Loop</a:t>
            </a:r>
            <a:r>
              <a:rPr lang="zh-CN" altLang="en-US" dirty="0"/>
              <a:t>要解决什么问题？</a:t>
            </a:r>
            <a:endParaRPr lang="en-US" altLang="zh-CN" dirty="0"/>
          </a:p>
          <a:p>
            <a:pPr lvl="1"/>
            <a:r>
              <a:rPr lang="zh-CN" altLang="en-US" dirty="0"/>
              <a:t>解决</a:t>
            </a:r>
            <a:r>
              <a:rPr lang="en-US" altLang="zh-CN" dirty="0"/>
              <a:t> AI</a:t>
            </a:r>
            <a:r>
              <a:rPr lang="zh-CN" altLang="en-US" dirty="0"/>
              <a:t> </a:t>
            </a:r>
            <a:r>
              <a:rPr lang="en-US" altLang="zh-CN" dirty="0"/>
              <a:t>IDE/Agent </a:t>
            </a:r>
            <a:r>
              <a:rPr lang="zh-CN" altLang="en-US" dirty="0"/>
              <a:t>过早结束任务的问题</a:t>
            </a:r>
            <a:endParaRPr lang="en-US" altLang="zh-CN" dirty="0"/>
          </a:p>
          <a:p>
            <a:r>
              <a:rPr lang="zh-CN" altLang="en-US" dirty="0"/>
              <a:t>在大家的开发中去尝试引入</a:t>
            </a:r>
            <a:r>
              <a:rPr lang="en-US" altLang="zh-CN" dirty="0"/>
              <a:t> Loop </a:t>
            </a:r>
            <a:r>
              <a:rPr lang="zh-CN" altLang="en-US" dirty="0"/>
              <a:t>的想法</a:t>
            </a:r>
            <a:endParaRPr lang="en-US" altLang="zh-CN" dirty="0"/>
          </a:p>
          <a:p>
            <a:pPr lvl="1"/>
            <a:r>
              <a:rPr lang="zh-CN" altLang="en-US" dirty="0"/>
              <a:t>给定目标</a:t>
            </a:r>
            <a:endParaRPr lang="en-US" altLang="zh-CN" dirty="0"/>
          </a:p>
          <a:p>
            <a:pPr lvl="1"/>
            <a:r>
              <a:rPr lang="en" altLang="zh-CN" dirty="0"/>
              <a:t>AI </a:t>
            </a:r>
            <a:r>
              <a:rPr lang="zh-CN" altLang="en-US" dirty="0"/>
              <a:t>生成计划或代码</a:t>
            </a:r>
            <a:endParaRPr lang="en-US" altLang="zh-CN" dirty="0"/>
          </a:p>
          <a:p>
            <a:pPr lvl="1"/>
            <a:r>
              <a:rPr lang="zh-CN" altLang="en-US" dirty="0"/>
              <a:t>让</a:t>
            </a:r>
            <a:r>
              <a:rPr lang="en-US" altLang="zh-CN" dirty="0"/>
              <a:t> AI</a:t>
            </a:r>
            <a:r>
              <a:rPr lang="zh-CN" altLang="en-US" dirty="0"/>
              <a:t>运行测试或程序</a:t>
            </a:r>
            <a:endParaRPr lang="en-US" altLang="zh-CN" dirty="0"/>
          </a:p>
          <a:p>
            <a:pPr lvl="1"/>
            <a:r>
              <a:rPr lang="zh-CN" altLang="en-US" dirty="0"/>
              <a:t>让</a:t>
            </a:r>
            <a:r>
              <a:rPr lang="en-US" altLang="zh-CN" dirty="0"/>
              <a:t> AI</a:t>
            </a:r>
            <a:r>
              <a:rPr lang="zh-CN" altLang="en-US" dirty="0"/>
              <a:t>观察错误输出</a:t>
            </a:r>
            <a:endParaRPr lang="en-US" altLang="zh-CN" dirty="0"/>
          </a:p>
          <a:p>
            <a:pPr lvl="1"/>
            <a:r>
              <a:rPr lang="zh-CN" altLang="en-US" dirty="0"/>
              <a:t>让</a:t>
            </a:r>
            <a:r>
              <a:rPr lang="en" altLang="zh-CN" dirty="0"/>
              <a:t>AI </a:t>
            </a:r>
            <a:r>
              <a:rPr lang="zh-CN" altLang="en-US" dirty="0"/>
              <a:t>修复并再次运行</a:t>
            </a:r>
            <a:endParaRPr lang="en-US" altLang="zh-CN" dirty="0"/>
          </a:p>
          <a:p>
            <a:pPr lvl="1"/>
            <a:r>
              <a:rPr lang="zh-CN" altLang="en-US" dirty="0"/>
              <a:t>循环，直到验收通过或确认阻塞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138D7-7543-9F4E-EC7B-12BAA3B9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16</a:t>
            </a:fld>
            <a:endParaRPr lang="en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14A25D-277F-2D0E-38D6-0CA9AB763A4D}"/>
              </a:ext>
            </a:extLst>
          </p:cNvPr>
          <p:cNvSpPr txBox="1"/>
          <p:nvPr/>
        </p:nvSpPr>
        <p:spPr>
          <a:xfrm>
            <a:off x="7184857" y="4077072"/>
            <a:ext cx="4730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小思考：你能够让你的</a:t>
            </a:r>
            <a:r>
              <a:rPr kumimoji="1" lang="en-US" altLang="zh-CN" b="1" dirty="0">
                <a:solidFill>
                  <a:srgbClr val="C00000"/>
                </a:solidFill>
              </a:rPr>
              <a:t> AI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IDE </a:t>
            </a:r>
            <a:r>
              <a:rPr kumimoji="1" lang="zh-CN" altLang="en-US" b="1" dirty="0">
                <a:solidFill>
                  <a:srgbClr val="C00000"/>
                </a:solidFill>
              </a:rPr>
              <a:t>在你不介入的情况下，连续工作多长时间？（不考虑</a:t>
            </a:r>
            <a:r>
              <a:rPr kumimoji="1" lang="en-US" altLang="zh-CN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 err="1">
                <a:solidFill>
                  <a:srgbClr val="C00000"/>
                </a:solidFill>
              </a:rPr>
              <a:t>Toekn</a:t>
            </a:r>
            <a:r>
              <a:rPr kumimoji="1" lang="en-US" altLang="zh-CN" b="1" dirty="0">
                <a:solidFill>
                  <a:srgbClr val="C00000"/>
                </a:solidFill>
              </a:rPr>
              <a:t> </a:t>
            </a:r>
            <a:r>
              <a:rPr kumimoji="1" lang="zh-CN" altLang="en-US" b="1" dirty="0">
                <a:solidFill>
                  <a:srgbClr val="C00000"/>
                </a:solidFill>
              </a:rPr>
              <a:t>的话）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A3B1B16-3747-04B8-D7CB-A27545833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176" y="5106221"/>
            <a:ext cx="33655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28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D34AD-AF51-21D5-62B6-6D1A2984F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F46F-1BE6-301F-038E-711488D30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四种使用方法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1A48E-C869-B0F3-3B5F-97BDECC53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972" y="1140312"/>
            <a:ext cx="11575228" cy="5352562"/>
          </a:xfrm>
        </p:spPr>
        <p:txBody>
          <a:bodyPr/>
          <a:lstStyle/>
          <a:p>
            <a:r>
              <a:rPr lang="en-US" altLang="zh-CN" dirty="0"/>
              <a:t>Chat</a:t>
            </a:r>
            <a:r>
              <a:rPr lang="zh-CN" altLang="en-US" dirty="0"/>
              <a:t>、</a:t>
            </a:r>
            <a:r>
              <a:rPr lang="en-US" altLang="zh-CN" dirty="0"/>
              <a:t>Spec</a:t>
            </a:r>
            <a:r>
              <a:rPr lang="zh-CN" altLang="en-US" dirty="0"/>
              <a:t>、</a:t>
            </a:r>
            <a:r>
              <a:rPr lang="en-US" altLang="zh-CN" dirty="0"/>
              <a:t>Loop</a:t>
            </a:r>
            <a:r>
              <a:rPr lang="zh-CN" altLang="en-US" dirty="0"/>
              <a:t>、</a:t>
            </a:r>
            <a:r>
              <a:rPr lang="en-US" altLang="zh-CN" b="1" dirty="0">
                <a:solidFill>
                  <a:srgbClr val="C00000"/>
                </a:solidFill>
              </a:rPr>
              <a:t>Goal</a:t>
            </a:r>
          </a:p>
          <a:p>
            <a:r>
              <a:rPr lang="en-US" altLang="zh-CN" dirty="0"/>
              <a:t>/goal </a:t>
            </a:r>
            <a:r>
              <a:rPr lang="zh-CN" altLang="en-US" dirty="0"/>
              <a:t>完成 </a:t>
            </a:r>
            <a:r>
              <a:rPr lang="en" altLang="zh-CN" dirty="0"/>
              <a:t>session-05 </a:t>
            </a:r>
            <a:r>
              <a:rPr lang="zh-CN" altLang="en-US" dirty="0"/>
              <a:t>的只读 </a:t>
            </a:r>
            <a:r>
              <a:rPr lang="en" altLang="zh-CN" dirty="0"/>
              <a:t>tool </a:t>
            </a:r>
            <a:r>
              <a:rPr lang="zh-CN" altLang="en-US" dirty="0"/>
              <a:t>实现。</a:t>
            </a:r>
            <a:endParaRPr lang="en-US" altLang="zh-CN" dirty="0"/>
          </a:p>
          <a:p>
            <a:pPr lvl="1"/>
            <a:r>
              <a:rPr lang="en-US" altLang="zh-CN" dirty="0"/>
              <a:t>Goal </a:t>
            </a:r>
            <a:r>
              <a:rPr lang="zh-CN" altLang="en-US" dirty="0"/>
              <a:t>模式本质上是</a:t>
            </a:r>
            <a:r>
              <a:rPr lang="en-US" altLang="zh-CN" dirty="0"/>
              <a:t> Loop </a:t>
            </a:r>
            <a:r>
              <a:rPr lang="zh-CN" altLang="en-US" dirty="0"/>
              <a:t>的一种具体的实现，不达目的（</a:t>
            </a:r>
            <a:r>
              <a:rPr lang="en-US" altLang="zh-CN" dirty="0"/>
              <a:t>Goal</a:t>
            </a:r>
            <a:r>
              <a:rPr lang="zh-CN" altLang="en-US" dirty="0"/>
              <a:t>），决不罢休</a:t>
            </a:r>
            <a:endParaRPr lang="en-US" altLang="zh-CN" dirty="0"/>
          </a:p>
          <a:p>
            <a:r>
              <a:rPr lang="zh-CN" altLang="en-US" dirty="0"/>
              <a:t>因此，定义好目标，就很关键了</a:t>
            </a:r>
            <a:endParaRPr lang="en-US" altLang="zh-CN" dirty="0"/>
          </a:p>
          <a:p>
            <a:pPr lvl="1"/>
            <a:r>
              <a:rPr lang="zh-CN" altLang="en-US" dirty="0"/>
              <a:t>目标是什么。</a:t>
            </a:r>
            <a:endParaRPr lang="en-US" altLang="zh-CN" dirty="0"/>
          </a:p>
          <a:p>
            <a:pPr lvl="1"/>
            <a:r>
              <a:rPr lang="zh-CN" altLang="en-US" dirty="0"/>
              <a:t>当前计划是什么</a:t>
            </a:r>
            <a:endParaRPr lang="en-US" altLang="zh-CN" dirty="0"/>
          </a:p>
          <a:p>
            <a:pPr lvl="1"/>
            <a:r>
              <a:rPr lang="zh-CN" altLang="en-US" dirty="0"/>
              <a:t>已经完成什么</a:t>
            </a:r>
            <a:endParaRPr lang="en-US" altLang="zh-CN" dirty="0"/>
          </a:p>
          <a:p>
            <a:pPr lvl="1"/>
            <a:r>
              <a:rPr lang="zh-CN" altLang="en-US" dirty="0"/>
              <a:t>正在做什么</a:t>
            </a:r>
            <a:endParaRPr lang="en-US" altLang="zh-CN" dirty="0"/>
          </a:p>
          <a:p>
            <a:pPr lvl="1"/>
            <a:r>
              <a:rPr lang="zh-CN" altLang="en-US" dirty="0"/>
              <a:t>还剩什么</a:t>
            </a:r>
            <a:endParaRPr lang="en-US" altLang="zh-CN" dirty="0"/>
          </a:p>
          <a:p>
            <a:pPr lvl="1"/>
            <a:r>
              <a:rPr lang="zh-CN" altLang="en-US" dirty="0"/>
              <a:t>如何验证适合达到目标</a:t>
            </a:r>
            <a:endParaRPr lang="en-US" altLang="zh-CN" dirty="0"/>
          </a:p>
          <a:p>
            <a:pPr lvl="1"/>
            <a:r>
              <a:rPr lang="en-US" altLang="zh-CN" dirty="0"/>
              <a:t>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DF4B7-171A-A115-396C-27B8B09F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4999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1C383-3B41-624F-AD07-01DA3D24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请大家按照今天的课程内容，开始阅读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要求文档，并且进行开发和实践～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AF9D6A-A624-4F4F-9787-9444E1E9B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如果提前完成了课上的内容，可以根据文档继续往后面提前进行开发任务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2C26-BDAF-D24E-B930-53C5D993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1498</Words>
  <Application>Microsoft Macintosh PowerPoint</Application>
  <PresentationFormat>宽屏</PresentationFormat>
  <Paragraphs>148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Arial</vt:lpstr>
      <vt:lpstr>Calibri</vt:lpstr>
      <vt:lpstr>Office Theme</vt:lpstr>
      <vt:lpstr>计算机编程实践#4 Spec Coding、Loop、与Goal模式</vt:lpstr>
      <vt:lpstr>我们的 AI IDE 除了对话（Vibe）之外，还提供更加丰富的能力</vt:lpstr>
      <vt:lpstr>场景：AI IDE 不是个许愿池</vt:lpstr>
      <vt:lpstr>场景：AI IDE 不是个许愿池</vt:lpstr>
      <vt:lpstr>场景：AI IDE 不是个许愿池</vt:lpstr>
      <vt:lpstr>场景：AI IDE 不是个许愿池</vt:lpstr>
      <vt:lpstr>为什么不能只是“帮我实现一下”</vt:lpstr>
      <vt:lpstr>四种使用方法</vt:lpstr>
      <vt:lpstr>四种使用方法</vt:lpstr>
      <vt:lpstr>什么是 Spec Driven Coding</vt:lpstr>
      <vt:lpstr>什么是 Spec Driven Coding</vt:lpstr>
      <vt:lpstr>什么是 Spec Driven Coding</vt:lpstr>
      <vt:lpstr>四种使用方法</vt:lpstr>
      <vt:lpstr>四种使用方法</vt:lpstr>
      <vt:lpstr>四种使用方法</vt:lpstr>
      <vt:lpstr>四种使用方法</vt:lpstr>
      <vt:lpstr>四种使用方法</vt:lpstr>
      <vt:lpstr>请大家按照今天的课程内容，开始阅读 SJTUClaw 要求文档，并且进行开发和实践～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Dong Du</cp:lastModifiedBy>
  <cp:revision>236</cp:revision>
  <dcterms:created xsi:type="dcterms:W3CDTF">2021-02-24T11:14:01Z</dcterms:created>
  <dcterms:modified xsi:type="dcterms:W3CDTF">2026-07-08T04:31:42Z</dcterms:modified>
</cp:coreProperties>
</file>