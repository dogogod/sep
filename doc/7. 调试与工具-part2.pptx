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1"/>
  </p:sldMasterIdLst>
  <p:notesMasterIdLst>
    <p:notesMasterId r:id="rId12"/>
  </p:notesMasterIdLst>
  <p:handoutMasterIdLst>
    <p:handoutMasterId r:id="rId13"/>
  </p:handoutMasterIdLst>
  <p:sldIdLst>
    <p:sldId id="457" r:id="rId2"/>
    <p:sldId id="451" r:id="rId3"/>
    <p:sldId id="449" r:id="rId4"/>
    <p:sldId id="453" r:id="rId5"/>
    <p:sldId id="446" r:id="rId6"/>
    <p:sldId id="458" r:id="rId7"/>
    <p:sldId id="461" r:id="rId8"/>
    <p:sldId id="462" r:id="rId9"/>
    <p:sldId id="459" r:id="rId10"/>
    <p:sldId id="460" r:id="rId11"/>
  </p:sldIdLst>
  <p:sldSz cx="12192000" cy="6858000"/>
  <p:notesSz cx="6858000" cy="9144000"/>
  <p:defaultTextStyle>
    <a:defPPr>
      <a:defRPr lang="en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9AFF9A"/>
    <a:srgbClr val="87CEFF"/>
    <a:srgbClr val="FF4040"/>
    <a:srgbClr val="B3EE3A"/>
    <a:srgbClr val="7CCD7C"/>
    <a:srgbClr val="EEEE00"/>
    <a:srgbClr val="54FF9F"/>
    <a:srgbClr val="00B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2417"/>
    <p:restoredTop sz="96197"/>
  </p:normalViewPr>
  <p:slideViewPr>
    <p:cSldViewPr snapToObjects="1" showGuides="1">
      <p:cViewPr varScale="1">
        <p:scale>
          <a:sx n="124" d="100"/>
          <a:sy n="124" d="100"/>
        </p:scale>
        <p:origin x="440" y="168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Objects="1" showGuides="1">
      <p:cViewPr varScale="1">
        <p:scale>
          <a:sx n="93" d="100"/>
          <a:sy n="93" d="100"/>
        </p:scale>
        <p:origin x="3784" y="216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handoutMaster" Target="handoutMasters/handout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1980A4E0-C67A-6842-A063-4188E143D88D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C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777E8CA-64C1-604E-B679-AE92A4602E38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D61E017-357D-4744-8D4B-04CA59826C34}" type="datetimeFigureOut">
              <a:rPr lang="en-CN" smtClean="0"/>
              <a:t>2024/11/18</a:t>
            </a:fld>
            <a:endParaRPr lang="en-C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9EBE6F5-546E-CB46-A99D-1F0682A0A88C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C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828A5B9-2BE3-1E4C-BD6C-27A1391C6DB6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1F29CC4-8916-F84A-A92E-A3769754F19D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3907825198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C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23BEA6A-5BB7-4947-8A67-D55A874F4F16}" type="datetimeFigureOut">
              <a:rPr lang="en-CN" smtClean="0"/>
              <a:t>2024/11/18</a:t>
            </a:fld>
            <a:endParaRPr lang="en-C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C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C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E4F54FA-28E9-114E-B0A7-6C255474D561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124825345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D3516BF-EA22-8237-EEA2-77CD1243A3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F27E65D-4784-D285-D5D4-05AA30254B7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24F7BA0-5CDB-B6CB-5265-943739991D2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36E9405-0347-A159-1229-B05B5F5AC90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E4F54FA-28E9-114E-B0A7-6C255474D561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7014596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29E8F3-BABA-DA4B-98F4-B69497EC1BC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23392" y="1122363"/>
            <a:ext cx="10945216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BF926C3-432C-544D-B73E-7686141AEDE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23392" y="3933056"/>
            <a:ext cx="10945216" cy="1324744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C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692211E-626E-E649-BCEC-0C3443778D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53669F-9790-C841-9856-29D8F6A35D52}" type="datetime1">
              <a:rPr lang="en-US" smtClean="0"/>
              <a:t>11/18/24</a:t>
            </a:fld>
            <a:endParaRPr lang="en-C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54CD07C-E71B-EE4E-A04D-513B4FDC54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E789468-3554-7E45-9EC0-72A9DA9D19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FE1A1A-A846-1244-B210-CC29CD60D5AB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82877212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2AC705-C275-294F-88E4-9FB87207AB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en-US" dirty="0"/>
              <a:t>Click to edit Master title style</a:t>
            </a:r>
            <a:endParaRPr lang="en-C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9D265A9-208F-B747-8249-EF637072FC4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77091" y="1268760"/>
            <a:ext cx="11637818" cy="4968552"/>
          </a:xfrm>
        </p:spPr>
        <p:txBody>
          <a:bodyPr>
            <a:normAutofit/>
          </a:bodyPr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CN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A13A073-1A46-2C48-AA4B-6B0CC61968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E1401F-B3A3-8943-80CD-FB5F841E3E00}" type="datetime1">
              <a:rPr lang="en-US" smtClean="0"/>
              <a:t>11/18/24</a:t>
            </a:fld>
            <a:endParaRPr lang="en-C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AA9E507-59F5-8A41-B56B-0E2687B02A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648107E-D461-1C49-AF2F-D9273FD12F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FE1A1A-A846-1244-B210-CC29CD60D5AB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70908857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54513C-7AC8-7541-BCC2-5C66F9958F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68597B0-B86C-984E-9652-A57A6970805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A4BD942-5636-774E-9AE5-8136B8B4C4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013191-A897-4844-9282-1A59568DEC27}" type="datetime1">
              <a:rPr lang="en-US" smtClean="0"/>
              <a:t>11/18/24</a:t>
            </a:fld>
            <a:endParaRPr lang="en-C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F9AB1F5-1745-B641-8A3E-8C77C9972F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EC51740-E141-994F-960E-30E141D381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FE1A1A-A846-1244-B210-CC29CD60D5AB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163477593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EF2C74-6A75-C345-8D45-8399B42E92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3684567-0E36-8C49-9950-371CE9271C1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277091" y="1268760"/>
            <a:ext cx="5742709" cy="490820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E7E884A-AA9A-BE49-9BD4-6BBBB45F0C0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268760"/>
            <a:ext cx="5742708" cy="490820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AAB4A51-01A4-3C48-9EF1-CAD204407F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CAE2DF-5680-6747-9A15-F3F0D210F2EE}" type="datetime1">
              <a:rPr lang="en-US" smtClean="0"/>
              <a:t>11/18/24</a:t>
            </a:fld>
            <a:endParaRPr lang="en-C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50CDCA8-4C0B-2B4F-9CDC-ACA218BDBF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B20FABC-1CE5-A841-95A8-DC4B763836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FE1A1A-A846-1244-B210-CC29CD60D5AB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55017711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AFDA5A-7B1C-D842-8A6E-984ADE3260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7091" y="365125"/>
            <a:ext cx="11637817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BD3FD6F-1409-9F43-BEE8-8F9EFC917E3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95C4E4F-B343-6443-A79A-CB96201DE36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277092" y="2505075"/>
            <a:ext cx="5720484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0E01090-F89E-AA4B-9D16-F48FB5E0671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666B3EB-D7F0-C44F-89A3-064941260E1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720484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0273A94-E684-2649-A535-833C9909AA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257022-6E31-7248-B6B0-F5A7A057A5DC}" type="datetime1">
              <a:rPr lang="en-US" smtClean="0"/>
              <a:t>11/18/24</a:t>
            </a:fld>
            <a:endParaRPr lang="en-C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30C9F79-6BC1-C54D-BBE7-D3713DCC02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C490904-0654-2849-9A8C-F33DBEE4D3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FE1A1A-A846-1244-B210-CC29CD60D5AB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354048902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537F1A-C959-D645-9CB7-7339FD8B5E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B8F0EF2-B047-1843-9607-4AF6018BEB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9207C3-7586-7A43-92FB-C6F0072809D8}" type="datetime1">
              <a:rPr lang="en-US" smtClean="0"/>
              <a:t>11/18/24</a:t>
            </a:fld>
            <a:endParaRPr lang="en-C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B9D6C8D-169C-E24E-B2DA-7E28FB0B6B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11FC934-724A-D84B-9F74-7DAEAF31E1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FE1A1A-A846-1244-B210-CC29CD60D5AB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308310889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80904D3-4AF6-314E-9FEA-CF71A3D6F5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00B9DA-A8DC-F64B-A6ED-EEDE6981594C}" type="datetime1">
              <a:rPr lang="en-US" smtClean="0"/>
              <a:t>11/18/24</a:t>
            </a:fld>
            <a:endParaRPr lang="en-C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EF48081-E7A8-134A-8DE9-3268CD3610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A917B03-016A-BB4E-B72A-7FEB25024E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FE1A1A-A846-1244-B210-CC29CD60D5AB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194185252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6A4E59-A309-134D-A7DA-234DDB7C48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A761448-1A70-954A-B1B3-716EB406373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D9ACCF5-86A9-6846-80E5-9F5210865E4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A988A50-D7AF-F540-9B78-27732CB9F1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589A98-10B0-2449-82AA-2BFFCC3AF22C}" type="datetime1">
              <a:rPr lang="en-US" smtClean="0"/>
              <a:t>11/18/24</a:t>
            </a:fld>
            <a:endParaRPr lang="en-C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1025F00-82C3-474A-BB00-672C82BBCC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728D448-780A-DC49-8C78-27A053B1F4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FE1A1A-A846-1244-B210-CC29CD60D5AB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37077921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FBA7F5-0229-024C-A91C-660C922098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746B5FD-870A-B046-9BE3-57F89CB1F03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C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3AFCD14-9FC1-4043-B048-B049BE1EEB7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022996A-2C74-AA45-8AB4-0C7955B52F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E7C752-75B6-594D-BD28-131DD514FF59}" type="datetime1">
              <a:rPr lang="en-US" smtClean="0"/>
              <a:t>11/18/24</a:t>
            </a:fld>
            <a:endParaRPr lang="en-C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C2AA01E-2B14-4B4A-A421-3492F2456F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2B5C4E4-99EA-E14D-AAEA-DCD6ECF50D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FE1A1A-A846-1244-B210-CC29CD60D5AB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284635858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04FB2D-E296-704F-8176-9D763DB80F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57D5061-4135-AD4C-A724-15D16C39457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460BFD8-AE5F-F840-911B-311B24DDB6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3B770F-745F-6445-9EC1-5F6DEDD80A35}" type="datetime1">
              <a:rPr lang="en-US" smtClean="0"/>
              <a:t>11/18/24</a:t>
            </a:fld>
            <a:endParaRPr lang="en-C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0CE4ED0-1654-3A4E-AEC7-9A8CAB7907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2F56FF2-B775-AE48-854B-A8FC4BD5BE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FE1A1A-A846-1244-B210-CC29CD60D5AB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93354447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83990A8-A8D2-3949-8444-FC2A73CED7E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111292E-E172-D94F-B9FD-164675C7069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D23F332-4AC7-7541-80F3-77180C552D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6EB0DC-CA16-474C-8667-F240A15CC355}" type="datetime1">
              <a:rPr lang="en-US" smtClean="0"/>
              <a:t>11/18/24</a:t>
            </a:fld>
            <a:endParaRPr lang="en-C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2509EB2-2AD6-404A-B9A9-546937AA40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F834627-5052-DD45-806F-F1F199EE0F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FE1A1A-A846-1244-B210-CC29CD60D5AB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64840931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164C47F-F176-F546-BC0D-68EB722796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7091" y="365125"/>
            <a:ext cx="11637818" cy="64625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91D7DD0-DC4B-B84D-A6B0-3F2FDED38A5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277091" y="1268760"/>
            <a:ext cx="11637818" cy="496855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CN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0317A9E-FDF2-F640-9AAD-99296974673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277091" y="6356350"/>
            <a:ext cx="330430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16708E4-ED0C-B144-A86A-7F85AD4EFAD8}" type="datetime1">
              <a:rPr lang="en-US" smtClean="0"/>
              <a:t>11/18/24</a:t>
            </a:fld>
            <a:endParaRPr lang="en-C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150713F-EA27-5D49-950B-4667F409F9B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C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05151B-CA49-B145-971E-747B5055137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599" y="6356350"/>
            <a:ext cx="330430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9FE1A1A-A846-1244-B210-CC29CD60D5AB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250295866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rgbClr val="C00000"/>
          </a:solidFill>
          <a:latin typeface="Microsoft YaHei" panose="020B0503020204020204" pitchFamily="34" charset="-122"/>
          <a:ea typeface="Microsoft YaHei" panose="020B0503020204020204" pitchFamily="34" charset="-122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Clr>
          <a:srgbClr val="C00000"/>
        </a:buClr>
        <a:buFont typeface="Wingdings" pitchFamily="2" charset="2"/>
        <a:buChar char="§"/>
        <a:defRPr sz="2800" kern="1200">
          <a:solidFill>
            <a:schemeClr val="tx1"/>
          </a:solidFill>
          <a:latin typeface="Microsoft YaHei" panose="020B0503020204020204" pitchFamily="34" charset="-122"/>
          <a:ea typeface="Microsoft YaHei" panose="020B0503020204020204" pitchFamily="34" charset="-122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Microsoft YaHei" panose="020B0503020204020204" pitchFamily="34" charset="-122"/>
          <a:ea typeface="Microsoft YaHei" panose="020B0503020204020204" pitchFamily="34" charset="-122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Microsoft YaHei" panose="020B0503020204020204" pitchFamily="34" charset="-122"/>
          <a:ea typeface="Microsoft YaHei" panose="020B0503020204020204" pitchFamily="34" charset="-122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Microsoft YaHei" panose="020B0503020204020204" pitchFamily="34" charset="-122"/>
          <a:ea typeface="Microsoft YaHei" panose="020B0503020204020204" pitchFamily="34" charset="-122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Microsoft YaHei" panose="020B0503020204020204" pitchFamily="34" charset="-122"/>
          <a:ea typeface="Microsoft YaHei" panose="020B0503020204020204" pitchFamily="34" charset="-122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3" Type="http://schemas.openxmlformats.org/officeDocument/2006/relationships/image" Target="../media/image6.png"/><Relationship Id="rId7" Type="http://schemas.openxmlformats.org/officeDocument/2006/relationships/image" Target="../media/image10.jpeg"/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9.jpeg"/><Relationship Id="rId5" Type="http://schemas.openxmlformats.org/officeDocument/2006/relationships/image" Target="../media/image8.jpeg"/><Relationship Id="rId10" Type="http://schemas.openxmlformats.org/officeDocument/2006/relationships/image" Target="../media/image13.png"/><Relationship Id="rId4" Type="http://schemas.openxmlformats.org/officeDocument/2006/relationships/image" Target="../media/image7.png"/><Relationship Id="rId9" Type="http://schemas.openxmlformats.org/officeDocument/2006/relationships/image" Target="../media/image12.png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hyperlink" Target="https://www.brendangregg.com/index.html" TargetMode="Externa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86D6CA8-78D2-3B9B-87C8-C6BD55F8C5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7FB210-A1F6-D622-38D6-C0759DF7FFF3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altLang="zh-CN" sz="5400" dirty="0"/>
              <a:t>Yet Another Tutorial </a:t>
            </a:r>
            <a:r>
              <a:rPr lang="en-US" altLang="zh-CN" sz="5400"/>
              <a:t>to</a:t>
            </a:r>
            <a:r>
              <a:rPr lang="en-US" altLang="zh-CN" sz="6000"/>
              <a:t> </a:t>
            </a:r>
            <a:r>
              <a:rPr lang="en-US" altLang="zh-CN" sz="6600"/>
              <a:t>Debugging 2</a:t>
            </a:r>
            <a:endParaRPr lang="zh-CN" altLang="en-US" b="1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E457331-F7AF-8C16-9EEE-ECF869C30D0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23392" y="4153716"/>
            <a:ext cx="10945216" cy="2011588"/>
          </a:xfrm>
        </p:spPr>
        <p:txBody>
          <a:bodyPr>
            <a:normAutofit lnSpcReduction="10000"/>
          </a:bodyPr>
          <a:lstStyle/>
          <a:p>
            <a:pPr>
              <a:lnSpc>
                <a:spcPct val="100000"/>
              </a:lnSpc>
            </a:pPr>
            <a:r>
              <a:rPr lang="zh-CN" altLang="en-US" sz="2800" dirty="0"/>
              <a:t>董明凯</a:t>
            </a:r>
            <a:endParaRPr lang="en-US" altLang="zh-CN" sz="2800" dirty="0"/>
          </a:p>
          <a:p>
            <a:pPr>
              <a:lnSpc>
                <a:spcPct val="100000"/>
              </a:lnSpc>
            </a:pPr>
            <a:r>
              <a:rPr lang="en-US" altLang="zh-CN" sz="2800" dirty="0"/>
              <a:t>2024.11.18</a:t>
            </a:r>
          </a:p>
          <a:p>
            <a:pPr>
              <a:lnSpc>
                <a:spcPct val="100000"/>
              </a:lnSpc>
            </a:pPr>
            <a:r>
              <a:rPr lang="zh-CN" altLang="en-US" dirty="0">
                <a:solidFill>
                  <a:schemeClr val="tx1">
                    <a:lumMod val="50000"/>
                    <a:lumOff val="50000"/>
                  </a:schemeClr>
                </a:solidFill>
                <a:latin typeface="Yuanti SC" panose="02010600040101010101" pitchFamily="2" charset="-122"/>
                <a:ea typeface="Yuanti SC" panose="02010600040101010101" pitchFamily="2" charset="-122"/>
              </a:rPr>
              <a:t>上海交通大学 并行与分布式系统研究所</a:t>
            </a:r>
          </a:p>
          <a:p>
            <a:pPr>
              <a:lnSpc>
                <a:spcPct val="100000"/>
              </a:lnSpc>
            </a:pPr>
            <a:r>
              <a:rPr lang="en-US" altLang="zh-CN" dirty="0">
                <a:solidFill>
                  <a:schemeClr val="tx1">
                    <a:lumMod val="50000"/>
                    <a:lumOff val="50000"/>
                  </a:schemeClr>
                </a:solidFill>
                <a:latin typeface="Yuanti SC" panose="02010600040101010101" pitchFamily="2" charset="-122"/>
                <a:ea typeface="Yuanti SC" panose="02010600040101010101" pitchFamily="2" charset="-122"/>
              </a:rPr>
              <a:t>https://</a:t>
            </a:r>
            <a:r>
              <a:rPr lang="en-US" altLang="zh-CN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Yuanti SC" panose="02010600040101010101" pitchFamily="2" charset="-122"/>
                <a:ea typeface="Yuanti SC" panose="02010600040101010101" pitchFamily="2" charset="-122"/>
              </a:rPr>
              <a:t>ipads.se.sjtu.edu.cn</a:t>
            </a:r>
            <a:endParaRPr lang="en-US" dirty="0">
              <a:solidFill>
                <a:schemeClr val="tx1">
                  <a:lumMod val="50000"/>
                  <a:lumOff val="50000"/>
                </a:schemeClr>
              </a:solidFill>
              <a:latin typeface="Yuanti SC" panose="02010600040101010101" pitchFamily="2" charset="-122"/>
              <a:ea typeface="Yuanti SC" panose="02010600040101010101" pitchFamily="2" charset="-122"/>
            </a:endParaRPr>
          </a:p>
        </p:txBody>
      </p:sp>
      <p:sp>
        <p:nvSpPr>
          <p:cNvPr id="4" name="Subtitle 2">
            <a:extLst>
              <a:ext uri="{FF2B5EF4-FFF2-40B4-BE49-F238E27FC236}">
                <a16:creationId xmlns:a16="http://schemas.microsoft.com/office/drawing/2014/main" id="{CD6CE63B-F49F-31B9-A3AA-6AFD0D38B96E}"/>
              </a:ext>
            </a:extLst>
          </p:cNvPr>
          <p:cNvSpPr txBox="1"/>
          <p:nvPr/>
        </p:nvSpPr>
        <p:spPr>
          <a:xfrm>
            <a:off x="191344" y="294885"/>
            <a:ext cx="4032448" cy="54182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C00000"/>
              </a:buClr>
              <a:buFont typeface="Wingdings" panose="05000000000000000000" pitchFamily="2" charset="2"/>
              <a:buNone/>
              <a:defRPr sz="24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sz="28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软件基础实践（</a:t>
            </a:r>
            <a:r>
              <a:rPr lang="en-CN" altLang="zh-CN" sz="28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SEP</a:t>
            </a:r>
            <a:r>
              <a:rPr lang="zh-CN" altLang="en-US" sz="28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）</a:t>
            </a:r>
          </a:p>
        </p:txBody>
      </p:sp>
      <p:pic>
        <p:nvPicPr>
          <p:cNvPr id="6" name="Picture 5" descr="Text&#10;&#10;Description automatically generated">
            <a:extLst>
              <a:ext uri="{FF2B5EF4-FFF2-40B4-BE49-F238E27FC236}">
                <a16:creationId xmlns:a16="http://schemas.microsoft.com/office/drawing/2014/main" id="{18D16CE7-1707-FAD7-3F88-9CAE0E3B58D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39869" y="206709"/>
            <a:ext cx="2695389" cy="884465"/>
          </a:xfrm>
          <a:prstGeom prst="rect">
            <a:avLst/>
          </a:prstGeom>
        </p:spPr>
      </p:pic>
      <p:pic>
        <p:nvPicPr>
          <p:cNvPr id="8" name="Picture 7" descr="Text&#10;&#10;Description automatically generated">
            <a:extLst>
              <a:ext uri="{FF2B5EF4-FFF2-40B4-BE49-F238E27FC236}">
                <a16:creationId xmlns:a16="http://schemas.microsoft.com/office/drawing/2014/main" id="{4B2A2A89-27B7-F260-78EC-70D237B9EB0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28448" y="389604"/>
            <a:ext cx="1631191" cy="518673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53AEEFE6-9734-25C1-1CCE-5E601448788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017992" y="2859732"/>
            <a:ext cx="1944216" cy="19442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2144058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4A941E-97D9-98F1-620B-4A35B13875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N" dirty="0"/>
              <a:t>常见Bug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5C240DB-F292-A4A2-9F42-FFBEFC2C41A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8FF26EC-59F8-5425-A9DD-C683C43AF7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FE1A1A-A846-1244-B210-CC29CD60D5AB}" type="slidenum">
              <a:rPr lang="en-CN" smtClean="0"/>
              <a:t>2</a:t>
            </a:fld>
            <a:endParaRPr lang="en-CN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EE82E22-716E-5AE3-E2DA-B690445B5E7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31904" y="744161"/>
            <a:ext cx="4113271" cy="57662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7661809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53CD4A-BF91-8C2D-855E-4E9C6A6D75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71EE587-79DC-584C-6433-0A875734767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CN" dirty="0"/>
              <a:t>内存Bug</a:t>
            </a:r>
          </a:p>
          <a:p>
            <a:pPr lvl="1"/>
            <a:r>
              <a:rPr lang="en-CN" dirty="0"/>
              <a:t>数组越界</a:t>
            </a:r>
            <a:r>
              <a:rPr lang="zh-CN" altLang="en-US" dirty="0"/>
              <a:t>、</a:t>
            </a:r>
            <a:r>
              <a:rPr lang="en-CN" dirty="0"/>
              <a:t>空指针访问</a:t>
            </a:r>
            <a:r>
              <a:rPr lang="zh-CN" altLang="en-US" dirty="0"/>
              <a:t>、</a:t>
            </a:r>
            <a:r>
              <a:rPr lang="en-CN" dirty="0"/>
              <a:t>传值与传引用……</a:t>
            </a:r>
          </a:p>
          <a:p>
            <a:r>
              <a:rPr lang="en-CN" dirty="0"/>
              <a:t>并发Bug</a:t>
            </a:r>
          </a:p>
          <a:p>
            <a:pPr lvl="1"/>
            <a:r>
              <a:rPr lang="en-CN" dirty="0"/>
              <a:t>死锁</a:t>
            </a:r>
            <a:r>
              <a:rPr lang="zh-CN" altLang="en-US" dirty="0"/>
              <a:t>、</a:t>
            </a:r>
            <a:r>
              <a:rPr lang="en-CN" dirty="0"/>
              <a:t>数据竞争……</a:t>
            </a:r>
          </a:p>
          <a:p>
            <a:r>
              <a:rPr lang="en-CN" dirty="0"/>
              <a:t>逻辑Bug</a:t>
            </a:r>
          </a:p>
          <a:p>
            <a:r>
              <a:rPr lang="en-CN" dirty="0"/>
              <a:t>性能</a:t>
            </a:r>
            <a:r>
              <a:rPr lang="en-US" altLang="zh-CN" dirty="0"/>
              <a:t>Bug</a:t>
            </a:r>
            <a:endParaRPr lang="en-CN" dirty="0"/>
          </a:p>
          <a:p>
            <a:r>
              <a:rPr lang="en-CN" dirty="0"/>
              <a:t>其他</a:t>
            </a:r>
          </a:p>
          <a:p>
            <a:pPr lvl="1"/>
            <a:r>
              <a:rPr lang="en-CN" dirty="0"/>
              <a:t>变量初始化</a:t>
            </a:r>
            <a:r>
              <a:rPr lang="zh-CN" altLang="en-US" dirty="0"/>
              <a:t>、变量写错了、拼写错误</a:t>
            </a:r>
            <a:r>
              <a:rPr lang="en-US" altLang="zh-CN" dirty="0"/>
              <a:t>……</a:t>
            </a:r>
            <a:endParaRPr lang="en-CN" dirty="0"/>
          </a:p>
          <a:p>
            <a:endParaRPr lang="en-CN" dirty="0"/>
          </a:p>
          <a:p>
            <a:endParaRPr lang="en-C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CCCB817-47EF-22F6-F18A-E8B134E810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FE1A1A-A846-1244-B210-CC29CD60D5AB}" type="slidenum">
              <a:rPr lang="en-CN" smtClean="0"/>
              <a:t>3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275959966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35E288-2F38-BCCA-4296-A88405E275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N" dirty="0"/>
              <a:t>常见</a:t>
            </a:r>
            <a:r>
              <a:rPr lang="zh-CN" altLang="en-US" dirty="0"/>
              <a:t> </a:t>
            </a:r>
            <a:r>
              <a:rPr lang="en-CN" dirty="0"/>
              <a:t>Debug</a:t>
            </a:r>
            <a:r>
              <a:rPr lang="zh-CN" altLang="en-US" dirty="0"/>
              <a:t> 方法</a:t>
            </a:r>
            <a:endParaRPr lang="en-C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8EDC853-7FCB-728C-6624-69E5C84B577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CN" dirty="0"/>
              <a:t>肉眼</a:t>
            </a:r>
            <a:r>
              <a:rPr lang="zh-CN" altLang="en-US" dirty="0"/>
              <a:t> </a:t>
            </a:r>
            <a:r>
              <a:rPr lang="en-US" altLang="zh-CN" dirty="0"/>
              <a:t>Debug</a:t>
            </a:r>
            <a:r>
              <a:rPr lang="zh-CN" altLang="en-US" dirty="0"/>
              <a:t> 法</a:t>
            </a:r>
            <a:endParaRPr lang="en-US" altLang="zh-CN" dirty="0"/>
          </a:p>
          <a:p>
            <a:r>
              <a:rPr lang="en-CN" dirty="0"/>
              <a:t>万能的</a:t>
            </a:r>
            <a:r>
              <a:rPr lang="zh-CN" altLang="en-US" dirty="0"/>
              <a:t> </a:t>
            </a:r>
            <a:r>
              <a:rPr lang="en-CN" dirty="0"/>
              <a:t>Print</a:t>
            </a:r>
            <a:endParaRPr lang="en-US" altLang="zh-CN" dirty="0"/>
          </a:p>
          <a:p>
            <a:r>
              <a:rPr lang="zh-CN" altLang="en-US" dirty="0"/>
              <a:t>方便的工具</a:t>
            </a:r>
            <a:endParaRPr lang="en-CN" dirty="0"/>
          </a:p>
          <a:p>
            <a:r>
              <a:rPr lang="en-CN" dirty="0"/>
              <a:t>小黄鸭</a:t>
            </a:r>
          </a:p>
          <a:p>
            <a:r>
              <a:rPr lang="en-CN" dirty="0"/>
              <a:t>完全重写法</a:t>
            </a:r>
          </a:p>
          <a:p>
            <a:r>
              <a:rPr lang="zh-CN" altLang="en-US" dirty="0"/>
              <a:t>形式化验证法</a:t>
            </a:r>
            <a:endParaRPr lang="en-CN" altLang="zh-CN" dirty="0"/>
          </a:p>
          <a:p>
            <a:r>
              <a:rPr lang="en-CN" dirty="0"/>
              <a:t>睡觉做梦法</a:t>
            </a:r>
            <a:r>
              <a:rPr lang="zh-CN" altLang="en-US" dirty="0"/>
              <a:t> </a:t>
            </a:r>
            <a:r>
              <a:rPr lang="en-US" altLang="zh-CN" dirty="0"/>
              <a:t>/</a:t>
            </a:r>
            <a:r>
              <a:rPr lang="zh-CN" altLang="en-US" dirty="0"/>
              <a:t> 睡不着失眠法</a:t>
            </a:r>
            <a:endParaRPr lang="en-US" altLang="zh-C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1515176-D0DB-EA71-E34D-866EDA67FB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FE1A1A-A846-1244-B210-CC29CD60D5AB}" type="slidenum">
              <a:rPr lang="en-CN" smtClean="0"/>
              <a:t>4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410792273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B81379-C4B4-E925-C42A-B7A183548A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N" dirty="0"/>
              <a:t>IDE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70B83F2-DEE1-2A9B-96FF-B57C85250AC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C485B76-3684-F901-07E1-227EA57A09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FE1A1A-A846-1244-B210-CC29CD60D5AB}" type="slidenum">
              <a:rPr lang="en-CN" smtClean="0"/>
              <a:t>5</a:t>
            </a:fld>
            <a:endParaRPr lang="en-CN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7706917-A1DD-F5B6-13B8-E65A67AC2DA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05450" y="2838450"/>
            <a:ext cx="1181100" cy="118110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DA07F1BC-D758-2CDA-14C6-6828F4FAB56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76120" y="1718300"/>
            <a:ext cx="977900" cy="118110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8231558C-CFDF-42A9-2168-1F362A3AC17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99674" y="2362400"/>
            <a:ext cx="2844267" cy="2133200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0386A693-0586-CE3D-2C3D-0BE090357DF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075474" y="4396882"/>
            <a:ext cx="1029549" cy="1029549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DD8778AC-D9BC-58D9-5D32-A47662AC5443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278528" y="1105694"/>
            <a:ext cx="1181100" cy="1181100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77E40D6A-3FB7-D385-E94E-0125019E2EE7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016580" y="604317"/>
            <a:ext cx="1117600" cy="1181100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FB0CBC78-D626-DAB6-A0F7-3CD6138E25F9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996270" y="845782"/>
            <a:ext cx="2191167" cy="2461118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7D2C052B-A0E2-0E38-E062-57E0B55C7E91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832304" y="4352973"/>
            <a:ext cx="1029549" cy="1029549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0A0E7B22-B616-2A83-F1CB-134976AA88C4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0332968" y="3719251"/>
            <a:ext cx="1114377" cy="11143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1160090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C981B7-B319-5CA7-EF4B-EF22CF6BCD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N" dirty="0"/>
              <a:t>性能测试的工具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4FAEE6B-FA97-68FE-64C5-729EFE92BA6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60B04BE-7EED-F0AA-7DE3-8EC7BA1861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FE1A1A-A846-1244-B210-CC29CD60D5AB}" type="slidenum">
              <a:rPr lang="en-CN" smtClean="0"/>
              <a:t>6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361751260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268AC5CB-E6A3-46A7-DBC8-9DACA2DC65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N" dirty="0"/>
              <a:t>内存</a:t>
            </a:r>
            <a:r>
              <a:rPr lang="zh-CN" altLang="en-US" dirty="0"/>
              <a:t> </a:t>
            </a:r>
            <a:r>
              <a:rPr lang="en-US" altLang="zh-CN" dirty="0"/>
              <a:t>Bug</a:t>
            </a:r>
            <a:r>
              <a:rPr lang="zh-CN" altLang="en-US" dirty="0"/>
              <a:t> </a:t>
            </a:r>
            <a:r>
              <a:rPr lang="en-CN" dirty="0"/>
              <a:t>的工具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D08E245-6A2A-4E50-13F3-52A3D927797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V</a:t>
            </a:r>
            <a:r>
              <a:rPr lang="en-CN" dirty="0"/>
              <a:t>algrind</a:t>
            </a:r>
          </a:p>
          <a:p>
            <a:pPr lvl="1"/>
            <a:r>
              <a:rPr lang="zh-CN" altLang="en-US" b="0" i="0" dirty="0">
                <a:solidFill>
                  <a:srgbClr val="24292F"/>
                </a:solidFill>
                <a:effectLst/>
                <a:latin typeface="Noto Sans" panose="020B0502040504020204" pitchFamily="34" charset="0"/>
              </a:rPr>
              <a:t>检测内存泄漏、未初始化的内存使用和无效的内存访问</a:t>
            </a:r>
            <a:endParaRPr lang="en-CN" dirty="0"/>
          </a:p>
          <a:p>
            <a:r>
              <a:rPr lang="en-US" dirty="0" err="1"/>
              <a:t>AddressSanitizer</a:t>
            </a:r>
            <a:r>
              <a:rPr lang="en-US" dirty="0"/>
              <a:t> (</a:t>
            </a:r>
            <a:r>
              <a:rPr lang="en-US" dirty="0" err="1"/>
              <a:t>ASan</a:t>
            </a:r>
            <a:r>
              <a:rPr lang="en-US" dirty="0"/>
              <a:t>)</a:t>
            </a:r>
            <a:r>
              <a:rPr lang="zh-CN" altLang="en-US" dirty="0"/>
              <a:t>：</a:t>
            </a:r>
            <a:endParaRPr lang="en-US" altLang="zh-CN" dirty="0"/>
          </a:p>
          <a:p>
            <a:pPr lvl="1"/>
            <a:r>
              <a:rPr lang="zh-CN" altLang="en-US" dirty="0"/>
              <a:t>检测内存泄漏、越界访问和使用已释放的内存</a:t>
            </a:r>
          </a:p>
          <a:p>
            <a:r>
              <a:rPr lang="en-US" dirty="0" err="1"/>
              <a:t>MemorySanitizer</a:t>
            </a:r>
            <a:r>
              <a:rPr lang="en-US" dirty="0"/>
              <a:t> (</a:t>
            </a:r>
            <a:r>
              <a:rPr lang="en-US" dirty="0" err="1"/>
              <a:t>MSan</a:t>
            </a:r>
            <a:r>
              <a:rPr lang="en-US" dirty="0"/>
              <a:t>)</a:t>
            </a:r>
          </a:p>
          <a:p>
            <a:pPr lvl="1"/>
            <a:r>
              <a:rPr lang="zh-CN" altLang="en-US" dirty="0"/>
              <a:t>检测未初始化的内存读取</a:t>
            </a:r>
          </a:p>
          <a:p>
            <a:r>
              <a:rPr lang="en-US" dirty="0" err="1"/>
              <a:t>ThreadSanitizer</a:t>
            </a:r>
            <a:r>
              <a:rPr lang="en-US" dirty="0"/>
              <a:t> (</a:t>
            </a:r>
            <a:r>
              <a:rPr lang="en-US" dirty="0" err="1"/>
              <a:t>TSan</a:t>
            </a:r>
            <a:r>
              <a:rPr lang="en-US" dirty="0"/>
              <a:t>)</a:t>
            </a:r>
          </a:p>
          <a:p>
            <a:pPr lvl="1"/>
            <a:r>
              <a:rPr lang="zh-CN" altLang="en-US" dirty="0"/>
              <a:t>检测多线程程序中的数据竞争问题</a:t>
            </a:r>
          </a:p>
          <a:p>
            <a:endParaRPr lang="en-C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1B0161D-40E6-E77C-C1A4-FF76669631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FE1A1A-A846-1244-B210-CC29CD60D5AB}" type="slidenum">
              <a:rPr lang="en-CN" smtClean="0"/>
              <a:t>7</a:t>
            </a:fld>
            <a:endParaRPr lang="en-CN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16A9DF98-5376-7A59-3B5F-B90E97C9374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81165" y="3020075"/>
            <a:ext cx="5458868" cy="38379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6554211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651A8A-5865-FEF1-2EE8-FE5E374C2E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3047218-6B27-6601-B3A3-FB3405058A4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12685BD-55A1-C221-04C2-5C809B4979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FE1A1A-A846-1244-B210-CC29CD60D5AB}" type="slidenum">
              <a:rPr lang="en-CN" smtClean="0"/>
              <a:t>8</a:t>
            </a:fld>
            <a:endParaRPr lang="en-CN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71208E4-F2C7-47D0-6F81-6B56819C60D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47928" y="1931129"/>
            <a:ext cx="6118448" cy="48239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2771025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204317-A990-0168-3E6C-2533202911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N" dirty="0"/>
              <a:t>性能测试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5284A48-1903-BC50-132B-28D6956D3D2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Check</a:t>
            </a:r>
            <a:r>
              <a:rPr lang="zh-CN" altLang="en-US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 </a:t>
            </a:r>
            <a:r>
              <a:rPr lang="en-US" altLang="zh-CN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Brendan Gregg’s tool and homepage!</a:t>
            </a:r>
          </a:p>
          <a:p>
            <a:r>
              <a:rPr lang="en-US" dirty="0">
                <a:hlinkClick r:id="rId2"/>
              </a:rPr>
              <a:t>https://www.brendangregg.com/index.html</a:t>
            </a:r>
            <a:endParaRPr lang="en-US" dirty="0"/>
          </a:p>
          <a:p>
            <a:r>
              <a:rPr lang="en-US" dirty="0" err="1"/>
              <a:t>一些常用的工具</a:t>
            </a:r>
            <a:endParaRPr lang="en-US" dirty="0"/>
          </a:p>
          <a:p>
            <a:pPr lvl="1">
              <a:lnSpc>
                <a:spcPct val="150000"/>
              </a:lnSpc>
            </a:pPr>
            <a:r>
              <a:rPr lang="en-US" dirty="0"/>
              <a:t>P</a:t>
            </a:r>
            <a:r>
              <a:rPr lang="en-CN" dirty="0"/>
              <a:t>erf</a:t>
            </a:r>
            <a:endParaRPr lang="en-US" altLang="zh-CN" dirty="0"/>
          </a:p>
          <a:p>
            <a:pPr lvl="1">
              <a:lnSpc>
                <a:spcPct val="150000"/>
              </a:lnSpc>
            </a:pPr>
            <a:r>
              <a:rPr lang="en-US" altLang="zh-CN" dirty="0" err="1"/>
              <a:t>FlameGraph</a:t>
            </a:r>
            <a:r>
              <a:rPr lang="zh-CN" altLang="en-US" dirty="0"/>
              <a:t>（火焰图）</a:t>
            </a:r>
            <a:endParaRPr lang="en-US" altLang="zh-CN" dirty="0"/>
          </a:p>
          <a:p>
            <a:pPr lvl="1">
              <a:lnSpc>
                <a:spcPct val="150000"/>
              </a:lnSpc>
            </a:pPr>
            <a:r>
              <a:rPr lang="en-US" altLang="zh-CN" dirty="0"/>
              <a:t>Intel</a:t>
            </a:r>
            <a:r>
              <a:rPr lang="zh-CN" altLang="en-US" dirty="0"/>
              <a:t> </a:t>
            </a:r>
            <a:r>
              <a:rPr lang="en-US" altLang="zh-CN" dirty="0" err="1"/>
              <a:t>VTune</a:t>
            </a:r>
            <a:endParaRPr lang="en-US" altLang="zh-CN" dirty="0"/>
          </a:p>
          <a:p>
            <a:endParaRPr lang="en-C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1ECA2B1-E780-C5EF-7DD2-0DF9115008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FE1A1A-A846-1244-B210-CC29CD60D5AB}" type="slidenum">
              <a:rPr lang="en-CN" smtClean="0"/>
              <a:t>9</a:t>
            </a:fld>
            <a:endParaRPr lang="en-CN"/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BF143AD6-05F4-9D1C-1891-F0F3EF93475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07968" y="2333285"/>
            <a:ext cx="5364087" cy="402306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56258923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CEE2B02E-CBA3-F14E-7187-5E8EA1FE00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N" dirty="0"/>
              <a:t>使用</a:t>
            </a:r>
            <a:r>
              <a:rPr lang="zh-CN" altLang="en-US" dirty="0"/>
              <a:t> </a:t>
            </a:r>
            <a:r>
              <a:rPr lang="en-CN" dirty="0"/>
              <a:t>Git</a:t>
            </a:r>
            <a:r>
              <a:rPr lang="zh-CN" altLang="en-US" dirty="0"/>
              <a:t> </a:t>
            </a:r>
            <a:r>
              <a:rPr lang="en-CN" dirty="0"/>
              <a:t>二分定位</a:t>
            </a:r>
            <a:r>
              <a:rPr lang="zh-CN" altLang="en-US" dirty="0"/>
              <a:t> </a:t>
            </a:r>
            <a:r>
              <a:rPr lang="en-CN" dirty="0"/>
              <a:t>Bug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7626F60-B0FA-F3A0-5178-C74579D0A75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https://</a:t>
            </a:r>
            <a:r>
              <a:rPr lang="en-US" dirty="0" err="1"/>
              <a:t>www.ruanyifeng.com</a:t>
            </a:r>
            <a:r>
              <a:rPr lang="en-US" dirty="0"/>
              <a:t>/blog/2018/12/git-</a:t>
            </a:r>
            <a:r>
              <a:rPr lang="en-US" dirty="0" err="1"/>
              <a:t>bisect.html</a:t>
            </a:r>
            <a:endParaRPr lang="en-C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4A6743A-0A92-11F0-7877-45A5224D9A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FE1A1A-A846-1244-B210-CC29CD60D5AB}" type="slidenum">
              <a:rPr lang="en-CN" smtClean="0"/>
              <a:t>10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27917234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MKColor">
      <a:dk1>
        <a:srgbClr val="000000"/>
      </a:dk1>
      <a:lt1>
        <a:srgbClr val="FFFFFF"/>
      </a:lt1>
      <a:dk2>
        <a:srgbClr val="323232"/>
      </a:dk2>
      <a:lt2>
        <a:srgbClr val="E5C243"/>
      </a:lt2>
      <a:accent1>
        <a:srgbClr val="FF2600"/>
      </a:accent1>
      <a:accent2>
        <a:srgbClr val="D55816"/>
      </a:accent2>
      <a:accent3>
        <a:srgbClr val="E19825"/>
      </a:accent3>
      <a:accent4>
        <a:srgbClr val="B19C7D"/>
      </a:accent4>
      <a:accent5>
        <a:srgbClr val="7F5F52"/>
      </a:accent5>
      <a:accent6>
        <a:srgbClr val="B27D49"/>
      </a:accent6>
      <a:hlink>
        <a:srgbClr val="6B9F25"/>
      </a:hlink>
      <a:folHlink>
        <a:srgbClr val="B26B02"/>
      </a:folHlink>
    </a:clrScheme>
    <a:fontScheme name="Corbel">
      <a:majorFont>
        <a:latin typeface="Corbel" panose="020B0503020204020204"/>
        <a:ea typeface=""/>
        <a:cs typeface=""/>
        <a:font script="Jpan" typeface="HGｺﾞｼｯｸM"/>
        <a:font script="Hang" typeface="HY엽서L"/>
        <a:font script="Hans" typeface="华文楷体"/>
        <a:font script="Hant" typeface="新細明體"/>
        <a:font script="Arab" typeface="Tahoma"/>
        <a:font script="Hebr" typeface="Miriam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Corbel" panose="020B0503020204020204"/>
        <a:ea typeface=""/>
        <a:cs typeface=""/>
        <a:font script="Jpan" typeface="HGｺﾞｼｯｸM"/>
        <a:font script="Hang" typeface="HY엽서L"/>
        <a:font script="Hans" typeface="华文楷体"/>
        <a:font script="Hant" typeface="新細明體"/>
        <a:font script="Arab" typeface="Tahoma"/>
        <a:font script="Hebr" typeface="Miriam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6517</TotalTime>
  <Words>210</Words>
  <Application>Microsoft Macintosh PowerPoint</Application>
  <PresentationFormat>Widescreen</PresentationFormat>
  <Paragraphs>53</Paragraphs>
  <Slides>10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9" baseType="lpstr">
      <vt:lpstr>Microsoft YaHei</vt:lpstr>
      <vt:lpstr>Microsoft YaHei UI</vt:lpstr>
      <vt:lpstr>Yuanti SC</vt:lpstr>
      <vt:lpstr>Arial</vt:lpstr>
      <vt:lpstr>Calibri</vt:lpstr>
      <vt:lpstr>Corbel</vt:lpstr>
      <vt:lpstr>Noto Sans</vt:lpstr>
      <vt:lpstr>Wingdings</vt:lpstr>
      <vt:lpstr>Office Theme</vt:lpstr>
      <vt:lpstr>Yet Another Tutorial to Debugging 2</vt:lpstr>
      <vt:lpstr>常见Bug</vt:lpstr>
      <vt:lpstr>PowerPoint Presentation</vt:lpstr>
      <vt:lpstr>常见 Debug 方法</vt:lpstr>
      <vt:lpstr>IDE</vt:lpstr>
      <vt:lpstr>性能测试的工具</vt:lpstr>
      <vt:lpstr>内存 Bug 的工具</vt:lpstr>
      <vt:lpstr>PowerPoint Presentation</vt:lpstr>
      <vt:lpstr>性能测试</vt:lpstr>
      <vt:lpstr>使用 Git 二分定位 Bug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Mingkai Dong</dc:creator>
  <cp:lastModifiedBy>Mingkai Dong</cp:lastModifiedBy>
  <cp:revision>1060</cp:revision>
  <dcterms:created xsi:type="dcterms:W3CDTF">2021-02-24T11:14:01Z</dcterms:created>
  <dcterms:modified xsi:type="dcterms:W3CDTF">2024-11-18T08:03:25Z</dcterms:modified>
</cp:coreProperties>
</file>