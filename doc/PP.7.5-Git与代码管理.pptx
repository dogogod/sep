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88" r:id="rId2"/>
    <p:sldId id="395" r:id="rId3"/>
    <p:sldId id="411" r:id="rId4"/>
    <p:sldId id="412" r:id="rId5"/>
    <p:sldId id="413" r:id="rId6"/>
    <p:sldId id="414" r:id="rId7"/>
    <p:sldId id="415" r:id="rId8"/>
    <p:sldId id="416" r:id="rId9"/>
    <p:sldId id="417" r:id="rId10"/>
    <p:sldId id="418" r:id="rId11"/>
    <p:sldId id="428" r:id="rId12"/>
    <p:sldId id="429" r:id="rId13"/>
    <p:sldId id="430" r:id="rId14"/>
    <p:sldId id="431" r:id="rId15"/>
    <p:sldId id="432" r:id="rId16"/>
    <p:sldId id="419" r:id="rId17"/>
    <p:sldId id="420" r:id="rId18"/>
    <p:sldId id="421" r:id="rId19"/>
    <p:sldId id="422" r:id="rId20"/>
    <p:sldId id="423" r:id="rId21"/>
    <p:sldId id="424" r:id="rId22"/>
    <p:sldId id="274" r:id="rId23"/>
    <p:sldId id="425" r:id="rId24"/>
    <p:sldId id="426" r:id="rId25"/>
    <p:sldId id="408" r:id="rId26"/>
    <p:sldId id="427" r:id="rId27"/>
    <p:sldId id="433" r:id="rId28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FF9A"/>
    <a:srgbClr val="87CEFF"/>
    <a:srgbClr val="FF4040"/>
    <a:srgbClr val="B3EE3A"/>
    <a:srgbClr val="7CCD7C"/>
    <a:srgbClr val="EEEE00"/>
    <a:srgbClr val="54FF9F"/>
    <a:srgbClr val="00B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88"/>
    <p:restoredTop sz="96197"/>
  </p:normalViewPr>
  <p:slideViewPr>
    <p:cSldViewPr snapToObjects="1" showGuides="1">
      <p:cViewPr varScale="1">
        <p:scale>
          <a:sx n="118" d="100"/>
          <a:sy n="118" d="100"/>
        </p:scale>
        <p:origin x="488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 showGuides="1">
      <p:cViewPr varScale="1">
        <p:scale>
          <a:sx n="93" d="100"/>
          <a:sy n="93" d="100"/>
        </p:scale>
        <p:origin x="3784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980A4E0-C67A-6842-A063-4188E143D8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77E8CA-64C1-604E-B679-AE92A4602E3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1E017-357D-4744-8D4B-04CA59826C34}" type="datetimeFigureOut">
              <a:rPr lang="en-CN" smtClean="0"/>
              <a:t>7/20/26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BE6F5-546E-CB46-A99D-1F0682A0A8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8A5B9-2BE3-1E4C-BD6C-27A1391C6DB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F29CC4-8916-F84A-A92E-A3769754F19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078251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BEA6A-5BB7-4947-8A67-D55A874F4F16}" type="datetimeFigureOut">
              <a:rPr lang="en-CN" smtClean="0"/>
              <a:t>7/20/26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4F54FA-28E9-114E-B0A7-6C255474D561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4825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9E8F3-BABA-DA4B-98F4-B69497EC1B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3392" y="1122363"/>
            <a:ext cx="10945216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926C3-432C-544D-B73E-7686141AED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6"/>
            <a:ext cx="10945216" cy="132474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92211E-626E-E649-BCEC-0C3443778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3669F-9790-C841-9856-29D8F6A35D52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4CD07C-E71B-EE4E-A04D-513B4FDC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89468-3554-7E45-9EC0-72A9DA9D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2877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C705-C275-294F-88E4-9FB87207A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265A9-208F-B747-8249-EF637072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4968552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3A073-1A46-2C48-AA4B-6B0CC6196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E1401F-B3A3-8943-80CD-FB5F841E3E00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9E507-59F5-8A41-B56B-0E2687B02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8107E-D461-1C49-AF2F-D9273FD12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0908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4513C-7AC8-7541-BCC2-5C66F9958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8597B0-B86C-984E-9652-A57A69708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BD942-5636-774E-9AE5-8136B8B4C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013191-A897-4844-9282-1A59568DEC27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AB1F5-1745-B641-8A3E-8C77C9972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51740-E141-994F-960E-30E141D38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634775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F2C74-6A75-C345-8D45-8399B42E9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84567-0E36-8C49-9950-371CE9271C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1268760"/>
            <a:ext cx="5742709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7E884A-AA9A-BE49-9BD4-6BBBB45F0C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268760"/>
            <a:ext cx="5742708" cy="49082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AB4A51-01A4-3C48-9EF1-CAD204407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E2DF-5680-6747-9A15-F3F0D210F2EE}" type="datetime1">
              <a:rPr lang="en-US" smtClean="0"/>
              <a:t>7/20/26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0CDCA8-4C0B-2B4F-9CDC-ACA218BDB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0FABC-1CE5-A841-95A8-DC4B76383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50177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FDA5A-7B1C-D842-8A6E-984ADE326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7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D3FD6F-1409-9F43-BEE8-8F9EFC917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5C4E4F-B343-6443-A79A-CB96201DE3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77092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E01090-F89E-AA4B-9D16-F48FB5E067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66B3EB-D7F0-C44F-89A3-064941260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720484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273A94-E684-2649-A535-833C9909A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57022-6E31-7248-B6B0-F5A7A057A5DC}" type="datetime1">
              <a:rPr lang="en-US" smtClean="0"/>
              <a:t>7/20/26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0C9F79-6BC1-C54D-BBE7-D3713DCC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490904-0654-2849-9A8C-F33DBEE4D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40489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37F1A-C959-D645-9CB7-7339FD8B5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8F0EF2-B047-1843-9607-4AF6018BE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9207C3-7586-7A43-92FB-C6F0072809D8}" type="datetime1">
              <a:rPr lang="en-US" smtClean="0"/>
              <a:t>7/20/26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D6C8D-169C-E24E-B2DA-7E28FB0B6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FC934-724A-D84B-9F74-7DAEAF31E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8310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0904D3-4AF6-314E-9FEA-CF71A3D6F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0B9DA-A8DC-F64B-A6ED-EEDE6981594C}" type="datetime1">
              <a:rPr lang="en-US" smtClean="0"/>
              <a:t>7/20/26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F48081-E7A8-134A-8DE9-3268CD3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17B03-016A-BB4E-B72A-7FEB2502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941852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4E59-A309-134D-A7DA-234DDB7C4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61448-1A70-954A-B1B3-716EB4063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9ACCF5-86A9-6846-80E5-9F5210865E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88A50-D7AF-F540-9B78-27732CB9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9A98-10B0-2449-82AA-2BFFCC3AF22C}" type="datetime1">
              <a:rPr lang="en-US" smtClean="0"/>
              <a:t>7/20/26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025F00-82C3-474A-BB00-672C82BBC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8D448-780A-DC49-8C78-27A053B1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70779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BA7F5-0229-024C-A91C-660C9220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46B5FD-870A-B046-9BE3-57F89CB1F0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AFCD14-9FC1-4043-B048-B049BE1EE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2996A-2C74-AA45-8AB4-0C7955B52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E7C752-75B6-594D-BD28-131DD514FF59}" type="datetime1">
              <a:rPr lang="en-US" smtClean="0"/>
              <a:t>7/20/26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2AA01E-2B14-4B4A-A421-3492F2456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B5C4E4-99EA-E14D-AAEA-DCD6ECF5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846358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4FB2D-E296-704F-8176-9D763DB80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7D5061-4135-AD4C-A724-15D16C394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60BFD8-AE5F-F840-911B-311B24DD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B770F-745F-6445-9EC1-5F6DEDD80A35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E4ED0-1654-3A4E-AEC7-9A8CAB790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F56FF2-B775-AE48-854B-A8FC4BD5B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933544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3990A8-A8D2-3949-8444-FC2A73CED7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11292E-E172-D94F-B9FD-164675C706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F332-4AC7-7541-80F3-77180C552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EB0DC-CA16-474C-8667-F240A15CC355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09EB2-2AD6-404A-B9A9-546937A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34627-5052-DD45-806F-F1F199EE0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648409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64C47F-F176-F546-BC0D-68EB72279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091" y="365125"/>
            <a:ext cx="11637818" cy="646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D7DD0-DC4B-B84D-A6B0-3F2FDED38A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091" y="1268760"/>
            <a:ext cx="11637818" cy="4968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C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317A9E-FDF2-F640-9AAD-992969746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77091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6708E4-ED0C-B144-A86A-7F85AD4EFAD8}" type="datetime1">
              <a:rPr lang="en-US" smtClean="0"/>
              <a:t>7/20/26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0713F-EA27-5D49-950B-4667F409F9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05151B-CA49-B145-971E-747B50551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356350"/>
            <a:ext cx="3304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FE1A1A-A846-1244-B210-CC29CD60D5AB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02958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C00000"/>
        </a:buClr>
        <a:buFont typeface="Wingdings" pitchFamily="2" charset="2"/>
        <a:buChar char="§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itlink.org.cn/" TargetMode="External"/><Relationship Id="rId2" Type="http://schemas.openxmlformats.org/officeDocument/2006/relationships/hyperlink" Target="https://gitee.com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linux" TargetMode="External"/><Relationship Id="rId2" Type="http://schemas.openxmlformats.org/officeDocument/2006/relationships/hyperlink" Target="https://git-scm.com/docs/gittutorial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hyperlink" Target="https://git-scm.com/download/win" TargetMode="External"/><Relationship Id="rId4" Type="http://schemas.openxmlformats.org/officeDocument/2006/relationships/hyperlink" Target="https://git-scm.com/download/mac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1F94-4EEB-D544-B0EB-E9E2035EB4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计算机编程实践</a:t>
            </a:r>
            <a:r>
              <a:rPr lang="en-US" altLang="zh-CN" dirty="0"/>
              <a:t>#7.5</a:t>
            </a:r>
            <a:br>
              <a:rPr lang="en-US" altLang="zh-CN" dirty="0"/>
            </a:br>
            <a:r>
              <a:rPr lang="en-US" altLang="zh-CN" dirty="0"/>
              <a:t>Git</a:t>
            </a:r>
            <a:r>
              <a:rPr lang="zh-CN" altLang="en-US" dirty="0"/>
              <a:t>与代码管理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A7712-7FC7-154F-A31A-4C6A768AA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3392" y="3933055"/>
            <a:ext cx="10945216" cy="1802581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杜冬冬</a:t>
            </a:r>
            <a:endParaRPr lang="en-US" altLang="zh-CN" sz="3200" dirty="0"/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2026.</a:t>
            </a:r>
            <a:r>
              <a:rPr lang="zh-CN" altLang="en-US" sz="3200" dirty="0"/>
              <a:t>小学期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3452448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483E7A3-F9BF-E740-8FF0-C4E31936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</a:t>
            </a:r>
            <a:r>
              <a:rPr lang="en-US" altLang="zh-CN" dirty="0"/>
              <a:t>Git</a:t>
            </a:r>
            <a:r>
              <a:rPr lang="zh-CN" altLang="en-US" dirty="0"/>
              <a:t>管理代码</a:t>
            </a:r>
            <a:endParaRPr lang="en-C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A3B80D-5377-DF4B-BB7F-572ADB3A07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91DBC-75C8-DF41-928F-BFB4F1BC1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714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原始的代码管理方式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假设我们有一个项目：</a:t>
            </a:r>
            <a:r>
              <a:rPr lang="en-US" altLang="zh-CN" dirty="0"/>
              <a:t>git-tutorial</a:t>
            </a:r>
          </a:p>
          <a:p>
            <a:r>
              <a:rPr lang="zh-CN" altLang="en-US" dirty="0"/>
              <a:t>（单纯地）以文件夹的方式管理</a:t>
            </a:r>
            <a:endParaRPr lang="en-US" altLang="zh-CN" dirty="0"/>
          </a:p>
          <a:p>
            <a:pPr lvl="1"/>
            <a:r>
              <a:rPr lang="zh-CN" altLang="en-US" dirty="0"/>
              <a:t>某些</a:t>
            </a:r>
            <a:r>
              <a:rPr lang="en-US" altLang="zh-CN" dirty="0"/>
              <a:t>IDE</a:t>
            </a:r>
            <a:r>
              <a:rPr lang="zh-CN" altLang="en-US" dirty="0"/>
              <a:t>可能会提供类似的方式来保存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3</a:t>
            </a:fld>
            <a:endParaRPr lang="en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EE871A-4C72-E34D-8FF3-AABACA81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448" y="3429000"/>
            <a:ext cx="9783413" cy="201597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BC12CF4-313E-C14D-8608-17EC15ACF643}"/>
              </a:ext>
            </a:extLst>
          </p:cNvPr>
          <p:cNvSpPr txBox="1"/>
          <p:nvPr/>
        </p:nvSpPr>
        <p:spPr>
          <a:xfrm>
            <a:off x="4007768" y="5471812"/>
            <a:ext cx="29562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（</a:t>
            </a:r>
            <a:r>
              <a:rPr kumimoji="1" lang="en-US" altLang="zh-CN" dirty="0"/>
              <a:t>Mac</a:t>
            </a:r>
            <a:r>
              <a:rPr kumimoji="1" lang="zh-CN" altLang="en-US" dirty="0"/>
              <a:t>环境，</a:t>
            </a:r>
            <a:r>
              <a:rPr kumimoji="1" lang="en-US" altLang="zh-CN" dirty="0"/>
              <a:t>Linux</a:t>
            </a:r>
            <a:r>
              <a:rPr kumimoji="1" lang="zh-CN" altLang="en-US" dirty="0"/>
              <a:t>下类似）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C870ED8-E9CD-FB42-87BE-3250C0CA44EF}"/>
              </a:ext>
            </a:extLst>
          </p:cNvPr>
          <p:cNvSpPr txBox="1"/>
          <p:nvPr/>
        </p:nvSpPr>
        <p:spPr>
          <a:xfrm>
            <a:off x="4799856" y="2782669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有撒问题呢？</a:t>
            </a:r>
          </a:p>
        </p:txBody>
      </p:sp>
    </p:spTree>
    <p:extLst>
      <p:ext uri="{BB962C8B-B14F-4D97-AF65-F5344CB8AC3E}">
        <p14:creationId xmlns:p14="http://schemas.microsoft.com/office/powerpoint/2010/main" val="2342054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问题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dirty="0" err="1"/>
              <a:t>辛苦写的代码容易丢失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硬盘崩了</a:t>
            </a:r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r>
              <a:rPr lang="zh-CN" altLang="en-US" sz="3600" dirty="0"/>
              <a:t>电脑在升级（但是</a:t>
            </a:r>
            <a:r>
              <a:rPr lang="en-US" altLang="zh-CN" sz="3600" dirty="0"/>
              <a:t>DDL</a:t>
            </a:r>
            <a:r>
              <a:rPr lang="zh-CN" altLang="en-US" sz="3600" dirty="0"/>
              <a:t>快到了）</a:t>
            </a:r>
            <a:endParaRPr lang="en-US" altLang="zh-CN" sz="3600" dirty="0"/>
          </a:p>
          <a:p>
            <a:r>
              <a:rPr lang="zh-CN" altLang="en-US" sz="3600" dirty="0"/>
              <a:t>放在什么位置忘记了（</a:t>
            </a:r>
            <a:r>
              <a:rPr lang="en-US" altLang="zh-CN" sz="3600" dirty="0"/>
              <a:t>……</a:t>
            </a:r>
          </a:p>
          <a:p>
            <a:r>
              <a:rPr lang="zh-CN" altLang="en-US" sz="3600" dirty="0"/>
              <a:t>不小心删掉了（</a:t>
            </a:r>
            <a:r>
              <a:rPr lang="en-US" altLang="zh-CN" sz="3600" dirty="0"/>
              <a:t>rm</a:t>
            </a:r>
            <a:r>
              <a:rPr lang="zh-CN" altLang="en-US" sz="3600" dirty="0"/>
              <a:t> </a:t>
            </a:r>
            <a:r>
              <a:rPr lang="en-US" altLang="zh-CN" sz="3600" dirty="0"/>
              <a:t>./</a:t>
            </a:r>
            <a:r>
              <a:rPr lang="zh-CN" altLang="en-US" sz="3600" dirty="0"/>
              <a:t>* </a:t>
            </a:r>
            <a:r>
              <a:rPr lang="en-US" altLang="zh-CN" sz="3600" dirty="0"/>
              <a:t>-rf</a:t>
            </a:r>
            <a:r>
              <a:rPr lang="zh-CN" altLang="en-US" sz="3600" dirty="0"/>
              <a:t>，别随便操作。。。</a:t>
            </a: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4</a:t>
            </a:fld>
            <a:endParaRPr lang="en-CN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2EE871A-4C72-E34D-8FF3-AABACA8120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981" y="1130420"/>
            <a:ext cx="6163235" cy="12700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A1B773-654A-7A4A-A15F-30DFEA0FDB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7768" y="1130420"/>
            <a:ext cx="1270000" cy="1270000"/>
          </a:xfrm>
          <a:prstGeom prst="rect">
            <a:avLst/>
          </a:prstGeom>
        </p:spPr>
      </p:pic>
      <p:cxnSp>
        <p:nvCxnSpPr>
          <p:cNvPr id="11" name="直线连接符 10">
            <a:extLst>
              <a:ext uri="{FF2B5EF4-FFF2-40B4-BE49-F238E27FC236}">
                <a16:creationId xmlns:a16="http://schemas.microsoft.com/office/drawing/2014/main" id="{3B5B9F07-722D-B442-AD54-428F7C726E34}"/>
              </a:ext>
            </a:extLst>
          </p:cNvPr>
          <p:cNvCxnSpPr/>
          <p:nvPr/>
        </p:nvCxnSpPr>
        <p:spPr>
          <a:xfrm>
            <a:off x="4223792" y="1130420"/>
            <a:ext cx="5472608" cy="150649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5F593389-4CBF-2B4B-8BFA-F4E4351D1646}"/>
              </a:ext>
            </a:extLst>
          </p:cNvPr>
          <p:cNvCxnSpPr>
            <a:cxnSpLocks/>
          </p:cNvCxnSpPr>
          <p:nvPr/>
        </p:nvCxnSpPr>
        <p:spPr>
          <a:xfrm flipV="1">
            <a:off x="4367808" y="807285"/>
            <a:ext cx="4032448" cy="1593135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0798D642-ABDF-930B-270E-FF6C32D7BB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206" y="2894290"/>
            <a:ext cx="7150100" cy="110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20193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589241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sz="3600" dirty="0"/>
              <a:t>创造者是</a:t>
            </a:r>
            <a:r>
              <a:rPr lang="en-US" altLang="zh-CN" sz="3600" dirty="0"/>
              <a:t>Linus</a:t>
            </a:r>
            <a:r>
              <a:rPr lang="zh-CN" altLang="en-US" sz="3600" dirty="0"/>
              <a:t> </a:t>
            </a:r>
            <a:r>
              <a:rPr lang="en-US" altLang="zh-CN" sz="3600" dirty="0"/>
              <a:t>Torvalds</a:t>
            </a:r>
          </a:p>
          <a:p>
            <a:pPr lvl="1"/>
            <a:r>
              <a:rPr lang="zh-CN" altLang="en-US" sz="3200" dirty="0"/>
              <a:t>也是</a:t>
            </a:r>
            <a:r>
              <a:rPr lang="en-US" altLang="zh-CN" sz="3200" dirty="0"/>
              <a:t>Linux</a:t>
            </a:r>
            <a:r>
              <a:rPr lang="zh-CN" altLang="en-US" sz="3200" dirty="0"/>
              <a:t>的创造者</a:t>
            </a:r>
            <a:endParaRPr lang="en-US" altLang="zh-CN" sz="32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pPr marL="0" indent="0">
              <a:buNone/>
            </a:pPr>
            <a:endParaRPr lang="en-US" altLang="zh-CN" sz="3600" dirty="0"/>
          </a:p>
          <a:p>
            <a:pPr marL="0" indent="0">
              <a:buNone/>
            </a:pPr>
            <a:endParaRPr lang="en-US" altLang="zh-CN" sz="3600" dirty="0"/>
          </a:p>
          <a:p>
            <a:pPr marL="0" indent="0">
              <a:buNone/>
            </a:pPr>
            <a:endParaRPr lang="en-US" altLang="zh-CN" sz="3600" dirty="0"/>
          </a:p>
          <a:p>
            <a:r>
              <a:rPr lang="en-US" altLang="zh-CN" sz="3600" dirty="0" err="1"/>
              <a:t>Github</a:t>
            </a:r>
            <a:r>
              <a:rPr lang="en-US" altLang="zh-CN" sz="3600" dirty="0"/>
              <a:t>:</a:t>
            </a:r>
            <a:r>
              <a:rPr lang="zh-CN" altLang="en-US" sz="3600" dirty="0"/>
              <a:t> 基于</a:t>
            </a:r>
            <a:r>
              <a:rPr lang="en-US" altLang="zh-CN" sz="3600" dirty="0"/>
              <a:t>Git</a:t>
            </a:r>
            <a:r>
              <a:rPr lang="zh-CN" altLang="en-US" sz="3600" dirty="0"/>
              <a:t>的代码托管平台</a:t>
            </a:r>
            <a:r>
              <a:rPr lang="en-US" altLang="zh-CN" sz="3600" dirty="0"/>
              <a:t>,</a:t>
            </a:r>
            <a:r>
              <a:rPr lang="zh-CN" altLang="en-US" sz="3600" dirty="0"/>
              <a:t> </a:t>
            </a:r>
            <a:r>
              <a:rPr lang="en-US" altLang="zh-CN" sz="3600" u="sng" dirty="0" err="1"/>
              <a:t>github.com</a:t>
            </a:r>
            <a:endParaRPr lang="en-US" altLang="zh-CN" sz="3600" u="sng" dirty="0"/>
          </a:p>
          <a:p>
            <a:r>
              <a:rPr lang="zh-CN" altLang="en-US" sz="3600" dirty="0"/>
              <a:t>一些国产替代：</a:t>
            </a:r>
            <a:r>
              <a:rPr lang="en-US" altLang="zh-CN" sz="3600" dirty="0" err="1"/>
              <a:t>Gitee</a:t>
            </a:r>
            <a:r>
              <a:rPr lang="zh-CN" altLang="en-US" sz="3600" dirty="0"/>
              <a:t>  </a:t>
            </a:r>
            <a:r>
              <a:rPr lang="en-US" altLang="zh-CN" sz="3600" dirty="0"/>
              <a:t>:</a:t>
            </a:r>
            <a:r>
              <a:rPr lang="zh-CN" altLang="en-US" sz="3600" dirty="0"/>
              <a:t> </a:t>
            </a:r>
            <a:r>
              <a:rPr lang="en-US" altLang="zh-CN" sz="3600" dirty="0">
                <a:hlinkClick r:id="rId2"/>
              </a:rPr>
              <a:t>https://gitee.com/</a:t>
            </a:r>
            <a:r>
              <a:rPr lang="zh-CN" altLang="en-US" sz="3600" dirty="0"/>
              <a:t> </a:t>
            </a:r>
            <a:endParaRPr lang="en-US" altLang="zh-CN" sz="3600" dirty="0"/>
          </a:p>
          <a:p>
            <a:r>
              <a:rPr lang="zh-CN" altLang="en-US" sz="3600" dirty="0"/>
              <a:t>                        </a:t>
            </a:r>
            <a:r>
              <a:rPr lang="en-US" altLang="zh-CN" sz="3600" dirty="0" err="1"/>
              <a:t>Gitlink</a:t>
            </a:r>
            <a:r>
              <a:rPr lang="en-US" altLang="zh-CN" sz="3600" dirty="0"/>
              <a:t>:</a:t>
            </a:r>
            <a:r>
              <a:rPr lang="zh-CN" altLang="en-US" sz="3600" dirty="0"/>
              <a:t> </a:t>
            </a:r>
            <a:r>
              <a:rPr lang="en-US" altLang="zh-CN" sz="3600" dirty="0">
                <a:hlinkClick r:id="rId3"/>
              </a:rPr>
              <a:t>https://www.gitlink.org.cn/</a:t>
            </a:r>
            <a:endParaRPr lang="en-US" altLang="zh-CN" sz="3600" dirty="0"/>
          </a:p>
          <a:p>
            <a:pPr marL="0" indent="0">
              <a:buNone/>
            </a:pP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5</a:t>
            </a:fld>
            <a:endParaRPr lang="en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176CDDF-DD57-3349-B7AE-FCA0E2595A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3755" y="2787634"/>
            <a:ext cx="2081551" cy="21003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500479C-AED5-7C49-8773-2B44BD8F5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3755" y="563804"/>
            <a:ext cx="2059001" cy="2100388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3816341-1CB1-584F-96A7-DEBB2CFC029E}"/>
              </a:ext>
            </a:extLst>
          </p:cNvPr>
          <p:cNvSpPr txBox="1"/>
          <p:nvPr/>
        </p:nvSpPr>
        <p:spPr>
          <a:xfrm>
            <a:off x="1022819" y="2211178"/>
            <a:ext cx="7715208" cy="2677656"/>
          </a:xfrm>
          <a:prstGeom prst="rect">
            <a:avLst/>
          </a:prstGeom>
          <a:solidFill>
            <a:schemeClr val="bg1"/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" altLang="zh-CN" sz="2400" b="1" dirty="0"/>
              <a:t>Git</a:t>
            </a:r>
            <a:r>
              <a:rPr lang="en" altLang="zh-CN" sz="2400" dirty="0"/>
              <a:t> (/</a:t>
            </a:r>
            <a:r>
              <a:rPr lang="en" altLang="zh-CN" sz="2400" dirty="0" err="1"/>
              <a:t>ɡɪt</a:t>
            </a:r>
            <a:r>
              <a:rPr lang="en" altLang="zh-CN" sz="2400" dirty="0"/>
              <a:t>/) is software for </a:t>
            </a:r>
            <a:r>
              <a:rPr lang="en" altLang="zh-CN" sz="2400" dirty="0">
                <a:solidFill>
                  <a:srgbClr val="FF0000"/>
                </a:solidFill>
              </a:rPr>
              <a:t>tracking changes in any set of files</a:t>
            </a:r>
            <a:r>
              <a:rPr lang="en" altLang="zh-CN" sz="2400" dirty="0"/>
              <a:t>, usually used for coordinating work among programmers collaboratively developing source code during software development. Its goals include speed, data integrity, and support for distributed, non-linear workflows (thousands of parallel branches running on different systems)</a:t>
            </a:r>
            <a:r>
              <a:rPr lang="zh-CN" altLang="en-US" sz="2400" dirty="0"/>
              <a:t>  </a:t>
            </a:r>
            <a:r>
              <a:rPr lang="en-US" altLang="zh-CN" sz="2400" dirty="0"/>
              <a:t>--</a:t>
            </a:r>
            <a:r>
              <a:rPr lang="zh-CN" altLang="en-US" sz="2400" dirty="0"/>
              <a:t> </a:t>
            </a:r>
            <a:r>
              <a:rPr lang="en-US" altLang="zh-CN" sz="2400" i="1" dirty="0"/>
              <a:t>Wikipedia</a:t>
            </a:r>
            <a:endParaRPr kumimoji="1" lang="zh-CN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24414419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Git+Github</a:t>
            </a:r>
            <a:r>
              <a:rPr lang="zh-CN" altLang="en-US" dirty="0"/>
              <a:t>解决问题</a:t>
            </a:r>
            <a:r>
              <a:rPr lang="en-US" altLang="zh-CN" dirty="0"/>
              <a:t>1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 将本地项目用</a:t>
            </a:r>
            <a:r>
              <a:rPr lang="en-US" altLang="zh-CN" sz="3600" dirty="0"/>
              <a:t>git</a:t>
            </a:r>
            <a:r>
              <a:rPr lang="zh-CN" altLang="en-US" sz="3600" dirty="0"/>
              <a:t>管理</a:t>
            </a:r>
            <a:endParaRPr lang="en-US" altLang="zh-CN" sz="3600" dirty="0"/>
          </a:p>
          <a:p>
            <a:r>
              <a:rPr lang="en-US" altLang="zh-CN" sz="3600" dirty="0"/>
              <a:t>2.</a:t>
            </a:r>
            <a:r>
              <a:rPr lang="zh-CN" altLang="en-US" sz="3600" dirty="0"/>
              <a:t> 在</a:t>
            </a:r>
            <a:r>
              <a:rPr lang="en-US" altLang="zh-CN" sz="3600" dirty="0" err="1"/>
              <a:t>github</a:t>
            </a:r>
            <a:r>
              <a:rPr lang="zh-CN" altLang="en-US" sz="3600" dirty="0"/>
              <a:t>上创建对应的项目</a:t>
            </a:r>
            <a:endParaRPr lang="en-US" altLang="zh-CN" sz="3600" dirty="0"/>
          </a:p>
          <a:p>
            <a:r>
              <a:rPr lang="en-US" altLang="zh-CN" sz="3600" dirty="0"/>
              <a:t>3.</a:t>
            </a:r>
            <a:r>
              <a:rPr lang="zh-CN" altLang="en-US" sz="3600" dirty="0"/>
              <a:t> 通过</a:t>
            </a:r>
            <a:r>
              <a:rPr lang="en-US" altLang="zh-CN" sz="3600" dirty="0"/>
              <a:t>git</a:t>
            </a:r>
            <a:r>
              <a:rPr lang="zh-CN" altLang="en-US" sz="3600" dirty="0"/>
              <a:t> </a:t>
            </a:r>
            <a:r>
              <a:rPr lang="en-US" altLang="zh-CN" sz="3600" dirty="0"/>
              <a:t>pull/push</a:t>
            </a:r>
            <a:r>
              <a:rPr lang="zh-CN" altLang="en-US" sz="3600" dirty="0"/>
              <a:t>将本地项目和</a:t>
            </a:r>
            <a:r>
              <a:rPr lang="en-US" altLang="zh-CN" sz="3600" dirty="0" err="1"/>
              <a:t>github</a:t>
            </a:r>
            <a:r>
              <a:rPr lang="zh-CN" altLang="en-US" sz="3600" dirty="0"/>
              <a:t>上的项目同步</a:t>
            </a: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6</a:t>
            </a:fld>
            <a:endParaRPr lang="en-CN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DC17B92-EE54-D24C-ACDB-3B5F0641A364}"/>
              </a:ext>
            </a:extLst>
          </p:cNvPr>
          <p:cNvSpPr txBox="1"/>
          <p:nvPr/>
        </p:nvSpPr>
        <p:spPr>
          <a:xfrm>
            <a:off x="63739" y="4473336"/>
            <a:ext cx="12064521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同学们的作业不要上传到</a:t>
            </a:r>
            <a:r>
              <a:rPr kumimoji="1" lang="en-US" altLang="zh-CN" sz="3600" dirty="0" err="1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github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的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public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repo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！</a:t>
            </a:r>
            <a:endParaRPr kumimoji="1" lang="en-US" altLang="zh-CN" sz="3600" dirty="0">
              <a:solidFill>
                <a:srgbClr val="FF000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742950" indent="-74295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可以使用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private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repo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。</a:t>
            </a:r>
            <a:endParaRPr kumimoji="1" lang="en-US" altLang="zh-CN" sz="3600" dirty="0">
              <a:solidFill>
                <a:srgbClr val="FF000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  <a:p>
            <a:pPr marL="742950" indent="-742950">
              <a:buFont typeface="+mj-lt"/>
              <a:buAutoNum type="arabicPeriod"/>
            </a:pP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推荐大家使用国产平台：</a:t>
            </a:r>
            <a:r>
              <a:rPr kumimoji="1" lang="en-US" altLang="zh-CN" sz="3600" dirty="0" err="1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Gitee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（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  <a:hlinkClick r:id="rId2"/>
              </a:rPr>
              <a:t>https://gitee.com/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）</a:t>
            </a:r>
            <a:r>
              <a:rPr kumimoji="1" lang="en-US" altLang="zh-CN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 </a:t>
            </a:r>
            <a:r>
              <a:rPr kumimoji="1" lang="zh-CN" altLang="en-US" sz="36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等</a:t>
            </a:r>
            <a:endParaRPr kumimoji="1" lang="en-US" altLang="zh-CN" sz="3600" dirty="0">
              <a:solidFill>
                <a:srgbClr val="FF0000"/>
              </a:solidFill>
              <a:latin typeface="Songti SC" panose="02010600040101010101" pitchFamily="2" charset="-122"/>
              <a:ea typeface="Songti SC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3422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Git+Github</a:t>
            </a:r>
            <a:r>
              <a:rPr lang="zh-CN" altLang="en-US" dirty="0"/>
              <a:t>解决问题</a:t>
            </a:r>
            <a:r>
              <a:rPr lang="en-US" altLang="zh-CN" dirty="0"/>
              <a:t>1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1.</a:t>
            </a:r>
            <a:r>
              <a:rPr lang="zh-CN" altLang="en-US" sz="3600" dirty="0"/>
              <a:t> 将本地项目用</a:t>
            </a:r>
            <a:r>
              <a:rPr lang="en-US" altLang="zh-CN" sz="3600" dirty="0"/>
              <a:t>git</a:t>
            </a:r>
            <a:r>
              <a:rPr lang="zh-CN" altLang="en-US" sz="3600" dirty="0"/>
              <a:t>管理</a:t>
            </a:r>
            <a:endParaRPr lang="en-US" altLang="zh-CN" sz="3600" dirty="0"/>
          </a:p>
          <a:p>
            <a:pPr lvl="1"/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 err="1"/>
              <a:t>init</a:t>
            </a:r>
            <a:r>
              <a:rPr lang="zh-CN" altLang="en-US" sz="3200" dirty="0"/>
              <a:t> </a:t>
            </a:r>
            <a:r>
              <a:rPr lang="en-US" altLang="zh-CN" sz="3200" dirty="0"/>
              <a:t>(</a:t>
            </a:r>
            <a:r>
              <a:rPr lang="zh-CN" altLang="en-US" sz="3200" dirty="0"/>
              <a:t>在当前目录下初始化一个</a:t>
            </a:r>
            <a:r>
              <a:rPr lang="en-US" altLang="zh-CN" sz="3200" dirty="0"/>
              <a:t>git</a:t>
            </a:r>
            <a:r>
              <a:rPr lang="zh-CN" altLang="en-US" sz="3200" dirty="0"/>
              <a:t>项目）</a:t>
            </a:r>
            <a:endParaRPr lang="en-US" altLang="zh-CN" sz="3200" dirty="0"/>
          </a:p>
          <a:p>
            <a:pPr lvl="1"/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add</a:t>
            </a:r>
            <a:r>
              <a:rPr lang="zh-CN" altLang="en-US" sz="3200" dirty="0"/>
              <a:t> </a:t>
            </a:r>
            <a:r>
              <a:rPr lang="en-US" altLang="zh-CN" sz="3200" dirty="0"/>
              <a:t>–all</a:t>
            </a:r>
            <a:r>
              <a:rPr lang="zh-CN" altLang="en-US" sz="3200" dirty="0"/>
              <a:t> </a:t>
            </a:r>
            <a:r>
              <a:rPr lang="en-US" altLang="zh-CN" sz="3200" dirty="0"/>
              <a:t>(</a:t>
            </a:r>
            <a:r>
              <a:rPr lang="zh-CN" altLang="en-US" sz="3200" dirty="0"/>
              <a:t>把当前目录下的所有文件加入</a:t>
            </a:r>
            <a:r>
              <a:rPr lang="en-US" altLang="zh-CN" sz="3200" dirty="0"/>
              <a:t>git</a:t>
            </a:r>
            <a:r>
              <a:rPr lang="zh-CN" altLang="en-US" sz="3200" dirty="0"/>
              <a:t>项目）</a:t>
            </a:r>
            <a:endParaRPr lang="en-US" altLang="zh-CN" sz="3200" dirty="0"/>
          </a:p>
          <a:p>
            <a:pPr lvl="1"/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commit</a:t>
            </a:r>
            <a:r>
              <a:rPr lang="zh-CN" altLang="en-US" sz="3200" dirty="0"/>
              <a:t> </a:t>
            </a:r>
            <a:r>
              <a:rPr lang="en-US" altLang="zh-CN" sz="3200" dirty="0"/>
              <a:t>–</a:t>
            </a:r>
            <a:r>
              <a:rPr lang="en-US" altLang="zh-CN" sz="3200" dirty="0" err="1"/>
              <a:t>sm</a:t>
            </a:r>
            <a:r>
              <a:rPr lang="zh-CN" altLang="en-US" sz="3200" dirty="0"/>
              <a:t> </a:t>
            </a:r>
            <a:r>
              <a:rPr lang="en-US" altLang="zh-CN" sz="3200" dirty="0"/>
              <a:t>“</a:t>
            </a:r>
            <a:r>
              <a:rPr lang="en-US" altLang="zh-CN" sz="3200" dirty="0" err="1"/>
              <a:t>init</a:t>
            </a:r>
            <a:r>
              <a:rPr lang="zh-CN" altLang="en-US" sz="3200" dirty="0"/>
              <a:t> </a:t>
            </a:r>
            <a:r>
              <a:rPr lang="en-US" altLang="zh-CN" sz="3200" dirty="0"/>
              <a:t>project”(</a:t>
            </a:r>
            <a:r>
              <a:rPr lang="zh-CN" altLang="en-US" sz="3200" dirty="0"/>
              <a:t>生成一次提交，它的日志是“</a:t>
            </a:r>
            <a:r>
              <a:rPr lang="en-US" altLang="zh-CN" sz="3200" dirty="0" err="1"/>
              <a:t>init</a:t>
            </a:r>
            <a:r>
              <a:rPr lang="zh-CN" altLang="en-US" sz="3200" dirty="0"/>
              <a:t> </a:t>
            </a:r>
            <a:r>
              <a:rPr lang="en-US" altLang="zh-CN" sz="3200" dirty="0"/>
              <a:t>project</a:t>
            </a:r>
            <a:r>
              <a:rPr lang="zh-CN" altLang="en-US" sz="3200" dirty="0"/>
              <a:t>”</a:t>
            </a:r>
            <a:r>
              <a:rPr lang="en-US" altLang="zh-CN" sz="3200" dirty="0"/>
              <a:t>)</a:t>
            </a:r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7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C3F54E7-83F8-CC4A-8CEC-A4C0C7CEB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08" y="4149080"/>
            <a:ext cx="7137400" cy="21336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86390A7-B03E-3C4B-8D5C-BD0D56297AD9}"/>
              </a:ext>
            </a:extLst>
          </p:cNvPr>
          <p:cNvSpPr/>
          <p:nvPr/>
        </p:nvSpPr>
        <p:spPr>
          <a:xfrm>
            <a:off x="767408" y="4784576"/>
            <a:ext cx="4968552" cy="36004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59DD773-C43A-9643-BE70-25BA8B870CE1}"/>
              </a:ext>
            </a:extLst>
          </p:cNvPr>
          <p:cNvSpPr/>
          <p:nvPr/>
        </p:nvSpPr>
        <p:spPr>
          <a:xfrm>
            <a:off x="767408" y="4149079"/>
            <a:ext cx="7137400" cy="3507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202434A-70E2-8541-836F-DCF294B87A43}"/>
              </a:ext>
            </a:extLst>
          </p:cNvPr>
          <p:cNvSpPr/>
          <p:nvPr/>
        </p:nvSpPr>
        <p:spPr>
          <a:xfrm>
            <a:off x="767408" y="4520027"/>
            <a:ext cx="7137400" cy="3507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CD83BB-749B-3340-AD68-74FE2C92C001}"/>
              </a:ext>
            </a:extLst>
          </p:cNvPr>
          <p:cNvSpPr/>
          <p:nvPr/>
        </p:nvSpPr>
        <p:spPr>
          <a:xfrm>
            <a:off x="623392" y="5202256"/>
            <a:ext cx="7137400" cy="1154094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77388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Git+Github</a:t>
            </a:r>
            <a:r>
              <a:rPr lang="zh-CN" altLang="en-US" dirty="0"/>
              <a:t>解决问题</a:t>
            </a:r>
            <a:r>
              <a:rPr lang="en-US" altLang="zh-CN" dirty="0"/>
              <a:t>1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2.</a:t>
            </a:r>
            <a:r>
              <a:rPr lang="zh-CN" altLang="en-US" sz="3600" dirty="0"/>
              <a:t> 在</a:t>
            </a:r>
            <a:r>
              <a:rPr lang="en-US" altLang="zh-CN" sz="3600" dirty="0" err="1"/>
              <a:t>github</a:t>
            </a:r>
            <a:r>
              <a:rPr lang="zh-CN" altLang="en-US" sz="3600" dirty="0"/>
              <a:t>上创建对应的项目</a:t>
            </a: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8</a:t>
            </a:fld>
            <a:endParaRPr lang="en-CN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2635D92-AD73-7448-812D-443AFF784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692" y="1883495"/>
            <a:ext cx="5237244" cy="49680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18013CBF-2D2E-834B-8301-8408FBD9D8F0}"/>
              </a:ext>
            </a:extLst>
          </p:cNvPr>
          <p:cNvSpPr/>
          <p:nvPr/>
        </p:nvSpPr>
        <p:spPr>
          <a:xfrm>
            <a:off x="277091" y="4437112"/>
            <a:ext cx="3370637" cy="504056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9FA345F-B31E-0545-927A-EB49705BD613}"/>
              </a:ext>
            </a:extLst>
          </p:cNvPr>
          <p:cNvSpPr txBox="1"/>
          <p:nvPr/>
        </p:nvSpPr>
        <p:spPr>
          <a:xfrm>
            <a:off x="3791744" y="4437112"/>
            <a:ext cx="32079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>
                <a:solidFill>
                  <a:srgbClr val="FF0000"/>
                </a:solidFill>
              </a:rPr>
              <a:t>同学们的作业选择</a:t>
            </a:r>
            <a:r>
              <a:rPr kumimoji="1" lang="en-US" altLang="zh-CN" dirty="0">
                <a:solidFill>
                  <a:srgbClr val="FF0000"/>
                </a:solidFill>
              </a:rPr>
              <a:t>private</a:t>
            </a:r>
            <a:r>
              <a:rPr kumimoji="1" lang="zh-CN" altLang="en-US" dirty="0">
                <a:solidFill>
                  <a:srgbClr val="FF0000"/>
                </a:solidFill>
              </a:rPr>
              <a:t> 仓库</a:t>
            </a:r>
            <a:endParaRPr kumimoji="1" lang="en-US" altLang="zh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28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Git+Github</a:t>
            </a:r>
            <a:r>
              <a:rPr lang="zh-CN" altLang="en-US" dirty="0"/>
              <a:t>解决问题</a:t>
            </a:r>
            <a:r>
              <a:rPr lang="en-US" altLang="zh-CN" dirty="0"/>
              <a:t>1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 通过</a:t>
            </a:r>
            <a:r>
              <a:rPr lang="en-US" altLang="zh-CN" sz="3600" dirty="0"/>
              <a:t>git</a:t>
            </a:r>
            <a:r>
              <a:rPr lang="zh-CN" altLang="en-US" sz="3600" dirty="0"/>
              <a:t> </a:t>
            </a:r>
            <a:r>
              <a:rPr lang="en-US" altLang="zh-CN" sz="3600" dirty="0"/>
              <a:t>pull/push</a:t>
            </a:r>
            <a:r>
              <a:rPr lang="zh-CN" altLang="en-US" sz="3600" dirty="0"/>
              <a:t>将本地项目和</a:t>
            </a:r>
            <a:r>
              <a:rPr lang="en-US" altLang="zh-CN" sz="3600" dirty="0" err="1"/>
              <a:t>github</a:t>
            </a:r>
            <a:r>
              <a:rPr lang="zh-CN" altLang="en-US" sz="3600" dirty="0"/>
              <a:t>上的项目同步</a:t>
            </a:r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9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D422AB8-7F07-ED42-96DF-B57015D70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95" y="1988840"/>
            <a:ext cx="8235404" cy="230134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E058020-146D-7A4F-8CF4-EB9EF0EC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9" y="4138675"/>
            <a:ext cx="9017000" cy="26035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DC245AA-81AF-0E45-B3E4-84201C40D0B9}"/>
              </a:ext>
            </a:extLst>
          </p:cNvPr>
          <p:cNvSpPr txBox="1"/>
          <p:nvPr/>
        </p:nvSpPr>
        <p:spPr>
          <a:xfrm>
            <a:off x="5303912" y="772226"/>
            <a:ext cx="619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这里</a:t>
            </a:r>
            <a:r>
              <a:rPr kumimoji="1" lang="zh-CN" altLang="en-US" dirty="0"/>
              <a:t>的样例项目在：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Ddnirvana</a:t>
            </a:r>
            <a:r>
              <a:rPr kumimoji="1" lang="en" altLang="zh-CN" dirty="0"/>
              <a:t>/git-tutorial</a:t>
            </a:r>
            <a:endParaRPr kumimoji="1"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1520A4E-00F2-B340-B370-6A58C60F1F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1037" y="2855975"/>
            <a:ext cx="83947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073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Git+Github</a:t>
            </a:r>
            <a:r>
              <a:rPr lang="zh-CN" altLang="en-US" dirty="0"/>
              <a:t>解决问题</a:t>
            </a:r>
            <a:r>
              <a:rPr lang="en-US" altLang="zh-CN" dirty="0"/>
              <a:t>1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 通过</a:t>
            </a:r>
            <a:r>
              <a:rPr lang="en-US" altLang="zh-CN" sz="3600" dirty="0"/>
              <a:t>git</a:t>
            </a:r>
            <a:r>
              <a:rPr lang="zh-CN" altLang="en-US" sz="3600" dirty="0"/>
              <a:t> </a:t>
            </a:r>
            <a:r>
              <a:rPr lang="en-US" altLang="zh-CN" sz="3600" dirty="0"/>
              <a:t>push/pull/clone</a:t>
            </a:r>
            <a:r>
              <a:rPr lang="zh-CN" altLang="en-US" sz="3600" dirty="0"/>
              <a:t>将本地项目和</a:t>
            </a:r>
            <a:r>
              <a:rPr lang="en-US" altLang="zh-CN" sz="3600" dirty="0" err="1"/>
              <a:t>github</a:t>
            </a:r>
            <a:r>
              <a:rPr lang="zh-CN" altLang="en-US" sz="3600" dirty="0"/>
              <a:t>上的项目同步</a:t>
            </a:r>
            <a:endParaRPr lang="en-US" altLang="zh-CN" sz="3600" dirty="0"/>
          </a:p>
          <a:p>
            <a:pPr lvl="1"/>
            <a:r>
              <a:rPr lang="zh-CN" altLang="en-US" sz="3200" dirty="0"/>
              <a:t>假设现在我们的电脑坏了</a:t>
            </a:r>
            <a:endParaRPr lang="en-US" altLang="zh-CN" sz="3200" dirty="0"/>
          </a:p>
          <a:p>
            <a:pPr lvl="1"/>
            <a:endParaRPr lang="en-US" altLang="zh-CN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10</a:t>
            </a:fld>
            <a:endParaRPr lang="en-CN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DC245AA-81AF-0E45-B3E4-84201C40D0B9}"/>
              </a:ext>
            </a:extLst>
          </p:cNvPr>
          <p:cNvSpPr txBox="1"/>
          <p:nvPr/>
        </p:nvSpPr>
        <p:spPr>
          <a:xfrm>
            <a:off x="5303912" y="772226"/>
            <a:ext cx="6191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" dirty="0"/>
              <a:t>这里</a:t>
            </a:r>
            <a:r>
              <a:rPr kumimoji="1" lang="zh-CN" altLang="en-US" dirty="0"/>
              <a:t>的样例项目在：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</a:t>
            </a:r>
            <a:r>
              <a:rPr kumimoji="1" lang="en" altLang="zh-CN" dirty="0" err="1"/>
              <a:t>Ddnirvana</a:t>
            </a:r>
            <a:r>
              <a:rPr kumimoji="1" lang="en" altLang="zh-CN" dirty="0"/>
              <a:t>/git-tutorial</a:t>
            </a:r>
            <a:endParaRPr kumimoji="1"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E9D94F5-B16A-984C-943A-BE5AD2580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2790253"/>
            <a:ext cx="8695427" cy="406774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85C4FF3-80BD-8342-AA5E-A3BEFC22D4D9}"/>
              </a:ext>
            </a:extLst>
          </p:cNvPr>
          <p:cNvSpPr/>
          <p:nvPr/>
        </p:nvSpPr>
        <p:spPr>
          <a:xfrm>
            <a:off x="191344" y="2790253"/>
            <a:ext cx="2952328" cy="3507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0939E64-0E5F-864C-A85B-2FBE605F9B89}"/>
              </a:ext>
            </a:extLst>
          </p:cNvPr>
          <p:cNvSpPr txBox="1"/>
          <p:nvPr/>
        </p:nvSpPr>
        <p:spPr>
          <a:xfrm>
            <a:off x="5649974" y="2018838"/>
            <a:ext cx="3542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</a:rPr>
              <a:t>1.</a:t>
            </a:r>
            <a:r>
              <a:rPr kumimoji="1" lang="zh-CN" altLang="en-US" sz="2400" dirty="0">
                <a:solidFill>
                  <a:srgbClr val="FF0000"/>
                </a:solidFill>
              </a:rPr>
              <a:t> 新电脑上没有任何文件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81FDD67-FCCC-164C-B823-99F7CBE63BF7}"/>
              </a:ext>
            </a:extLst>
          </p:cNvPr>
          <p:cNvSpPr txBox="1"/>
          <p:nvPr/>
        </p:nvSpPr>
        <p:spPr>
          <a:xfrm>
            <a:off x="6545903" y="3629061"/>
            <a:ext cx="5646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</a:rPr>
              <a:t>2.</a:t>
            </a:r>
            <a:r>
              <a:rPr kumimoji="1" lang="zh-CN" altLang="en-US" sz="2400" dirty="0">
                <a:solidFill>
                  <a:srgbClr val="FF0000"/>
                </a:solidFill>
              </a:rPr>
              <a:t> 用</a:t>
            </a:r>
            <a:r>
              <a:rPr kumimoji="1" lang="en-US" altLang="zh-CN" sz="2400" dirty="0">
                <a:solidFill>
                  <a:srgbClr val="FF0000"/>
                </a:solidFill>
              </a:rPr>
              <a:t>git</a:t>
            </a:r>
            <a:r>
              <a:rPr kumimoji="1" lang="zh-CN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</a:rPr>
              <a:t>clone</a:t>
            </a:r>
            <a:r>
              <a:rPr kumimoji="1" lang="zh-CN" altLang="en-US" sz="2400" dirty="0">
                <a:solidFill>
                  <a:srgbClr val="FF0000"/>
                </a:solidFill>
              </a:rPr>
              <a:t>把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github</a:t>
            </a:r>
            <a:r>
              <a:rPr kumimoji="1" lang="zh-CN" altLang="en-US" sz="2400" dirty="0">
                <a:solidFill>
                  <a:srgbClr val="FF0000"/>
                </a:solidFill>
              </a:rPr>
              <a:t>上的项目拉到本地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560A056-9749-5D44-931D-CFD30C316523}"/>
              </a:ext>
            </a:extLst>
          </p:cNvPr>
          <p:cNvSpPr txBox="1"/>
          <p:nvPr/>
        </p:nvSpPr>
        <p:spPr>
          <a:xfrm>
            <a:off x="5322929" y="5240115"/>
            <a:ext cx="4745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FF0000"/>
                </a:solidFill>
              </a:rPr>
              <a:t>3.</a:t>
            </a:r>
            <a:r>
              <a:rPr kumimoji="1" lang="zh-CN" altLang="en-US" sz="2400" dirty="0">
                <a:solidFill>
                  <a:srgbClr val="FF0000"/>
                </a:solidFill>
              </a:rPr>
              <a:t> 项目又回到本地了，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hello.c</a:t>
            </a:r>
            <a:r>
              <a:rPr kumimoji="1" lang="zh-CN" altLang="en-US" sz="2400" dirty="0">
                <a:solidFill>
                  <a:srgbClr val="FF0000"/>
                </a:solidFill>
              </a:rPr>
              <a:t>也在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242F5DB-9C38-D141-ABC1-B2081088AC79}"/>
              </a:ext>
            </a:extLst>
          </p:cNvPr>
          <p:cNvSpPr/>
          <p:nvPr/>
        </p:nvSpPr>
        <p:spPr>
          <a:xfrm>
            <a:off x="277088" y="3132537"/>
            <a:ext cx="8123167" cy="3507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2AD9D07-7DD9-724A-8E74-8F57633630AC}"/>
              </a:ext>
            </a:extLst>
          </p:cNvPr>
          <p:cNvSpPr/>
          <p:nvPr/>
        </p:nvSpPr>
        <p:spPr>
          <a:xfrm>
            <a:off x="278180" y="5086765"/>
            <a:ext cx="4089628" cy="140611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下箭头 19">
            <a:extLst>
              <a:ext uri="{FF2B5EF4-FFF2-40B4-BE49-F238E27FC236}">
                <a16:creationId xmlns:a16="http://schemas.microsoft.com/office/drawing/2014/main" id="{B6178D11-22C4-1842-9B81-F9951B9E0C8A}"/>
              </a:ext>
            </a:extLst>
          </p:cNvPr>
          <p:cNvSpPr/>
          <p:nvPr/>
        </p:nvSpPr>
        <p:spPr>
          <a:xfrm rot="4511346">
            <a:off x="4261908" y="1298974"/>
            <a:ext cx="337446" cy="268636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下箭头 20">
            <a:extLst>
              <a:ext uri="{FF2B5EF4-FFF2-40B4-BE49-F238E27FC236}">
                <a16:creationId xmlns:a16="http://schemas.microsoft.com/office/drawing/2014/main" id="{1DA90366-9170-7147-890F-2414B7896D49}"/>
              </a:ext>
            </a:extLst>
          </p:cNvPr>
          <p:cNvSpPr/>
          <p:nvPr/>
        </p:nvSpPr>
        <p:spPr>
          <a:xfrm rot="6682513">
            <a:off x="5927276" y="3152655"/>
            <a:ext cx="337446" cy="11201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下箭头 21">
            <a:extLst>
              <a:ext uri="{FF2B5EF4-FFF2-40B4-BE49-F238E27FC236}">
                <a16:creationId xmlns:a16="http://schemas.microsoft.com/office/drawing/2014/main" id="{F7B69C98-C12E-7E41-9F02-F75BA3417692}"/>
              </a:ext>
            </a:extLst>
          </p:cNvPr>
          <p:cNvSpPr/>
          <p:nvPr/>
        </p:nvSpPr>
        <p:spPr>
          <a:xfrm rot="6682513">
            <a:off x="4599291" y="4910859"/>
            <a:ext cx="337446" cy="11201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3111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/>
      <p:bldP spid="13" grpId="0"/>
      <p:bldP spid="15" grpId="0" animBg="1"/>
      <p:bldP spid="17" grpId="0" animBg="1"/>
      <p:bldP spid="20" grpId="0" animBg="1"/>
      <p:bldP spid="21" grpId="0" animBg="1"/>
      <p:bldP spid="2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A9311-2E13-B546-8C83-EE0E08C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r>
              <a:rPr kumimoji="1" lang="zh-CN" altLang="en-US" dirty="0"/>
              <a:t>的常用工作流程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983F9-ABC6-8F43-B9E3-33B0B391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初始化项目，在项目根目录执行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highlight>
                  <a:srgbClr val="FFFF00"/>
                </a:highlight>
              </a:rPr>
              <a:t>init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创建一个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 （将新的修改放到一个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里）</a:t>
            </a:r>
            <a:endParaRPr kumimoji="1" lang="en-US" altLang="zh-CN" dirty="0"/>
          </a:p>
          <a:p>
            <a:pPr lvl="1"/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status</a:t>
            </a:r>
            <a:r>
              <a:rPr kumimoji="1" lang="en-US" altLang="zh-CN" dirty="0"/>
              <a:t>:</a:t>
            </a:r>
            <a:r>
              <a:rPr kumimoji="1" lang="zh-CN" altLang="en-US" dirty="0"/>
              <a:t> 首先，一个好的习惯是用</a:t>
            </a:r>
            <a:r>
              <a:rPr kumimoji="1" lang="en-US" altLang="zh-CN" dirty="0"/>
              <a:t>git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status</a:t>
            </a:r>
            <a:r>
              <a:rPr kumimoji="1" lang="zh-CN" altLang="en-US" dirty="0"/>
              <a:t>查看一下当前项目的状态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B03E4-C5B8-F14D-A402-CAADB44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11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D9B61-408E-FB42-A566-6BA03DE57F0D}"/>
              </a:ext>
            </a:extLst>
          </p:cNvPr>
          <p:cNvSpPr txBox="1"/>
          <p:nvPr/>
        </p:nvSpPr>
        <p:spPr>
          <a:xfrm>
            <a:off x="6353724" y="365125"/>
            <a:ext cx="559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高亮的是比较常用的关键的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命令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466CBA29-B921-4A41-AC4E-4AAD2AB20C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0" y="3124756"/>
            <a:ext cx="7002841" cy="383263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40D1894-C511-E14F-957B-946866AAFDF9}"/>
              </a:ext>
            </a:extLst>
          </p:cNvPr>
          <p:cNvSpPr txBox="1"/>
          <p:nvPr/>
        </p:nvSpPr>
        <p:spPr>
          <a:xfrm>
            <a:off x="407368" y="2628873"/>
            <a:ext cx="99004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这里，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提示我们有尚未暂存的变更，以及 一个未跟踪的文件</a:t>
            </a:r>
          </a:p>
        </p:txBody>
      </p:sp>
    </p:spTree>
    <p:extLst>
      <p:ext uri="{BB962C8B-B14F-4D97-AF65-F5344CB8AC3E}">
        <p14:creationId xmlns:p14="http://schemas.microsoft.com/office/powerpoint/2010/main" val="215628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A9311-2E13-B546-8C83-EE0E08C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r>
              <a:rPr kumimoji="1" lang="zh-CN" altLang="en-US" dirty="0"/>
              <a:t>的常用工作流程（</a:t>
            </a:r>
            <a:r>
              <a:rPr kumimoji="1" lang="en-US" altLang="zh-CN" dirty="0"/>
              <a:t>2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983F9-ABC6-8F43-B9E3-33B0B391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初始化项目，在项目根目录执行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highlight>
                  <a:srgbClr val="FFFF00"/>
                </a:highlight>
              </a:rPr>
              <a:t>init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创建一个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 （将新的修改放到一个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里）</a:t>
            </a:r>
            <a:endParaRPr kumimoji="1" lang="en-US" altLang="zh-CN" dirty="0"/>
          </a:p>
          <a:p>
            <a:pPr lvl="1"/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status</a:t>
            </a:r>
            <a:r>
              <a:rPr kumimoji="1" lang="en-US" altLang="zh-CN" dirty="0"/>
              <a:t>:</a:t>
            </a:r>
            <a:r>
              <a:rPr kumimoji="1" lang="zh-CN" altLang="en-US" dirty="0"/>
              <a:t> 首先，一个好的习惯是用</a:t>
            </a:r>
            <a:r>
              <a:rPr kumimoji="1" lang="en-US" altLang="zh-CN" dirty="0"/>
              <a:t>git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status</a:t>
            </a:r>
            <a:r>
              <a:rPr kumimoji="1" lang="zh-CN" altLang="en-US" dirty="0"/>
              <a:t>查看一下当前项目的状态</a:t>
            </a:r>
            <a:endParaRPr kumimoji="1" lang="en-US" altLang="zh-CN" dirty="0"/>
          </a:p>
          <a:p>
            <a:pPr lvl="1"/>
            <a:r>
              <a:rPr kumimoji="1" lang="zh-CN" altLang="en-US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尚未暂存的变更和未跟踪的文件在这时是不能提交的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:</a:t>
            </a:r>
            <a:r>
              <a:rPr kumimoji="1" lang="zh-CN" altLang="en-US" dirty="0"/>
              <a:t> 我们现在只想把</a:t>
            </a:r>
            <a:r>
              <a:rPr kumimoji="1" lang="en-US" altLang="zh-CN" dirty="0" err="1"/>
              <a:t>hello.c</a:t>
            </a:r>
            <a:r>
              <a:rPr kumimoji="1" lang="zh-CN" altLang="en-US" dirty="0"/>
              <a:t>放在我们的新的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里</a:t>
            </a:r>
            <a:r>
              <a:rPr kumimoji="1" lang="en-US" altLang="zh-CN" dirty="0"/>
              <a:t>,</a:t>
            </a:r>
            <a:r>
              <a:rPr kumimoji="1" lang="zh-CN" altLang="en-US" dirty="0"/>
              <a:t> 用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add</a:t>
            </a:r>
            <a:r>
              <a:rPr kumimoji="1" lang="zh-CN" altLang="en-US" dirty="0">
                <a:highlight>
                  <a:srgbClr val="FFFF00"/>
                </a:highlight>
              </a:rPr>
              <a:t> 文件名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B03E4-C5B8-F14D-A402-CAADB44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12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D9B61-408E-FB42-A566-6BA03DE57F0D}"/>
              </a:ext>
            </a:extLst>
          </p:cNvPr>
          <p:cNvSpPr txBox="1"/>
          <p:nvPr/>
        </p:nvSpPr>
        <p:spPr>
          <a:xfrm>
            <a:off x="6353724" y="365125"/>
            <a:ext cx="559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高亮的是比较常用的关键的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命令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628D88-2285-4C4E-8484-851DBA9AF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3724" y="3528231"/>
            <a:ext cx="5283200" cy="27686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A4CC8F-A72B-844D-8A09-0CD30E4C10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32110"/>
            <a:ext cx="5065649" cy="2772416"/>
          </a:xfrm>
          <a:prstGeom prst="rect">
            <a:avLst/>
          </a:prstGeom>
        </p:spPr>
      </p:pic>
      <p:sp>
        <p:nvSpPr>
          <p:cNvPr id="10" name="下箭头 9">
            <a:extLst>
              <a:ext uri="{FF2B5EF4-FFF2-40B4-BE49-F238E27FC236}">
                <a16:creationId xmlns:a16="http://schemas.microsoft.com/office/drawing/2014/main" id="{8E63DCF0-1425-214B-B790-88DD95B773E2}"/>
              </a:ext>
            </a:extLst>
          </p:cNvPr>
          <p:cNvSpPr/>
          <p:nvPr/>
        </p:nvSpPr>
        <p:spPr>
          <a:xfrm rot="16200000">
            <a:off x="5548411" y="4352443"/>
            <a:ext cx="337446" cy="11201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58AFA67-A7BE-1A4A-A549-C936A863AE69}"/>
              </a:ext>
            </a:extLst>
          </p:cNvPr>
          <p:cNvSpPr/>
          <p:nvPr/>
        </p:nvSpPr>
        <p:spPr>
          <a:xfrm>
            <a:off x="8995324" y="3555189"/>
            <a:ext cx="2123033" cy="2338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7EEF504-87F7-0346-9677-DFFA9A9F90A9}"/>
              </a:ext>
            </a:extLst>
          </p:cNvPr>
          <p:cNvSpPr/>
          <p:nvPr/>
        </p:nvSpPr>
        <p:spPr>
          <a:xfrm>
            <a:off x="6353724" y="4626881"/>
            <a:ext cx="5283200" cy="74633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B4EAB14-07B8-AF4F-A274-B7F8D285CABB}"/>
              </a:ext>
            </a:extLst>
          </p:cNvPr>
          <p:cNvSpPr txBox="1"/>
          <p:nvPr/>
        </p:nvSpPr>
        <p:spPr>
          <a:xfrm>
            <a:off x="6672064" y="6356350"/>
            <a:ext cx="42787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solidFill>
                  <a:srgbClr val="FF0000"/>
                </a:solidFill>
              </a:rPr>
              <a:t>Git</a:t>
            </a:r>
            <a:r>
              <a:rPr kumimoji="1" lang="zh-CN" altLang="en-US" dirty="0">
                <a:solidFill>
                  <a:srgbClr val="FF0000"/>
                </a:solidFill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</a:rPr>
              <a:t>add</a:t>
            </a:r>
            <a:r>
              <a:rPr kumimoji="1" lang="zh-CN" altLang="en-US" dirty="0">
                <a:solidFill>
                  <a:srgbClr val="FF0000"/>
                </a:solidFill>
              </a:rPr>
              <a:t>之后，</a:t>
            </a:r>
            <a:r>
              <a:rPr kumimoji="1" lang="en-US" altLang="zh-CN" dirty="0" err="1">
                <a:solidFill>
                  <a:srgbClr val="FF0000"/>
                </a:solidFill>
              </a:rPr>
              <a:t>hello.c</a:t>
            </a:r>
            <a:r>
              <a:rPr kumimoji="1" lang="zh-CN" altLang="en-US" dirty="0">
                <a:solidFill>
                  <a:srgbClr val="FF0000"/>
                </a:solidFill>
              </a:rPr>
              <a:t>变成了要提交的变更</a:t>
            </a:r>
          </a:p>
        </p:txBody>
      </p:sp>
    </p:spTree>
    <p:extLst>
      <p:ext uri="{BB962C8B-B14F-4D97-AF65-F5344CB8AC3E}">
        <p14:creationId xmlns:p14="http://schemas.microsoft.com/office/powerpoint/2010/main" val="32477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A9311-2E13-B546-8C83-EE0E08C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r>
              <a:rPr kumimoji="1" lang="zh-CN" altLang="en-US" dirty="0"/>
              <a:t>的常用工作流程（</a:t>
            </a:r>
            <a:r>
              <a:rPr kumimoji="1" lang="en-US" altLang="zh-CN" dirty="0"/>
              <a:t>3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983F9-ABC6-8F43-B9E3-33B0B391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初始化项目，在项目根目录执行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 err="1">
                <a:highlight>
                  <a:srgbClr val="FFFF00"/>
                </a:highlight>
              </a:rPr>
              <a:t>init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r>
              <a:rPr kumimoji="1" lang="zh-CN" altLang="en-US" dirty="0"/>
              <a:t>创建一个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 （将新的修改放到一个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里）</a:t>
            </a:r>
            <a:endParaRPr kumimoji="1" lang="en-US" altLang="zh-CN" dirty="0"/>
          </a:p>
          <a:p>
            <a:pPr lvl="1"/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status</a:t>
            </a:r>
            <a:r>
              <a:rPr kumimoji="1" lang="en-US" altLang="zh-CN" dirty="0"/>
              <a:t>:</a:t>
            </a:r>
            <a:r>
              <a:rPr kumimoji="1" lang="zh-CN" altLang="en-US" dirty="0"/>
              <a:t> 首先，一个好的习惯是用</a:t>
            </a:r>
            <a:r>
              <a:rPr kumimoji="1" lang="en-US" altLang="zh-CN" dirty="0"/>
              <a:t>git</a:t>
            </a:r>
            <a:r>
              <a:rPr kumimoji="1" lang="zh-CN" altLang="en-US" dirty="0"/>
              <a:t> </a:t>
            </a:r>
            <a:r>
              <a:rPr kumimoji="1" lang="en-US" altLang="zh-CN" dirty="0"/>
              <a:t>status</a:t>
            </a:r>
            <a:r>
              <a:rPr kumimoji="1" lang="zh-CN" altLang="en-US" dirty="0"/>
              <a:t>查看一下当前项目的状态</a:t>
            </a:r>
            <a:endParaRPr kumimoji="1" lang="en-US" altLang="zh-CN" dirty="0"/>
          </a:p>
          <a:p>
            <a:pPr lvl="1"/>
            <a:r>
              <a:rPr kumimoji="1" lang="zh-CN" altLang="en-US" dirty="0">
                <a:latin typeface="Songti SC" panose="02010600040101010101" pitchFamily="2" charset="-122"/>
                <a:ea typeface="Songti SC" panose="02010600040101010101" pitchFamily="2" charset="-122"/>
              </a:rPr>
              <a:t>尚未暂存的变更和未跟踪的文件在这时是不能提交的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假设</a:t>
            </a:r>
            <a:r>
              <a:rPr kumimoji="1" lang="en-US" altLang="zh-CN" dirty="0"/>
              <a:t>:</a:t>
            </a:r>
            <a:r>
              <a:rPr kumimoji="1" lang="zh-CN" altLang="en-US" dirty="0"/>
              <a:t> 我们现在只想把</a:t>
            </a:r>
            <a:r>
              <a:rPr kumimoji="1" lang="en-US" altLang="zh-CN" dirty="0" err="1"/>
              <a:t>hello.c</a:t>
            </a:r>
            <a:r>
              <a:rPr kumimoji="1" lang="zh-CN" altLang="en-US" dirty="0"/>
              <a:t>放在我们的新的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里</a:t>
            </a:r>
            <a:r>
              <a:rPr kumimoji="1" lang="en-US" altLang="zh-CN" dirty="0"/>
              <a:t>,</a:t>
            </a:r>
            <a:r>
              <a:rPr kumimoji="1" lang="zh-CN" altLang="en-US" dirty="0"/>
              <a:t> 用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add</a:t>
            </a:r>
            <a:r>
              <a:rPr kumimoji="1" lang="zh-CN" altLang="en-US" dirty="0">
                <a:highlight>
                  <a:srgbClr val="FFFF00"/>
                </a:highlight>
              </a:rPr>
              <a:t> 文件名</a:t>
            </a:r>
            <a:endParaRPr kumimoji="1" lang="en-US" altLang="zh-CN" dirty="0">
              <a:highlight>
                <a:srgbClr val="FFFF00"/>
              </a:highlight>
            </a:endParaRPr>
          </a:p>
          <a:p>
            <a:pPr lvl="1"/>
            <a:r>
              <a:rPr kumimoji="1" lang="zh-CN" altLang="en-US" dirty="0"/>
              <a:t>此时，就可以通过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commit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–m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“commit</a:t>
            </a:r>
            <a:r>
              <a:rPr kumimoji="1" lang="zh-CN" altLang="en-US" dirty="0">
                <a:highlight>
                  <a:srgbClr val="FFFF00"/>
                </a:highlight>
              </a:rPr>
              <a:t>的说明</a:t>
            </a:r>
            <a:r>
              <a:rPr kumimoji="1" lang="en-US" altLang="zh-CN" dirty="0">
                <a:highlight>
                  <a:srgbClr val="FFFF00"/>
                </a:highlight>
              </a:rPr>
              <a:t>”</a:t>
            </a:r>
            <a:r>
              <a:rPr kumimoji="1" lang="zh-CN" altLang="en-US" dirty="0"/>
              <a:t>来创建一个包含</a:t>
            </a:r>
            <a:r>
              <a:rPr kumimoji="1" lang="en-US" altLang="zh-CN" dirty="0" err="1"/>
              <a:t>hello.c</a:t>
            </a:r>
            <a:r>
              <a:rPr kumimoji="1" lang="zh-CN" altLang="en-US" dirty="0"/>
              <a:t>修改的</a:t>
            </a:r>
            <a:r>
              <a:rPr kumimoji="1" lang="en-US" altLang="zh-CN" dirty="0"/>
              <a:t>commit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B03E4-C5B8-F14D-A402-CAADB44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13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D9B61-408E-FB42-A566-6BA03DE57F0D}"/>
              </a:ext>
            </a:extLst>
          </p:cNvPr>
          <p:cNvSpPr txBox="1"/>
          <p:nvPr/>
        </p:nvSpPr>
        <p:spPr>
          <a:xfrm>
            <a:off x="6353724" y="365125"/>
            <a:ext cx="559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高亮的是比较常用的关键的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命令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E69BF9B-0DCE-4042-8724-0B278F761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3461" y="4725144"/>
            <a:ext cx="9880526" cy="122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580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A9311-2E13-B546-8C83-EE0E08C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r>
              <a:rPr kumimoji="1" lang="zh-CN" altLang="en-US" dirty="0"/>
              <a:t>的常用工作流程（</a:t>
            </a:r>
            <a:r>
              <a:rPr kumimoji="1" lang="en-US" altLang="zh-CN" dirty="0"/>
              <a:t>4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983F9-ABC6-8F43-B9E3-33B0B391D8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查看历史的</a:t>
            </a:r>
            <a:r>
              <a:rPr kumimoji="1" lang="en-US" altLang="zh-CN" dirty="0"/>
              <a:t>commit:</a:t>
            </a:r>
            <a:r>
              <a:rPr kumimoji="1" lang="zh-CN" altLang="en-US" dirty="0"/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log</a:t>
            </a:r>
          </a:p>
          <a:p>
            <a:pPr lvl="1"/>
            <a:r>
              <a:rPr kumimoji="1" lang="zh-CN" altLang="en-US" dirty="0"/>
              <a:t>可以看到我们最新提交的</a:t>
            </a:r>
            <a:r>
              <a:rPr kumimoji="1" lang="en-US" altLang="zh-CN" dirty="0"/>
              <a:t>commit: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hello.c</a:t>
            </a:r>
            <a:r>
              <a:rPr kumimoji="1" lang="zh-CN" altLang="en-US" dirty="0"/>
              <a:t>，最上面的</a:t>
            </a:r>
            <a:r>
              <a:rPr kumimoji="1" lang="en" altLang="zh-CN" dirty="0"/>
              <a:t>f7a888644b80f2705d66945ea6a2019d24d13005</a:t>
            </a:r>
            <a:r>
              <a:rPr kumimoji="1" lang="zh-CN" altLang="en" dirty="0"/>
              <a:t>是</a:t>
            </a:r>
            <a:r>
              <a:rPr kumimoji="1" lang="zh-CN" altLang="en-US" dirty="0"/>
              <a:t>这个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号</a:t>
            </a:r>
            <a:endParaRPr kumimoji="1"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B03E4-C5B8-F14D-A402-CAADB44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14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D9B61-408E-FB42-A566-6BA03DE57F0D}"/>
              </a:ext>
            </a:extLst>
          </p:cNvPr>
          <p:cNvSpPr txBox="1"/>
          <p:nvPr/>
        </p:nvSpPr>
        <p:spPr>
          <a:xfrm>
            <a:off x="6353724" y="365125"/>
            <a:ext cx="559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高亮的是比较常用的关键的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命令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1317667-695E-0D4B-B712-9F2C37DB0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2996952"/>
            <a:ext cx="7404100" cy="306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511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7A9311-2E13-B546-8C83-EE0E08CE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Git</a:t>
            </a:r>
            <a:r>
              <a:rPr kumimoji="1" lang="zh-CN" altLang="en-US" dirty="0"/>
              <a:t>的常用工作流程（</a:t>
            </a:r>
            <a:r>
              <a:rPr kumimoji="1" lang="en-US" altLang="zh-CN" dirty="0"/>
              <a:t>5</a:t>
            </a:r>
            <a:r>
              <a:rPr kumimoji="1" lang="zh-CN" altLang="en-US" dirty="0"/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F983F9-ABC6-8F43-B9E3-33B0B391D8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查看历史的</a:t>
            </a:r>
            <a:r>
              <a:rPr kumimoji="1" lang="en-US" altLang="zh-CN" dirty="0"/>
              <a:t>commit:</a:t>
            </a:r>
            <a:r>
              <a:rPr kumimoji="1" lang="zh-CN" altLang="en-US" dirty="0"/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log</a:t>
            </a:r>
          </a:p>
          <a:p>
            <a:pPr lvl="1"/>
            <a:r>
              <a:rPr kumimoji="1" lang="zh-CN" altLang="en-US" dirty="0"/>
              <a:t>可以看到我们最新提交的</a:t>
            </a:r>
            <a:r>
              <a:rPr kumimoji="1" lang="en-US" altLang="zh-CN" dirty="0"/>
              <a:t>commit: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modify</a:t>
            </a:r>
            <a:r>
              <a:rPr kumimoji="1" lang="zh-CN" altLang="en-US" dirty="0"/>
              <a:t> </a:t>
            </a:r>
            <a:r>
              <a:rPr kumimoji="1" lang="en-US" altLang="zh-CN" dirty="0" err="1"/>
              <a:t>hello.c</a:t>
            </a:r>
            <a:r>
              <a:rPr kumimoji="1" lang="zh-CN" altLang="en-US" dirty="0"/>
              <a:t>，最上面的</a:t>
            </a:r>
            <a:r>
              <a:rPr kumimoji="1" lang="en" altLang="zh-CN" dirty="0"/>
              <a:t>f7a888644b80f2705d66945ea6a2019d24d13005</a:t>
            </a:r>
            <a:r>
              <a:rPr kumimoji="1" lang="zh-CN" altLang="en" dirty="0"/>
              <a:t>是</a:t>
            </a:r>
            <a:r>
              <a:rPr kumimoji="1" lang="zh-CN" altLang="en-US" dirty="0"/>
              <a:t>这个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的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号</a:t>
            </a:r>
            <a:endParaRPr kumimoji="1" lang="en-US" altLang="zh-CN" dirty="0"/>
          </a:p>
          <a:p>
            <a:r>
              <a:rPr kumimoji="1" lang="zh-CN" altLang="en-US" dirty="0"/>
              <a:t>查看一个</a:t>
            </a:r>
            <a:r>
              <a:rPr kumimoji="1" lang="en-US" altLang="zh-CN" dirty="0"/>
              <a:t>commit</a:t>
            </a:r>
            <a:r>
              <a:rPr kumimoji="1" lang="zh-CN" altLang="en-US" dirty="0"/>
              <a:t>对应的修改到底是什么：</a:t>
            </a:r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show</a:t>
            </a:r>
          </a:p>
          <a:p>
            <a:pPr lvl="1"/>
            <a:r>
              <a:rPr kumimoji="1" lang="en-US" altLang="zh-CN" dirty="0">
                <a:highlight>
                  <a:srgbClr val="FFFF00"/>
                </a:highlight>
              </a:rPr>
              <a:t>Git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-US" altLang="zh-CN" dirty="0">
                <a:highlight>
                  <a:srgbClr val="FFFF00"/>
                </a:highlight>
              </a:rPr>
              <a:t>show</a:t>
            </a:r>
            <a:r>
              <a:rPr kumimoji="1" lang="zh-CN" altLang="en-US" dirty="0">
                <a:highlight>
                  <a:srgbClr val="FFFF00"/>
                </a:highlight>
              </a:rPr>
              <a:t> </a:t>
            </a:r>
            <a:r>
              <a:rPr kumimoji="1" lang="en" altLang="zh-CN" dirty="0">
                <a:highlight>
                  <a:srgbClr val="FFFF00"/>
                </a:highlight>
              </a:rPr>
              <a:t>f7a888644b80f2705d66945ea6a2019d24d13005</a:t>
            </a:r>
            <a:endParaRPr kumimoji="1" lang="en-US" altLang="zh-CN" dirty="0">
              <a:highlight>
                <a:srgbClr val="FFFF00"/>
              </a:highlight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1B03E4-C5B8-F14D-A402-CAADB44C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15</a:t>
            </a:fld>
            <a:endParaRPr lang="en-CN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0CD9B61-408E-FB42-A566-6BA03DE57F0D}"/>
              </a:ext>
            </a:extLst>
          </p:cNvPr>
          <p:cNvSpPr txBox="1"/>
          <p:nvPr/>
        </p:nvSpPr>
        <p:spPr>
          <a:xfrm>
            <a:off x="6353724" y="365125"/>
            <a:ext cx="55915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高亮的是比较常用的关键的</a:t>
            </a:r>
            <a:r>
              <a:rPr kumimoji="1" lang="en-US" altLang="zh-CN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git</a:t>
            </a:r>
            <a:r>
              <a:rPr kumimoji="1" lang="zh-CN" altLang="en-US" sz="2800" dirty="0">
                <a:solidFill>
                  <a:srgbClr val="FF0000"/>
                </a:solidFill>
                <a:latin typeface="Songti SC" panose="02010600040101010101" pitchFamily="2" charset="-122"/>
                <a:ea typeface="Songti SC" panose="02010600040101010101" pitchFamily="2" charset="-122"/>
              </a:rPr>
              <a:t>命令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01FC82-00A2-794B-8C07-089A3C417F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1624988"/>
            <a:ext cx="7480726" cy="486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870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问题</a:t>
            </a:r>
            <a:r>
              <a:rPr lang="en-US" altLang="zh-CN" dirty="0"/>
              <a:t>2</a:t>
            </a:r>
            <a:r>
              <a:rPr lang="zh-CN" altLang="en-US" dirty="0"/>
              <a:t>：之前明明可以跑的，加了几行代码就跑不了了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项目比较简单的时候：</a:t>
            </a:r>
            <a:endParaRPr lang="en-US" altLang="zh-CN" sz="3600" dirty="0"/>
          </a:p>
          <a:p>
            <a:pPr lvl="1"/>
            <a:r>
              <a:rPr lang="zh-CN" altLang="en-US" sz="3200" dirty="0"/>
              <a:t>靠脑子回忆哪些地方是新加的代码</a:t>
            </a:r>
            <a:endParaRPr lang="en-US" altLang="zh-CN" sz="3200" dirty="0"/>
          </a:p>
          <a:p>
            <a:pPr lvl="1"/>
            <a:r>
              <a:rPr lang="zh-CN" altLang="en-US" sz="3200" dirty="0"/>
              <a:t>靠眼睛快速扫描哪些地方有修改</a:t>
            </a:r>
            <a:endParaRPr lang="en-US" altLang="zh-CN" sz="3200" dirty="0"/>
          </a:p>
          <a:p>
            <a:r>
              <a:rPr lang="zh-CN" altLang="en-US" sz="3600" dirty="0"/>
              <a:t>复杂项目怎么办？</a:t>
            </a:r>
            <a:endParaRPr lang="en-US" altLang="zh-CN" sz="3600" dirty="0"/>
          </a:p>
          <a:p>
            <a:pPr lvl="1"/>
            <a:r>
              <a:rPr lang="en-US" altLang="zh-CN" sz="3200" dirty="0"/>
              <a:t>Linux</a:t>
            </a:r>
            <a:r>
              <a:rPr lang="zh-CN" altLang="en-US" sz="3200" dirty="0"/>
              <a:t>内核</a:t>
            </a:r>
            <a:r>
              <a:rPr lang="zh-CN" altLang="en-US" sz="3200" dirty="0">
                <a:solidFill>
                  <a:srgbClr val="FF0000"/>
                </a:solidFill>
              </a:rPr>
              <a:t>上千万行</a:t>
            </a:r>
            <a:r>
              <a:rPr lang="zh-CN" altLang="en-US" sz="3200" dirty="0"/>
              <a:t>代码</a:t>
            </a:r>
            <a:endParaRPr lang="en-US" altLang="zh-CN" sz="32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16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8E0027-8FBC-1D4F-8D64-FAD4F80A7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3952" y="3438624"/>
            <a:ext cx="6120680" cy="315455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3EE56A3-B979-D049-B1C2-ACA6C3784F9B}"/>
              </a:ext>
            </a:extLst>
          </p:cNvPr>
          <p:cNvSpPr txBox="1"/>
          <p:nvPr/>
        </p:nvSpPr>
        <p:spPr>
          <a:xfrm>
            <a:off x="5628160" y="3069292"/>
            <a:ext cx="6444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例子：</a:t>
            </a:r>
            <a:r>
              <a:rPr kumimoji="1" lang="en" altLang="zh-CN" dirty="0"/>
              <a:t>https://</a:t>
            </a:r>
            <a:r>
              <a:rPr kumimoji="1" lang="en" altLang="zh-CN" dirty="0" err="1"/>
              <a:t>github.com</a:t>
            </a:r>
            <a:r>
              <a:rPr kumimoji="1" lang="en" altLang="zh-CN" dirty="0"/>
              <a:t>/Penglai-Enclave/Penglai-Enclave-</a:t>
            </a:r>
            <a:r>
              <a:rPr kumimoji="1" lang="en" altLang="zh-CN" dirty="0" err="1"/>
              <a:t>sPMP</a:t>
            </a:r>
            <a:endParaRPr kumimoji="1" lang="zh-CN" altLang="en-US" dirty="0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C2F56CA-2A12-6D47-8D49-AA1EC16412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00" y="4032422"/>
            <a:ext cx="4122316" cy="270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002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的版本管理解决问题</a:t>
            </a:r>
            <a:r>
              <a:rPr lang="en-US" altLang="zh-CN" dirty="0"/>
              <a:t>2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59"/>
            <a:ext cx="11637818" cy="5452715"/>
          </a:xfrm>
        </p:spPr>
        <p:txBody>
          <a:bodyPr>
            <a:normAutofit fontScale="85000" lnSpcReduction="20000"/>
          </a:bodyPr>
          <a:lstStyle/>
          <a:p>
            <a:r>
              <a:rPr lang="en" altLang="zh-CN" sz="3600" b="1" dirty="0"/>
              <a:t>Git</a:t>
            </a:r>
            <a:r>
              <a:rPr lang="en" altLang="zh-CN" sz="3600" dirty="0"/>
              <a:t> (/</a:t>
            </a:r>
            <a:r>
              <a:rPr lang="en" altLang="zh-CN" sz="3600" dirty="0" err="1"/>
              <a:t>ɡɪt</a:t>
            </a:r>
            <a:r>
              <a:rPr lang="en" altLang="zh-CN" sz="3600" dirty="0"/>
              <a:t>/) is software for </a:t>
            </a:r>
            <a:r>
              <a:rPr lang="en" altLang="zh-CN" sz="3600" dirty="0">
                <a:solidFill>
                  <a:srgbClr val="FF0000"/>
                </a:solidFill>
              </a:rPr>
              <a:t>tracking changes in any set of files</a:t>
            </a:r>
            <a:r>
              <a:rPr lang="en" altLang="zh-CN" sz="3600" dirty="0"/>
              <a:t>, usually used for coordinating work among programmers collaboratively developing source code during software development. Its goals include speed, data integrity, and support for distributed, non-linear workflows (thousands of parallel branches running on different systems)</a:t>
            </a:r>
            <a:r>
              <a:rPr lang="zh-CN" altLang="en-US" sz="3600" dirty="0"/>
              <a:t>  </a:t>
            </a:r>
            <a:r>
              <a:rPr lang="en-US" altLang="zh-CN" sz="3600" dirty="0"/>
              <a:t>--</a:t>
            </a:r>
            <a:r>
              <a:rPr lang="zh-CN" altLang="en-US" sz="3600" dirty="0"/>
              <a:t> </a:t>
            </a:r>
            <a:r>
              <a:rPr lang="en-US" altLang="zh-CN" sz="3600" i="1" dirty="0"/>
              <a:t>Wikipedia</a:t>
            </a:r>
          </a:p>
          <a:p>
            <a:endParaRPr lang="en-US" altLang="zh-CN" sz="3600" i="1" dirty="0"/>
          </a:p>
          <a:p>
            <a:r>
              <a:rPr lang="en-US" altLang="zh-CN" sz="3600" dirty="0"/>
              <a:t>Git</a:t>
            </a:r>
            <a:r>
              <a:rPr lang="zh-CN" altLang="en-US" sz="3600" dirty="0"/>
              <a:t>会维护多个</a:t>
            </a:r>
            <a:r>
              <a:rPr lang="en-US" altLang="zh-CN" sz="3600" dirty="0">
                <a:solidFill>
                  <a:srgbClr val="FF0000"/>
                </a:solidFill>
              </a:rPr>
              <a:t>snapshot</a:t>
            </a:r>
            <a:r>
              <a:rPr lang="zh-CN" altLang="en-US" sz="3600" dirty="0">
                <a:solidFill>
                  <a:srgbClr val="FF0000"/>
                </a:solidFill>
              </a:rPr>
              <a:t>（镜像？）</a:t>
            </a:r>
            <a:r>
              <a:rPr lang="zh-CN" altLang="en-US" sz="3600" dirty="0"/>
              <a:t>，记录你的代码修改历史</a:t>
            </a:r>
            <a:endParaRPr lang="en-US" altLang="zh-CN" sz="3600" dirty="0"/>
          </a:p>
          <a:p>
            <a:pPr lvl="1"/>
            <a:endParaRPr lang="en-US" altLang="zh-CN" sz="3200" dirty="0"/>
          </a:p>
          <a:p>
            <a:pPr lvl="1"/>
            <a:r>
              <a:rPr lang="zh-CN" altLang="en-US" sz="3200" dirty="0"/>
              <a:t>方便快速查看当前的代码和上一次提交时候的差异</a:t>
            </a:r>
            <a:endParaRPr lang="en-US" altLang="zh-CN" sz="3200" dirty="0"/>
          </a:p>
          <a:p>
            <a:pPr lvl="1"/>
            <a:endParaRPr lang="en-US" altLang="zh-CN" sz="3200" dirty="0"/>
          </a:p>
          <a:p>
            <a:pPr lvl="1"/>
            <a:r>
              <a:rPr lang="zh-CN" altLang="en-US" sz="3200" dirty="0"/>
              <a:t>方便回滚到上一次稳定版本</a:t>
            </a:r>
            <a:br>
              <a:rPr lang="en-US" altLang="zh-CN" sz="3200" i="1" dirty="0"/>
            </a:br>
            <a:endParaRPr kumimoji="1" lang="zh-CN" altLang="en-US" sz="3200" i="1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17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703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的版本管理解决问题</a:t>
            </a:r>
            <a:r>
              <a:rPr lang="en-US" altLang="zh-CN" dirty="0"/>
              <a:t>2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status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log</a:t>
            </a:r>
            <a:r>
              <a:rPr lang="zh-CN" altLang="en-US" sz="3200" dirty="0"/>
              <a:t> </a:t>
            </a:r>
            <a:r>
              <a:rPr lang="en-US" altLang="zh-CN" sz="3200" dirty="0"/>
              <a:t>(</a:t>
            </a:r>
            <a:r>
              <a:rPr lang="zh-CN" altLang="en-US" sz="3200" dirty="0"/>
              <a:t>查看之前的修改历史）</a:t>
            </a:r>
            <a:br>
              <a:rPr lang="en-US" altLang="zh-CN" sz="3200" dirty="0"/>
            </a:br>
            <a:endParaRPr kumimoji="1" lang="zh-CN" altLang="en-US" sz="32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18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A293D04-BF44-D543-A58A-2259D35BE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5033640"/>
            <a:ext cx="8521700" cy="17907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147CFE2-6EB0-5846-A399-1E9F401465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37" y="1898472"/>
            <a:ext cx="6107705" cy="16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的版本管理解决问题</a:t>
            </a:r>
            <a:r>
              <a:rPr lang="en-US" altLang="zh-CN" dirty="0"/>
              <a:t>2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修改</a:t>
            </a:r>
            <a:r>
              <a:rPr lang="en-US" altLang="zh-CN" sz="3200" dirty="0" err="1"/>
              <a:t>hello.c</a:t>
            </a:r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zh-CN" altLang="en-US" sz="3600" dirty="0"/>
              <a:t>发现编译不了了，怎么快速定位到我们修改了什么呢？</a:t>
            </a:r>
            <a:endParaRPr lang="en-US" altLang="zh-CN" sz="3600" dirty="0"/>
          </a:p>
          <a:p>
            <a:r>
              <a:rPr lang="en-US" altLang="zh-CN" sz="3600" dirty="0">
                <a:highlight>
                  <a:srgbClr val="FFFF00"/>
                </a:highlight>
              </a:rPr>
              <a:t>Git</a:t>
            </a:r>
            <a:r>
              <a:rPr lang="zh-CN" altLang="en-US" sz="3600" dirty="0">
                <a:highlight>
                  <a:srgbClr val="FFFF00"/>
                </a:highlight>
              </a:rPr>
              <a:t> </a:t>
            </a:r>
            <a:r>
              <a:rPr lang="en-US" altLang="zh-CN" sz="3600" dirty="0">
                <a:highlight>
                  <a:srgbClr val="FFFF00"/>
                </a:highlight>
              </a:rPr>
              <a:t>diff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19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8A49E56E-9E3F-AE4E-AB2F-AE1C3333B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19" y="1848768"/>
            <a:ext cx="4983554" cy="1584176"/>
          </a:xfrm>
          <a:prstGeom prst="rect">
            <a:avLst/>
          </a:prstGeom>
        </p:spPr>
      </p:pic>
      <p:sp>
        <p:nvSpPr>
          <p:cNvPr id="11" name="右箭头 10">
            <a:extLst>
              <a:ext uri="{FF2B5EF4-FFF2-40B4-BE49-F238E27FC236}">
                <a16:creationId xmlns:a16="http://schemas.microsoft.com/office/drawing/2014/main" id="{B2132B3B-384B-CF43-B86E-F50994940791}"/>
              </a:ext>
            </a:extLst>
          </p:cNvPr>
          <p:cNvSpPr/>
          <p:nvPr/>
        </p:nvSpPr>
        <p:spPr>
          <a:xfrm>
            <a:off x="5536733" y="2420888"/>
            <a:ext cx="924567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B7B57C5-3513-F147-B298-F4A6BABF7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9780" y="1785268"/>
            <a:ext cx="5031064" cy="158417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7B7D829F-B506-1140-B160-FE139304AA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9616" y="3328324"/>
            <a:ext cx="5031064" cy="3593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191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的版本管理解决问题</a:t>
            </a:r>
            <a:r>
              <a:rPr lang="en-US" altLang="zh-CN" dirty="0"/>
              <a:t>2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200" dirty="0"/>
              <a:t>通过</a:t>
            </a:r>
            <a:r>
              <a:rPr lang="en-US" altLang="zh-CN" sz="3200" dirty="0"/>
              <a:t>git</a:t>
            </a:r>
            <a:r>
              <a:rPr lang="zh-CN" altLang="en-US" sz="3200" dirty="0"/>
              <a:t>快速地撤销当前修改： </a:t>
            </a:r>
            <a:r>
              <a:rPr lang="en-US" altLang="zh-CN" sz="3200" dirty="0">
                <a:highlight>
                  <a:srgbClr val="FFFF00"/>
                </a:highlight>
              </a:rPr>
              <a:t>git</a:t>
            </a:r>
            <a:r>
              <a:rPr lang="zh-CN" altLang="en-US" sz="3200" dirty="0">
                <a:highlight>
                  <a:srgbClr val="FFFF00"/>
                </a:highlight>
              </a:rPr>
              <a:t> </a:t>
            </a:r>
            <a:r>
              <a:rPr lang="en-US" altLang="zh-CN" sz="3200" dirty="0">
                <a:highlight>
                  <a:srgbClr val="FFFF00"/>
                </a:highlight>
              </a:rPr>
              <a:t>restore</a:t>
            </a:r>
            <a:r>
              <a:rPr lang="zh-CN" altLang="en-US" sz="3200" dirty="0">
                <a:highlight>
                  <a:srgbClr val="FFFF00"/>
                </a:highlight>
              </a:rPr>
              <a:t> 文件名</a:t>
            </a:r>
            <a:endParaRPr lang="en-US" altLang="zh-CN" sz="3200" dirty="0">
              <a:highlight>
                <a:srgbClr val="FFFF00"/>
              </a:highlight>
            </a:endParaRPr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20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8ED2669-E99B-5643-B20A-A62A67F20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8" y="1995213"/>
            <a:ext cx="7200800" cy="4643507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586DF93-9AFA-2D48-B83D-C4A245195851}"/>
              </a:ext>
            </a:extLst>
          </p:cNvPr>
          <p:cNvSpPr/>
          <p:nvPr/>
        </p:nvSpPr>
        <p:spPr>
          <a:xfrm>
            <a:off x="282374" y="4869160"/>
            <a:ext cx="6389689" cy="350715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052B91-9F27-DB41-B69A-E76E07DE4162}"/>
              </a:ext>
            </a:extLst>
          </p:cNvPr>
          <p:cNvSpPr txBox="1"/>
          <p:nvPr/>
        </p:nvSpPr>
        <p:spPr>
          <a:xfrm>
            <a:off x="7990059" y="4638327"/>
            <a:ext cx="28729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丢弃对</a:t>
            </a:r>
            <a:r>
              <a:rPr kumimoji="1" lang="en-US" altLang="zh-CN" sz="2400" dirty="0" err="1">
                <a:solidFill>
                  <a:srgbClr val="FF0000"/>
                </a:solidFill>
              </a:rPr>
              <a:t>hello.c</a:t>
            </a:r>
            <a:r>
              <a:rPr kumimoji="1" lang="zh-CN" altLang="en-US" sz="2400" dirty="0">
                <a:solidFill>
                  <a:srgbClr val="FF0000"/>
                </a:solidFill>
              </a:rPr>
              <a:t>的修改</a:t>
            </a:r>
          </a:p>
        </p:txBody>
      </p:sp>
      <p:sp>
        <p:nvSpPr>
          <p:cNvPr id="12" name="下箭头 11">
            <a:extLst>
              <a:ext uri="{FF2B5EF4-FFF2-40B4-BE49-F238E27FC236}">
                <a16:creationId xmlns:a16="http://schemas.microsoft.com/office/drawing/2014/main" id="{1A0DB435-97FA-DE41-8117-59BB8B7BF481}"/>
              </a:ext>
            </a:extLst>
          </p:cNvPr>
          <p:cNvSpPr/>
          <p:nvPr/>
        </p:nvSpPr>
        <p:spPr>
          <a:xfrm rot="4511346">
            <a:off x="7209902" y="4164334"/>
            <a:ext cx="337446" cy="142147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2208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问题</a:t>
            </a:r>
            <a:r>
              <a:rPr lang="en-US" altLang="zh-CN" dirty="0"/>
              <a:t>3</a:t>
            </a:r>
            <a:r>
              <a:rPr lang="zh-CN" altLang="en-US" dirty="0"/>
              <a:t>：为了</a:t>
            </a:r>
            <a:r>
              <a:rPr lang="en-US" altLang="zh-CN" dirty="0"/>
              <a:t>Debug</a:t>
            </a:r>
            <a:r>
              <a:rPr lang="zh-CN" altLang="en-US" dirty="0"/>
              <a:t>，在代码里面加入了大量的打印日志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/>
              <a:t>这些</a:t>
            </a:r>
            <a:r>
              <a:rPr lang="en-US" altLang="zh-CN" sz="3600" dirty="0"/>
              <a:t>Debug</a:t>
            </a:r>
            <a:r>
              <a:rPr lang="zh-CN" altLang="en-US" sz="3600" dirty="0"/>
              <a:t>用的代码很多都是和项目无关的</a:t>
            </a:r>
            <a:endParaRPr lang="en-US" altLang="zh-CN" sz="3600" dirty="0"/>
          </a:p>
          <a:p>
            <a:r>
              <a:rPr lang="zh-CN" altLang="en-US" sz="3600" dirty="0"/>
              <a:t>我们希望能够在</a:t>
            </a:r>
            <a:r>
              <a:rPr lang="en-US" altLang="zh-CN" sz="3600" dirty="0"/>
              <a:t>De</a:t>
            </a:r>
            <a:r>
              <a:rPr lang="zh-CN" altLang="en-US" sz="3600" dirty="0"/>
              <a:t>完</a:t>
            </a:r>
            <a:r>
              <a:rPr lang="en-US" altLang="zh-CN" sz="3600" dirty="0"/>
              <a:t>bug</a:t>
            </a:r>
            <a:r>
              <a:rPr lang="zh-CN" altLang="en-US" sz="3600" dirty="0"/>
              <a:t>之后就删掉这些代码，不要让他们“污染”了整体的项目</a:t>
            </a:r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21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64CB234-1A17-0043-82FD-204FFBF4A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367" y="2960340"/>
            <a:ext cx="10619711" cy="389766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F55E989-4BBA-4244-937B-914443318C76}"/>
              </a:ext>
            </a:extLst>
          </p:cNvPr>
          <p:cNvSpPr/>
          <p:nvPr/>
        </p:nvSpPr>
        <p:spPr>
          <a:xfrm>
            <a:off x="551384" y="3276600"/>
            <a:ext cx="10297144" cy="1376536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EBD04CE-F666-C54A-B5B6-91F706CCB4E9}"/>
              </a:ext>
            </a:extLst>
          </p:cNvPr>
          <p:cNvSpPr/>
          <p:nvPr/>
        </p:nvSpPr>
        <p:spPr>
          <a:xfrm>
            <a:off x="568650" y="4860776"/>
            <a:ext cx="10297144" cy="412204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3330AE-9FB0-094F-8F98-3AB715E7272B}"/>
              </a:ext>
            </a:extLst>
          </p:cNvPr>
          <p:cNvSpPr/>
          <p:nvPr/>
        </p:nvSpPr>
        <p:spPr>
          <a:xfrm>
            <a:off x="568650" y="5548614"/>
            <a:ext cx="10297144" cy="304576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ABA7A77-2B8C-254A-A1F1-D14ADED94174}"/>
              </a:ext>
            </a:extLst>
          </p:cNvPr>
          <p:cNvSpPr/>
          <p:nvPr/>
        </p:nvSpPr>
        <p:spPr>
          <a:xfrm>
            <a:off x="568650" y="6237312"/>
            <a:ext cx="10297144" cy="304576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7638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BECCBF4E-DDB3-C246-8B18-AC243E2EA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的分支功能解决问题</a:t>
            </a:r>
            <a:r>
              <a:rPr lang="en-US" altLang="zh-CN" dirty="0"/>
              <a:t>3</a:t>
            </a:r>
          </a:p>
        </p:txBody>
      </p:sp>
      <p:sp>
        <p:nvSpPr>
          <p:cNvPr id="20483" name="Slide Number Placeholder 3">
            <a:extLst>
              <a:ext uri="{FF2B5EF4-FFF2-40B4-BE49-F238E27FC236}">
                <a16:creationId xmlns:a16="http://schemas.microsoft.com/office/drawing/2014/main" id="{9B02C43A-1965-A447-8E20-9769E55461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fld id="{7A999E30-C9C5-E946-9686-1E2871905B70}" type="slidenum">
              <a:rPr lang="en-US" altLang="zh-CN" sz="1400">
                <a:latin typeface="Arial" panose="020B0604020202020204" pitchFamily="34" charset="0"/>
              </a:rPr>
              <a:pPr/>
              <a:t>22</a:t>
            </a:fld>
            <a:endParaRPr lang="en-US" altLang="zh-CN" sz="1400">
              <a:latin typeface="Arial" panose="020B0604020202020204" pitchFamily="34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6A9360F-A1A3-1B43-B1D6-BD229CA0B1AE}"/>
              </a:ext>
            </a:extLst>
          </p:cNvPr>
          <p:cNvSpPr/>
          <p:nvPr/>
        </p:nvSpPr>
        <p:spPr bwMode="auto">
          <a:xfrm>
            <a:off x="5410200" y="16002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85" name="TextBox 9">
            <a:extLst>
              <a:ext uri="{FF2B5EF4-FFF2-40B4-BE49-F238E27FC236}">
                <a16:creationId xmlns:a16="http://schemas.microsoft.com/office/drawing/2014/main" id="{A16FBE5D-238D-9644-80F8-9B7DE0B30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1524001"/>
            <a:ext cx="2133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Initial commit</a:t>
            </a:r>
          </a:p>
        </p:txBody>
      </p:sp>
      <p:cxnSp>
        <p:nvCxnSpPr>
          <p:cNvPr id="20486" name="Straight Arrow Connector 14">
            <a:extLst>
              <a:ext uri="{FF2B5EF4-FFF2-40B4-BE49-F238E27FC236}">
                <a16:creationId xmlns:a16="http://schemas.microsoft.com/office/drawing/2014/main" id="{7003C89B-F6A9-7249-8DB7-94196769F7D5}"/>
              </a:ext>
            </a:extLst>
          </p:cNvPr>
          <p:cNvCxnSpPr>
            <a:cxnSpLocks noChangeShapeType="1"/>
            <a:stCxn id="20485" idx="3"/>
          </p:cNvCxnSpPr>
          <p:nvPr/>
        </p:nvCxnSpPr>
        <p:spPr bwMode="auto">
          <a:xfrm flipV="1">
            <a:off x="4724400" y="1752600"/>
            <a:ext cx="5334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EEFAAA1-0EB9-D149-9184-2A0273F520AC}"/>
              </a:ext>
            </a:extLst>
          </p:cNvPr>
          <p:cNvSpPr/>
          <p:nvPr/>
        </p:nvSpPr>
        <p:spPr bwMode="auto">
          <a:xfrm>
            <a:off x="5410200" y="25146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0488" name="Straight Arrow Connector 17">
            <a:extLst>
              <a:ext uri="{FF2B5EF4-FFF2-40B4-BE49-F238E27FC236}">
                <a16:creationId xmlns:a16="http://schemas.microsoft.com/office/drawing/2014/main" id="{D3697DC8-6049-DE43-BF07-A6EB199E8A4D}"/>
              </a:ext>
            </a:extLst>
          </p:cNvPr>
          <p:cNvCxnSpPr>
            <a:cxnSpLocks noChangeShapeType="1"/>
            <a:stCxn id="16" idx="0"/>
            <a:endCxn id="9" idx="4"/>
          </p:cNvCxnSpPr>
          <p:nvPr/>
        </p:nvCxnSpPr>
        <p:spPr bwMode="auto">
          <a:xfrm flipV="1">
            <a:off x="5638800" y="2057400"/>
            <a:ext cx="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89" name="TextBox 18">
            <a:extLst>
              <a:ext uri="{FF2B5EF4-FFF2-40B4-BE49-F238E27FC236}">
                <a16:creationId xmlns:a16="http://schemas.microsoft.com/office/drawing/2014/main" id="{35DDDC33-EBBE-F843-A400-FA7C349EA2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2433638"/>
            <a:ext cx="2209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Second commit</a:t>
            </a:r>
          </a:p>
        </p:txBody>
      </p:sp>
      <p:cxnSp>
        <p:nvCxnSpPr>
          <p:cNvPr id="20490" name="Straight Arrow Connector 19">
            <a:extLst>
              <a:ext uri="{FF2B5EF4-FFF2-40B4-BE49-F238E27FC236}">
                <a16:creationId xmlns:a16="http://schemas.microsoft.com/office/drawing/2014/main" id="{49D3AA8D-B380-9D46-8164-A791AA5C5CCC}"/>
              </a:ext>
            </a:extLst>
          </p:cNvPr>
          <p:cNvCxnSpPr>
            <a:cxnSpLocks noChangeShapeType="1"/>
            <a:stCxn id="20489" idx="3"/>
          </p:cNvCxnSpPr>
          <p:nvPr/>
        </p:nvCxnSpPr>
        <p:spPr bwMode="auto">
          <a:xfrm flipV="1">
            <a:off x="4800600" y="2662239"/>
            <a:ext cx="5334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0ED359FA-AD38-9342-B362-4DDFA64A0561}"/>
              </a:ext>
            </a:extLst>
          </p:cNvPr>
          <p:cNvSpPr/>
          <p:nvPr/>
        </p:nvSpPr>
        <p:spPr bwMode="auto">
          <a:xfrm>
            <a:off x="5410200" y="34290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0492" name="Straight Arrow Connector 23">
            <a:extLst>
              <a:ext uri="{FF2B5EF4-FFF2-40B4-BE49-F238E27FC236}">
                <a16:creationId xmlns:a16="http://schemas.microsoft.com/office/drawing/2014/main" id="{8E736733-633F-3549-BD52-7669B8AD807A}"/>
              </a:ext>
            </a:extLst>
          </p:cNvPr>
          <p:cNvCxnSpPr>
            <a:cxnSpLocks noChangeShapeType="1"/>
            <a:stCxn id="23" idx="0"/>
          </p:cNvCxnSpPr>
          <p:nvPr/>
        </p:nvCxnSpPr>
        <p:spPr bwMode="auto">
          <a:xfrm flipV="1">
            <a:off x="5638800" y="2971800"/>
            <a:ext cx="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493" name="TextBox 24">
            <a:extLst>
              <a:ext uri="{FF2B5EF4-FFF2-40B4-BE49-F238E27FC236}">
                <a16:creationId xmlns:a16="http://schemas.microsoft.com/office/drawing/2014/main" id="{8EBCDD98-52B1-1D48-9D14-F6498A67E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3348038"/>
            <a:ext cx="2209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Third commit</a:t>
            </a:r>
          </a:p>
        </p:txBody>
      </p:sp>
      <p:cxnSp>
        <p:nvCxnSpPr>
          <p:cNvPr id="20494" name="Straight Arrow Connector 25">
            <a:extLst>
              <a:ext uri="{FF2B5EF4-FFF2-40B4-BE49-F238E27FC236}">
                <a16:creationId xmlns:a16="http://schemas.microsoft.com/office/drawing/2014/main" id="{860ED793-F3F2-CC46-9DBB-430DD9225BEA}"/>
              </a:ext>
            </a:extLst>
          </p:cNvPr>
          <p:cNvCxnSpPr>
            <a:cxnSpLocks noChangeShapeType="1"/>
            <a:stCxn id="20493" idx="3"/>
          </p:cNvCxnSpPr>
          <p:nvPr/>
        </p:nvCxnSpPr>
        <p:spPr bwMode="auto">
          <a:xfrm flipV="1">
            <a:off x="4800600" y="3576639"/>
            <a:ext cx="5334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C1A27008-F3C7-C940-B48C-2B287D9D4ABE}"/>
              </a:ext>
            </a:extLst>
          </p:cNvPr>
          <p:cNvSpPr/>
          <p:nvPr/>
        </p:nvSpPr>
        <p:spPr bwMode="auto">
          <a:xfrm>
            <a:off x="6705600" y="39624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sp>
        <p:nvSpPr>
          <p:cNvPr id="20496" name="TextBox 27">
            <a:extLst>
              <a:ext uri="{FF2B5EF4-FFF2-40B4-BE49-F238E27FC236}">
                <a16:creationId xmlns:a16="http://schemas.microsoft.com/office/drawing/2014/main" id="{C0651D51-0A3A-8848-B1C5-72244AB95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3886201"/>
            <a:ext cx="2020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Debug</a:t>
            </a:r>
            <a:r>
              <a:rPr lang="zh-CN" altLang="en-US" dirty="0"/>
              <a:t> </a:t>
            </a:r>
            <a:r>
              <a:rPr lang="en-US" altLang="zh-CN" dirty="0"/>
              <a:t>commit</a:t>
            </a:r>
          </a:p>
        </p:txBody>
      </p:sp>
      <p:cxnSp>
        <p:nvCxnSpPr>
          <p:cNvPr id="20497" name="Straight Arrow Connector 29">
            <a:extLst>
              <a:ext uri="{FF2B5EF4-FFF2-40B4-BE49-F238E27FC236}">
                <a16:creationId xmlns:a16="http://schemas.microsoft.com/office/drawing/2014/main" id="{989CCF8E-94A6-0E4E-B232-7B20F950F20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315200" y="4114800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498" name="Straight Arrow Connector 30">
            <a:extLst>
              <a:ext uri="{FF2B5EF4-FFF2-40B4-BE49-F238E27FC236}">
                <a16:creationId xmlns:a16="http://schemas.microsoft.com/office/drawing/2014/main" id="{4F912078-A71F-0643-87EF-5FF9F97AABFE}"/>
              </a:ext>
            </a:extLst>
          </p:cNvPr>
          <p:cNvCxnSpPr>
            <a:cxnSpLocks noChangeShapeType="1"/>
            <a:endCxn id="23" idx="6"/>
          </p:cNvCxnSpPr>
          <p:nvPr/>
        </p:nvCxnSpPr>
        <p:spPr bwMode="auto">
          <a:xfrm flipH="1" flipV="1">
            <a:off x="5867400" y="3657600"/>
            <a:ext cx="83820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0991CDEB-1190-5F45-989C-A3EDA0E02E26}"/>
              </a:ext>
            </a:extLst>
          </p:cNvPr>
          <p:cNvSpPr/>
          <p:nvPr/>
        </p:nvSpPr>
        <p:spPr bwMode="auto">
          <a:xfrm>
            <a:off x="5410200" y="43434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0500" name="Straight Arrow Connector 33">
            <a:extLst>
              <a:ext uri="{FF2B5EF4-FFF2-40B4-BE49-F238E27FC236}">
                <a16:creationId xmlns:a16="http://schemas.microsoft.com/office/drawing/2014/main" id="{10155D03-3568-E64F-94CF-5682A705F3EA}"/>
              </a:ext>
            </a:extLst>
          </p:cNvPr>
          <p:cNvCxnSpPr>
            <a:cxnSpLocks noChangeShapeType="1"/>
            <a:stCxn id="33" idx="0"/>
          </p:cNvCxnSpPr>
          <p:nvPr/>
        </p:nvCxnSpPr>
        <p:spPr bwMode="auto">
          <a:xfrm flipV="1">
            <a:off x="5638800" y="3886200"/>
            <a:ext cx="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1" name="TextBox 34">
            <a:extLst>
              <a:ext uri="{FF2B5EF4-FFF2-40B4-BE49-F238E27FC236}">
                <a16:creationId xmlns:a16="http://schemas.microsoft.com/office/drawing/2014/main" id="{C4E3422E-847B-4F4F-87C7-AAFEA2C928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4262438"/>
            <a:ext cx="22098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Fourth commit</a:t>
            </a:r>
          </a:p>
        </p:txBody>
      </p:sp>
      <p:cxnSp>
        <p:nvCxnSpPr>
          <p:cNvPr id="20502" name="Straight Arrow Connector 35">
            <a:extLst>
              <a:ext uri="{FF2B5EF4-FFF2-40B4-BE49-F238E27FC236}">
                <a16:creationId xmlns:a16="http://schemas.microsoft.com/office/drawing/2014/main" id="{B133DFA5-792C-7346-AAEB-424ED59A3A8E}"/>
              </a:ext>
            </a:extLst>
          </p:cNvPr>
          <p:cNvCxnSpPr>
            <a:cxnSpLocks noChangeShapeType="1"/>
            <a:stCxn id="20501" idx="3"/>
          </p:cNvCxnSpPr>
          <p:nvPr/>
        </p:nvCxnSpPr>
        <p:spPr bwMode="auto">
          <a:xfrm flipV="1">
            <a:off x="4800600" y="4491039"/>
            <a:ext cx="533400" cy="317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A0C92BF0-7C6C-F947-8E14-D1BE648588A6}"/>
              </a:ext>
            </a:extLst>
          </p:cNvPr>
          <p:cNvSpPr/>
          <p:nvPr/>
        </p:nvSpPr>
        <p:spPr bwMode="auto">
          <a:xfrm>
            <a:off x="6705600" y="487680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0504" name="Straight Arrow Connector 37">
            <a:extLst>
              <a:ext uri="{FF2B5EF4-FFF2-40B4-BE49-F238E27FC236}">
                <a16:creationId xmlns:a16="http://schemas.microsoft.com/office/drawing/2014/main" id="{21D3AE89-555F-2B45-921A-11F1BD9ED650}"/>
              </a:ext>
            </a:extLst>
          </p:cNvPr>
          <p:cNvCxnSpPr>
            <a:cxnSpLocks noChangeShapeType="1"/>
            <a:stCxn id="37" idx="0"/>
          </p:cNvCxnSpPr>
          <p:nvPr/>
        </p:nvCxnSpPr>
        <p:spPr bwMode="auto">
          <a:xfrm flipV="1">
            <a:off x="6934200" y="4419600"/>
            <a:ext cx="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Oval 25">
            <a:extLst>
              <a:ext uri="{FF2B5EF4-FFF2-40B4-BE49-F238E27FC236}">
                <a16:creationId xmlns:a16="http://schemas.microsoft.com/office/drawing/2014/main" id="{E49CABCF-3BEF-5248-AF0D-9A813B46CD78}"/>
              </a:ext>
            </a:extLst>
          </p:cNvPr>
          <p:cNvSpPr/>
          <p:nvPr/>
        </p:nvSpPr>
        <p:spPr bwMode="auto">
          <a:xfrm>
            <a:off x="5410200" y="5251450"/>
            <a:ext cx="457200" cy="4572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en-US">
              <a:latin typeface="Times" pitchFamily="1" charset="0"/>
              <a:ea typeface="ＭＳ Ｐゴシック" charset="0"/>
              <a:cs typeface="ＭＳ Ｐゴシック" charset="0"/>
            </a:endParaRPr>
          </a:p>
        </p:txBody>
      </p:sp>
      <p:cxnSp>
        <p:nvCxnSpPr>
          <p:cNvPr id="20506" name="Straight Arrow Connector 33">
            <a:extLst>
              <a:ext uri="{FF2B5EF4-FFF2-40B4-BE49-F238E27FC236}">
                <a16:creationId xmlns:a16="http://schemas.microsoft.com/office/drawing/2014/main" id="{23B57CE4-A372-4F42-B6CF-F53E691AB39F}"/>
              </a:ext>
            </a:extLst>
          </p:cNvPr>
          <p:cNvCxnSpPr>
            <a:cxnSpLocks noChangeShapeType="1"/>
            <a:stCxn id="26" idx="0"/>
          </p:cNvCxnSpPr>
          <p:nvPr/>
        </p:nvCxnSpPr>
        <p:spPr bwMode="auto">
          <a:xfrm flipV="1">
            <a:off x="5638800" y="4794250"/>
            <a:ext cx="0" cy="4572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0507" name="Straight Arrow Connector 33">
            <a:extLst>
              <a:ext uri="{FF2B5EF4-FFF2-40B4-BE49-F238E27FC236}">
                <a16:creationId xmlns:a16="http://schemas.microsoft.com/office/drawing/2014/main" id="{9403BEB3-E0E2-8049-8B3D-525F2570B210}"/>
              </a:ext>
            </a:extLst>
          </p:cNvPr>
          <p:cNvCxnSpPr>
            <a:cxnSpLocks noChangeShapeType="1"/>
            <a:stCxn id="26" idx="6"/>
            <a:endCxn id="37" idx="2"/>
          </p:cNvCxnSpPr>
          <p:nvPr/>
        </p:nvCxnSpPr>
        <p:spPr bwMode="auto">
          <a:xfrm flipV="1">
            <a:off x="5867400" y="5105400"/>
            <a:ext cx="838200" cy="3746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08" name="TextBox 34">
            <a:extLst>
              <a:ext uri="{FF2B5EF4-FFF2-40B4-BE49-F238E27FC236}">
                <a16:creationId xmlns:a16="http://schemas.microsoft.com/office/drawing/2014/main" id="{DDF7C99F-2DAD-7149-987A-75B390A825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5257801"/>
            <a:ext cx="1066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/>
              <a:t>Merge</a:t>
            </a:r>
          </a:p>
        </p:txBody>
      </p:sp>
      <p:cxnSp>
        <p:nvCxnSpPr>
          <p:cNvPr id="20509" name="Straight Arrow Connector 35">
            <a:extLst>
              <a:ext uri="{FF2B5EF4-FFF2-40B4-BE49-F238E27FC236}">
                <a16:creationId xmlns:a16="http://schemas.microsoft.com/office/drawing/2014/main" id="{6D0AA70B-72B8-DA4F-A43C-F121D611C6D7}"/>
              </a:ext>
            </a:extLst>
          </p:cNvPr>
          <p:cNvCxnSpPr>
            <a:cxnSpLocks noChangeShapeType="1"/>
            <a:stCxn id="20508" idx="3"/>
          </p:cNvCxnSpPr>
          <p:nvPr/>
        </p:nvCxnSpPr>
        <p:spPr bwMode="auto">
          <a:xfrm flipV="1">
            <a:off x="4800600" y="5486400"/>
            <a:ext cx="533400" cy="1588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0" name="TextBox 27">
            <a:extLst>
              <a:ext uri="{FF2B5EF4-FFF2-40B4-BE49-F238E27FC236}">
                <a16:creationId xmlns:a16="http://schemas.microsoft.com/office/drawing/2014/main" id="{387EBEFF-50E7-9740-B626-C244876939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4872038"/>
            <a:ext cx="202010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2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dirty="0"/>
              <a:t>Debug</a:t>
            </a:r>
            <a:r>
              <a:rPr lang="zh-CN" altLang="en-US" dirty="0"/>
              <a:t> </a:t>
            </a:r>
            <a:r>
              <a:rPr lang="en-US" altLang="zh-CN" dirty="0"/>
              <a:t>commit</a:t>
            </a:r>
          </a:p>
        </p:txBody>
      </p:sp>
      <p:cxnSp>
        <p:nvCxnSpPr>
          <p:cNvPr id="20511" name="Straight Arrow Connector 29">
            <a:extLst>
              <a:ext uri="{FF2B5EF4-FFF2-40B4-BE49-F238E27FC236}">
                <a16:creationId xmlns:a16="http://schemas.microsoft.com/office/drawing/2014/main" id="{0BDC7298-1C9D-7347-AA68-AC2072C78EBE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315200" y="5100638"/>
            <a:ext cx="304800" cy="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的分支功能解决问题</a:t>
            </a:r>
            <a:r>
              <a:rPr lang="en-US" altLang="zh-CN" dirty="0"/>
              <a:t>3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branch</a:t>
            </a:r>
          </a:p>
          <a:p>
            <a:pPr lvl="1"/>
            <a:r>
              <a:rPr lang="zh-CN" altLang="en-US" sz="2800" dirty="0"/>
              <a:t>查看当前的</a:t>
            </a:r>
            <a:r>
              <a:rPr lang="en-US" altLang="zh-CN" sz="2800" dirty="0"/>
              <a:t>branch</a:t>
            </a:r>
          </a:p>
          <a:p>
            <a:r>
              <a:rPr lang="zh-CN" altLang="en-US" sz="3200" dirty="0"/>
              <a:t>创建一个新的分支</a:t>
            </a:r>
            <a:endParaRPr lang="en-US" altLang="zh-CN" sz="3200" dirty="0"/>
          </a:p>
          <a:p>
            <a:pPr lvl="1"/>
            <a:r>
              <a:rPr lang="en-US" altLang="zh-CN" sz="2800" dirty="0"/>
              <a:t>Git</a:t>
            </a:r>
            <a:r>
              <a:rPr lang="zh-CN" altLang="en-US" sz="2800" dirty="0"/>
              <a:t> </a:t>
            </a:r>
            <a:r>
              <a:rPr lang="en-US" altLang="zh-CN" sz="2800" dirty="0"/>
              <a:t>checkout</a:t>
            </a:r>
            <a:r>
              <a:rPr lang="zh-CN" altLang="en-US" sz="2800" dirty="0"/>
              <a:t> </a:t>
            </a:r>
            <a:r>
              <a:rPr lang="en-US" altLang="zh-CN" sz="2800" dirty="0"/>
              <a:t>–b</a:t>
            </a:r>
            <a:r>
              <a:rPr lang="zh-CN" altLang="en-US" sz="2800" dirty="0"/>
              <a:t> 新分支的名字</a:t>
            </a:r>
            <a:endParaRPr lang="en-US" altLang="zh-CN" sz="2800" dirty="0"/>
          </a:p>
          <a:p>
            <a:pPr lvl="1"/>
            <a:r>
              <a:rPr lang="zh-CN" altLang="en-US" sz="2800" dirty="0"/>
              <a:t>不同的分支之间，修改是独立的，不会互相影响</a:t>
            </a:r>
            <a:endParaRPr lang="en-US" altLang="zh-CN" sz="2800" dirty="0"/>
          </a:p>
          <a:p>
            <a:pPr lvl="1"/>
            <a:endParaRPr lang="en-US" altLang="zh-CN" sz="28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23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D57BFE2-BCA3-7E4A-A2B0-589E0D95B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056" y="1268760"/>
            <a:ext cx="1898702" cy="102237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037AF910-CA0B-D74E-B563-1776164138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572" y="3370684"/>
            <a:ext cx="5969000" cy="34544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A901123-F20E-DB43-BEAD-BB197AACF027}"/>
              </a:ext>
            </a:extLst>
          </p:cNvPr>
          <p:cNvSpPr/>
          <p:nvPr/>
        </p:nvSpPr>
        <p:spPr>
          <a:xfrm>
            <a:off x="1703512" y="3276600"/>
            <a:ext cx="1152128" cy="30480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6301EB-49B6-A244-9494-C8567DFA4FA9}"/>
              </a:ext>
            </a:extLst>
          </p:cNvPr>
          <p:cNvSpPr txBox="1"/>
          <p:nvPr/>
        </p:nvSpPr>
        <p:spPr>
          <a:xfrm>
            <a:off x="8259571" y="3571727"/>
            <a:ext cx="2363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默认的</a:t>
            </a:r>
            <a:r>
              <a:rPr kumimoji="1" lang="en-US" altLang="zh-CN" sz="2400" dirty="0">
                <a:solidFill>
                  <a:srgbClr val="FF0000"/>
                </a:solidFill>
              </a:rPr>
              <a:t>main</a:t>
            </a:r>
            <a:r>
              <a:rPr kumimoji="1" lang="zh-CN" altLang="en-US" sz="2400" dirty="0">
                <a:solidFill>
                  <a:srgbClr val="FF0000"/>
                </a:solidFill>
              </a:rPr>
              <a:t>分支</a:t>
            </a:r>
          </a:p>
        </p:txBody>
      </p:sp>
      <p:sp>
        <p:nvSpPr>
          <p:cNvPr id="15" name="下箭头 14">
            <a:extLst>
              <a:ext uri="{FF2B5EF4-FFF2-40B4-BE49-F238E27FC236}">
                <a16:creationId xmlns:a16="http://schemas.microsoft.com/office/drawing/2014/main" id="{E216C295-982F-2A4D-9873-CC816DB10DA6}"/>
              </a:ext>
            </a:extLst>
          </p:cNvPr>
          <p:cNvSpPr/>
          <p:nvPr/>
        </p:nvSpPr>
        <p:spPr>
          <a:xfrm rot="5614708">
            <a:off x="5416092" y="924780"/>
            <a:ext cx="337446" cy="533885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下箭头 15">
            <a:extLst>
              <a:ext uri="{FF2B5EF4-FFF2-40B4-BE49-F238E27FC236}">
                <a16:creationId xmlns:a16="http://schemas.microsoft.com/office/drawing/2014/main" id="{6CBC21C9-F746-E348-9A80-FB731137515D}"/>
              </a:ext>
            </a:extLst>
          </p:cNvPr>
          <p:cNvSpPr/>
          <p:nvPr/>
        </p:nvSpPr>
        <p:spPr>
          <a:xfrm rot="5614708">
            <a:off x="5689985" y="3313241"/>
            <a:ext cx="337446" cy="24970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75C9003-C4E5-B24A-9E2A-20C849618CE6}"/>
              </a:ext>
            </a:extLst>
          </p:cNvPr>
          <p:cNvSpPr txBox="1"/>
          <p:nvPr/>
        </p:nvSpPr>
        <p:spPr>
          <a:xfrm>
            <a:off x="7680176" y="4442854"/>
            <a:ext cx="34531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创建并切换到</a:t>
            </a:r>
            <a:r>
              <a:rPr kumimoji="1" lang="en-US" altLang="zh-CN" sz="2400" dirty="0">
                <a:solidFill>
                  <a:srgbClr val="FF0000"/>
                </a:solidFill>
              </a:rPr>
              <a:t>debug</a:t>
            </a:r>
            <a:r>
              <a:rPr kumimoji="1" lang="zh-CN" altLang="en-US" sz="2400" dirty="0">
                <a:solidFill>
                  <a:srgbClr val="FF0000"/>
                </a:solidFill>
              </a:rPr>
              <a:t>分支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B38792-E4C1-F949-9236-BA684FB449A6}"/>
              </a:ext>
            </a:extLst>
          </p:cNvPr>
          <p:cNvSpPr/>
          <p:nvPr/>
        </p:nvSpPr>
        <p:spPr>
          <a:xfrm>
            <a:off x="235144" y="3571726"/>
            <a:ext cx="4819712" cy="871127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017CE372-93A7-C944-9E0D-A6B91C58E22E}"/>
              </a:ext>
            </a:extLst>
          </p:cNvPr>
          <p:cNvSpPr/>
          <p:nvPr/>
        </p:nvSpPr>
        <p:spPr>
          <a:xfrm rot="5614708">
            <a:off x="7380684" y="5257160"/>
            <a:ext cx="337446" cy="24970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9E7529-EA65-2A4D-A7D2-76542F422E89}"/>
              </a:ext>
            </a:extLst>
          </p:cNvPr>
          <p:cNvSpPr txBox="1"/>
          <p:nvPr/>
        </p:nvSpPr>
        <p:spPr>
          <a:xfrm>
            <a:off x="8209924" y="6056818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在新的分支里提交代码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3A396C6-D2E7-3F4D-B1C0-8A446F243F6C}"/>
              </a:ext>
            </a:extLst>
          </p:cNvPr>
          <p:cNvSpPr/>
          <p:nvPr/>
        </p:nvSpPr>
        <p:spPr>
          <a:xfrm>
            <a:off x="108208" y="5931028"/>
            <a:ext cx="6118363" cy="871127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62425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/>
      <p:bldP spid="15" grpId="0" animBg="1"/>
      <p:bldP spid="16" grpId="0" animBg="1"/>
      <p:bldP spid="17" grpId="0"/>
      <p:bldP spid="18" grpId="0" animBg="1"/>
      <p:bldP spid="19" grpId="0" animBg="1"/>
      <p:bldP spid="20" grpId="0"/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Git</a:t>
            </a:r>
            <a:r>
              <a:rPr lang="zh-CN" altLang="en-US" dirty="0"/>
              <a:t>的分支功能解决问题</a:t>
            </a:r>
            <a:r>
              <a:rPr lang="en-US" altLang="zh-CN" dirty="0"/>
              <a:t>3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branch</a:t>
            </a:r>
          </a:p>
          <a:p>
            <a:pPr lvl="1"/>
            <a:r>
              <a:rPr lang="zh-CN" altLang="en-US" sz="2800" dirty="0"/>
              <a:t>查看当前的</a:t>
            </a:r>
            <a:r>
              <a:rPr lang="en-US" altLang="zh-CN" sz="2800" dirty="0"/>
              <a:t>branch</a:t>
            </a:r>
          </a:p>
          <a:p>
            <a:endParaRPr lang="en-US" altLang="zh-CN" sz="3200" dirty="0"/>
          </a:p>
          <a:p>
            <a:r>
              <a:rPr lang="en-US" altLang="zh-CN" sz="3200" dirty="0"/>
              <a:t>Git</a:t>
            </a:r>
            <a:r>
              <a:rPr lang="zh-CN" altLang="en-US" sz="3200" dirty="0"/>
              <a:t> </a:t>
            </a:r>
            <a:r>
              <a:rPr lang="en-US" altLang="zh-CN" sz="3200" dirty="0"/>
              <a:t>log</a:t>
            </a:r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24</a:t>
            </a:fld>
            <a:endParaRPr lang="en-CN"/>
          </a:p>
        </p:txBody>
      </p:sp>
      <p:sp>
        <p:nvSpPr>
          <p:cNvPr id="9" name="AutoShape 2" descr="r/linux - Lines of code in the Linux kernel">
            <a:extLst>
              <a:ext uri="{FF2B5EF4-FFF2-40B4-BE49-F238E27FC236}">
                <a16:creationId xmlns:a16="http://schemas.microsoft.com/office/drawing/2014/main" id="{A8120465-BEC8-8340-B7F0-ADD148CD42C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A9E7529-EA65-2A4D-A7D2-76542F422E89}"/>
              </a:ext>
            </a:extLst>
          </p:cNvPr>
          <p:cNvSpPr txBox="1"/>
          <p:nvPr/>
        </p:nvSpPr>
        <p:spPr>
          <a:xfrm>
            <a:off x="8210210" y="4869160"/>
            <a:ext cx="39469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400" dirty="0">
                <a:solidFill>
                  <a:srgbClr val="FF0000"/>
                </a:solidFill>
              </a:rPr>
              <a:t>多出来的新的</a:t>
            </a:r>
            <a:r>
              <a:rPr kumimoji="1" lang="en-US" altLang="zh-CN" sz="2400" dirty="0">
                <a:solidFill>
                  <a:srgbClr val="FF0000"/>
                </a:solidFill>
              </a:rPr>
              <a:t>debug</a:t>
            </a:r>
            <a:r>
              <a:rPr kumimoji="1" lang="zh-CN" altLang="en-US" sz="2400" dirty="0">
                <a:solidFill>
                  <a:srgbClr val="FF0000"/>
                </a:solidFill>
              </a:rPr>
              <a:t> </a:t>
            </a:r>
            <a:r>
              <a:rPr kumimoji="1" lang="en-US" altLang="zh-CN" sz="2400" dirty="0">
                <a:solidFill>
                  <a:srgbClr val="FF0000"/>
                </a:solidFill>
              </a:rPr>
              <a:t>commit</a:t>
            </a:r>
            <a:r>
              <a:rPr kumimoji="1" lang="zh-CN" altLang="en-US" sz="2400" dirty="0">
                <a:solidFill>
                  <a:srgbClr val="FF0000"/>
                </a:solidFill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BCA134-6386-2D43-9424-4ADC326DC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" y="3429000"/>
            <a:ext cx="8013700" cy="3556000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286792D0-7DA3-9744-AC3D-486C8C443D9B}"/>
              </a:ext>
            </a:extLst>
          </p:cNvPr>
          <p:cNvSpPr/>
          <p:nvPr/>
        </p:nvSpPr>
        <p:spPr>
          <a:xfrm>
            <a:off x="-68690" y="3429000"/>
            <a:ext cx="6884770" cy="1800200"/>
          </a:xfrm>
          <a:prstGeom prst="rect">
            <a:avLst/>
          </a:prstGeom>
          <a:solidFill>
            <a:schemeClr val="accent1">
              <a:alpha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下箭头 18">
            <a:extLst>
              <a:ext uri="{FF2B5EF4-FFF2-40B4-BE49-F238E27FC236}">
                <a16:creationId xmlns:a16="http://schemas.microsoft.com/office/drawing/2014/main" id="{017CE372-93A7-C944-9E0D-A6B91C58E22E}"/>
              </a:ext>
            </a:extLst>
          </p:cNvPr>
          <p:cNvSpPr/>
          <p:nvPr/>
        </p:nvSpPr>
        <p:spPr>
          <a:xfrm rot="5614708">
            <a:off x="7975855" y="3298129"/>
            <a:ext cx="337446" cy="24970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E17D1F3-6CEC-F84C-B979-B53762C37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440" y="1102331"/>
            <a:ext cx="2880320" cy="17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982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19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的其他使用场景</a:t>
            </a:r>
            <a:r>
              <a:rPr lang="en-US" altLang="zh-CN" dirty="0"/>
              <a:t>/</a:t>
            </a:r>
            <a:r>
              <a:rPr lang="zh-CN" altLang="en-US" dirty="0"/>
              <a:t>功能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快速回滚到一个</a:t>
            </a:r>
            <a:r>
              <a:rPr lang="en-US" altLang="zh-CN" dirty="0"/>
              <a:t>commit</a:t>
            </a:r>
          </a:p>
          <a:p>
            <a:pPr lvl="1"/>
            <a:r>
              <a:rPr lang="en-US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checkout</a:t>
            </a:r>
            <a:r>
              <a:rPr lang="zh-CN" altLang="en-US" dirty="0"/>
              <a:t> </a:t>
            </a:r>
            <a:r>
              <a:rPr lang="en-US" altLang="zh-CN" i="1" dirty="0" err="1"/>
              <a:t>commit_num</a:t>
            </a:r>
            <a:endParaRPr lang="en" altLang="zh-CN" dirty="0"/>
          </a:p>
          <a:p>
            <a:pPr lvl="1"/>
            <a:r>
              <a:rPr lang="en-US" dirty="0" err="1"/>
              <a:t>之前某个commi代表稳定版本</a:t>
            </a:r>
            <a:r>
              <a:rPr lang="zh-CN" altLang="en-US" dirty="0"/>
              <a:t>，那么在演示的时候可以切换到特定的</a:t>
            </a:r>
            <a:r>
              <a:rPr lang="en-US" altLang="zh-CN" dirty="0"/>
              <a:t>commit</a:t>
            </a:r>
          </a:p>
          <a:p>
            <a:r>
              <a:rPr lang="en-US" dirty="0" err="1"/>
              <a:t>支持多人协助</a:t>
            </a:r>
            <a:endParaRPr lang="en-US" dirty="0"/>
          </a:p>
          <a:p>
            <a:pPr lvl="1"/>
            <a:r>
              <a:rPr lang="en-US" dirty="0" err="1"/>
              <a:t>大家在自己的项目</a:t>
            </a:r>
            <a:r>
              <a:rPr lang="zh-CN" altLang="en-US" dirty="0"/>
              <a:t>（不同的分支）</a:t>
            </a:r>
            <a:r>
              <a:rPr lang="en-US" dirty="0" err="1"/>
              <a:t>里面开发</a:t>
            </a:r>
            <a:r>
              <a:rPr lang="zh-CN" altLang="en-US" dirty="0"/>
              <a:t>，最后合并到一起（</a:t>
            </a:r>
            <a:r>
              <a:rPr lang="en-US" altLang="zh-CN" dirty="0"/>
              <a:t>git</a:t>
            </a:r>
            <a:r>
              <a:rPr lang="zh-CN" altLang="en-US" dirty="0"/>
              <a:t> </a:t>
            </a:r>
            <a:r>
              <a:rPr lang="en-US" altLang="zh-CN" dirty="0"/>
              <a:t>merge</a:t>
            </a:r>
            <a:r>
              <a:rPr lang="zh-CN" altLang="en-US" dirty="0"/>
              <a:t>，或者</a:t>
            </a:r>
            <a:r>
              <a:rPr lang="en-US" altLang="zh-CN" dirty="0" err="1"/>
              <a:t>github</a:t>
            </a:r>
            <a:r>
              <a:rPr lang="zh-CN" altLang="en-US" dirty="0"/>
              <a:t>上提供的</a:t>
            </a:r>
            <a:r>
              <a:rPr lang="en-US" altLang="zh-CN" dirty="0"/>
              <a:t>Pull</a:t>
            </a:r>
            <a:r>
              <a:rPr lang="zh-CN" altLang="en-US" dirty="0"/>
              <a:t> </a:t>
            </a:r>
            <a:r>
              <a:rPr lang="en-US" altLang="zh-CN" dirty="0"/>
              <a:t>Request</a:t>
            </a:r>
            <a:r>
              <a:rPr lang="zh-CN" altLang="en-US" dirty="0"/>
              <a:t>功能）</a:t>
            </a:r>
            <a:endParaRPr lang="en-US" altLang="zh-CN" dirty="0"/>
          </a:p>
          <a:p>
            <a:pPr lvl="1"/>
            <a:r>
              <a:rPr lang="zh-CN" altLang="en-US" dirty="0"/>
              <a:t>大量的开源项目是基于</a:t>
            </a:r>
            <a:r>
              <a:rPr lang="en-US" altLang="zh-CN" dirty="0"/>
              <a:t>git</a:t>
            </a:r>
            <a:r>
              <a:rPr lang="zh-CN" altLang="en-US" dirty="0"/>
              <a:t>的</a:t>
            </a:r>
            <a:r>
              <a:rPr lang="en-US" altLang="zh-CN" dirty="0"/>
              <a:t>merge</a:t>
            </a:r>
            <a:r>
              <a:rPr lang="zh-CN" altLang="en-US" dirty="0"/>
              <a:t>机制来工作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77082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的一些（不完整）的注意事项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5328592"/>
          </a:xfrm>
        </p:spPr>
        <p:txBody>
          <a:bodyPr>
            <a:normAutofit lnSpcReduction="10000"/>
          </a:bodyPr>
          <a:lstStyle/>
          <a:p>
            <a:r>
              <a:rPr lang="zh-CN" altLang="en-US" dirty="0"/>
              <a:t>目前如</a:t>
            </a:r>
            <a:r>
              <a:rPr lang="en-US" altLang="zh-CN" dirty="0" err="1"/>
              <a:t>github</a:t>
            </a:r>
            <a:r>
              <a:rPr lang="zh-CN" altLang="en-US" dirty="0"/>
              <a:t>这样的代码仓库基本上要求以</a:t>
            </a:r>
            <a:r>
              <a:rPr lang="en-US" altLang="zh-CN" dirty="0"/>
              <a:t>SSH</a:t>
            </a:r>
            <a:r>
              <a:rPr lang="zh-CN" altLang="en-US" dirty="0"/>
              <a:t>的方式来</a:t>
            </a:r>
            <a:r>
              <a:rPr lang="en-US" altLang="zh-CN" dirty="0"/>
              <a:t>push</a:t>
            </a:r>
            <a:r>
              <a:rPr lang="zh-CN" altLang="en-US" dirty="0"/>
              <a:t>代码，需要自己配置本机和</a:t>
            </a:r>
            <a:r>
              <a:rPr lang="en-US" altLang="zh-CN" dirty="0" err="1"/>
              <a:t>github</a:t>
            </a:r>
            <a:r>
              <a:rPr lang="zh-CN" altLang="en-US" dirty="0"/>
              <a:t>上对应的公私钥</a:t>
            </a:r>
            <a:endParaRPr lang="en-US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使用的时候，如</a:t>
            </a:r>
            <a:r>
              <a:rPr lang="en-US" altLang="zh-CN" dirty="0"/>
              <a:t>commit</a:t>
            </a:r>
            <a:r>
              <a:rPr lang="zh-CN" altLang="en-US" dirty="0"/>
              <a:t>，有</a:t>
            </a:r>
            <a:r>
              <a:rPr lang="en-US" altLang="zh-CN" dirty="0"/>
              <a:t>commit</a:t>
            </a:r>
            <a:r>
              <a:rPr lang="zh-CN" altLang="en-US" dirty="0"/>
              <a:t> </a:t>
            </a:r>
            <a:r>
              <a:rPr lang="en-US" altLang="zh-CN" dirty="0"/>
              <a:t>message</a:t>
            </a:r>
            <a:r>
              <a:rPr lang="zh-CN" altLang="en-US" dirty="0"/>
              <a:t>，最好配置好自己的名字和邮箱，比如：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推荐阅读：</a:t>
            </a:r>
            <a:r>
              <a:rPr lang="en" altLang="zh-CN" dirty="0">
                <a:hlinkClick r:id="rId2"/>
              </a:rPr>
              <a:t>https://git-scm.com/docs/gittutorial</a:t>
            </a:r>
            <a:endParaRPr lang="en" altLang="zh-CN" dirty="0"/>
          </a:p>
          <a:p>
            <a:r>
              <a:rPr lang="en-US" altLang="zh-CN" dirty="0"/>
              <a:t>Git</a:t>
            </a:r>
            <a:r>
              <a:rPr lang="zh-CN" altLang="en-US" dirty="0"/>
              <a:t>安装</a:t>
            </a:r>
            <a:r>
              <a:rPr lang="en-US" altLang="zh-CN" dirty="0"/>
              <a:t>:</a:t>
            </a:r>
          </a:p>
          <a:p>
            <a:pPr lvl="1"/>
            <a:r>
              <a:rPr lang="en-US" altLang="zh-CN" dirty="0"/>
              <a:t>Linux:</a:t>
            </a:r>
            <a:r>
              <a:rPr lang="zh-CN" altLang="en-US" dirty="0"/>
              <a:t> </a:t>
            </a:r>
            <a:r>
              <a:rPr lang="en" altLang="zh-CN" dirty="0">
                <a:hlinkClick r:id="rId3"/>
              </a:rPr>
              <a:t>https://git-scm.com/download/linux</a:t>
            </a:r>
            <a:endParaRPr lang="en" altLang="zh-CN" dirty="0"/>
          </a:p>
          <a:p>
            <a:pPr lvl="1"/>
            <a:r>
              <a:rPr lang="en-US" altLang="zh-CN" dirty="0"/>
              <a:t>MacOS:</a:t>
            </a:r>
            <a:r>
              <a:rPr lang="zh-CN" altLang="en-US" dirty="0"/>
              <a:t> </a:t>
            </a:r>
            <a:r>
              <a:rPr lang="en-US" altLang="zh-CN" dirty="0">
                <a:hlinkClick r:id="rId4"/>
              </a:rPr>
              <a:t>https://git-scm.com/download/mac</a:t>
            </a:r>
            <a:endParaRPr lang="en-US" altLang="zh-CN" dirty="0"/>
          </a:p>
          <a:p>
            <a:pPr lvl="1"/>
            <a:r>
              <a:rPr lang="en-US" altLang="zh-CN" dirty="0"/>
              <a:t>Windows:</a:t>
            </a:r>
            <a:r>
              <a:rPr lang="zh-CN" altLang="en-US" dirty="0"/>
              <a:t> </a:t>
            </a:r>
            <a:r>
              <a:rPr lang="en" altLang="zh-CN" dirty="0">
                <a:hlinkClick r:id="rId5"/>
              </a:rPr>
              <a:t>https://git-scm.com/download/win</a:t>
            </a:r>
            <a:r>
              <a:rPr lang="zh-CN" altLang="en-US" dirty="0"/>
              <a:t> 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26</a:t>
            </a:fld>
            <a:endParaRPr lang="en-CN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977A42-816F-0941-93E5-3938F5085E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3472" y="3374008"/>
            <a:ext cx="8168053" cy="758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389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06EB7-3BBF-1141-86ED-2D04F26DD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Git</a:t>
            </a:r>
            <a:r>
              <a:rPr lang="zh-CN" altLang="en-US" dirty="0"/>
              <a:t>的一些（不完整）的注意事项（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6D0E4-CCD2-474F-BF18-182D2417C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7091" y="1268760"/>
            <a:ext cx="11637818" cy="5328592"/>
          </a:xfrm>
        </p:spPr>
        <p:txBody>
          <a:bodyPr>
            <a:normAutofit/>
          </a:bodyPr>
          <a:lstStyle/>
          <a:p>
            <a:r>
              <a:rPr lang="zh-CN" altLang="en-CN" dirty="0"/>
              <a:t>如果</a:t>
            </a:r>
            <a:r>
              <a:rPr lang="zh-CN" altLang="en-US" dirty="0"/>
              <a:t>有时间，希望了解得更多，可以通过下面的</a:t>
            </a:r>
            <a:r>
              <a:rPr lang="en-US" altLang="zh-CN" dirty="0"/>
              <a:t>B</a:t>
            </a:r>
            <a:r>
              <a:rPr lang="zh-CN" altLang="en-US" dirty="0"/>
              <a:t>站视频自己学习</a:t>
            </a:r>
            <a:endParaRPr lang="en-US" altLang="zh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F7CB5-C57F-B94D-999B-B1EF9BCF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FE1A1A-A846-1244-B210-CC29CD60D5AB}" type="slidenum">
              <a:rPr lang="en-CN" smtClean="0"/>
              <a:t>27</a:t>
            </a:fld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C6AAB0-DB1A-992E-2CDA-FED80A8F6020}"/>
              </a:ext>
            </a:extLst>
          </p:cNvPr>
          <p:cNvSpPr txBox="1"/>
          <p:nvPr/>
        </p:nvSpPr>
        <p:spPr>
          <a:xfrm>
            <a:off x="546221" y="5685526"/>
            <a:ext cx="80926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N" dirty="0"/>
              <a:t>https://www.bilibili.com/video/BV1YR4y1E7LX/?spm_id_from=333.999.0.0&amp;vd_source=5fa8fab5a2f4b9332967b613e1750692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7E5010-0779-DE53-A617-81201193C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2" y="2011377"/>
            <a:ext cx="7772400" cy="35778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38F6785-D83C-3288-BB52-32A145A5F5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9657" y="2336800"/>
            <a:ext cx="2324100" cy="2184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28666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KColor">
      <a:dk1>
        <a:srgbClr val="000000"/>
      </a:dk1>
      <a:lt1>
        <a:srgbClr val="FFFFFF"/>
      </a:lt1>
      <a:dk2>
        <a:srgbClr val="323232"/>
      </a:dk2>
      <a:lt2>
        <a:srgbClr val="E5C243"/>
      </a:lt2>
      <a:accent1>
        <a:srgbClr val="FF2600"/>
      </a:accent1>
      <a:accent2>
        <a:srgbClr val="D55816"/>
      </a:accent2>
      <a:accent3>
        <a:srgbClr val="E19825"/>
      </a:accent3>
      <a:accent4>
        <a:srgbClr val="B19C7D"/>
      </a:accent4>
      <a:accent5>
        <a:srgbClr val="7F5F52"/>
      </a:accent5>
      <a:accent6>
        <a:srgbClr val="B27D49"/>
      </a:accent6>
      <a:hlink>
        <a:srgbClr val="6B9F25"/>
      </a:hlink>
      <a:folHlink>
        <a:srgbClr val="B26B0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4469</TotalTime>
  <Words>1586</Words>
  <Application>Microsoft Macintosh PowerPoint</Application>
  <PresentationFormat>宽屏</PresentationFormat>
  <Paragraphs>213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Microsoft YaHei</vt:lpstr>
      <vt:lpstr>Songti SC</vt:lpstr>
      <vt:lpstr>Times</vt:lpstr>
      <vt:lpstr>Arial</vt:lpstr>
      <vt:lpstr>Calibri</vt:lpstr>
      <vt:lpstr>Corbel</vt:lpstr>
      <vt:lpstr>Wingdings</vt:lpstr>
      <vt:lpstr>Office Theme</vt:lpstr>
      <vt:lpstr>计算机编程实践#7.5 Git与代码管理</vt:lpstr>
      <vt:lpstr>用Git管理代码</vt:lpstr>
      <vt:lpstr>原始的代码管理方式</vt:lpstr>
      <vt:lpstr>问题1：辛苦写的代码容易丢失</vt:lpstr>
      <vt:lpstr>Git</vt:lpstr>
      <vt:lpstr>Git+Github解决问题1</vt:lpstr>
      <vt:lpstr>Git+Github解决问题1</vt:lpstr>
      <vt:lpstr>Git+Github解决问题1</vt:lpstr>
      <vt:lpstr>Git+Github解决问题1</vt:lpstr>
      <vt:lpstr>Git+Github解决问题1</vt:lpstr>
      <vt:lpstr>Git的常用工作流程</vt:lpstr>
      <vt:lpstr>Git的常用工作流程（2）</vt:lpstr>
      <vt:lpstr>Git的常用工作流程（3）</vt:lpstr>
      <vt:lpstr>Git的常用工作流程（4）</vt:lpstr>
      <vt:lpstr>Git的常用工作流程（5）</vt:lpstr>
      <vt:lpstr>问题2：之前明明可以跑的，加了几行代码就跑不了了</vt:lpstr>
      <vt:lpstr>Git的版本管理解决问题2</vt:lpstr>
      <vt:lpstr>Git的版本管理解决问题2</vt:lpstr>
      <vt:lpstr>Git的版本管理解决问题2</vt:lpstr>
      <vt:lpstr>Git的版本管理解决问题2</vt:lpstr>
      <vt:lpstr>问题3：为了Debug，在代码里面加入了大量的打印日志</vt:lpstr>
      <vt:lpstr>Git的分支功能解决问题3</vt:lpstr>
      <vt:lpstr>Git的分支功能解决问题3</vt:lpstr>
      <vt:lpstr>Git的分支功能解决问题3</vt:lpstr>
      <vt:lpstr>Git的其他使用场景/功能</vt:lpstr>
      <vt:lpstr>Git的一些（不完整）的注意事项</vt:lpstr>
      <vt:lpstr>Git的一些（不完整）的注意事项（2）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Mingkai Dong</dc:creator>
  <cp:lastModifiedBy>Dong Du</cp:lastModifiedBy>
  <cp:revision>837</cp:revision>
  <dcterms:created xsi:type="dcterms:W3CDTF">2021-02-24T11:14:01Z</dcterms:created>
  <dcterms:modified xsi:type="dcterms:W3CDTF">2026-07-20T05:36:38Z</dcterms:modified>
</cp:coreProperties>
</file>