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7" r:id="rId3"/>
    <p:sldId id="2147483644" r:id="rId4"/>
    <p:sldId id="2147483645" r:id="rId5"/>
    <p:sldId id="2147483646" r:id="rId6"/>
    <p:sldId id="2147483647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147483643" r:id="rId18"/>
    <p:sldId id="273" r:id="rId1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53"/>
    <p:restoredTop sz="85578"/>
  </p:normalViewPr>
  <p:slideViewPr>
    <p:cSldViewPr snapToObjects="1" showGuides="1">
      <p:cViewPr>
        <p:scale>
          <a:sx n="64" d="100"/>
          <a:sy n="64" d="100"/>
        </p:scale>
        <p:origin x="144" y="11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80A4E0-C67A-6842-A063-4188E143D8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7E8CA-64C1-604E-B679-AE92A4602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1E017-357D-4744-8D4B-04CA59826C34}" type="datetimeFigureOut">
              <a:rPr lang="en-CN" smtClean="0"/>
              <a:t>7/7/26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BE6F5-546E-CB46-A99D-1F0682A0A8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8A5B9-2BE3-1E4C-BD6C-27A1391C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29CC4-8916-F84A-A92E-A3769754F19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7825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BEA6A-5BB7-4947-8A67-D55A874F4F16}" type="datetimeFigureOut">
              <a:rPr lang="en-CN" smtClean="0"/>
              <a:t>7/7/26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F54FA-28E9-114E-B0A7-6C255474D5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825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999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57847-07EA-3C47-A575-9FE91A70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8EF831-4B75-5856-7010-C65F0E22D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181672-4CAF-5394-4E78-4BF2BAE25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可以把它理解成做课堂笔记。你不会把老师说的每一个字都抄下来，而是会把概念、结论、公式、例子和待解决问题整理出来。好的 </a:t>
            </a:r>
            <a:r>
              <a:rPr lang="en" altLang="zh-CN" dirty="0"/>
              <a:t>compaction </a:t>
            </a:r>
            <a:r>
              <a:rPr lang="zh-CN" altLang="en-US" dirty="0"/>
              <a:t>也是这样：它不是删除历史，而是改变历史的表示形式。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83CBC1-16B9-3261-72A7-646D8D3EC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7007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15A5B-538F-C348-3B32-4B66066A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19F763-8E97-776E-6955-7BE083349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DA2213-D9E1-97A9-C392-8EB39444B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1F7D8B-B6CC-EE6D-5C60-8F00EB7EA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08285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3C108-5536-322A-C7E5-D7874AFB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79BE92-B939-D683-0227-024787904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88BD17-F181-A927-C315-F543D2601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C5442D-72AC-9447-DFC6-D087A6D7F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01930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9671-2AE1-436E-E81A-EECAAE829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2F5A7A-4C78-463E-864F-549044B0B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70E413-1780-EB29-616B-226B8B22C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F47545-7FC6-30B1-5824-098C1CB6B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83134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41333-24A2-3FF4-9782-DB7B4293B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0FC162-FD01-5505-13B2-E69E951DD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7D0687-4803-2EB3-7574-F6B13B175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DB2AFC-660C-47D5-9CE5-42AE31B4C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4420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6CF0-A836-B0AF-631E-145987E99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F6AB80-C538-106D-5859-C996471B0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4625CA-AE5E-528E-EC6E-242412C5D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618404-650E-4063-4453-0356DEF56D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9682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4CB5A-881F-6468-70A5-E632716C5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0359D9-BA4C-7BD0-3A59-CD7303442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C59A70-1B6D-A6E0-6BF6-3089A57BA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7DC50D-8A44-DE3F-40C1-5B3B0E2D5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4698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7B067-D11A-4C7C-0404-F204CCCCD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B3335D-08DC-143D-196E-148A184B4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6B0EB8-11B8-E2F4-F47E-2F015DCE7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BC970B-09F8-9EAC-5184-E5D1EE1FD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88097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F4576-346F-6EF4-0B56-60C261E76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F62FF9-9F4C-02B3-99E1-9C8DCD1CD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C33774-C90B-93D7-4991-984308C89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55C1E9-82F7-9224-6D2D-14967CDFE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4724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A55F-D9D5-ADE9-6E1B-48AD64532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C385F6-C261-4E76-0ECC-1A0AFAC58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EC2B94-F48C-0A47-5B81-75548A105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401FB8-3082-2E45-0A35-C4EBABB0B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49536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242A5-179E-5C40-E96E-6F9E84AA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224E12-53A6-3271-6915-DBF174601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91C67E-A714-1323-9F03-F803D5CAF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692FDB-137C-8B5F-838E-91E288244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4194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78B87-BE8A-2BD1-4596-3A954EA8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D962FA-9135-908A-592B-3C392B3BE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449C2A-EB21-7293-7C72-1F7752422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D33D3-8132-8FDF-D3A5-7CCA6FA26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5689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E8F3-BABA-DA4B-98F4-B69497EC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122363"/>
            <a:ext cx="1094521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926C3-432C-544D-B73E-7686141AE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10945216" cy="132474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2211E-626E-E649-BCEC-0C344377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BFE9-E284-B34B-9DD9-9734E072A10D}" type="datetime1">
              <a:rPr lang="en-US" smtClean="0"/>
              <a:t>7/7/26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CD07C-E71B-EE4E-A04D-513B4FDC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9468-3554-7E45-9EC0-72A9DA9D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877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C705-C275-294F-88E4-9FB87207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65A9-208F-B747-8249-EF63707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637818" cy="496855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A073-1A46-2C48-AA4B-6B0CC619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5C36-DE89-754B-AADC-BE098732BA55}" type="datetime1">
              <a:rPr lang="en-US" smtClean="0"/>
              <a:t>7/7/26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E507-59F5-8A41-B56B-0E2687B0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8107E-D461-1C49-AF2F-D9273FD1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908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513C-7AC8-7541-BCC2-5C66F995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97B0-B86C-984E-9652-A57A6970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D942-5636-774E-9AE5-8136B8B4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92F05-C132-444E-8CB1-83285020EE6B}" type="datetime1">
              <a:rPr lang="en-US" smtClean="0"/>
              <a:t>7/7/26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AB1F5-1745-B641-8A3E-8C77C997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1740-E141-994F-960E-30E141D3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477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2C74-6A75-C345-8D45-8399B42E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4567-0E36-8C49-9950-371CE9271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091" y="1268760"/>
            <a:ext cx="5742709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E884A-AA9A-BE49-9BD4-6BBBB45F0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68760"/>
            <a:ext cx="5742708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4A51-01A4-3C48-9EF1-CAD20440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A035-3CCE-DA49-8248-4DECF1480FAD}" type="datetime1">
              <a:rPr lang="en-US" smtClean="0"/>
              <a:t>7/7/26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CDCA8-4C0B-2B4F-9CDC-ACA218BD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0FABC-1CE5-A841-95A8-DC4B7638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017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DA5A-7B1C-D842-8A6E-984ADE32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3FD6F-1409-9F43-BEE8-8F9EFC91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C4E4F-B343-6443-A79A-CB96201DE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092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01090-F89E-AA4B-9D16-F48FB5E06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6B3EB-D7F0-C44F-89A3-064941260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73A94-E684-2649-A535-833C9909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8968-DCED-034C-A9F9-63C7B612155B}" type="datetime1">
              <a:rPr lang="en-US" smtClean="0"/>
              <a:t>7/7/26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C9F79-6BC1-C54D-BBE7-D3713DCC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90904-0654-2849-9A8C-F33DBEE4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048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F1A-C959-D645-9CB7-7339FD8B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F0EF2-B047-1843-9607-4AF6018B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C6-ADAB-5E41-86AC-7F6081FE7CAC}" type="datetime1">
              <a:rPr lang="en-US" smtClean="0"/>
              <a:t>7/7/26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D6C8D-169C-E24E-B2DA-7E28FB0B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FC934-724A-D84B-9F74-7DAEAF31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310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904D3-4AF6-314E-9FEA-CF71A3D6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856D-977A-F642-9AEB-80D2F107EFF4}" type="datetime1">
              <a:rPr lang="en-US" smtClean="0"/>
              <a:t>7/7/26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48081-E7A8-134A-8DE9-3268CD36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17B03-016A-BB4E-B72A-7FEB2502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185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4E59-A309-134D-A7DA-234DDB7C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1448-1A70-954A-B1B3-716EB4063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ACCF5-86A9-6846-80E5-9F5210865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88A50-D7AF-F540-9B78-27732CB9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4B7F-BC74-F14F-8BF9-586EC96745A0}" type="datetime1">
              <a:rPr lang="en-US" smtClean="0"/>
              <a:t>7/7/26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25F00-82C3-474A-BB00-672C82BB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D448-780A-DC49-8C78-27A053B1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77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A7F5-0229-024C-A91C-660C9220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6B5FD-870A-B046-9BE3-57F89CB1F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CD14-9FC1-4043-B048-B049BE1EE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2996A-2C74-AA45-8AB4-0C7955B5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7302-2114-A74D-8389-8181128E4BC3}" type="datetime1">
              <a:rPr lang="en-US" smtClean="0"/>
              <a:t>7/7/26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A01E-2B14-4B4A-A421-3492F245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5C4E4-99EA-E14D-AAEA-DCD6ECF5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635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FB2D-E296-704F-8176-9D763DB8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D5061-4135-AD4C-A724-15D16C394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0BFD8-AE5F-F840-911B-311B24DD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8223-6D33-DE4C-9F51-4A38614FD791}" type="datetime1">
              <a:rPr lang="en-US" smtClean="0"/>
              <a:t>7/7/26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4ED0-1654-3A4E-AEC7-9A8CAB79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6FF2-B775-AE48-854B-A8FC4BD5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354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990A8-A8D2-3949-8444-FC2A73CED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1292E-E172-D94F-B9FD-164675C70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F332-4AC7-7541-80F3-77180C55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0E2A-2758-4248-AC6A-4E927F9F5533}" type="datetime1">
              <a:rPr lang="en-US" smtClean="0"/>
              <a:t>7/7/26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09EB2-2AD6-404A-B9A9-546937A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4627-5052-DD45-806F-F1F199EE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840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4C47F-F176-F546-BC0D-68EB7227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8" cy="646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D7DD0-DC4B-B84D-A6B0-3F2FDED3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091" y="1268760"/>
            <a:ext cx="11637818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7A9E-FDF2-F640-9AAD-992969746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7091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8F2AF-5968-3346-AE5F-9E0849B6F0B3}" type="datetime1">
              <a:rPr lang="en-US" smtClean="0"/>
              <a:t>7/7/26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0713F-EA27-5D49-950B-4667F409F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151B-CA49-B145-971E-747B50551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29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p.weixin.qq.com/s/t04ysxZN2qEc3986r2gyTA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p.weixin.qq.com/s/IzS9iWSYOsRTNnh8309ltg" TargetMode="External"/><Relationship Id="rId4" Type="http://schemas.openxmlformats.org/officeDocument/2006/relationships/hyperlink" Target="https://www.preprints.org/manuscript/202605.2065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2030-8EE3-BF4F-A363-640032AE4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484784"/>
            <a:ext cx="10945216" cy="2487938"/>
          </a:xfrm>
        </p:spPr>
        <p:txBody>
          <a:bodyPr>
            <a:normAutofit/>
          </a:bodyPr>
          <a:lstStyle/>
          <a:p>
            <a:r>
              <a:rPr lang="zh-CN" altLang="en-US" dirty="0"/>
              <a:t>计算机编程实践</a:t>
            </a:r>
            <a:r>
              <a:rPr lang="en-US" altLang="zh-CN" dirty="0"/>
              <a:t>#3</a:t>
            </a:r>
            <a:br>
              <a:rPr lang="en-US" altLang="zh-CN" dirty="0"/>
            </a:br>
            <a:r>
              <a:rPr lang="zh-CN" altLang="en-US" dirty="0"/>
              <a:t>上下文压缩（</a:t>
            </a:r>
            <a:r>
              <a:rPr lang="en-US" altLang="zh-CN" dirty="0"/>
              <a:t>Compaction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C9327-07CA-D843-AB2E-801FC5C73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4509120"/>
            <a:ext cx="10945216" cy="1008112"/>
          </a:xfrm>
        </p:spPr>
        <p:txBody>
          <a:bodyPr>
            <a:normAutofit/>
          </a:bodyPr>
          <a:lstStyle/>
          <a:p>
            <a:r>
              <a:rPr lang="zh-CN" altLang="en-US" dirty="0"/>
              <a:t>杜冬冬</a:t>
            </a:r>
            <a:endParaRPr lang="en-US" altLang="zh-CN" dirty="0"/>
          </a:p>
          <a:p>
            <a:r>
              <a:rPr lang="en-US" altLang="zh-CN" dirty="0"/>
              <a:t>2026</a:t>
            </a:r>
            <a:r>
              <a:rPr lang="zh-CN" altLang="en-US" dirty="0"/>
              <a:t>小学期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3089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C9973-2BE5-3D73-4984-CCAF8BF0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B154-C69D-41A6-ED68-5F2958BA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回顾：</a:t>
            </a:r>
            <a:r>
              <a:rPr lang="en-US" altLang="zh-CN" dirty="0"/>
              <a:t>Agent</a:t>
            </a:r>
            <a:r>
              <a:rPr lang="zh-CN" altLang="en-US" dirty="0"/>
              <a:t>的基本能力是在会话中维持多轮对话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50A31-EBF6-B782-91ED-3A5A1C619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此前的一个基本的设计：每次对话都做一个</a:t>
            </a:r>
            <a:r>
              <a:rPr lang="en-US" altLang="zh-CN" dirty="0"/>
              <a:t> append </a:t>
            </a:r>
            <a:r>
              <a:rPr lang="zh-CN" altLang="en-US" dirty="0"/>
              <a:t>的操作</a:t>
            </a:r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08299-4FCF-BD93-EE38-E688CDFD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</a:t>
            </a:fld>
            <a:endParaRPr lang="en-CN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F9EEA14A-ADDD-B0BC-D463-69FB251045DD}"/>
              </a:ext>
            </a:extLst>
          </p:cNvPr>
          <p:cNvSpPr/>
          <p:nvPr/>
        </p:nvSpPr>
        <p:spPr>
          <a:xfrm>
            <a:off x="482664" y="2927201"/>
            <a:ext cx="4165446" cy="24955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562B528-0690-9A80-DCFF-B0FAF38B0625}"/>
              </a:ext>
            </a:extLst>
          </p:cNvPr>
          <p:cNvSpPr/>
          <p:nvPr/>
        </p:nvSpPr>
        <p:spPr>
          <a:xfrm>
            <a:off x="701734" y="3146276"/>
            <a:ext cx="37273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用户看到的对话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55BE1F7-9F88-4591-DBFE-B85487F4D1A9}"/>
              </a:ext>
            </a:extLst>
          </p:cNvPr>
          <p:cNvSpPr/>
          <p:nvPr/>
        </p:nvSpPr>
        <p:spPr>
          <a:xfrm>
            <a:off x="701734" y="3460601"/>
            <a:ext cx="3727307" cy="466725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8C492C6-DA1E-5CC4-5E3E-04587F13D31A}"/>
              </a:ext>
            </a:extLst>
          </p:cNvPr>
          <p:cNvSpPr/>
          <p:nvPr/>
        </p:nvSpPr>
        <p:spPr>
          <a:xfrm>
            <a:off x="844605" y="3574901"/>
            <a:ext cx="344156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User：你好，我叫小明。</a:t>
            </a:r>
            <a:endParaRPr lang="en-US" sz="13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C7A912A-0DF9-F2FF-7B22-16E4577DAE9A}"/>
              </a:ext>
            </a:extLst>
          </p:cNvPr>
          <p:cNvSpPr/>
          <p:nvPr/>
        </p:nvSpPr>
        <p:spPr>
          <a:xfrm>
            <a:off x="701734" y="4041626"/>
            <a:ext cx="3727307" cy="466725"/>
          </a:xfrm>
          <a:prstGeom prst="rect">
            <a:avLst/>
          </a:prstGeom>
          <a:solidFill>
            <a:srgbClr val="EAF7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E37049E-BE0A-6061-E6E1-92CA4E363F06}"/>
              </a:ext>
            </a:extLst>
          </p:cNvPr>
          <p:cNvSpPr/>
          <p:nvPr/>
        </p:nvSpPr>
        <p:spPr>
          <a:xfrm>
            <a:off x="844605" y="4155926"/>
            <a:ext cx="344156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34E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Assistant：你好，小明。</a:t>
            </a:r>
            <a:endParaRPr lang="en-US" sz="13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C81AE6D-F935-FADE-CEBF-9AE28F500CEA}"/>
              </a:ext>
            </a:extLst>
          </p:cNvPr>
          <p:cNvSpPr/>
          <p:nvPr/>
        </p:nvSpPr>
        <p:spPr>
          <a:xfrm>
            <a:off x="701734" y="4622651"/>
            <a:ext cx="3727307" cy="466725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192CD6C-4F7D-FDAA-E529-ECD7B113CC9C}"/>
              </a:ext>
            </a:extLst>
          </p:cNvPr>
          <p:cNvSpPr/>
          <p:nvPr/>
        </p:nvSpPr>
        <p:spPr>
          <a:xfrm>
            <a:off x="844605" y="4736951"/>
            <a:ext cx="344156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User：我刚才说我叫什么？</a:t>
            </a:r>
            <a:endParaRPr lang="en-US" sz="135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A4C72A23-7C97-D316-53CD-225C471DB536}"/>
              </a:ext>
            </a:extLst>
          </p:cNvPr>
          <p:cNvSpPr/>
          <p:nvPr/>
        </p:nvSpPr>
        <p:spPr>
          <a:xfrm>
            <a:off x="6112986" y="4363560"/>
            <a:ext cx="5206919" cy="1743075"/>
          </a:xfrm>
          <a:prstGeom prst="rect">
            <a:avLst/>
          </a:prstGeom>
          <a:solidFill>
            <a:srgbClr val="FFFFFF"/>
          </a:solidFill>
          <a:ln w="9525">
            <a:solidFill>
              <a:srgbClr val="DB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9CF4F86A-9A6C-617F-4534-793E18506AC2}"/>
              </a:ext>
            </a:extLst>
          </p:cNvPr>
          <p:cNvSpPr/>
          <p:nvPr/>
        </p:nvSpPr>
        <p:spPr>
          <a:xfrm>
            <a:off x="6332055" y="4582634"/>
            <a:ext cx="47687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发给 LLM 的 messages</a:t>
            </a:r>
            <a:endParaRPr lang="en-US" sz="18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74C3F036-9AF7-6ED9-4520-8BCE300C68A4}"/>
              </a:ext>
            </a:extLst>
          </p:cNvPr>
          <p:cNvSpPr/>
          <p:nvPr/>
        </p:nvSpPr>
        <p:spPr>
          <a:xfrm>
            <a:off x="6332055" y="4896959"/>
            <a:ext cx="476878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[system: </a:t>
            </a:r>
            <a:r>
              <a:rPr lang="en-US" sz="1350" dirty="0" err="1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SJTUClaw的一些说明</a:t>
            </a:r>
            <a:r>
              <a:rPr lang="en-US" altLang="zh-CN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……]
[</a:t>
            </a:r>
            <a:r>
              <a:rPr lang="en-US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</a:t>
            </a:r>
            <a:r>
              <a:rPr lang="zh-CN" altLang="en-US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你好，我叫小明。</a:t>
            </a:r>
            <a:r>
              <a:rPr lang="en-US" altLang="zh-CN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[</a:t>
            </a:r>
            <a:r>
              <a:rPr lang="en-US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assistant: </a:t>
            </a:r>
            <a:r>
              <a:rPr lang="zh-CN" altLang="en-US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你好，小明。</a:t>
            </a:r>
            <a:r>
              <a:rPr lang="en-US" altLang="zh-CN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[</a:t>
            </a:r>
            <a:r>
              <a:rPr lang="en-US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</a:t>
            </a:r>
            <a:r>
              <a:rPr lang="zh-CN" altLang="en-US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我刚才说我叫什么？</a:t>
            </a:r>
            <a:r>
              <a:rPr lang="en-US" altLang="zh-CN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50" dirty="0"/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DC598059-5042-AD2E-F18D-596D17CF8C4A}"/>
              </a:ext>
            </a:extLst>
          </p:cNvPr>
          <p:cNvSpPr/>
          <p:nvPr/>
        </p:nvSpPr>
        <p:spPr>
          <a:xfrm rot="1895813">
            <a:off x="5312746" y="4711973"/>
            <a:ext cx="702022" cy="6555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077447E-0918-B469-9DA8-C07F07A0D4E3}"/>
              </a:ext>
            </a:extLst>
          </p:cNvPr>
          <p:cNvSpPr/>
          <p:nvPr/>
        </p:nvSpPr>
        <p:spPr>
          <a:xfrm>
            <a:off x="6096000" y="2371116"/>
            <a:ext cx="5206919" cy="1743075"/>
          </a:xfrm>
          <a:prstGeom prst="rect">
            <a:avLst/>
          </a:prstGeom>
          <a:solidFill>
            <a:srgbClr val="FFFFFF"/>
          </a:solidFill>
          <a:ln w="9525">
            <a:solidFill>
              <a:srgbClr val="DB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51807CCA-524B-FB9D-F527-242D183F5BB8}"/>
              </a:ext>
            </a:extLst>
          </p:cNvPr>
          <p:cNvSpPr/>
          <p:nvPr/>
        </p:nvSpPr>
        <p:spPr>
          <a:xfrm>
            <a:off x="6315069" y="2590190"/>
            <a:ext cx="47687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发给 LLM 的 messages</a:t>
            </a:r>
            <a:endParaRPr lang="en-US" sz="18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9C13146A-FFAE-6FBC-D0B4-F806ECC31E64}"/>
              </a:ext>
            </a:extLst>
          </p:cNvPr>
          <p:cNvSpPr/>
          <p:nvPr/>
        </p:nvSpPr>
        <p:spPr>
          <a:xfrm>
            <a:off x="6315069" y="2904515"/>
            <a:ext cx="476878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[system: </a:t>
            </a:r>
            <a:r>
              <a:rPr lang="en-US" sz="1350" dirty="0" err="1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SJTUClaw的一些说明</a:t>
            </a:r>
            <a:r>
              <a:rPr lang="en-US" altLang="zh-CN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……]
[</a:t>
            </a:r>
            <a:r>
              <a:rPr lang="en-US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</a:t>
            </a:r>
            <a:r>
              <a:rPr lang="zh-CN" altLang="en-US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我刚才说我叫什么？</a:t>
            </a:r>
            <a:r>
              <a:rPr lang="en-US" altLang="zh-CN" sz="13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50" dirty="0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E2AF5A64-6341-74C5-6435-3D6C67572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13769">
            <a:off x="9511169" y="2425056"/>
            <a:ext cx="1450879" cy="146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00C650BE-798B-0861-9F6B-35094F188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4841" y="4736951"/>
            <a:ext cx="1603533" cy="1242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1631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87BF-7360-4AE1-B5AA-5AF77ACD3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6AA2E-F03B-F239-4C59-CF247328B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会话太长时会带来上下文的空间压力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0E9C4-A1CC-C6AE-B5F2-35915A574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此前的一个基本的设计：每次对话都做一个</a:t>
            </a:r>
            <a:r>
              <a:rPr lang="en-US" altLang="zh-CN" dirty="0"/>
              <a:t> append </a:t>
            </a:r>
            <a:r>
              <a:rPr lang="zh-CN" altLang="en-US" dirty="0"/>
              <a:t>的操作</a:t>
            </a:r>
            <a:endParaRPr lang="en-US" altLang="zh-CN" dirty="0"/>
          </a:p>
          <a:p>
            <a:r>
              <a:rPr lang="zh-CN" altLang="en-US" dirty="0"/>
              <a:t>当这样的一个</a:t>
            </a:r>
            <a:r>
              <a:rPr lang="en-US" altLang="zh-CN" dirty="0"/>
              <a:t> append </a:t>
            </a:r>
            <a:r>
              <a:rPr lang="zh-CN" altLang="en-US" dirty="0"/>
              <a:t>操作在十几轮范围内的对话时，很合理</a:t>
            </a:r>
            <a:endParaRPr lang="en-US" altLang="zh-CN" dirty="0"/>
          </a:p>
          <a:p>
            <a:r>
              <a:rPr lang="zh-CN" altLang="en-US" dirty="0"/>
              <a:t>但是如果对话更长（比如上百轮），会面临挑战：</a:t>
            </a:r>
            <a:endParaRPr lang="en-US" altLang="zh-CN" dirty="0"/>
          </a:p>
          <a:p>
            <a:pPr lvl="1"/>
            <a:r>
              <a:rPr lang="zh-CN" altLang="en-US" dirty="0"/>
              <a:t>上下文越来越长，可能超过模型窗口</a:t>
            </a:r>
            <a:endParaRPr lang="en-US" altLang="zh-CN" dirty="0"/>
          </a:p>
          <a:p>
            <a:pPr lvl="1"/>
            <a:r>
              <a:rPr lang="zh-CN" altLang="en-US" dirty="0"/>
              <a:t>每轮请求越来越慢，费用越来越高</a:t>
            </a:r>
            <a:endParaRPr lang="en-US" altLang="zh-CN" dirty="0"/>
          </a:p>
          <a:p>
            <a:pPr lvl="1"/>
            <a:r>
              <a:rPr lang="zh-CN" altLang="en-US" dirty="0"/>
              <a:t>很多旧消息只是寒暄或中间过程，</a:t>
            </a:r>
            <a:br>
              <a:rPr lang="en-US" altLang="zh-CN" dirty="0"/>
            </a:br>
            <a:r>
              <a:rPr lang="zh-CN" altLang="en-US" dirty="0"/>
              <a:t>没有必要原样保留</a:t>
            </a:r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AB8FF-060E-B73B-9CAF-A6E162274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</a:t>
            </a:fld>
            <a:endParaRPr lang="en-CN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A8DC2CA-7389-A9A7-5830-A6864E69A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2902018"/>
            <a:ext cx="5042447" cy="345433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09361292-5C60-FEA2-75BC-C9E990DBC0EF}"/>
              </a:ext>
            </a:extLst>
          </p:cNvPr>
          <p:cNvSpPr txBox="1"/>
          <p:nvPr/>
        </p:nvSpPr>
        <p:spPr>
          <a:xfrm>
            <a:off x="2872855" y="5638630"/>
            <a:ext cx="3727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上下文的长度比大家预期的可能会低很多，</a:t>
            </a:r>
            <a:r>
              <a:rPr kumimoji="1" lang="en-US" altLang="zh-CN" dirty="0"/>
              <a:t>DS </a:t>
            </a:r>
            <a:r>
              <a:rPr kumimoji="1" lang="zh-CN" altLang="en-US" dirty="0"/>
              <a:t>在</a:t>
            </a:r>
            <a:r>
              <a:rPr kumimoji="1" lang="en-US" altLang="zh-CN" dirty="0"/>
              <a:t> V4 </a:t>
            </a:r>
            <a:r>
              <a:rPr kumimoji="1" lang="zh-CN" altLang="en-US" dirty="0"/>
              <a:t>才正式宣布百万（而这可能意味着一本教材都塞不进去）</a:t>
            </a:r>
          </a:p>
        </p:txBody>
      </p:sp>
    </p:spTree>
    <p:extLst>
      <p:ext uri="{BB962C8B-B14F-4D97-AF65-F5344CB8AC3E}">
        <p14:creationId xmlns:p14="http://schemas.microsoft.com/office/powerpoint/2010/main" val="3831366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82C0C-D866-643B-60A5-704BC3158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8C986-B5BF-035D-8B67-D2840F98A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上下文压缩技术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73935-3533-A400-C4B1-C59E42888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一个朴素的想法：如果上下文有大小限制，能否对其进行压缩？</a:t>
            </a:r>
            <a:endParaRPr lang="en-US" altLang="zh-CN" dirty="0"/>
          </a:p>
          <a:p>
            <a:pPr lvl="1"/>
            <a:r>
              <a:rPr lang="zh-CN" altLang="en-US" dirty="0"/>
              <a:t>类比到压缩软件：把一个很大的文件压缩成相对较小的文件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当然，在实际实践中，上下文的压缩不是类似压缩软件的无损压缩，而是有损的，往往是需要结合</a:t>
            </a:r>
            <a:r>
              <a:rPr lang="en-US" altLang="zh-CN" dirty="0"/>
              <a:t> Agent </a:t>
            </a:r>
            <a:r>
              <a:rPr lang="zh-CN" altLang="en-US" dirty="0"/>
              <a:t>特征的设计</a:t>
            </a:r>
            <a:endParaRPr lang="en-US" altLang="zh-CN" dirty="0"/>
          </a:p>
          <a:p>
            <a:r>
              <a:rPr lang="zh-CN" altLang="en-US" dirty="0"/>
              <a:t>一个基本的思路：按照时间远近来压缩</a:t>
            </a:r>
            <a:endParaRPr lang="en-US" altLang="zh-CN" dirty="0"/>
          </a:p>
          <a:p>
            <a:pPr lvl="1"/>
            <a:r>
              <a:rPr lang="zh-CN" altLang="en-US" dirty="0"/>
              <a:t>把较早的 </a:t>
            </a:r>
            <a:r>
              <a:rPr lang="en-US" altLang="zh-CN" dirty="0"/>
              <a:t>messages </a:t>
            </a:r>
            <a:r>
              <a:rPr lang="zh-CN" altLang="en-US" dirty="0"/>
              <a:t>压缩成 </a:t>
            </a:r>
            <a:r>
              <a:rPr lang="en-US" altLang="zh-CN" dirty="0"/>
              <a:t>summary</a:t>
            </a:r>
          </a:p>
          <a:p>
            <a:pPr lvl="1"/>
            <a:r>
              <a:rPr lang="zh-CN" altLang="en-US" dirty="0"/>
              <a:t>保留最近几轮原始 </a:t>
            </a:r>
            <a:r>
              <a:rPr lang="en-US" altLang="zh-CN" dirty="0"/>
              <a:t>messages</a:t>
            </a:r>
          </a:p>
          <a:p>
            <a:pPr lvl="1"/>
            <a:r>
              <a:rPr lang="zh-CN" altLang="en-US" dirty="0"/>
              <a:t>下一轮上下文使用 </a:t>
            </a:r>
            <a:r>
              <a:rPr lang="en-US" altLang="zh-CN" dirty="0"/>
              <a:t>summary + recent messages</a:t>
            </a:r>
          </a:p>
          <a:p>
            <a:r>
              <a:rPr lang="zh-CN" altLang="en-US" dirty="0"/>
              <a:t>为什么这么设计？</a:t>
            </a:r>
            <a:endParaRPr lang="en-US" altLang="zh-CN" dirty="0"/>
          </a:p>
          <a:p>
            <a:pPr lvl="1"/>
            <a:r>
              <a:rPr lang="zh-CN" altLang="en-US" dirty="0"/>
              <a:t>人的短期记忆是一个类似的状态</a:t>
            </a:r>
            <a:endParaRPr lang="en-US" altLang="zh-CN" dirty="0"/>
          </a:p>
          <a:p>
            <a:pPr lvl="1"/>
            <a:r>
              <a:rPr lang="zh-CN" altLang="en-US" dirty="0"/>
              <a:t>今天中午吃的什么？昨天中午吃的什么？前天呢？</a:t>
            </a:r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BC293-7CAC-9C8A-2C46-BE8AA2345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13588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3CD78-9EEE-C5EF-58CF-7BEA03B8C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A2A6-2856-5331-F84C-5EE3960C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上下文压缩技术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806E5-75C2-8F6A-13CD-99FEAB77C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一个朴素的想法：如果上下文有大小限制，能否对其进行压缩？</a:t>
            </a:r>
            <a:endParaRPr lang="en-US" altLang="zh-CN" dirty="0"/>
          </a:p>
          <a:p>
            <a:pPr lvl="1"/>
            <a:r>
              <a:rPr lang="zh-CN" altLang="en-US" dirty="0"/>
              <a:t>类比到压缩软件：把一个很大的文件压缩成相对较小的文件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当然，在实际实践中，上下文的压缩不是类似压缩软件的无损压缩，而是有损的，往往是需要结合</a:t>
            </a:r>
            <a:r>
              <a:rPr lang="en-US" altLang="zh-CN" dirty="0"/>
              <a:t> Agent </a:t>
            </a:r>
            <a:r>
              <a:rPr lang="zh-CN" altLang="en-US" dirty="0"/>
              <a:t>特征的设计</a:t>
            </a:r>
            <a:endParaRPr lang="en-US" altLang="zh-CN" dirty="0"/>
          </a:p>
          <a:p>
            <a:r>
              <a:rPr lang="zh-CN" altLang="en-US" dirty="0"/>
              <a:t>一个基本的思路：按照时间远近来压缩</a:t>
            </a:r>
            <a:endParaRPr lang="en-US" altLang="zh-CN" dirty="0"/>
          </a:p>
          <a:p>
            <a:pPr lvl="1"/>
            <a:r>
              <a:rPr lang="zh-CN" altLang="en-US" dirty="0"/>
              <a:t>把较早的 </a:t>
            </a:r>
            <a:r>
              <a:rPr lang="en-US" altLang="zh-CN" dirty="0"/>
              <a:t>messages </a:t>
            </a:r>
            <a:r>
              <a:rPr lang="zh-CN" altLang="en-US" dirty="0"/>
              <a:t>压缩成 </a:t>
            </a:r>
            <a:r>
              <a:rPr lang="en-US" altLang="zh-CN" dirty="0"/>
              <a:t>summary</a:t>
            </a:r>
          </a:p>
          <a:p>
            <a:pPr lvl="1"/>
            <a:r>
              <a:rPr lang="zh-CN" altLang="en-US" dirty="0"/>
              <a:t>保留最近几轮原始 </a:t>
            </a:r>
            <a:r>
              <a:rPr lang="en-US" altLang="zh-CN" dirty="0"/>
              <a:t>messages</a:t>
            </a:r>
          </a:p>
          <a:p>
            <a:pPr lvl="1"/>
            <a:r>
              <a:rPr lang="zh-CN" altLang="en-US" dirty="0"/>
              <a:t>下一轮上下文使用 </a:t>
            </a:r>
            <a:r>
              <a:rPr lang="en-US" altLang="zh-CN" dirty="0"/>
              <a:t>summary + recent messages</a:t>
            </a:r>
          </a:p>
          <a:p>
            <a:r>
              <a:rPr lang="zh-CN" altLang="en-US" dirty="0"/>
              <a:t>为什么这么设计？</a:t>
            </a:r>
            <a:endParaRPr lang="en-US" altLang="zh-CN" dirty="0"/>
          </a:p>
          <a:p>
            <a:pPr lvl="1"/>
            <a:r>
              <a:rPr lang="zh-CN" altLang="en-US" dirty="0"/>
              <a:t>人的短期记忆是一个类似的状态</a:t>
            </a:r>
            <a:endParaRPr lang="en-US" altLang="zh-CN" dirty="0"/>
          </a:p>
          <a:p>
            <a:pPr lvl="1"/>
            <a:r>
              <a:rPr lang="zh-CN" altLang="en-US" dirty="0"/>
              <a:t>今天中午吃的什么？昨天中午吃的什么？前天呢？</a:t>
            </a:r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1BE3C-35C4-9FCF-9D5E-AC02FCF6E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5</a:t>
            </a:fld>
            <a:endParaRPr lang="en-CN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3F5FCB3-2A17-4FF8-984E-79504F58E4B9}"/>
              </a:ext>
            </a:extLst>
          </p:cNvPr>
          <p:cNvSpPr/>
          <p:nvPr/>
        </p:nvSpPr>
        <p:spPr>
          <a:xfrm>
            <a:off x="839416" y="3861048"/>
            <a:ext cx="5544616" cy="43204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B06D54-8D8B-CDC2-1850-CD783E895C12}"/>
              </a:ext>
            </a:extLst>
          </p:cNvPr>
          <p:cNvSpPr txBox="1"/>
          <p:nvPr/>
        </p:nvSpPr>
        <p:spPr>
          <a:xfrm>
            <a:off x="7680176" y="3615407"/>
            <a:ext cx="4089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这个</a:t>
            </a:r>
            <a:r>
              <a:rPr kumimoji="1" lang="en-US" altLang="zh-CN" dirty="0">
                <a:solidFill>
                  <a:srgbClr val="FF0000"/>
                </a:solidFill>
              </a:rPr>
              <a:t> Summary </a:t>
            </a:r>
            <a:r>
              <a:rPr kumimoji="1" lang="zh-CN" altLang="en-US" dirty="0">
                <a:solidFill>
                  <a:srgbClr val="FF0000"/>
                </a:solidFill>
              </a:rPr>
              <a:t>操作本身非常关键，好的</a:t>
            </a:r>
            <a:r>
              <a:rPr kumimoji="1" lang="en-US" altLang="zh-CN" dirty="0">
                <a:solidFill>
                  <a:srgbClr val="FF0000"/>
                </a:solidFill>
              </a:rPr>
              <a:t> Summary </a:t>
            </a:r>
            <a:r>
              <a:rPr kumimoji="1" lang="zh-CN" altLang="en-US" dirty="0">
                <a:solidFill>
                  <a:srgbClr val="FF0000"/>
                </a:solidFill>
              </a:rPr>
              <a:t>操作不仅不会导致表现变差，甚至可能会更好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BF4AF55A-AB5A-01BD-2D5C-68F0A66EE915}"/>
              </a:ext>
            </a:extLst>
          </p:cNvPr>
          <p:cNvCxnSpPr>
            <a:endCxn id="5" idx="1"/>
          </p:cNvCxnSpPr>
          <p:nvPr/>
        </p:nvCxnSpPr>
        <p:spPr>
          <a:xfrm>
            <a:off x="6384032" y="4077072"/>
            <a:ext cx="129614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161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666DE-7811-DDEE-0A5F-14EB1061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5E28B-F2A2-932F-9937-D1D4DDD0A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为什么</a:t>
            </a:r>
            <a:r>
              <a:rPr lang="en-US" altLang="zh-CN" dirty="0"/>
              <a:t> Compaction </a:t>
            </a:r>
            <a:r>
              <a:rPr lang="zh-CN" altLang="en-US" dirty="0"/>
              <a:t>的一个（正向的）例子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91D0E-AC3C-0EAC-8A44-C87BB9007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5242844" cy="5352562"/>
          </a:xfrm>
        </p:spPr>
        <p:txBody>
          <a:bodyPr>
            <a:normAutofit/>
          </a:bodyPr>
          <a:lstStyle/>
          <a:p>
            <a:r>
              <a:rPr lang="zh-CN" altLang="en-US" dirty="0"/>
              <a:t>你让 </a:t>
            </a:r>
            <a:r>
              <a:rPr lang="en" altLang="zh-CN" dirty="0" err="1"/>
              <a:t>SJTUClaw</a:t>
            </a:r>
            <a:r>
              <a:rPr lang="en" altLang="zh-CN" dirty="0"/>
              <a:t> </a:t>
            </a:r>
            <a:r>
              <a:rPr lang="zh-CN" altLang="en-US" dirty="0"/>
              <a:t>帮你调试一个 </a:t>
            </a:r>
            <a:r>
              <a:rPr lang="en" altLang="zh-CN" dirty="0"/>
              <a:t>C++</a:t>
            </a:r>
            <a:r>
              <a:rPr lang="zh-CN" altLang="en-US" dirty="0"/>
              <a:t>作业，连续对话 </a:t>
            </a:r>
            <a:r>
              <a:rPr lang="en-US" altLang="zh-CN" dirty="0"/>
              <a:t>40 </a:t>
            </a:r>
            <a:r>
              <a:rPr lang="zh-CN" altLang="en-US" dirty="0"/>
              <a:t>轮，中间可能出现：</a:t>
            </a:r>
          </a:p>
          <a:p>
            <a:pPr lvl="1"/>
            <a:r>
              <a:rPr lang="zh-CN" altLang="en-US" dirty="0"/>
              <a:t>多次完整报错堆栈</a:t>
            </a:r>
          </a:p>
          <a:p>
            <a:pPr lvl="1"/>
            <a:r>
              <a:rPr lang="zh-CN" altLang="en-US" dirty="0"/>
              <a:t>多次“我试一下这个方案”的中间回复</a:t>
            </a:r>
          </a:p>
          <a:p>
            <a:pPr lvl="1"/>
            <a:r>
              <a:rPr lang="zh-CN" altLang="en-US" dirty="0"/>
              <a:t>已经被排除的错误原因</a:t>
            </a:r>
          </a:p>
          <a:p>
            <a:pPr lvl="1"/>
            <a:r>
              <a:rPr lang="zh-CN" altLang="en-US" dirty="0"/>
              <a:t>用户明确说过“不要改测试文件”</a:t>
            </a:r>
          </a:p>
          <a:p>
            <a:pPr lvl="1"/>
            <a:r>
              <a:rPr lang="zh-CN" altLang="en-US" dirty="0"/>
              <a:t>当前真正还没有解决的问题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35006-7253-7FED-875E-D586DB0AB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6</a:t>
            </a:fld>
            <a:endParaRPr lang="en-C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2CF0CA4-713A-3DE3-21CA-9760A3ECA7C1}"/>
              </a:ext>
            </a:extLst>
          </p:cNvPr>
          <p:cNvSpPr txBox="1">
            <a:spLocks/>
          </p:cNvSpPr>
          <p:nvPr/>
        </p:nvSpPr>
        <p:spPr>
          <a:xfrm>
            <a:off x="6456040" y="1140312"/>
            <a:ext cx="5735960" cy="5352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下一轮继续调试时，模型通常不需要逐字看到所有报错和尝试过程。但它必须知道：</a:t>
            </a:r>
            <a:endParaRPr lang="en-US" altLang="zh-CN" dirty="0"/>
          </a:p>
          <a:p>
            <a:pPr lvl="1"/>
            <a:r>
              <a:rPr lang="zh-CN" altLang="en-US" dirty="0"/>
              <a:t>当前任务是什么</a:t>
            </a:r>
            <a:endParaRPr lang="en-US" altLang="zh-CN" dirty="0"/>
          </a:p>
          <a:p>
            <a:pPr lvl="1"/>
            <a:r>
              <a:rPr lang="zh-CN" altLang="en-US" dirty="0"/>
              <a:t>已经试过哪些方案哪些方案失败了</a:t>
            </a:r>
            <a:endParaRPr lang="en-US" altLang="zh-CN" dirty="0"/>
          </a:p>
          <a:p>
            <a:pPr lvl="1"/>
            <a:r>
              <a:rPr lang="zh-CN" altLang="en-US" dirty="0"/>
              <a:t>用户有哪些明确约束</a:t>
            </a:r>
            <a:endParaRPr lang="en-US" altLang="zh-CN" dirty="0"/>
          </a:p>
          <a:p>
            <a:pPr lvl="1"/>
            <a:r>
              <a:rPr lang="zh-CN" altLang="en-US" dirty="0"/>
              <a:t>现在卡在哪一步</a:t>
            </a:r>
            <a:endParaRPr lang="en-US" altLang="zh-CN" dirty="0"/>
          </a:p>
          <a:p>
            <a:pPr lvl="1"/>
            <a:r>
              <a:rPr lang="zh-CN" altLang="en-US" dirty="0"/>
              <a:t>下一步最好检查什么。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3B8D22-EBF4-B683-1046-A991C7D5A29C}"/>
              </a:ext>
            </a:extLst>
          </p:cNvPr>
          <p:cNvSpPr txBox="1"/>
          <p:nvPr/>
        </p:nvSpPr>
        <p:spPr>
          <a:xfrm>
            <a:off x="311972" y="5234895"/>
            <a:ext cx="119347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2400" b="1" dirty="0"/>
              <a:t>Compaction </a:t>
            </a:r>
            <a:r>
              <a:rPr lang="zh-CN" altLang="en-US" sz="2400" b="1" dirty="0"/>
              <a:t>的基本目标就是：把“逐字历史”转换成最核心的有效信息。</a:t>
            </a:r>
          </a:p>
          <a:p>
            <a:pPr algn="ctr"/>
            <a:endParaRPr kumimoji="1"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90776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784D2-29A2-1F96-7C43-365E93239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8476C-B2A0-619C-9901-DBB5A1A8E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为什么</a:t>
            </a:r>
            <a:r>
              <a:rPr lang="en-US" altLang="zh-CN" dirty="0"/>
              <a:t> Compaction </a:t>
            </a:r>
            <a:r>
              <a:rPr lang="zh-CN" altLang="en-US" dirty="0"/>
              <a:t>的一个（负面的）例子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48A33-73FB-B0E1-1B8F-6D59A81E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7</a:t>
            </a:fld>
            <a:endParaRPr lang="en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E3865B-2CC7-C1A5-7BAE-6DF1F75B2F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28" b="36865"/>
          <a:stretch/>
        </p:blipFill>
        <p:spPr>
          <a:xfrm>
            <a:off x="391645" y="775400"/>
            <a:ext cx="4536504" cy="572153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AECF121-53C0-2E73-A667-9CF276762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056" y="1118449"/>
            <a:ext cx="3528392" cy="5603026"/>
          </a:xfrm>
          <a:prstGeom prst="rect">
            <a:avLst/>
          </a:prstGeom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C38713C8-BA06-897C-A90D-1195A1AB55CB}"/>
              </a:ext>
            </a:extLst>
          </p:cNvPr>
          <p:cNvSpPr/>
          <p:nvPr/>
        </p:nvSpPr>
        <p:spPr>
          <a:xfrm>
            <a:off x="7032104" y="1484784"/>
            <a:ext cx="1578495" cy="288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1075660-6288-7C0D-F6E7-B04F38DCAE1F}"/>
              </a:ext>
            </a:extLst>
          </p:cNvPr>
          <p:cNvSpPr txBox="1"/>
          <p:nvPr/>
        </p:nvSpPr>
        <p:spPr>
          <a:xfrm>
            <a:off x="8610599" y="1216189"/>
            <a:ext cx="25128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FF0000"/>
                </a:solidFill>
              </a:rPr>
              <a:t>新时代</a:t>
            </a:r>
            <a:r>
              <a:rPr kumimoji="1" lang="en-US" altLang="zh-CN" sz="2400" dirty="0">
                <a:solidFill>
                  <a:srgbClr val="FF0000"/>
                </a:solidFill>
              </a:rPr>
              <a:t> </a:t>
            </a:r>
            <a:r>
              <a:rPr kumimoji="1" lang="en-US" altLang="zh-CN" sz="2400" dirty="0" err="1">
                <a:solidFill>
                  <a:srgbClr val="FF0000"/>
                </a:solidFill>
              </a:rPr>
              <a:t>SafeWords</a:t>
            </a:r>
            <a:endParaRPr kumimoji="1"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323134-31FA-2D95-973B-C0E3CE89775D}"/>
              </a:ext>
            </a:extLst>
          </p:cNvPr>
          <p:cNvSpPr txBox="1"/>
          <p:nvPr/>
        </p:nvSpPr>
        <p:spPr>
          <a:xfrm>
            <a:off x="8610599" y="2496604"/>
            <a:ext cx="274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rgbClr val="FF0000"/>
                </a:solidFill>
              </a:rPr>
              <a:t>还可以让你的</a:t>
            </a:r>
            <a:r>
              <a:rPr kumimoji="1" lang="en-US" altLang="zh-CN" sz="2400" dirty="0">
                <a:solidFill>
                  <a:srgbClr val="FF0000"/>
                </a:solidFill>
              </a:rPr>
              <a:t> Agent </a:t>
            </a:r>
            <a:r>
              <a:rPr kumimoji="1" lang="zh-CN" altLang="en-US" sz="2400" dirty="0">
                <a:solidFill>
                  <a:srgbClr val="FF0000"/>
                </a:solidFill>
              </a:rPr>
              <a:t>给你喵喵叫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E59B08-048F-D11A-F839-9E8AE84C482F}"/>
              </a:ext>
            </a:extLst>
          </p:cNvPr>
          <p:cNvSpPr txBox="1"/>
          <p:nvPr/>
        </p:nvSpPr>
        <p:spPr>
          <a:xfrm>
            <a:off x="8891760" y="5085184"/>
            <a:ext cx="274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rgbClr val="FF0000"/>
                </a:solidFill>
              </a:rPr>
              <a:t>当然，这个</a:t>
            </a:r>
            <a:r>
              <a:rPr kumimoji="1" lang="en-US" altLang="zh-CN" sz="2400" dirty="0">
                <a:solidFill>
                  <a:srgbClr val="FF0000"/>
                </a:solidFill>
              </a:rPr>
              <a:t> trick </a:t>
            </a:r>
            <a:r>
              <a:rPr kumimoji="1" lang="zh-CN" altLang="en-US" sz="2400" dirty="0">
                <a:solidFill>
                  <a:srgbClr val="FF0000"/>
                </a:solidFill>
              </a:rPr>
              <a:t>也不一定总是灵验</a:t>
            </a:r>
          </a:p>
        </p:txBody>
      </p:sp>
    </p:spTree>
    <p:extLst>
      <p:ext uri="{BB962C8B-B14F-4D97-AF65-F5344CB8AC3E}">
        <p14:creationId xmlns:p14="http://schemas.microsoft.com/office/powerpoint/2010/main" val="3005156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A7444-CF13-81E7-C565-F0A5E2F1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5E19-A96C-4A89-4D07-8C07AA3D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怎么做</a:t>
            </a:r>
            <a:r>
              <a:rPr lang="en-US" altLang="zh-CN" dirty="0"/>
              <a:t> Compaction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D94BD-2809-E6AD-E2B1-EC707F2B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8</a:t>
            </a:fld>
            <a:endParaRPr lang="en-CN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9349C1E-ED00-C2C6-3846-2D4F4C2B7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4306741" cy="4968552"/>
          </a:xfrm>
        </p:spPr>
        <p:txBody>
          <a:bodyPr/>
          <a:lstStyle/>
          <a:p>
            <a:r>
              <a:rPr lang="zh-CN" altLang="en-US" dirty="0"/>
              <a:t>压缩什么？</a:t>
            </a:r>
            <a:endParaRPr lang="en-US" altLang="zh-CN" dirty="0"/>
          </a:p>
          <a:p>
            <a:r>
              <a:rPr lang="zh-CN" altLang="en-US" dirty="0"/>
              <a:t>什么时候压缩？</a:t>
            </a:r>
            <a:endParaRPr lang="en-US" altLang="zh-CN" dirty="0"/>
          </a:p>
          <a:p>
            <a:r>
              <a:rPr lang="zh-CN" altLang="en-US" dirty="0"/>
              <a:t>用什么方法压缩？</a:t>
            </a:r>
            <a:endParaRPr lang="en-US" altLang="zh-CN" dirty="0"/>
          </a:p>
          <a:p>
            <a:r>
              <a:rPr lang="zh-CN" altLang="en-US" dirty="0"/>
              <a:t>压缩结果是什么格式？</a:t>
            </a:r>
            <a:endParaRPr lang="en-US" altLang="zh-CN" dirty="0"/>
          </a:p>
          <a:p>
            <a:r>
              <a:rPr lang="zh-CN" altLang="en-US" dirty="0"/>
              <a:t>压缩失败时如何回滚？</a:t>
            </a:r>
          </a:p>
        </p:txBody>
      </p:sp>
      <p:sp>
        <p:nvSpPr>
          <p:cNvPr id="8" name="内容占位符 4">
            <a:extLst>
              <a:ext uri="{FF2B5EF4-FFF2-40B4-BE49-F238E27FC236}">
                <a16:creationId xmlns:a16="http://schemas.microsoft.com/office/drawing/2014/main" id="{FE85DF10-C2BF-8B62-8475-42A3820402FB}"/>
              </a:ext>
            </a:extLst>
          </p:cNvPr>
          <p:cNvSpPr txBox="1">
            <a:spLocks/>
          </p:cNvSpPr>
          <p:nvPr/>
        </p:nvSpPr>
        <p:spPr>
          <a:xfrm>
            <a:off x="7248128" y="1268760"/>
            <a:ext cx="4306741" cy="49685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只保留最近 </a:t>
            </a:r>
            <a:r>
              <a:rPr lang="en-US" altLang="zh-CN" dirty="0"/>
              <a:t>10 </a:t>
            </a:r>
            <a:r>
              <a:rPr lang="zh-CN" altLang="en-US" dirty="0"/>
              <a:t>条消息，不写 </a:t>
            </a:r>
            <a:r>
              <a:rPr lang="en" altLang="zh-CN" dirty="0"/>
              <a:t>summary</a:t>
            </a:r>
            <a:endParaRPr lang="en-US" altLang="zh-CN" dirty="0"/>
          </a:p>
          <a:p>
            <a:r>
              <a:rPr lang="zh-CN" altLang="en-US" dirty="0"/>
              <a:t>按字符预算从后往前截断</a:t>
            </a:r>
            <a:endParaRPr lang="en-US" altLang="zh-CN" dirty="0"/>
          </a:p>
          <a:p>
            <a:r>
              <a:rPr lang="zh-CN" altLang="en-US" dirty="0"/>
              <a:t>用规则从旧消息里抽取 </a:t>
            </a:r>
            <a:r>
              <a:rPr lang="en" altLang="zh-CN" dirty="0"/>
              <a:t>TODO</a:t>
            </a:r>
            <a:r>
              <a:rPr lang="zh-CN" altLang="en" dirty="0"/>
              <a:t>、</a:t>
            </a:r>
            <a:r>
              <a:rPr lang="zh-CN" altLang="en-US" dirty="0"/>
              <a:t>约束和文件路径。调用 </a:t>
            </a:r>
            <a:r>
              <a:rPr lang="en" altLang="zh-CN" dirty="0"/>
              <a:t>LLM </a:t>
            </a:r>
            <a:r>
              <a:rPr lang="zh-CN" altLang="en-US" dirty="0"/>
              <a:t>把旧消息总结成自然语言</a:t>
            </a:r>
            <a:endParaRPr lang="en-US" altLang="zh-CN" dirty="0"/>
          </a:p>
          <a:p>
            <a:r>
              <a:rPr lang="zh-CN" altLang="en-US" dirty="0"/>
              <a:t>把对话状态维护成结构化 </a:t>
            </a:r>
            <a:r>
              <a:rPr lang="en" altLang="zh-CN" dirty="0"/>
              <a:t>JSON</a:t>
            </a:r>
            <a:endParaRPr lang="en-US" altLang="zh-CN" dirty="0"/>
          </a:p>
          <a:p>
            <a:r>
              <a:rPr lang="zh-CN" altLang="en-US" dirty="0"/>
              <a:t>把很长的历史分块摘要，再合并摘要</a:t>
            </a:r>
            <a:endParaRPr lang="en-US" altLang="zh-CN" dirty="0"/>
          </a:p>
          <a:p>
            <a:r>
              <a:rPr lang="zh-CN" altLang="en-US" dirty="0"/>
              <a:t>把旧消息放进检索索引，按问题动态取回相关片段。</a:t>
            </a:r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43881FE0-E2F4-DED9-A280-C9AC2A782336}"/>
              </a:ext>
            </a:extLst>
          </p:cNvPr>
          <p:cNvSpPr/>
          <p:nvPr/>
        </p:nvSpPr>
        <p:spPr>
          <a:xfrm>
            <a:off x="4799856" y="2708920"/>
            <a:ext cx="1944216" cy="8640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93FEF8-6BFA-7E5B-6282-49EA0F3EA186}"/>
              </a:ext>
            </a:extLst>
          </p:cNvPr>
          <p:cNvSpPr txBox="1"/>
          <p:nvPr/>
        </p:nvSpPr>
        <p:spPr>
          <a:xfrm>
            <a:off x="4783899" y="356837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一些可能的策略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A36B78-FC56-D658-144D-3597B5B08AD7}"/>
              </a:ext>
            </a:extLst>
          </p:cNvPr>
          <p:cNvSpPr txBox="1"/>
          <p:nvPr/>
        </p:nvSpPr>
        <p:spPr>
          <a:xfrm>
            <a:off x="0" y="6438572"/>
            <a:ext cx="11089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注：</a:t>
            </a:r>
            <a:r>
              <a:rPr kumimoji="1" lang="en-US" altLang="zh-CN" dirty="0"/>
              <a:t>Compaction </a:t>
            </a:r>
            <a:r>
              <a:rPr kumimoji="1" lang="zh-CN" altLang="en-US" dirty="0"/>
              <a:t>的设计往往没有普适性的最优解，大家可以结合自己的理解和想法，进行一定的开放性设计</a:t>
            </a:r>
          </a:p>
        </p:txBody>
      </p:sp>
    </p:spTree>
    <p:extLst>
      <p:ext uri="{BB962C8B-B14F-4D97-AF65-F5344CB8AC3E}">
        <p14:creationId xmlns:p14="http://schemas.microsoft.com/office/powerpoint/2010/main" val="392154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5DF82-2748-0E9B-24D2-6BBCA43F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F6BA-2C25-5281-BA39-7FBAC8CCF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Compaction </a:t>
            </a:r>
            <a:r>
              <a:rPr lang="zh-CN" altLang="en-US" dirty="0"/>
              <a:t>设计</a:t>
            </a:r>
            <a:r>
              <a:rPr lang="en-US" altLang="zh-CN" dirty="0"/>
              <a:t>#1</a:t>
            </a:r>
            <a:r>
              <a:rPr lang="zh-CN" altLang="en-US" dirty="0"/>
              <a:t>：</a:t>
            </a:r>
            <a:r>
              <a:rPr lang="en-US" altLang="zh-CN" dirty="0"/>
              <a:t>Sliding</a:t>
            </a:r>
            <a:r>
              <a:rPr lang="zh-CN" altLang="en-US" dirty="0"/>
              <a:t> </a:t>
            </a:r>
            <a:r>
              <a:rPr lang="en-US" altLang="zh-CN" dirty="0"/>
              <a:t>Window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DB345-6463-19D6-3BCB-CF9326CDC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9</a:t>
            </a:fld>
            <a:endParaRPr lang="en-CN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631884-C470-2F73-1091-B4788E314915}"/>
              </a:ext>
            </a:extLst>
          </p:cNvPr>
          <p:cNvSpPr txBox="1"/>
          <p:nvPr/>
        </p:nvSpPr>
        <p:spPr>
          <a:xfrm>
            <a:off x="0" y="6438572"/>
            <a:ext cx="6829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注：这种截断式的滑动窗口其实都不能算严格意义上的</a:t>
            </a:r>
            <a:r>
              <a:rPr kumimoji="1" lang="en-US" altLang="zh-CN" dirty="0"/>
              <a:t> compaction</a:t>
            </a: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6F18EF-6C1D-CB6E-2AE5-D73924748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最简单的 </a:t>
            </a:r>
            <a:r>
              <a:rPr lang="en" altLang="zh-CN" dirty="0"/>
              <a:t>compaction </a:t>
            </a:r>
            <a:r>
              <a:rPr lang="zh-CN" altLang="en-US" dirty="0"/>
              <a:t>是不生成 </a:t>
            </a:r>
            <a:r>
              <a:rPr lang="en" altLang="zh-CN" dirty="0"/>
              <a:t>summary</a:t>
            </a:r>
            <a:r>
              <a:rPr lang="zh-CN" altLang="en" dirty="0"/>
              <a:t>，</a:t>
            </a:r>
            <a:r>
              <a:rPr lang="zh-CN" altLang="en-US" dirty="0"/>
              <a:t>只保留最近 </a:t>
            </a:r>
            <a:r>
              <a:rPr lang="en" altLang="zh-CN" dirty="0"/>
              <a:t>N </a:t>
            </a:r>
            <a:r>
              <a:rPr lang="zh-CN" altLang="en-US" dirty="0"/>
              <a:t>条 </a:t>
            </a:r>
            <a:r>
              <a:rPr lang="en" altLang="zh-CN" dirty="0"/>
              <a:t>messages</a:t>
            </a:r>
            <a:r>
              <a:rPr lang="zh-CN" altLang="en" dirty="0"/>
              <a:t>。</a:t>
            </a:r>
          </a:p>
          <a:p>
            <a:r>
              <a:rPr lang="zh-CN" altLang="en-US" dirty="0"/>
              <a:t>例如保留最近 </a:t>
            </a:r>
            <a:r>
              <a:rPr lang="en-US" altLang="zh-CN" dirty="0"/>
              <a:t>8 </a:t>
            </a:r>
            <a:r>
              <a:rPr lang="zh-CN" altLang="en-US" dirty="0"/>
              <a:t>条：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EB15464-6A9C-0AD0-5DFC-85EEFB321E13}"/>
              </a:ext>
            </a:extLst>
          </p:cNvPr>
          <p:cNvSpPr txBox="1"/>
          <p:nvPr/>
        </p:nvSpPr>
        <p:spPr>
          <a:xfrm>
            <a:off x="903645" y="2780928"/>
            <a:ext cx="10186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i="1" dirty="0">
                <a:solidFill>
                  <a:srgbClr val="FF0000"/>
                </a:solidFill>
              </a:rPr>
              <a:t>def </a:t>
            </a:r>
            <a:r>
              <a:rPr lang="en" altLang="zh-CN" i="1" dirty="0" err="1">
                <a:solidFill>
                  <a:srgbClr val="FF0000"/>
                </a:solidFill>
              </a:rPr>
              <a:t>recent_messages_only</a:t>
            </a:r>
            <a:r>
              <a:rPr lang="en" altLang="zh-CN" i="1" dirty="0">
                <a:solidFill>
                  <a:srgbClr val="FF0000"/>
                </a:solidFill>
              </a:rPr>
              <a:t>(messages: list[</a:t>
            </a:r>
            <a:r>
              <a:rPr lang="en" altLang="zh-CN" i="1" dirty="0" err="1">
                <a:solidFill>
                  <a:srgbClr val="FF0000"/>
                </a:solidFill>
              </a:rPr>
              <a:t>dict</a:t>
            </a:r>
            <a:r>
              <a:rPr lang="en" altLang="zh-CN" i="1" dirty="0">
                <a:solidFill>
                  <a:srgbClr val="FF0000"/>
                </a:solidFill>
              </a:rPr>
              <a:t>], </a:t>
            </a:r>
            <a:r>
              <a:rPr lang="en" altLang="zh-CN" i="1" dirty="0" err="1">
                <a:solidFill>
                  <a:srgbClr val="FF0000"/>
                </a:solidFill>
              </a:rPr>
              <a:t>keep_last</a:t>
            </a:r>
            <a:r>
              <a:rPr lang="en" altLang="zh-CN" i="1" dirty="0">
                <a:solidFill>
                  <a:srgbClr val="FF0000"/>
                </a:solidFill>
              </a:rPr>
              <a:t>: int = 8) -&gt; list[</a:t>
            </a:r>
            <a:r>
              <a:rPr lang="en" altLang="zh-CN" i="1" dirty="0" err="1">
                <a:solidFill>
                  <a:srgbClr val="FF0000"/>
                </a:solidFill>
              </a:rPr>
              <a:t>dict</a:t>
            </a:r>
            <a:r>
              <a:rPr lang="en" altLang="zh-CN" i="1" dirty="0">
                <a:solidFill>
                  <a:srgbClr val="FF0000"/>
                </a:solidFill>
              </a:rPr>
              <a:t>]: return messages[-</a:t>
            </a:r>
            <a:r>
              <a:rPr lang="en" altLang="zh-CN" i="1" dirty="0" err="1">
                <a:solidFill>
                  <a:srgbClr val="FF0000"/>
                </a:solidFill>
              </a:rPr>
              <a:t>keep_last</a:t>
            </a:r>
            <a:r>
              <a:rPr lang="en" altLang="zh-CN" i="1" dirty="0">
                <a:solidFill>
                  <a:srgbClr val="FF0000"/>
                </a:solidFill>
              </a:rPr>
              <a:t>:]</a:t>
            </a:r>
            <a:endParaRPr kumimoji="1" lang="zh-CN" altLang="en-US" i="1" dirty="0">
              <a:solidFill>
                <a:srgbClr val="FF00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7FC2A47-210C-1068-4383-90C12E951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46" y="4229613"/>
            <a:ext cx="4259879" cy="18002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5F0322E-39B9-36BC-8916-E4DDDD8A3990}"/>
              </a:ext>
            </a:extLst>
          </p:cNvPr>
          <p:cNvSpPr txBox="1"/>
          <p:nvPr/>
        </p:nvSpPr>
        <p:spPr>
          <a:xfrm>
            <a:off x="276346" y="365902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模型输入变成了：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98CC92-772D-B904-B183-69965913D016}"/>
              </a:ext>
            </a:extLst>
          </p:cNvPr>
          <p:cNvSpPr txBox="1"/>
          <p:nvPr/>
        </p:nvSpPr>
        <p:spPr>
          <a:xfrm>
            <a:off x="5830045" y="3523486"/>
            <a:ext cx="5561107" cy="250632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这种方法的优点是：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实现简单，不需要额外调用 </a:t>
            </a:r>
            <a:r>
              <a:rPr lang="e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LLM</a:t>
            </a:r>
            <a:endParaRPr lang="zh-CN" altLang="e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结果确定，容易测试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不会产生幻觉式摘要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缺点也很明显：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会丢失早期信息，对长任务不友好</a:t>
            </a:r>
          </a:p>
        </p:txBody>
      </p:sp>
    </p:spTree>
    <p:extLst>
      <p:ext uri="{BB962C8B-B14F-4D97-AF65-F5344CB8AC3E}">
        <p14:creationId xmlns:p14="http://schemas.microsoft.com/office/powerpoint/2010/main" val="2387439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D7B5D-78F2-C0F5-7F52-700A3F0C2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A692A-E095-ECE0-2830-009AB79FC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Compaction </a:t>
            </a:r>
            <a:r>
              <a:rPr lang="zh-CN" altLang="en-US" dirty="0"/>
              <a:t>设计</a:t>
            </a:r>
            <a:r>
              <a:rPr lang="en-US" altLang="zh-CN" dirty="0"/>
              <a:t>#2</a:t>
            </a:r>
            <a:r>
              <a:rPr lang="zh-CN" altLang="en-US" dirty="0"/>
              <a:t>：硬截断与字符预算 </a:t>
            </a:r>
            <a:r>
              <a:rPr lang="en" altLang="zh-CN" dirty="0"/>
              <a:t>Truncation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B19EC-F021-86E7-233A-A45152CB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10</a:t>
            </a:fld>
            <a:endParaRPr lang="en-CN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4C8E17-D7EC-A882-F9A5-11DCE306C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按预算截断。例如限制发送给模型的历史总字符数不超过 </a:t>
            </a:r>
            <a:r>
              <a:rPr lang="en-US" altLang="zh-CN" dirty="0"/>
              <a:t>12000</a:t>
            </a:r>
          </a:p>
          <a:p>
            <a:r>
              <a:rPr lang="zh-CN" altLang="en-US" dirty="0"/>
              <a:t>实现时可以从最近消息开始往前收集，直到超过预算为止</a:t>
            </a:r>
            <a:endParaRPr lang="en-US" altLang="zh-CN" dirty="0"/>
          </a:p>
          <a:p>
            <a:r>
              <a:rPr lang="zh-CN" altLang="en-US" dirty="0"/>
              <a:t>可以理解为是滑动串口的一个变种，但是能够更加好地贴合模型上下文约束</a:t>
            </a:r>
            <a:endParaRPr lang="en-US" altLang="zh-CN" dirty="0"/>
          </a:p>
          <a:p>
            <a:pPr lvl="1"/>
            <a:r>
              <a:rPr lang="zh-CN" altLang="en-US" dirty="0"/>
              <a:t>比如保留 </a:t>
            </a:r>
            <a:r>
              <a:rPr lang="en-US" altLang="zh-CN" dirty="0"/>
              <a:t>8 </a:t>
            </a:r>
            <a:r>
              <a:rPr lang="zh-CN" altLang="en-US" dirty="0"/>
              <a:t>条，有时可能是 </a:t>
            </a:r>
            <a:r>
              <a:rPr lang="en-US" altLang="zh-CN" dirty="0"/>
              <a:t>8 </a:t>
            </a:r>
            <a:r>
              <a:rPr lang="zh-CN" altLang="en-US" dirty="0"/>
              <a:t>条非常短的消息（浪费了上下文空间），有时可能非常长（</a:t>
            </a:r>
            <a:r>
              <a:rPr lang="en-US" altLang="zh-CN" dirty="0"/>
              <a:t>8 </a:t>
            </a:r>
            <a:r>
              <a:rPr lang="zh-CN" altLang="en-US" dirty="0"/>
              <a:t>条消息也放不进上下文空间）</a:t>
            </a:r>
            <a:endParaRPr lang="en-US" altLang="zh-CN" dirty="0"/>
          </a:p>
          <a:p>
            <a:r>
              <a:rPr lang="zh-CN" altLang="en-US" dirty="0"/>
              <a:t>比较容易遇到坑的地方（主要是格式完整性）：</a:t>
            </a:r>
            <a:endParaRPr lang="en-US" altLang="zh-CN" dirty="0"/>
          </a:p>
          <a:p>
            <a:pPr lvl="1"/>
            <a:r>
              <a:rPr lang="zh-CN" altLang="en-US" dirty="0"/>
              <a:t>不能截断单条 </a:t>
            </a:r>
            <a:r>
              <a:rPr lang="en" altLang="zh-CN" dirty="0"/>
              <a:t>JSON tool result </a:t>
            </a:r>
            <a:r>
              <a:rPr lang="zh-CN" altLang="en-US" dirty="0"/>
              <a:t>的中间部分，否则消息格式可能坏掉</a:t>
            </a:r>
            <a:endParaRPr lang="en-US" altLang="zh-CN" dirty="0"/>
          </a:p>
          <a:p>
            <a:pPr lvl="1"/>
            <a:r>
              <a:rPr lang="zh-CN" altLang="en-US" dirty="0"/>
              <a:t>不能把 </a:t>
            </a:r>
            <a:r>
              <a:rPr lang="en" altLang="zh-CN" dirty="0"/>
              <a:t>assistant </a:t>
            </a:r>
            <a:r>
              <a:rPr lang="zh-CN" altLang="en-US" dirty="0"/>
              <a:t>的 </a:t>
            </a:r>
            <a:r>
              <a:rPr lang="en" altLang="zh-CN" dirty="0"/>
              <a:t>tool call </a:t>
            </a:r>
            <a:r>
              <a:rPr lang="zh-CN" altLang="en-US" dirty="0"/>
              <a:t>留下，却把对应 </a:t>
            </a:r>
            <a:r>
              <a:rPr lang="en" altLang="zh-CN" dirty="0"/>
              <a:t>tool result </a:t>
            </a:r>
            <a:r>
              <a:rPr lang="zh-CN" altLang="en-US" dirty="0"/>
              <a:t>截掉</a:t>
            </a:r>
            <a:endParaRPr lang="en-US" altLang="zh-CN" dirty="0"/>
          </a:p>
          <a:p>
            <a:pPr lvl="1"/>
            <a:r>
              <a:rPr lang="zh-CN" altLang="en-US" dirty="0"/>
              <a:t>不能让 </a:t>
            </a:r>
            <a:r>
              <a:rPr lang="en" altLang="zh-CN" dirty="0"/>
              <a:t>user </a:t>
            </a:r>
            <a:r>
              <a:rPr lang="zh-CN" altLang="en-US" dirty="0"/>
              <a:t>和 </a:t>
            </a:r>
            <a:r>
              <a:rPr lang="en" altLang="zh-CN" dirty="0"/>
              <a:t>assistant </a:t>
            </a:r>
            <a:r>
              <a:rPr lang="zh-CN" altLang="en-US" dirty="0"/>
              <a:t>的关键问答关系断裂得太严重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4637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8EB46-9305-DB59-377E-1F4793863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A6EB-EEA7-0245-CB96-0E5A81CC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Compaction </a:t>
            </a:r>
            <a:r>
              <a:rPr lang="zh-CN" altLang="en-US" dirty="0"/>
              <a:t>设计</a:t>
            </a:r>
            <a:r>
              <a:rPr lang="en-US" altLang="zh-CN" dirty="0"/>
              <a:t>#3</a:t>
            </a:r>
            <a:r>
              <a:rPr lang="zh-CN" altLang="en-US" dirty="0"/>
              <a:t>：规则式摘要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3063-C008-F019-1DEA-DF4BA56F8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11</a:t>
            </a:fld>
            <a:endParaRPr lang="en-CN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C60544-2F0D-7E8E-ADF4-77CF36534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撰写程序，通过特定的规则匹配，来抽取关键信息</a:t>
            </a:r>
            <a:endParaRPr lang="en-US" altLang="zh-CN" dirty="0"/>
          </a:p>
          <a:p>
            <a:r>
              <a:rPr lang="zh-CN" altLang="en-US" dirty="0"/>
              <a:t>例如：用户显示说出的约束，包含“下一步”“</a:t>
            </a:r>
            <a:r>
              <a:rPr lang="en" altLang="zh-CN" dirty="0"/>
              <a:t>TODO”“</a:t>
            </a:r>
            <a:r>
              <a:rPr lang="zh-CN" altLang="en-US" dirty="0"/>
              <a:t>失败”“不要”的句子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优点：不需要依赖模型，成本低，并且可以预测和覆盖简单的需求</a:t>
            </a:r>
            <a:endParaRPr lang="en-US" altLang="zh-CN" dirty="0"/>
          </a:p>
          <a:p>
            <a:pPr lvl="1"/>
            <a:r>
              <a:rPr lang="zh-CN" altLang="en-US" dirty="0"/>
              <a:t>比如：用户提到：不要使用</a:t>
            </a:r>
            <a:r>
              <a:rPr lang="en-US" altLang="zh-CN" dirty="0"/>
              <a:t>C++</a:t>
            </a:r>
            <a:r>
              <a:rPr lang="zh-CN" altLang="en-US" dirty="0"/>
              <a:t>，不要使用英文！（这种会被关键字捕获）</a:t>
            </a:r>
            <a:endParaRPr lang="en-US" altLang="zh-CN" dirty="0"/>
          </a:p>
          <a:p>
            <a:r>
              <a:rPr lang="zh-CN" altLang="en-US" dirty="0"/>
              <a:t>缺点：并不是真正理解语义，依赖关键词，容易漏掉信息</a:t>
            </a:r>
            <a:endParaRPr lang="en-US" altLang="zh-CN" dirty="0"/>
          </a:p>
          <a:p>
            <a:pPr lvl="1"/>
            <a:r>
              <a:rPr lang="zh-CN" altLang="en-US" dirty="0"/>
              <a:t>比如：用户提到：请勿使用</a:t>
            </a:r>
            <a:r>
              <a:rPr lang="en-US" altLang="zh-CN" dirty="0"/>
              <a:t> C++</a:t>
            </a:r>
            <a:r>
              <a:rPr lang="zh-CN" altLang="en-US" dirty="0"/>
              <a:t>（同一个意思，但是用户的表达不同导致漏掉）</a:t>
            </a:r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7EEDBD-6B6F-DD2B-71BC-F8ED72BC1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895114"/>
            <a:ext cx="7772400" cy="53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42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4DF3B-7C6A-016E-28CD-539117C56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8A3C-46D1-E86E-0975-CFD92DD4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Compaction </a:t>
            </a:r>
            <a:r>
              <a:rPr lang="zh-CN" altLang="en-US" dirty="0"/>
              <a:t>设计</a:t>
            </a:r>
            <a:r>
              <a:rPr lang="en-US" altLang="zh-CN" dirty="0"/>
              <a:t>#4</a:t>
            </a:r>
            <a:r>
              <a:rPr lang="zh-CN" altLang="en-US" dirty="0"/>
              <a:t>：</a:t>
            </a:r>
            <a:r>
              <a:rPr lang="en-US" altLang="zh-CN" dirty="0"/>
              <a:t>LLM</a:t>
            </a:r>
            <a:r>
              <a:rPr lang="zh-CN" altLang="en-US" dirty="0"/>
              <a:t>生成式摘要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A4FC0-E3B8-47A6-82E1-3EBC42F7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12</a:t>
            </a:fld>
            <a:endParaRPr lang="en-CN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EF424B-3DAF-2EBB-931E-2D622C34D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6971037" cy="4968552"/>
          </a:xfrm>
        </p:spPr>
        <p:txBody>
          <a:bodyPr/>
          <a:lstStyle/>
          <a:p>
            <a:r>
              <a:rPr lang="zh-CN" altLang="en-US" dirty="0"/>
              <a:t>目前最常见的做法：把旧</a:t>
            </a:r>
            <a:r>
              <a:rPr lang="en-US" altLang="zh-CN" dirty="0"/>
              <a:t> messages </a:t>
            </a:r>
            <a:r>
              <a:rPr lang="zh-CN" altLang="en-US" dirty="0"/>
              <a:t>交给</a:t>
            </a:r>
            <a:r>
              <a:rPr lang="en-US" altLang="zh-CN" dirty="0"/>
              <a:t> LLM</a:t>
            </a:r>
            <a:r>
              <a:rPr lang="zh-CN" altLang="en-US" dirty="0"/>
              <a:t>，请它生成一段更短的</a:t>
            </a:r>
            <a:r>
              <a:rPr lang="en-US" altLang="zh-CN" dirty="0"/>
              <a:t> summary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整个方案其实不难，但是不能简单地“让模型总结一下”，而是需要仔细设计</a:t>
            </a:r>
            <a:r>
              <a:rPr lang="en-US" altLang="zh-CN" dirty="0"/>
              <a:t> summary prompt</a:t>
            </a:r>
          </a:p>
          <a:p>
            <a:pPr lvl="1"/>
            <a:r>
              <a:rPr lang="zh-CN" altLang="en-US" dirty="0"/>
              <a:t>通常需要写清楚任务要求，怎么去做</a:t>
            </a:r>
            <a:r>
              <a:rPr lang="en-US" altLang="zh-CN" dirty="0"/>
              <a:t> summary</a:t>
            </a:r>
            <a:r>
              <a:rPr lang="zh-CN" altLang="en-US" dirty="0"/>
              <a:t>，格式等细节（右侧仅供参考）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641573-007A-89C0-BF49-C03FF138255D}"/>
              </a:ext>
            </a:extLst>
          </p:cNvPr>
          <p:cNvSpPr txBox="1"/>
          <p:nvPr/>
        </p:nvSpPr>
        <p:spPr>
          <a:xfrm>
            <a:off x="931445" y="2420888"/>
            <a:ext cx="5164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i="1" dirty="0">
                <a:solidFill>
                  <a:srgbClr val="C00000"/>
                </a:solidFill>
              </a:rPr>
              <a:t>Old</a:t>
            </a:r>
            <a:r>
              <a:rPr kumimoji="1" lang="zh-CN" altLang="en-US" sz="2800" i="1" dirty="0">
                <a:solidFill>
                  <a:srgbClr val="C00000"/>
                </a:solidFill>
              </a:rPr>
              <a:t> </a:t>
            </a:r>
            <a:r>
              <a:rPr kumimoji="1" lang="en-US" altLang="zh-CN" sz="2800" i="1" dirty="0">
                <a:solidFill>
                  <a:srgbClr val="C00000"/>
                </a:solidFill>
              </a:rPr>
              <a:t>messages -&gt; LLM -&gt; Summary</a:t>
            </a:r>
            <a:endParaRPr kumimoji="1" lang="zh-CN" altLang="en-US" sz="2800" i="1" dirty="0">
              <a:solidFill>
                <a:srgbClr val="C0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875D98-D3CB-E1BE-172E-137E10043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657" y="303616"/>
            <a:ext cx="4630174" cy="571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929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2FF1C-E380-2BBE-2B2C-1A73CBDB8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D8433-D768-98C2-1240-BB3911995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Compaction </a:t>
            </a:r>
            <a:r>
              <a:rPr lang="zh-CN" altLang="en-US"/>
              <a:t>设计</a:t>
            </a:r>
            <a:r>
              <a:rPr lang="en-US" altLang="zh-CN"/>
              <a:t>#5</a:t>
            </a:r>
            <a:r>
              <a:rPr lang="zh-CN" altLang="en-US"/>
              <a:t>：结构化状态摘要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10161-BB0A-A96B-8744-4E2DA052F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13</a:t>
            </a:fld>
            <a:endParaRPr lang="en-CN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D9FEAD-D872-7C35-A96B-B7E659B5B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219509" cy="4968552"/>
          </a:xfrm>
        </p:spPr>
        <p:txBody>
          <a:bodyPr/>
          <a:lstStyle/>
          <a:p>
            <a:r>
              <a:rPr lang="zh-CN" altLang="en-US" dirty="0"/>
              <a:t>用自然语言让</a:t>
            </a:r>
            <a:r>
              <a:rPr lang="en-US" altLang="zh-CN" dirty="0"/>
              <a:t> LLM </a:t>
            </a:r>
            <a:r>
              <a:rPr lang="zh-CN" altLang="en-US" dirty="0"/>
              <a:t>做</a:t>
            </a:r>
            <a:r>
              <a:rPr lang="en-US" altLang="zh-CN" dirty="0"/>
              <a:t> summary </a:t>
            </a:r>
            <a:r>
              <a:rPr lang="zh-CN" altLang="en-US" dirty="0"/>
              <a:t>虽然可读性强，但是为了让</a:t>
            </a:r>
            <a:r>
              <a:rPr lang="en-US" altLang="zh-CN" dirty="0"/>
              <a:t> agent </a:t>
            </a:r>
            <a:r>
              <a:rPr lang="zh-CN" altLang="en-US" dirty="0"/>
              <a:t>能够比较准确地工作，使用结构化的方法往往更好</a:t>
            </a:r>
            <a:endParaRPr lang="en-US" altLang="zh-CN" dirty="0"/>
          </a:p>
          <a:p>
            <a:r>
              <a:rPr lang="zh-CN" altLang="en-US" dirty="0"/>
              <a:t>右侧是一个</a:t>
            </a:r>
            <a:r>
              <a:rPr lang="en-US" altLang="zh-CN" dirty="0"/>
              <a:t> Json </a:t>
            </a:r>
            <a:r>
              <a:rPr lang="zh-CN" altLang="en-US" dirty="0"/>
              <a:t>格式的例子</a:t>
            </a:r>
            <a:endParaRPr lang="en-US" altLang="zh-CN" dirty="0"/>
          </a:p>
          <a:p>
            <a:r>
              <a:rPr lang="zh-CN" altLang="en-US" dirty="0"/>
              <a:t>前面给出的</a:t>
            </a:r>
            <a:r>
              <a:rPr lang="en-US" altLang="zh-CN" dirty="0"/>
              <a:t> markdown </a:t>
            </a:r>
            <a:r>
              <a:rPr lang="zh-CN" altLang="en-US" dirty="0"/>
              <a:t>的结构化</a:t>
            </a:r>
            <a:br>
              <a:rPr lang="en-US" altLang="zh-CN" dirty="0"/>
            </a:br>
            <a:r>
              <a:rPr lang="zh-CN" altLang="en-US" dirty="0"/>
              <a:t>表示也可以作为一个折中</a:t>
            </a: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68F3762A-8AF2-C239-BCBD-D76C537ED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815" y="2255242"/>
            <a:ext cx="4978785" cy="440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84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6474-A9F0-6481-84AD-96369B03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BE6D7-B5C9-0478-DA80-8E501EAE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Compaction </a:t>
            </a:r>
            <a:r>
              <a:rPr lang="zh-CN" altLang="en-US" dirty="0"/>
              <a:t>设计</a:t>
            </a:r>
            <a:r>
              <a:rPr lang="en-US" altLang="zh-CN" dirty="0"/>
              <a:t>#6</a:t>
            </a:r>
            <a:r>
              <a:rPr lang="zh-CN" altLang="en-US" dirty="0"/>
              <a:t>：分层摘要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55215-BB87-6CF7-19D6-4979D3796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14</a:t>
            </a:fld>
            <a:endParaRPr lang="en-CN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DF6273-39A2-4F82-C99F-5CC9DED25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219509" cy="4968552"/>
          </a:xfrm>
        </p:spPr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 LLM </a:t>
            </a:r>
            <a:r>
              <a:rPr lang="zh-CN" altLang="en-US" dirty="0"/>
              <a:t>做</a:t>
            </a:r>
            <a:r>
              <a:rPr lang="en-US" altLang="zh-CN" dirty="0"/>
              <a:t>compaction </a:t>
            </a:r>
            <a:r>
              <a:rPr lang="zh-CN" altLang="en-US" dirty="0"/>
              <a:t>可能面临的一个问题是，被</a:t>
            </a:r>
            <a:r>
              <a:rPr lang="en-US" altLang="zh-CN" dirty="0"/>
              <a:t> summary </a:t>
            </a:r>
            <a:r>
              <a:rPr lang="zh-CN" altLang="en-US" dirty="0"/>
              <a:t>的会话可能太长，一次性把所有的</a:t>
            </a:r>
            <a:r>
              <a:rPr lang="en-US" altLang="zh-CN" dirty="0"/>
              <a:t> old</a:t>
            </a:r>
            <a:r>
              <a:rPr lang="zh-CN" altLang="en-US" dirty="0"/>
              <a:t> </a:t>
            </a:r>
            <a:r>
              <a:rPr lang="en-US" altLang="zh-CN" dirty="0"/>
              <a:t>messages </a:t>
            </a:r>
            <a:r>
              <a:rPr lang="zh-CN" altLang="en-US" dirty="0"/>
              <a:t>发给</a:t>
            </a:r>
            <a:r>
              <a:rPr lang="en-US" altLang="zh-CN" dirty="0"/>
              <a:t> LLM </a:t>
            </a:r>
            <a:r>
              <a:rPr lang="zh-CN" altLang="en-US" dirty="0"/>
              <a:t>就会超过窗口大小</a:t>
            </a:r>
            <a:endParaRPr lang="en-US" altLang="zh-CN" dirty="0"/>
          </a:p>
          <a:p>
            <a:r>
              <a:rPr lang="zh-CN" altLang="en-US" dirty="0"/>
              <a:t>可以使用分层摘要：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批</a:t>
            </a:r>
            <a:r>
              <a:rPr lang="en-US" altLang="zh-CN" dirty="0"/>
              <a:t> messages</a:t>
            </a:r>
            <a:r>
              <a:rPr lang="zh-CN" altLang="en-US" dirty="0"/>
              <a:t>：</a:t>
            </a:r>
            <a:r>
              <a:rPr lang="en-US" altLang="zh-CN" dirty="0"/>
              <a:t>chunk</a:t>
            </a:r>
            <a:r>
              <a:rPr lang="zh-CN" altLang="en-US" dirty="0"/>
              <a:t>  </a:t>
            </a:r>
            <a:r>
              <a:rPr lang="en-US" altLang="zh-CN" dirty="0"/>
              <a:t>summary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批</a:t>
            </a:r>
            <a:r>
              <a:rPr lang="en-US" altLang="zh-CN" dirty="0"/>
              <a:t> messages</a:t>
            </a:r>
            <a:r>
              <a:rPr lang="zh-CN" altLang="en-US" dirty="0"/>
              <a:t>：</a:t>
            </a:r>
            <a:r>
              <a:rPr lang="en-US" altLang="zh-CN" dirty="0"/>
              <a:t>chunk</a:t>
            </a:r>
            <a:r>
              <a:rPr lang="zh-CN" altLang="en-US" dirty="0"/>
              <a:t>  </a:t>
            </a:r>
            <a:r>
              <a:rPr lang="en-US" altLang="zh-CN" dirty="0"/>
              <a:t>summary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endParaRPr lang="zh-CN" altLang="en-US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批</a:t>
            </a:r>
            <a:r>
              <a:rPr lang="en-US" altLang="zh-CN" dirty="0"/>
              <a:t> messages</a:t>
            </a:r>
            <a:r>
              <a:rPr lang="zh-CN" altLang="en-US" dirty="0"/>
              <a:t>：</a:t>
            </a:r>
            <a:r>
              <a:rPr lang="en-US" altLang="zh-CN" dirty="0"/>
              <a:t>chunk</a:t>
            </a:r>
            <a:r>
              <a:rPr lang="zh-CN" altLang="en-US" dirty="0"/>
              <a:t>  </a:t>
            </a:r>
            <a:r>
              <a:rPr lang="en-US" altLang="zh-CN" dirty="0"/>
              <a:t>summary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</a:p>
          <a:p>
            <a:pPr lvl="1"/>
            <a:r>
              <a:rPr lang="zh-CN" altLang="en-US" dirty="0"/>
              <a:t>三个</a:t>
            </a:r>
            <a:r>
              <a:rPr lang="en-US" altLang="zh-CN" dirty="0"/>
              <a:t> summary </a:t>
            </a:r>
            <a:r>
              <a:rPr lang="zh-CN" altLang="en-US" dirty="0"/>
              <a:t>进行拼接，能够得到最终完整的</a:t>
            </a:r>
            <a:r>
              <a:rPr lang="en-US" altLang="zh-CN" dirty="0"/>
              <a:t> summary</a:t>
            </a:r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777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F2484-F0B9-BC3B-92AC-73FBD7F45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CB5C-0C41-433B-2DB7-FD8AA0361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Compaction </a:t>
            </a:r>
            <a:r>
              <a:rPr lang="zh-CN" altLang="en-US" dirty="0"/>
              <a:t>设计</a:t>
            </a:r>
            <a:r>
              <a:rPr lang="en-US" altLang="zh-CN" dirty="0"/>
              <a:t>#6</a:t>
            </a:r>
            <a:r>
              <a:rPr lang="zh-CN" altLang="en-US" dirty="0"/>
              <a:t>：分层摘要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1AC83-CB83-F9D8-7F58-49352B7B8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15</a:t>
            </a:fld>
            <a:endParaRPr lang="en-CN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506974-D443-9261-EDF6-25A5F1055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219509" cy="4968552"/>
          </a:xfrm>
        </p:spPr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 LLM </a:t>
            </a:r>
            <a:r>
              <a:rPr lang="zh-CN" altLang="en-US" dirty="0"/>
              <a:t>做</a:t>
            </a:r>
            <a:r>
              <a:rPr lang="en-US" altLang="zh-CN" dirty="0"/>
              <a:t>compaction </a:t>
            </a:r>
            <a:r>
              <a:rPr lang="zh-CN" altLang="en-US" dirty="0"/>
              <a:t>可能面临的一个问题是，被</a:t>
            </a:r>
            <a:r>
              <a:rPr lang="en-US" altLang="zh-CN" dirty="0"/>
              <a:t> summary </a:t>
            </a:r>
            <a:r>
              <a:rPr lang="zh-CN" altLang="en-US" dirty="0"/>
              <a:t>的会话可能太长，一次性把所有的</a:t>
            </a:r>
            <a:r>
              <a:rPr lang="en-US" altLang="zh-CN" dirty="0"/>
              <a:t> old</a:t>
            </a:r>
            <a:r>
              <a:rPr lang="zh-CN" altLang="en-US" dirty="0"/>
              <a:t> </a:t>
            </a:r>
            <a:r>
              <a:rPr lang="en-US" altLang="zh-CN" dirty="0"/>
              <a:t>messages </a:t>
            </a:r>
            <a:r>
              <a:rPr lang="zh-CN" altLang="en-US" dirty="0"/>
              <a:t>发给</a:t>
            </a:r>
            <a:r>
              <a:rPr lang="en-US" altLang="zh-CN" dirty="0"/>
              <a:t> LLM </a:t>
            </a:r>
            <a:r>
              <a:rPr lang="zh-CN" altLang="en-US" dirty="0"/>
              <a:t>就会超过窗口大小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递归式压缩：在每次</a:t>
            </a:r>
            <a:r>
              <a:rPr lang="en-US" altLang="zh-CN" dirty="0"/>
              <a:t> compaction </a:t>
            </a:r>
            <a:r>
              <a:rPr lang="zh-CN" altLang="en-US" dirty="0"/>
              <a:t>时，把已有</a:t>
            </a:r>
            <a:r>
              <a:rPr lang="en-US" altLang="zh-CN" dirty="0"/>
              <a:t> summary </a:t>
            </a:r>
            <a:r>
              <a:rPr lang="zh-CN" altLang="en-US" dirty="0"/>
              <a:t>和新旧</a:t>
            </a:r>
            <a:r>
              <a:rPr lang="en-US" altLang="zh-CN" dirty="0"/>
              <a:t> messages </a:t>
            </a:r>
            <a:r>
              <a:rPr lang="zh-CN" altLang="en-US" dirty="0"/>
              <a:t>合并</a:t>
            </a:r>
            <a:endParaRPr lang="en-US" altLang="zh-CN" dirty="0"/>
          </a:p>
          <a:p>
            <a:pPr lvl="1"/>
            <a:r>
              <a:rPr lang="en" altLang="zh-CN" dirty="0"/>
              <a:t>existing summary + newly compacted old messages -&gt; updated summary</a:t>
            </a:r>
          </a:p>
          <a:p>
            <a:pPr lvl="1"/>
            <a:r>
              <a:rPr lang="zh-CN" altLang="en-US" dirty="0"/>
              <a:t>可能面临摘要漂移的问题：每压缩一次，细节都可能进一步丢失或被改写</a:t>
            </a:r>
          </a:p>
          <a:p>
            <a:r>
              <a:rPr lang="zh-CN" altLang="en-US" dirty="0"/>
              <a:t>分层摘要需要配合校验机制，来判断</a:t>
            </a:r>
            <a:r>
              <a:rPr lang="en-US" altLang="zh-CN" dirty="0"/>
              <a:t>summary </a:t>
            </a:r>
            <a:r>
              <a:rPr lang="zh-CN" altLang="en-US" dirty="0"/>
              <a:t>的结果是否合理</a:t>
            </a:r>
          </a:p>
        </p:txBody>
      </p:sp>
    </p:spTree>
    <p:extLst>
      <p:ext uri="{BB962C8B-B14F-4D97-AF65-F5344CB8AC3E}">
        <p14:creationId xmlns:p14="http://schemas.microsoft.com/office/powerpoint/2010/main" val="281612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E9780-EB7C-D0BA-2FA4-44180170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BAE35-72CC-D95D-03D8-0F05E9E28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Compaction </a:t>
            </a:r>
            <a:r>
              <a:rPr lang="zh-CN" altLang="en-US" dirty="0"/>
              <a:t>设计</a:t>
            </a:r>
            <a:r>
              <a:rPr lang="en-US" altLang="zh-CN" dirty="0"/>
              <a:t>#7</a:t>
            </a:r>
            <a:r>
              <a:rPr lang="zh-CN" altLang="en-US" dirty="0"/>
              <a:t>：检索式上下文</a:t>
            </a:r>
            <a:r>
              <a:rPr lang="en-US" altLang="zh-CN" dirty="0"/>
              <a:t>Retrieval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DF53A-3F9E-E7AF-AB6C-5214A3F3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16</a:t>
            </a:fld>
            <a:endParaRPr lang="en-CN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EB4936-4AC4-3D3F-BE2F-49A9CB554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219509" cy="4968552"/>
          </a:xfrm>
        </p:spPr>
        <p:txBody>
          <a:bodyPr/>
          <a:lstStyle/>
          <a:p>
            <a:r>
              <a:rPr lang="zh-CN" altLang="en-US" dirty="0"/>
              <a:t>另一种常见思路：不把所有的旧消息压缩成</a:t>
            </a:r>
            <a:r>
              <a:rPr lang="en-US" altLang="zh-CN" dirty="0"/>
              <a:t> summary</a:t>
            </a:r>
            <a:r>
              <a:rPr lang="zh-CN" altLang="en-US" dirty="0"/>
              <a:t>，而是将其存入一个地方，并且建立索引，当用户提问时如果涉及到相关的信息，再取回</a:t>
            </a:r>
            <a:endParaRPr lang="en-US" altLang="zh-CN" dirty="0"/>
          </a:p>
          <a:p>
            <a:r>
              <a:rPr lang="zh-CN" altLang="en-US" dirty="0"/>
              <a:t>流程大致如下：</a:t>
            </a:r>
            <a:endParaRPr lang="en-US" altLang="zh-CN" dirty="0"/>
          </a:p>
          <a:p>
            <a:pPr lvl="1"/>
            <a:r>
              <a:rPr lang="zh-CN" altLang="en-US" dirty="0"/>
              <a:t>旧</a:t>
            </a:r>
            <a:r>
              <a:rPr lang="en-US" altLang="zh-CN" dirty="0"/>
              <a:t> messages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切片 </a:t>
            </a:r>
            <a:r>
              <a:rPr lang="en-US" altLang="zh-CN" dirty="0"/>
              <a:t>→</a:t>
            </a:r>
            <a:r>
              <a:rPr lang="zh-CN" altLang="en-US" dirty="0"/>
              <a:t> 建索引</a:t>
            </a:r>
            <a:endParaRPr lang="en-US" altLang="zh-CN" dirty="0"/>
          </a:p>
          <a:p>
            <a:pPr lvl="1"/>
            <a:r>
              <a:rPr lang="zh-CN" altLang="en-US" dirty="0"/>
              <a:t>当前用户问题 </a:t>
            </a:r>
            <a:r>
              <a:rPr lang="en-US" altLang="zh-CN" dirty="0"/>
              <a:t>→</a:t>
            </a:r>
            <a:r>
              <a:rPr lang="zh-CN" altLang="en-US" dirty="0"/>
              <a:t> 检索相关片段 </a:t>
            </a:r>
            <a:r>
              <a:rPr lang="en-US" altLang="zh-CN" dirty="0"/>
              <a:t>→</a:t>
            </a:r>
            <a:r>
              <a:rPr lang="zh-CN" altLang="en-US" dirty="0"/>
              <a:t> 加入</a:t>
            </a:r>
            <a:r>
              <a:rPr lang="en-US" altLang="zh-CN" dirty="0"/>
              <a:t> LLM </a:t>
            </a:r>
            <a:r>
              <a:rPr lang="zh-CN" altLang="en-US" dirty="0"/>
              <a:t>输入</a:t>
            </a:r>
            <a:endParaRPr lang="en-US" altLang="zh-CN" dirty="0"/>
          </a:p>
          <a:p>
            <a:r>
              <a:rPr lang="zh-CN" altLang="en-US" dirty="0"/>
              <a:t>这种方法比较适合知识库问答，长期资料检索等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15B8A8-0E4F-3731-AD69-B470DD478D32}"/>
              </a:ext>
            </a:extLst>
          </p:cNvPr>
          <p:cNvSpPr txBox="1"/>
          <p:nvPr/>
        </p:nvSpPr>
        <p:spPr>
          <a:xfrm>
            <a:off x="335162" y="5050336"/>
            <a:ext cx="11219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C00000"/>
                </a:solidFill>
              </a:rPr>
              <a:t>请大家阅读</a:t>
            </a:r>
            <a:r>
              <a:rPr kumimoji="1" lang="en-US" altLang="zh-CN" sz="24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2400" b="1" dirty="0" err="1">
                <a:solidFill>
                  <a:srgbClr val="C00000"/>
                </a:solidFill>
              </a:rPr>
              <a:t>SJTUClaw</a:t>
            </a:r>
            <a:r>
              <a:rPr kumimoji="1" lang="zh-CN" altLang="en-US" sz="2400" b="1" dirty="0">
                <a:solidFill>
                  <a:srgbClr val="C00000"/>
                </a:solidFill>
              </a:rPr>
              <a:t>项目中的第四步，并且按照要求实现包括</a:t>
            </a:r>
            <a:r>
              <a:rPr kumimoji="1" lang="en-US" altLang="zh-CN" sz="2400" b="1" dirty="0">
                <a:solidFill>
                  <a:srgbClr val="C00000"/>
                </a:solidFill>
              </a:rPr>
              <a:t>/compact </a:t>
            </a:r>
            <a:r>
              <a:rPr kumimoji="1" lang="zh-CN" altLang="en-US" sz="2400" b="1" dirty="0">
                <a:solidFill>
                  <a:srgbClr val="C00000"/>
                </a:solidFill>
              </a:rPr>
              <a:t>等在内的接口和能力</a:t>
            </a:r>
          </a:p>
        </p:txBody>
      </p:sp>
    </p:spTree>
    <p:extLst>
      <p:ext uri="{BB962C8B-B14F-4D97-AF65-F5344CB8AC3E}">
        <p14:creationId xmlns:p14="http://schemas.microsoft.com/office/powerpoint/2010/main" val="262886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C5299-41F9-C0C5-30C2-E6F74AE2E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F2828-1762-22C1-4949-E052FDD3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本周推荐阅读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C31ABA-1C9D-D120-C6D5-7526572FE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435533" cy="5224115"/>
          </a:xfrm>
        </p:spPr>
        <p:txBody>
          <a:bodyPr>
            <a:normAutofit lnSpcReduction="10000"/>
          </a:bodyPr>
          <a:lstStyle/>
          <a:p>
            <a:pPr>
              <a:spcAft>
                <a:spcPts val="1050"/>
              </a:spcAft>
            </a:pPr>
            <a:r>
              <a:rPr lang="en" altLang="zh-CN" b="0" i="0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LLM Powered Autonomous Agents</a:t>
            </a:r>
            <a:r>
              <a:rPr lang="zh-CN" altLang="en-US" b="0" i="0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 </a:t>
            </a:r>
            <a:r>
              <a:rPr lang="en-US" altLang="zh-CN" b="0" i="0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(</a:t>
            </a:r>
            <a:r>
              <a:rPr lang="en" altLang="zh-CN" b="0" i="0" dirty="0">
                <a:solidFill>
                  <a:srgbClr val="6C6C6C"/>
                </a:solidFill>
                <a:effectLst/>
                <a:latin typeface="-apple-system"/>
              </a:rPr>
              <a:t>Lilian Weng</a:t>
            </a:r>
            <a:r>
              <a:rPr lang="en-US" altLang="zh-CN" b="0" i="0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): https://</a:t>
            </a:r>
            <a:r>
              <a:rPr lang="en-US" altLang="zh-CN" b="0" i="0" dirty="0" err="1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lilianweng.github.io</a:t>
            </a:r>
            <a:r>
              <a:rPr lang="en-US" altLang="zh-CN" b="0" i="0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/posts/2023-06-23-agent/</a:t>
            </a:r>
            <a:endParaRPr lang="en" altLang="zh-CN" b="0" i="0" dirty="0">
              <a:effectLst/>
              <a:latin typeface="PingFang SC NEW" panose="020B0400000000000000" pitchFamily="34" charset="-122"/>
              <a:ea typeface="PingFang SC NEW" panose="020B0400000000000000" pitchFamily="34" charset="-122"/>
            </a:endParaRPr>
          </a:p>
          <a:p>
            <a:pPr algn="l">
              <a:spcAft>
                <a:spcPts val="1050"/>
              </a:spcAft>
            </a:pPr>
            <a:r>
              <a:rPr lang="en" altLang="zh-CN" b="0" i="0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Code is cheap. Don</a:t>
            </a:r>
            <a:r>
              <a:rPr lang="zh-CN" altLang="en-US" b="0" i="0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’</a:t>
            </a:r>
            <a:r>
              <a:rPr lang="en" altLang="zh-CN" b="0" i="0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t write any</a:t>
            </a:r>
            <a:r>
              <a:rPr lang="zh-CN" altLang="en-US" b="0" i="0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：</a:t>
            </a:r>
            <a:r>
              <a:rPr lang="en" altLang="zh-CN" b="0" i="0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AI Native</a:t>
            </a:r>
            <a:r>
              <a:rPr lang="zh-CN" altLang="en" b="0" i="0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，</a:t>
            </a:r>
            <a:r>
              <a:rPr lang="zh-CN" altLang="en-US" b="0" i="0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程序员如何提升五倍</a:t>
            </a:r>
            <a:r>
              <a:rPr lang="en" altLang="zh-CN" b="0" i="0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coding</a:t>
            </a:r>
            <a:r>
              <a:rPr lang="zh-CN" altLang="en-US" b="0" i="0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效率，</a:t>
            </a:r>
            <a:r>
              <a:rPr lang="zh-CN" altLang="en-US" b="0" i="0" u="none" strike="noStrike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阿里云开发者公众号文章（</a:t>
            </a:r>
            <a:r>
              <a:rPr lang="en" altLang="zh-CN" b="0" i="0" u="none" strike="noStrike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  <a:hlinkClick r:id="rId3"/>
              </a:rPr>
              <a:t>https://mp.weixin.qq.com/s/t04ysxZN2qEc3986r2gyTA</a:t>
            </a:r>
            <a:r>
              <a:rPr lang="zh-CN" altLang="en-US" b="0" i="0" u="none" strike="noStrike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）</a:t>
            </a:r>
            <a:endParaRPr lang="en-US" altLang="zh-CN" b="0" i="0" u="none" strike="noStrike" dirty="0">
              <a:effectLst/>
              <a:latin typeface="PingFang SC NEW" panose="020B0400000000000000" pitchFamily="34" charset="-122"/>
              <a:ea typeface="PingFang SC NEW" panose="020B0400000000000000" pitchFamily="34" charset="-122"/>
            </a:endParaRPr>
          </a:p>
          <a:p>
            <a:pPr>
              <a:spcAft>
                <a:spcPts val="1050"/>
              </a:spcAft>
            </a:pPr>
            <a:r>
              <a:rPr lang="en-US" altLang="zh-CN" dirty="0">
                <a:latin typeface="PingFang SC NEW" panose="020B0400000000000000" pitchFamily="34" charset="-122"/>
                <a:ea typeface="PingFang SC NEW" panose="020B0400000000000000" pitchFamily="34" charset="-122"/>
              </a:rPr>
              <a:t>Context </a:t>
            </a:r>
            <a:r>
              <a:rPr lang="en-US" altLang="zh-CN" dirty="0" err="1">
                <a:latin typeface="PingFang SC NEW" panose="020B0400000000000000" pitchFamily="34" charset="-122"/>
                <a:ea typeface="PingFang SC NEW" panose="020B0400000000000000" pitchFamily="34" charset="-122"/>
              </a:rPr>
              <a:t>Compresion</a:t>
            </a:r>
            <a:r>
              <a:rPr lang="en-US" altLang="zh-CN" dirty="0">
                <a:latin typeface="PingFang SC NEW" panose="020B0400000000000000" pitchFamily="34" charset="-122"/>
                <a:ea typeface="PingFang SC NEW" panose="020B0400000000000000" pitchFamily="34" charset="-122"/>
              </a:rPr>
              <a:t> for LLM Agents: A Survey of Methods, Failure Modes, and Evaluation (paper: </a:t>
            </a:r>
            <a:r>
              <a:rPr lang="en-US" altLang="zh-CN" dirty="0">
                <a:latin typeface="PingFang SC NEW" panose="020B0400000000000000" pitchFamily="34" charset="-122"/>
                <a:ea typeface="PingFang SC NEW" panose="020B0400000000000000" pitchFamily="34" charset="-122"/>
                <a:hlinkClick r:id="rId4"/>
              </a:rPr>
              <a:t>https://www.preprints.org/manuscript/202605.2065</a:t>
            </a:r>
            <a:r>
              <a:rPr lang="en-US" altLang="zh-CN" dirty="0">
                <a:latin typeface="PingFang SC NEW" panose="020B0400000000000000" pitchFamily="34" charset="-122"/>
                <a:ea typeface="PingFang SC NEW" panose="020B0400000000000000" pitchFamily="34" charset="-122"/>
              </a:rPr>
              <a:t> )</a:t>
            </a:r>
          </a:p>
          <a:p>
            <a:pPr lvl="1">
              <a:spcAft>
                <a:spcPts val="1050"/>
              </a:spcAft>
            </a:pPr>
            <a:r>
              <a:rPr lang="zh-CN" altLang="en-US" dirty="0">
                <a:latin typeface="PingFang SC NEW" panose="020B0400000000000000" pitchFamily="34" charset="-122"/>
                <a:ea typeface="PingFang SC NEW" panose="020B0400000000000000" pitchFamily="34" charset="-122"/>
              </a:rPr>
              <a:t>也可以去读公众号解读如果论文看不下来：</a:t>
            </a:r>
            <a:r>
              <a:rPr lang="en" altLang="zh-CN" dirty="0">
                <a:latin typeface="PingFang SC NEW" panose="020B0400000000000000" pitchFamily="34" charset="-122"/>
                <a:ea typeface="PingFang SC NEW" panose="020B0400000000000000" pitchFamily="34" charset="-122"/>
                <a:hlinkClick r:id="rId5"/>
              </a:rPr>
              <a:t>https://mp.weixin.qq.com/s/IzS9iWSYOsRTNnh8309ltg</a:t>
            </a:r>
            <a:endParaRPr lang="en" altLang="zh-CN" dirty="0">
              <a:latin typeface="PingFang SC NEW" panose="020B0400000000000000" pitchFamily="34" charset="-122"/>
              <a:ea typeface="PingFang SC NEW" panose="020B0400000000000000" pitchFamily="34" charset="-122"/>
            </a:endParaRPr>
          </a:p>
          <a:p>
            <a:pPr>
              <a:spcAft>
                <a:spcPts val="1050"/>
              </a:spcAft>
            </a:pPr>
            <a:r>
              <a:rPr lang="en-US" altLang="zh-CN" b="0" i="0" u="none" strike="noStrike" dirty="0" err="1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Mempalace</a:t>
            </a:r>
            <a:r>
              <a:rPr lang="zh-CN" altLang="en-US" b="0" i="0" u="none" strike="noStrike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项目：</a:t>
            </a:r>
            <a:r>
              <a:rPr lang="en" altLang="zh-CN" b="0" i="0" u="none" strike="noStrike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https://</a:t>
            </a:r>
            <a:r>
              <a:rPr lang="en" altLang="zh-CN" b="0" i="0" u="none" strike="noStrike" dirty="0" err="1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github.com</a:t>
            </a:r>
            <a:r>
              <a:rPr lang="en" altLang="zh-CN" b="0" i="0" u="none" strike="noStrike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/</a:t>
            </a:r>
            <a:r>
              <a:rPr lang="en" altLang="zh-CN" b="0" i="0" u="none" strike="noStrike" dirty="0" err="1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milla-jovovich</a:t>
            </a:r>
            <a:r>
              <a:rPr lang="en" altLang="zh-CN" b="0" i="0" u="none" strike="noStrike" dirty="0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/</a:t>
            </a:r>
            <a:r>
              <a:rPr lang="en" altLang="zh-CN" b="0" i="0" u="none" strike="noStrike" dirty="0" err="1">
                <a:effectLst/>
                <a:latin typeface="PingFang SC NEW" panose="020B0400000000000000" pitchFamily="34" charset="-122"/>
                <a:ea typeface="PingFang SC NEW" panose="020B0400000000000000" pitchFamily="34" charset="-122"/>
              </a:rPr>
              <a:t>mempalace</a:t>
            </a:r>
            <a:endParaRPr lang="en" altLang="zh-CN" b="0" i="0" u="none" strike="noStrike" dirty="0">
              <a:effectLst/>
              <a:latin typeface="PingFang SC NEW" panose="020B0400000000000000" pitchFamily="34" charset="-122"/>
              <a:ea typeface="PingFang SC NEW" panose="020B0400000000000000" pitchFamily="34" charset="-122"/>
            </a:endParaRPr>
          </a:p>
          <a:p>
            <a:pPr>
              <a:spcAft>
                <a:spcPts val="1050"/>
              </a:spcAft>
            </a:pPr>
            <a:endParaRPr lang="en-US" altLang="zh-CN" b="0" i="0" u="none" strike="noStrike" dirty="0">
              <a:effectLst/>
              <a:latin typeface="PingFang SC NEW" panose="020B0400000000000000" pitchFamily="34" charset="-122"/>
              <a:ea typeface="PingFang SC NEW" panose="020B0400000000000000" pitchFamily="34" charset="-122"/>
            </a:endParaRPr>
          </a:p>
          <a:p>
            <a:pPr algn="l">
              <a:spcAft>
                <a:spcPts val="1050"/>
              </a:spcAft>
            </a:pPr>
            <a:endParaRPr lang="en-US" altLang="zh-CN" u="none" strike="noStrike" dirty="0">
              <a:latin typeface="PingFang SC NEW" panose="020B0400000000000000" pitchFamily="34" charset="-122"/>
              <a:ea typeface="PingFang SC NEW" panose="020B0400000000000000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141346-17D2-8594-BA7C-87251BC8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0668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01C383-3B41-624F-AD07-01DA3D24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请大家按照今天的课程内容，开始阅读</a:t>
            </a:r>
            <a:r>
              <a:rPr lang="en-US" altLang="zh-CN" dirty="0"/>
              <a:t> 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要求文档，并且进行开发和实践～</a:t>
            </a:r>
            <a:endParaRPr lang="en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AF9D6A-A624-4F4F-9787-9444E1E9B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如果提前完成了课上的内容，可以根据文档继续往后面提前进行开发任务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2C26-BDAF-D24E-B930-53C5D993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6961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1873</TotalTime>
  <Words>1956</Words>
  <Application>Microsoft Macintosh PowerPoint</Application>
  <PresentationFormat>宽屏</PresentationFormat>
  <Paragraphs>178</Paragraphs>
  <Slides>18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-apple-system</vt:lpstr>
      <vt:lpstr>Microsoft YaHei</vt:lpstr>
      <vt:lpstr>PingFang SC NEW</vt:lpstr>
      <vt:lpstr>Arial</vt:lpstr>
      <vt:lpstr>Calibri</vt:lpstr>
      <vt:lpstr>Consolas</vt:lpstr>
      <vt:lpstr>Helvetica Neue</vt:lpstr>
      <vt:lpstr>Office Theme</vt:lpstr>
      <vt:lpstr>计算机编程实践#3 上下文压缩（Compaction）</vt:lpstr>
      <vt:lpstr>回顾：Agent的基本能力是在会话中维持多轮对话</vt:lpstr>
      <vt:lpstr>会话太长时会带来上下文的空间压力</vt:lpstr>
      <vt:lpstr>上下文压缩技术</vt:lpstr>
      <vt:lpstr>上下文压缩技术</vt:lpstr>
      <vt:lpstr>为什么 Compaction 的一个（正向的）例子</vt:lpstr>
      <vt:lpstr>为什么 Compaction 的一个（负面的）例子</vt:lpstr>
      <vt:lpstr>怎么做 Compaction？</vt:lpstr>
      <vt:lpstr>Compaction 设计#1：Sliding Window</vt:lpstr>
      <vt:lpstr>Compaction 设计#2：硬截断与字符预算 Truncation</vt:lpstr>
      <vt:lpstr>Compaction 设计#3：规则式摘要</vt:lpstr>
      <vt:lpstr>Compaction 设计#4：LLM生成式摘要</vt:lpstr>
      <vt:lpstr>Compaction 设计#5：结构化状态摘要</vt:lpstr>
      <vt:lpstr>Compaction 设计#6：分层摘要</vt:lpstr>
      <vt:lpstr>Compaction 设计#6：分层摘要</vt:lpstr>
      <vt:lpstr>Compaction 设计#7：检索式上下文Retrieval</vt:lpstr>
      <vt:lpstr>本周推荐阅读</vt:lpstr>
      <vt:lpstr>请大家按照今天的课程内容，开始阅读 SJTUClaw 要求文档，并且进行开发和实践～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Mingkai Dong</dc:creator>
  <cp:lastModifiedBy>Dong Du</cp:lastModifiedBy>
  <cp:revision>222</cp:revision>
  <dcterms:created xsi:type="dcterms:W3CDTF">2021-02-24T11:14:01Z</dcterms:created>
  <dcterms:modified xsi:type="dcterms:W3CDTF">2026-07-08T03:59:48Z</dcterms:modified>
</cp:coreProperties>
</file>