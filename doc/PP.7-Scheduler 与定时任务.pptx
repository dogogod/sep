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5" r:id="rId3"/>
    <p:sldId id="274" r:id="rId4"/>
    <p:sldId id="282" r:id="rId5"/>
    <p:sldId id="283" r:id="rId6"/>
    <p:sldId id="284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85" r:id="rId15"/>
    <p:sldId id="293" r:id="rId16"/>
    <p:sldId id="294" r:id="rId17"/>
    <p:sldId id="295" r:id="rId18"/>
    <p:sldId id="296" r:id="rId19"/>
    <p:sldId id="273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56"/>
    <p:restoredTop sz="85662"/>
  </p:normalViewPr>
  <p:slideViewPr>
    <p:cSldViewPr snapToObjects="1" showGuides="1">
      <p:cViewPr varScale="1">
        <p:scale>
          <a:sx n="77" d="100"/>
          <a:sy n="77" d="100"/>
        </p:scale>
        <p:origin x="208" y="6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7/19/26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7/19/26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1A88-C9F0-E226-A840-D4441F59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D472B-4BAA-F5E2-8FEE-5C1F8EBC7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C720EF-C52C-C88E-D8DD-A69CB14B5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0EE60-4C52-4F16-9C20-0E2550037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7804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02D3-DD38-81C9-1E2F-8584CB949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DEFE02-C191-CD49-68F8-0CC1045F8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20B99B-7BCC-7C20-2817-4FEB76D74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5D532-1634-4C73-06A3-F4EBEAAC5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6528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6CCC-6743-4335-B225-60C3907E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DC7932-254C-CA2A-124C-3187EE765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D2B372-096D-DCA6-B28E-E3AD8113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EE8BE0-DB77-E45B-DD68-F43A92445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64111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EBD5-8795-FBF5-9FD5-BC745064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3C71B6-3266-C74C-8EEE-45CB7C857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FEE615-65EB-140D-3BAB-8449950FC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3511E-2C81-C392-473D-C474FE558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10654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A2B0A-953F-682E-92C2-78EB9041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C4E88E-C5BD-24C3-6232-031D8F97B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27E331-DD36-50DD-041E-CA11306E1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BFDB2-15D4-582F-D887-63FBC3669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28998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973E0-B902-90DF-F61F-8AA12F978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5EE485-D2F8-3EF7-7047-7704855D8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C85747-9419-DFAF-B9E3-629DCD730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E1AD61-B224-6BE6-37E2-722D2A54F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7665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533E6-CE97-1D78-914F-B3733AFA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BD2395-AE50-450A-EAC0-E119E60D4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862577-C4AD-FE38-8A24-EB98711D4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2D4BAA-7C59-AF79-0C31-14CFE774C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4182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6EC1-A6EE-32A2-A5AB-303F977B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55DA12-00D3-2BE2-5808-0034D5EC7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900E54-EA57-1731-469D-5F8EE345E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4CA80-A751-3A3A-7158-78229053C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0262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A496-9D83-A33D-CDB2-30FCFD34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A8F0AF-0CD0-6F18-7DC3-E24D2B526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15D503-68C9-BF38-0F6B-DE8ED7FE5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63BF9C-C04C-ACE9-1A9D-AF4BA5B80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3962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DF024-1173-435C-ABD6-0D16771C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34720F-3AE5-EF6E-0E16-99DDB86D8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E10705-A13A-0C6B-0CB1-663AEE559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FD19F1-D28F-B4F2-FA91-36D40ED32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10633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8794-FBBE-BB2E-F435-84389896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9EC94E-79D0-8200-69AE-89B798073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E776AB-5963-09FA-6614-BFA899E32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084721-518C-76DB-4656-0B200AABE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7814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6C20E-1DB6-9B50-333F-F0A50F5F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39BB45-CB8C-5913-B7D8-3384CE945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188963-D6AC-B0F7-F55F-280579D44E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373E85-1E33-EE32-B49D-C152245BE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705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420F-3F6E-107D-FB8D-49D32EC24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FD8E78-DCDE-F4D0-DAC2-8C2CFE246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F16B0E-488E-0DA3-6232-8FDC4F5C1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A9C837-038C-FC81-E2D4-9E7993857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73769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F202-E800-DFEF-3CDC-A585B70F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237633-B388-2DDC-3C6E-CCC310E4B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DD10E9-BD8D-F9F3-211C-21FE2D6DF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FBF454-C026-DD2E-A05D-5DCDC4212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39268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1917-2D06-E6CE-7E75-03685170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D780AC-DB9D-6080-9579-4E92682B1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AA78FB-2134-DC68-9D51-4E0D393B4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F565B0-A0F2-DCAE-B0EE-C54EE3163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91124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ADA55-57EA-EE6E-A77A-CB0CB10A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D75AA1-53F2-C501-81F8-5E960F7B3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D914FC-3237-00A1-5C78-538A19F37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ADBFD-94AB-205B-F042-B412998BB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4F54FA-28E9-114E-B0A7-6C255474D561}" type="slidenum">
              <a:rPr lang="en-CN" smtClean="0"/>
              <a:t>18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9601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BFE9-E284-B34B-9DD9-9734E072A10D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A5C36-DE89-754B-AADC-BE098732BA55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2F05-C132-444E-8CB1-83285020EE6B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A035-3CCE-DA49-8248-4DECF1480FAD}" type="datetime1">
              <a:rPr lang="en-US" smtClean="0"/>
              <a:t>7/19/26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8968-DCED-034C-A9F9-63C7B612155B}" type="datetime1">
              <a:rPr lang="en-US" smtClean="0"/>
              <a:t>7/19/26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FFC6-ADAB-5E41-86AC-7F6081FE7CAC}" type="datetime1">
              <a:rPr lang="en-US" smtClean="0"/>
              <a:t>7/19/26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C856D-977A-F642-9AEB-80D2F107EFF4}" type="datetime1">
              <a:rPr lang="en-US" smtClean="0"/>
              <a:t>7/19/26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4B7F-BC74-F14F-8BF9-586EC96745A0}" type="datetime1">
              <a:rPr lang="en-US" smtClean="0"/>
              <a:t>7/19/26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A7302-2114-A74D-8389-8181128E4BC3}" type="datetime1">
              <a:rPr lang="en-US" smtClean="0"/>
              <a:t>7/19/26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8223-6D33-DE4C-9F51-4A38614FD791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0E2A-2758-4248-AC6A-4E927F9F5533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8F2AF-5968-3346-AE5F-9E0849B6F0B3}" type="datetime1">
              <a:rPr lang="en-US" smtClean="0"/>
              <a:t>7/19/26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2030-8EE3-BF4F-A363-640032AE4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484784"/>
            <a:ext cx="10945216" cy="2487938"/>
          </a:xfrm>
        </p:spPr>
        <p:txBody>
          <a:bodyPr>
            <a:normAutofit/>
          </a:bodyPr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#7</a:t>
            </a:r>
            <a:br>
              <a:rPr lang="en-US" altLang="zh-CN" dirty="0"/>
            </a:br>
            <a:r>
              <a:rPr lang="en-US" altLang="zh-CN" dirty="0"/>
              <a:t>Scheduler</a:t>
            </a:r>
            <a:r>
              <a:rPr lang="zh-CN" altLang="en-US" dirty="0"/>
              <a:t>与定时任务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C9327-07CA-D843-AB2E-801FC5C73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4509120"/>
            <a:ext cx="10945216" cy="1008112"/>
          </a:xfrm>
        </p:spPr>
        <p:txBody>
          <a:bodyPr>
            <a:normAutofit/>
          </a:bodyPr>
          <a:lstStyle/>
          <a:p>
            <a:r>
              <a:rPr lang="zh-CN" altLang="en-US" dirty="0"/>
              <a:t>杜冬冬</a:t>
            </a:r>
            <a:endParaRPr lang="en-US" altLang="zh-CN" dirty="0"/>
          </a:p>
          <a:p>
            <a:r>
              <a:rPr lang="en-US" altLang="zh-CN" dirty="0"/>
              <a:t>2026</a:t>
            </a:r>
            <a:r>
              <a:rPr lang="zh-CN" altLang="en-US" dirty="0"/>
              <a:t>小学期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089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8A8B-FCD4-0D90-72EC-B8855CAC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DC37-6F55-1E84-3FE5-93E7DD69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技巧篇：</a:t>
            </a:r>
            <a:r>
              <a:rPr lang="en-US" altLang="zh-CN" dirty="0"/>
              <a:t>Trae </a:t>
            </a:r>
            <a:r>
              <a:rPr lang="zh-CN" altLang="en-US" dirty="0"/>
              <a:t>已经支持</a:t>
            </a:r>
            <a:r>
              <a:rPr lang="en-US" altLang="zh-CN" dirty="0"/>
              <a:t> Goal </a:t>
            </a:r>
            <a:r>
              <a:rPr lang="zh-CN" altLang="en-US" dirty="0"/>
              <a:t>模式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61A26-BDD2-BAC6-FDD2-6174E786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AEB93556-6AED-6050-5BE6-7ECF65735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/>
              <a:t>Trae</a:t>
            </a:r>
            <a:r>
              <a:rPr lang="zh-CN" altLang="en-US" dirty="0"/>
              <a:t>支持</a:t>
            </a:r>
            <a:r>
              <a:rPr lang="en-US" altLang="zh-CN" dirty="0"/>
              <a:t> Goal</a:t>
            </a:r>
            <a:r>
              <a:rPr lang="zh-CN" altLang="en-US" dirty="0"/>
              <a:t>模式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2792EB-91E0-A83C-15D0-91D45C6E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153" y="0"/>
            <a:ext cx="4083875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482B87C-9998-0219-BBF6-24ABCD49E6CA}"/>
              </a:ext>
            </a:extLst>
          </p:cNvPr>
          <p:cNvSpPr/>
          <p:nvPr/>
        </p:nvSpPr>
        <p:spPr>
          <a:xfrm>
            <a:off x="6535786" y="4005064"/>
            <a:ext cx="373470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F809B0-CDAC-FB49-3F66-E9CC0E6F076B}"/>
              </a:ext>
            </a:extLst>
          </p:cNvPr>
          <p:cNvSpPr txBox="1"/>
          <p:nvPr/>
        </p:nvSpPr>
        <p:spPr>
          <a:xfrm>
            <a:off x="5606685" y="3586158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 goal </a:t>
            </a:r>
            <a:r>
              <a:rPr kumimoji="1" lang="zh-CN" altLang="en-US" dirty="0"/>
              <a:t>模式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254E46-8F64-0AF9-478C-2B729AD45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58" y="1985681"/>
            <a:ext cx="3435846" cy="45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1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C78F-9EB0-D733-E290-4791A4E0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D5B48A-CBD3-6ECE-1CB7-0C33D94B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SJTUClaw</a:t>
            </a:r>
            <a:r>
              <a:rPr kumimoji="1" lang="en-US" altLang="zh-CN" dirty="0"/>
              <a:t> </a:t>
            </a:r>
            <a:r>
              <a:rPr kumimoji="1" lang="zh-CN" altLang="en-US" dirty="0"/>
              <a:t>篇：</a:t>
            </a:r>
            <a:r>
              <a:rPr kumimoji="1" lang="en-US" altLang="zh-CN" dirty="0"/>
              <a:t>Scheduler </a:t>
            </a:r>
            <a:r>
              <a:rPr kumimoji="1" lang="zh-CN" altLang="en-US" dirty="0"/>
              <a:t>与定时任务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6AD4CE-2802-80E9-E4F9-46F903002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253464-7E12-9E53-F72D-CB49282E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2999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A944-05FC-D9A6-E274-B64FA945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F86-9783-D09E-D7A2-E29B2C7C2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Claw</a:t>
            </a:r>
            <a:r>
              <a:rPr lang="zh-CN" altLang="en-US" dirty="0"/>
              <a:t> </a:t>
            </a:r>
            <a:r>
              <a:rPr lang="en-US" altLang="zh-CN" dirty="0"/>
              <a:t>Agent</a:t>
            </a:r>
            <a:r>
              <a:rPr lang="zh-CN" altLang="en-US" dirty="0"/>
              <a:t>：主动提供服务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FF8FF-CB24-E607-3518-B91BF4AEA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B0E2AB9-D298-788F-F8D9-567A6A1B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明天上午 </a:t>
            </a:r>
            <a:r>
              <a:rPr lang="en-US" altLang="zh-CN" dirty="0">
                <a:effectLst/>
              </a:rPr>
              <a:t>9</a:t>
            </a:r>
            <a:r>
              <a:rPr lang="zh-CN" altLang="en-US" dirty="0"/>
              <a:t> 点提醒我整理实验报告</a:t>
            </a:r>
            <a:endParaRPr lang="en-US" altLang="zh-CN" dirty="0"/>
          </a:p>
          <a:p>
            <a:r>
              <a:rPr lang="zh-CN" altLang="en-US" dirty="0"/>
              <a:t>今晚 </a:t>
            </a:r>
            <a:r>
              <a:rPr lang="en-US" altLang="zh-CN" dirty="0">
                <a:effectLst/>
              </a:rPr>
              <a:t>10</a:t>
            </a:r>
            <a:r>
              <a:rPr lang="zh-CN" altLang="en-US" dirty="0"/>
              <a:t> 点总结一下今天的 </a:t>
            </a:r>
            <a:r>
              <a:rPr lang="en" altLang="zh-CN" dirty="0"/>
              <a:t>session</a:t>
            </a:r>
            <a:endParaRPr lang="en-US" altLang="zh-CN" dirty="0"/>
          </a:p>
          <a:p>
            <a:r>
              <a:rPr lang="zh-CN" altLang="en-US" dirty="0"/>
              <a:t>每隔一段时间检查某个信息源，并把结果记录下来</a:t>
            </a:r>
            <a:endParaRPr lang="en-US" altLang="zh-CN" dirty="0"/>
          </a:p>
          <a:p>
            <a:r>
              <a:rPr lang="zh-CN" altLang="en-US" dirty="0"/>
              <a:t>每天晚上生成一次当天工作总结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核心：支持定时任务</a:t>
            </a:r>
            <a:endParaRPr lang="en-US" altLang="zh-CN" dirty="0"/>
          </a:p>
          <a:p>
            <a:pPr lvl="1"/>
            <a:r>
              <a:rPr lang="zh-CN" altLang="en-US" dirty="0"/>
              <a:t>在一个特定的时间点，没有用户发送消息，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就会完成一个任务</a:t>
            </a:r>
            <a:endParaRPr lang="en-US" altLang="zh-CN" dirty="0"/>
          </a:p>
          <a:p>
            <a:pPr lvl="1"/>
            <a:r>
              <a:rPr lang="zh-CN" altLang="en-US" dirty="0"/>
              <a:t>如果要扩展一下的话：不仅可以是时间点，比如某个网页更新了等（比如，学院的奖学金申请网页有新的信息了，给我发一封邮件）</a:t>
            </a:r>
          </a:p>
        </p:txBody>
      </p:sp>
    </p:spTree>
    <p:extLst>
      <p:ext uri="{BB962C8B-B14F-4D97-AF65-F5344CB8AC3E}">
        <p14:creationId xmlns:p14="http://schemas.microsoft.com/office/powerpoint/2010/main" val="840046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09F0D-37A0-423F-14DE-A2EC6E7A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C3A4-C241-1A4C-CE45-B3CFCF59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定时任务与调度器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B9037-573F-E514-FB41-45598EE1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4AC5EA4-D9E3-6564-B255-417C2DA1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定时任务可以基于一个长期运行的</a:t>
            </a:r>
            <a:r>
              <a:rPr lang="en-US" altLang="zh-CN" dirty="0"/>
              <a:t>Scheduler</a:t>
            </a:r>
            <a:r>
              <a:rPr lang="zh-CN" altLang="en-US" dirty="0"/>
              <a:t>（调度器）来支持</a:t>
            </a:r>
            <a:endParaRPr lang="en-US" altLang="zh-CN" dirty="0"/>
          </a:p>
          <a:p>
            <a:r>
              <a:rPr lang="zh-CN" altLang="en-US" dirty="0"/>
              <a:t>当用户发布一个定时任务后，当未来的时间被触发时，由 </a:t>
            </a:r>
            <a:r>
              <a:rPr lang="en" altLang="zh-CN" dirty="0"/>
              <a:t>Scheduler </a:t>
            </a:r>
            <a:r>
              <a:rPr lang="zh-CN" altLang="en-US" dirty="0"/>
              <a:t>自动发送给 </a:t>
            </a:r>
            <a:r>
              <a:rPr lang="en" altLang="zh-CN" dirty="0"/>
              <a:t>claw </a:t>
            </a:r>
            <a:r>
              <a:rPr lang="zh-CN" altLang="en-US" dirty="0"/>
              <a:t>的一条用户消息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某种程度上和</a:t>
            </a:r>
            <a:r>
              <a:rPr lang="en-US" altLang="zh-CN" dirty="0"/>
              <a:t> Gateway </a:t>
            </a:r>
            <a:r>
              <a:rPr lang="zh-CN" altLang="en-US" dirty="0"/>
              <a:t>有点像，都是触发</a:t>
            </a:r>
            <a:r>
              <a:rPr lang="en-US" altLang="zh-CN" dirty="0"/>
              <a:t> Agent </a:t>
            </a:r>
            <a:r>
              <a:rPr lang="zh-CN" altLang="en-US" dirty="0"/>
              <a:t>执行</a:t>
            </a:r>
            <a:endParaRPr lang="en-US" altLang="zh-CN" dirty="0"/>
          </a:p>
          <a:p>
            <a:pPr lvl="1"/>
            <a:r>
              <a:rPr lang="en-US" altLang="zh-CN" dirty="0"/>
              <a:t>Gateway</a:t>
            </a:r>
            <a:r>
              <a:rPr lang="zh-CN" altLang="en-US" dirty="0"/>
              <a:t>：是外部用户的被动触发，主要是用来作为一个中间人管理不同前端</a:t>
            </a:r>
            <a:endParaRPr lang="en-US" altLang="zh-CN" dirty="0"/>
          </a:p>
          <a:p>
            <a:pPr lvl="1"/>
            <a:r>
              <a:rPr lang="en-US" altLang="zh-CN" dirty="0"/>
              <a:t>Scheduler</a:t>
            </a:r>
            <a:r>
              <a:rPr lang="zh-CN" altLang="en-US" dirty="0"/>
              <a:t>：是系统内部的主动触发，当时间条件满足，发起消息并执行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37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972DC-DA27-9D10-0226-997CC254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A5A6-3624-BFBC-B35C-34085703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#1</a:t>
            </a:r>
            <a:r>
              <a:rPr lang="zh-CN" altLang="en-US" dirty="0"/>
              <a:t>：直接</a:t>
            </a:r>
            <a:r>
              <a:rPr lang="en-US" altLang="zh-CN" dirty="0"/>
              <a:t>sleep()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2D21E-46B6-2FA0-A8C7-5824BA7E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C86471F-18B0-21A1-B06F-1AD90FE2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/>
              <a:t>Sleep:</a:t>
            </a:r>
            <a:r>
              <a:rPr lang="zh-CN" altLang="en-US" dirty="0"/>
              <a:t> 这是一个经典的函数</a:t>
            </a:r>
            <a:r>
              <a:rPr lang="en-US" altLang="zh-CN" dirty="0"/>
              <a:t>/</a:t>
            </a:r>
            <a:r>
              <a:rPr lang="zh-CN" altLang="en-US" dirty="0"/>
              <a:t>方法，在各个操作系统、编程语言中均有实现</a:t>
            </a:r>
            <a:endParaRPr lang="en-US" altLang="zh-CN" dirty="0"/>
          </a:p>
          <a:p>
            <a:r>
              <a:rPr lang="zh-CN" altLang="en-US" dirty="0"/>
              <a:t>简单理解，就是让程序先“睡眠”（暂停）一定时间，并且在时间到达后被唤醒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48A138-23D5-BDA5-A7AA-9F012CF63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178" y="3212976"/>
            <a:ext cx="8508638" cy="264231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B03D3D6-C77F-B7AF-C14C-C7920BFF6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0" y="3588228"/>
            <a:ext cx="3502958" cy="208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6987F-34BA-6FE7-32C5-9197C9DE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89F8-2197-AB06-0777-9CFC90C6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#1</a:t>
            </a:r>
            <a:r>
              <a:rPr lang="zh-CN" altLang="en-US" dirty="0"/>
              <a:t>：直接</a:t>
            </a:r>
            <a:r>
              <a:rPr lang="en-US" altLang="zh-CN" dirty="0"/>
              <a:t>sleep()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A78EC-FD65-ACB1-18D1-E56D396F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30939DE-5522-760D-F0D9-09880450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基于</a:t>
            </a:r>
            <a:r>
              <a:rPr lang="en-US" altLang="zh-CN" dirty="0"/>
              <a:t> sleep </a:t>
            </a:r>
            <a:r>
              <a:rPr lang="zh-CN" altLang="en-US" dirty="0"/>
              <a:t>原语，实现一个简单的单次任务</a:t>
            </a:r>
            <a:endParaRPr lang="en-US" altLang="zh-CN" dirty="0"/>
          </a:p>
          <a:p>
            <a:pPr lvl="1"/>
            <a:r>
              <a:rPr lang="zh-CN" altLang="en-US" dirty="0"/>
              <a:t>根据用户的目标时间（</a:t>
            </a:r>
            <a:r>
              <a:rPr lang="en-US" altLang="zh-CN" dirty="0" err="1"/>
              <a:t>target_timestamp</a:t>
            </a:r>
            <a:r>
              <a:rPr lang="zh-CN" altLang="en-US" dirty="0"/>
              <a:t>），和当前的时间，算一个时间差出来（</a:t>
            </a:r>
            <a:r>
              <a:rPr lang="en-US" altLang="zh-CN" dirty="0"/>
              <a:t>delay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让程序</a:t>
            </a:r>
            <a:r>
              <a:rPr lang="en-US" altLang="zh-CN" dirty="0"/>
              <a:t> sleep </a:t>
            </a:r>
            <a:r>
              <a:rPr lang="zh-CN" altLang="en-US" dirty="0"/>
              <a:t>这个时间差（</a:t>
            </a:r>
            <a:r>
              <a:rPr lang="en-US" altLang="zh-CN" dirty="0"/>
              <a:t>delay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然后直接开始执行</a:t>
            </a:r>
            <a:r>
              <a:rPr lang="en-US" altLang="zh-CN" dirty="0"/>
              <a:t> Agent </a:t>
            </a:r>
            <a:r>
              <a:rPr lang="zh-CN" altLang="en-US" dirty="0"/>
              <a:t>任务，发送消息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B8DD23-213B-F8B5-76EA-A765A7F17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3753036"/>
            <a:ext cx="4882805" cy="2227002"/>
          </a:xfrm>
          <a:prstGeom prst="rect">
            <a:avLst/>
          </a:prstGeom>
        </p:spPr>
      </p:pic>
      <p:sp>
        <p:nvSpPr>
          <p:cNvPr id="7" name="内容占位符 9">
            <a:extLst>
              <a:ext uri="{FF2B5EF4-FFF2-40B4-BE49-F238E27FC236}">
                <a16:creationId xmlns:a16="http://schemas.microsoft.com/office/drawing/2014/main" id="{1C423B96-671B-5284-6EF5-10C59AF72157}"/>
              </a:ext>
            </a:extLst>
          </p:cNvPr>
          <p:cNvSpPr txBox="1">
            <a:spLocks/>
          </p:cNvSpPr>
          <p:nvPr/>
        </p:nvSpPr>
        <p:spPr>
          <a:xfrm>
            <a:off x="5170264" y="3753036"/>
            <a:ext cx="6422451" cy="2347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缺点：</a:t>
            </a:r>
            <a:endParaRPr lang="en-US" altLang="zh-CN" sz="2400" dirty="0"/>
          </a:p>
          <a:p>
            <a:pPr lvl="1"/>
            <a:r>
              <a:rPr lang="zh-CN" altLang="en-US" sz="2000" dirty="0"/>
              <a:t>当前线程被阻塞，一个线程不方便管理多个任务</a:t>
            </a:r>
            <a:endParaRPr lang="en-US" altLang="zh-CN" sz="2000" dirty="0"/>
          </a:p>
          <a:p>
            <a:pPr lvl="1"/>
            <a:r>
              <a:rPr lang="zh-CN" altLang="en-US" sz="2000" dirty="0"/>
              <a:t>程序重启后任务消失，很难查看、修改或取消任务</a:t>
            </a:r>
            <a:endParaRPr lang="en-US" altLang="zh-CN" sz="2000" dirty="0"/>
          </a:p>
          <a:p>
            <a:pPr lvl="1"/>
            <a:r>
              <a:rPr lang="zh-CN" altLang="en-US" sz="2000" dirty="0"/>
              <a:t>目标时间很远时，需要让进程一直存活，系统休眠或程序卡顿后，实际执行可能延迟</a:t>
            </a:r>
          </a:p>
        </p:txBody>
      </p:sp>
    </p:spTree>
    <p:extLst>
      <p:ext uri="{BB962C8B-B14F-4D97-AF65-F5344CB8AC3E}">
        <p14:creationId xmlns:p14="http://schemas.microsoft.com/office/powerpoint/2010/main" val="204428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8B4AC-0C28-0C51-3514-C82DB6BD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657F1-E691-EECB-42B8-35D4DB12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#2</a:t>
            </a:r>
            <a:r>
              <a:rPr lang="zh-CN" altLang="en-US" dirty="0"/>
              <a:t>：每个任务一个线程或 </a:t>
            </a:r>
            <a:r>
              <a:rPr lang="en" altLang="zh-CN" dirty="0"/>
              <a:t>Timer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0B663-0EC1-0E9D-B906-69F11F91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E6D256B2-F740-81AD-C0BC-CCA7E6CE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zh-CN" altLang="en-US" dirty="0"/>
              <a:t>什么是线程？</a:t>
            </a:r>
            <a:endParaRPr lang="en-US" altLang="zh-CN" dirty="0"/>
          </a:p>
          <a:p>
            <a:pPr lvl="1"/>
            <a:r>
              <a:rPr lang="zh-CN" altLang="en-US" dirty="0"/>
              <a:t>从操作系统角度来看程序，一个</a:t>
            </a:r>
            <a:r>
              <a:rPr lang="zh-CN" altLang="en-US" b="1" dirty="0">
                <a:solidFill>
                  <a:srgbClr val="C00000"/>
                </a:solidFill>
              </a:rPr>
              <a:t>程序</a:t>
            </a:r>
            <a:r>
              <a:rPr lang="zh-CN" altLang="en-US" dirty="0"/>
              <a:t>通常是被叫做一个</a:t>
            </a:r>
            <a:r>
              <a:rPr lang="zh-CN" altLang="en-US" b="1" dirty="0">
                <a:solidFill>
                  <a:srgbClr val="C00000"/>
                </a:solidFill>
              </a:rPr>
              <a:t>进程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而</a:t>
            </a:r>
            <a:r>
              <a:rPr lang="zh-CN" altLang="en-US" b="1" dirty="0">
                <a:solidFill>
                  <a:srgbClr val="C00000"/>
                </a:solidFill>
              </a:rPr>
              <a:t>一个进程</a:t>
            </a:r>
            <a:r>
              <a:rPr lang="zh-CN" altLang="en-US" dirty="0"/>
              <a:t>的程序，里面可以包含</a:t>
            </a:r>
            <a:r>
              <a:rPr lang="zh-CN" altLang="en-US" b="1" dirty="0">
                <a:solidFill>
                  <a:srgbClr val="C00000"/>
                </a:solidFill>
              </a:rPr>
              <a:t>多个线程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一个进程的不同</a:t>
            </a:r>
            <a:r>
              <a:rPr lang="zh-CN" altLang="en-US" b="1" dirty="0">
                <a:solidFill>
                  <a:srgbClr val="C00000"/>
                </a:solidFill>
              </a:rPr>
              <a:t>线程</a:t>
            </a:r>
            <a:r>
              <a:rPr lang="zh-CN" altLang="en-US" dirty="0"/>
              <a:t>之间，可以</a:t>
            </a:r>
            <a:r>
              <a:rPr lang="zh-CN" altLang="en-US" b="1" dirty="0">
                <a:solidFill>
                  <a:srgbClr val="C00000"/>
                </a:solidFill>
              </a:rPr>
              <a:t>独立运行</a:t>
            </a:r>
            <a:r>
              <a:rPr lang="zh-CN" altLang="en-US" dirty="0"/>
              <a:t>，但是共享所有的状态</a:t>
            </a:r>
            <a:endParaRPr lang="en-US" altLang="zh-CN" dirty="0"/>
          </a:p>
          <a:p>
            <a:pPr lvl="1"/>
            <a:r>
              <a:rPr lang="zh-CN" altLang="en-US" dirty="0"/>
              <a:t>简单比喻：就好像你会分身术，你可以分成</a:t>
            </a:r>
            <a:r>
              <a:rPr lang="en-US" altLang="zh-CN" dirty="0"/>
              <a:t>3</a:t>
            </a:r>
            <a:r>
              <a:rPr lang="zh-CN" altLang="en-US" dirty="0"/>
              <a:t>个分身，一边上课一边旅游一边工作，但是你们的大脑依然共享所有信息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5829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40362-8609-DB40-B764-D7DD3C694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5E12-32C4-A88C-A985-F0350798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#2</a:t>
            </a:r>
            <a:r>
              <a:rPr lang="zh-CN" altLang="en-US" dirty="0"/>
              <a:t>：每个任务一个线程或 </a:t>
            </a:r>
            <a:r>
              <a:rPr lang="en" altLang="zh-CN" dirty="0"/>
              <a:t>Timer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B1CEB-E065-D819-A030-12392F6F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6B75F86D-EDF6-42FF-C0A8-14910AF75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为了不阻塞程序，可以使用</a:t>
            </a:r>
            <a:r>
              <a:rPr lang="en-US" altLang="zh-CN" dirty="0"/>
              <a:t> python </a:t>
            </a:r>
            <a:r>
              <a:rPr lang="zh-CN" altLang="en-US" dirty="0"/>
              <a:t>中的</a:t>
            </a:r>
            <a:br>
              <a:rPr lang="en-US" altLang="zh-CN" dirty="0"/>
            </a:br>
            <a:r>
              <a:rPr lang="en-US" altLang="zh-CN" dirty="0"/>
              <a:t> timer</a:t>
            </a:r>
            <a:r>
              <a:rPr lang="zh-CN" altLang="en-US" dirty="0"/>
              <a:t>（计时器）</a:t>
            </a:r>
            <a:endParaRPr lang="en-US" altLang="zh-CN" dirty="0"/>
          </a:p>
          <a:p>
            <a:r>
              <a:rPr lang="zh-CN" altLang="en-US" dirty="0"/>
              <a:t>原理</a:t>
            </a:r>
            <a:endParaRPr lang="en-US" altLang="zh-CN" dirty="0"/>
          </a:p>
          <a:p>
            <a:pPr lvl="1"/>
            <a:r>
              <a:rPr lang="zh-CN" altLang="en-US" dirty="0"/>
              <a:t>主线程继续处理用户请求，后台线程负责等待</a:t>
            </a:r>
          </a:p>
          <a:p>
            <a:pPr lvl="1"/>
            <a:r>
              <a:rPr lang="zh-CN" altLang="en-US" dirty="0"/>
              <a:t>主线程：处理 </a:t>
            </a:r>
            <a:r>
              <a:rPr lang="en" altLang="zh-CN" dirty="0"/>
              <a:t>CLI / HTTP </a:t>
            </a:r>
            <a:r>
              <a:rPr lang="zh-CN" altLang="en-US" dirty="0"/>
              <a:t>请求</a:t>
            </a:r>
            <a:endParaRPr lang="en-US" altLang="zh-CN" dirty="0"/>
          </a:p>
          <a:p>
            <a:pPr lvl="1"/>
            <a:r>
              <a:rPr lang="zh-CN" altLang="en-US" dirty="0"/>
              <a:t>后台线程：等待时间到达 </a:t>
            </a:r>
            <a:r>
              <a:rPr lang="en-US" altLang="zh-CN" dirty="0"/>
              <a:t>-&gt; </a:t>
            </a:r>
            <a:r>
              <a:rPr lang="zh-CN" altLang="en-US" dirty="0"/>
              <a:t>执行任务</a:t>
            </a:r>
            <a:endParaRPr lang="en-US" altLang="zh-CN" dirty="0"/>
          </a:p>
          <a:p>
            <a:r>
              <a:rPr lang="zh-CN" altLang="en-US" dirty="0"/>
              <a:t>相比</a:t>
            </a:r>
            <a:r>
              <a:rPr lang="en-US" altLang="zh-CN" dirty="0"/>
              <a:t>#1</a:t>
            </a:r>
            <a:r>
              <a:rPr lang="zh-CN" altLang="en-US" dirty="0"/>
              <a:t>改进的方面</a:t>
            </a:r>
          </a:p>
          <a:p>
            <a:pPr lvl="1"/>
            <a:r>
              <a:rPr lang="zh-CN" altLang="en-US" dirty="0"/>
              <a:t>主程序不会被单个任务阻塞。</a:t>
            </a:r>
          </a:p>
          <a:p>
            <a:pPr lvl="1"/>
            <a:r>
              <a:rPr lang="zh-CN" altLang="en-US" dirty="0"/>
              <a:t>可以同时等待多个任务。</a:t>
            </a:r>
          </a:p>
          <a:p>
            <a:pPr lvl="1"/>
            <a:r>
              <a:rPr lang="en" altLang="zh-CN" dirty="0" err="1"/>
              <a:t>Timer.cancel</a:t>
            </a:r>
            <a:r>
              <a:rPr lang="en" altLang="zh-CN" dirty="0"/>
              <a:t>() </a:t>
            </a:r>
            <a:r>
              <a:rPr lang="zh-CN" altLang="en-US" dirty="0"/>
              <a:t>可以取消尚未执行的任务。</a:t>
            </a:r>
          </a:p>
          <a:p>
            <a:r>
              <a:rPr lang="zh-CN" altLang="en-US" dirty="0"/>
              <a:t>仍然存在的问题</a:t>
            </a:r>
          </a:p>
          <a:p>
            <a:pPr lvl="1"/>
            <a:r>
              <a:rPr lang="zh-CN" altLang="en-US" dirty="0"/>
              <a:t>任务只存在当前进程内存中，程序一重启，所有 </a:t>
            </a:r>
            <a:r>
              <a:rPr lang="en" altLang="zh-CN" dirty="0"/>
              <a:t>Timer </a:t>
            </a:r>
            <a:r>
              <a:rPr lang="zh-CN" altLang="en-US" dirty="0"/>
              <a:t>消失</a:t>
            </a:r>
          </a:p>
          <a:p>
            <a:pPr lvl="1"/>
            <a:r>
              <a:rPr lang="zh-CN" altLang="en-US" dirty="0"/>
              <a:t>大量任务会产生大量 </a:t>
            </a:r>
            <a:r>
              <a:rPr lang="en" altLang="zh-CN" dirty="0"/>
              <a:t>Timer/</a:t>
            </a:r>
            <a:r>
              <a:rPr lang="zh-CN" altLang="en-US" dirty="0"/>
              <a:t>线程</a:t>
            </a:r>
          </a:p>
          <a:p>
            <a:pPr lvl="1"/>
            <a:r>
              <a:rPr lang="zh-CN" altLang="en-US" dirty="0"/>
              <a:t>不方便统一查询任务状态</a:t>
            </a:r>
          </a:p>
          <a:p>
            <a:pPr lvl="1"/>
            <a:r>
              <a:rPr lang="zh-CN" altLang="en-US" dirty="0"/>
              <a:t>没有天然的执行历史</a:t>
            </a:r>
          </a:p>
          <a:p>
            <a:pPr lvl="1"/>
            <a:r>
              <a:rPr lang="zh-CN" altLang="en-US" dirty="0"/>
              <a:t>多个进程会各自创建一套 </a:t>
            </a:r>
            <a:r>
              <a:rPr lang="en" altLang="zh-CN" dirty="0"/>
              <a:t>Timer</a:t>
            </a:r>
            <a:endParaRPr lang="zh-CN" altLang="en-US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764E57-2E79-0EB6-26C9-3A23A0672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3" y="1040780"/>
            <a:ext cx="4743153" cy="33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66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B4507-6D1E-C45B-FE05-F6C61B911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D204-A72E-9B80-99D1-946F1456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#3</a:t>
            </a:r>
            <a:r>
              <a:rPr lang="zh-CN" altLang="en-US" dirty="0"/>
              <a:t>：任务表</a:t>
            </a:r>
            <a:r>
              <a:rPr lang="en-US" altLang="zh-CN" dirty="0"/>
              <a:t>+</a:t>
            </a:r>
            <a:r>
              <a:rPr lang="zh-CN" altLang="en-US" dirty="0"/>
              <a:t>轮询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3B7A-A3C6-77C0-1BDE-F8582821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AAB1FB7-F4F9-FC17-E0ED-910FA2F8E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轮询（</a:t>
            </a:r>
            <a:r>
              <a:rPr lang="en-US" altLang="zh-CN" dirty="0"/>
              <a:t>Polling</a:t>
            </a:r>
            <a:r>
              <a:rPr lang="zh-CN" altLang="en-US" dirty="0"/>
              <a:t>）：简单理解，不停地检查是否需要进行某项任务</a:t>
            </a:r>
            <a:endParaRPr lang="en-US" altLang="zh-CN" dirty="0"/>
          </a:p>
          <a:p>
            <a:r>
              <a:rPr lang="zh-CN" altLang="en-US" dirty="0"/>
              <a:t>思路：不再为每个任务单独等待，而是把任务保存起来，由一个循环统一检查</a:t>
            </a:r>
            <a:endParaRPr lang="en-US" altLang="zh-CN" dirty="0"/>
          </a:p>
          <a:p>
            <a:r>
              <a:rPr lang="en" altLang="zh-CN" dirty="0"/>
              <a:t>Scheduler </a:t>
            </a:r>
            <a:r>
              <a:rPr lang="zh-CN" altLang="en-US" dirty="0"/>
              <a:t>不需要为每个任务设置一个独立闹钟。它可以周期性地询问：现在几点？ 有哪些任务已经到期？</a:t>
            </a:r>
          </a:p>
          <a:p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EA2615-B4A1-5772-C681-17A41756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39567"/>
            <a:ext cx="7366000" cy="2895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5C6CFFE-145B-62C2-F9A4-7680027AFB5A}"/>
              </a:ext>
            </a:extLst>
          </p:cNvPr>
          <p:cNvSpPr txBox="1"/>
          <p:nvPr/>
        </p:nvSpPr>
        <p:spPr>
          <a:xfrm>
            <a:off x="7421812" y="3944342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一个</a:t>
            </a:r>
            <a:r>
              <a:rPr kumimoji="1" lang="en-US" altLang="zh-CN" dirty="0"/>
              <a:t> Scheduler </a:t>
            </a:r>
            <a:r>
              <a:rPr kumimoji="1" lang="zh-CN" altLang="en-US" dirty="0"/>
              <a:t>的雏形</a:t>
            </a:r>
          </a:p>
        </p:txBody>
      </p:sp>
    </p:spTree>
    <p:extLst>
      <p:ext uri="{BB962C8B-B14F-4D97-AF65-F5344CB8AC3E}">
        <p14:creationId xmlns:p14="http://schemas.microsoft.com/office/powerpoint/2010/main" val="56758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D68B-2696-3816-DAF4-79835160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FE4E-842C-8B21-9317-2354B29B0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#3</a:t>
            </a:r>
            <a:r>
              <a:rPr lang="zh-CN" altLang="en-US" dirty="0"/>
              <a:t>：任务表</a:t>
            </a:r>
            <a:r>
              <a:rPr lang="en-US" altLang="zh-CN" dirty="0"/>
              <a:t>+</a:t>
            </a:r>
            <a:r>
              <a:rPr lang="zh-CN" altLang="en-US" dirty="0"/>
              <a:t>轮询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E69F7-343E-4BAD-2ED7-347AB353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8C80CDC-8809-34A9-5FB5-9F2437E1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要支持任务的管理：放到任务表中（如任务</a:t>
            </a:r>
            <a:r>
              <a:rPr lang="en-US" altLang="zh-CN" dirty="0"/>
              <a:t> ID</a:t>
            </a:r>
            <a:r>
              <a:rPr lang="zh-CN" altLang="en-US" dirty="0"/>
              <a:t>、对应的</a:t>
            </a:r>
            <a:r>
              <a:rPr lang="en-US" altLang="zh-CN" dirty="0"/>
              <a:t> session </a:t>
            </a:r>
            <a:r>
              <a:rPr lang="zh-CN" altLang="en-US" dirty="0"/>
              <a:t>等）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278A8B-0ECC-18EA-683C-FE6F6226D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614" y="2674916"/>
            <a:ext cx="7366000" cy="2895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CF9E05A-5629-2EFA-19A6-2D70C97B51FC}"/>
              </a:ext>
            </a:extLst>
          </p:cNvPr>
          <p:cNvSpPr txBox="1"/>
          <p:nvPr/>
        </p:nvSpPr>
        <p:spPr>
          <a:xfrm>
            <a:off x="6947426" y="2779691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一个</a:t>
            </a:r>
            <a:r>
              <a:rPr kumimoji="1" lang="en-US" altLang="zh-CN" dirty="0"/>
              <a:t> Scheduler </a:t>
            </a:r>
            <a:r>
              <a:rPr kumimoji="1" lang="zh-CN" altLang="en-US" dirty="0"/>
              <a:t>的雏形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665D95-3D84-F37C-1579-61A2A2B69EDA}"/>
              </a:ext>
            </a:extLst>
          </p:cNvPr>
          <p:cNvSpPr/>
          <p:nvPr/>
        </p:nvSpPr>
        <p:spPr>
          <a:xfrm>
            <a:off x="6485710" y="4136557"/>
            <a:ext cx="281890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AA189F-4833-2A2E-844B-740ED8844171}"/>
              </a:ext>
            </a:extLst>
          </p:cNvPr>
          <p:cNvSpPr txBox="1"/>
          <p:nvPr/>
        </p:nvSpPr>
        <p:spPr>
          <a:xfrm>
            <a:off x="6380667" y="3700109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轮询中非常关键的检查逻辑（为什么这里是＜？</a:t>
            </a:r>
          </a:p>
        </p:txBody>
      </p:sp>
    </p:spTree>
    <p:extLst>
      <p:ext uri="{BB962C8B-B14F-4D97-AF65-F5344CB8AC3E}">
        <p14:creationId xmlns:p14="http://schemas.microsoft.com/office/powerpoint/2010/main" val="528107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17EAB-196F-17DD-205E-CB889092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CA9E-010D-38CA-358B-02A138F5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#3</a:t>
            </a:r>
            <a:r>
              <a:rPr lang="zh-CN" altLang="en-US" dirty="0"/>
              <a:t>：任务表</a:t>
            </a:r>
            <a:r>
              <a:rPr lang="en-US" altLang="zh-CN" dirty="0"/>
              <a:t>+</a:t>
            </a:r>
            <a:r>
              <a:rPr lang="zh-CN" altLang="en-US" dirty="0"/>
              <a:t>轮询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78145-D92D-9AD4-83DD-806DF4BA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C5BFA70-A3DB-FCE8-7B07-3982B1E2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轮询间隔的</a:t>
            </a:r>
            <a:r>
              <a:rPr lang="en-US" altLang="zh-CN" dirty="0"/>
              <a:t> Trade-Off</a:t>
            </a:r>
          </a:p>
          <a:p>
            <a:pPr lvl="1"/>
            <a:r>
              <a:rPr lang="zh-CN" altLang="en-US" dirty="0"/>
              <a:t>调度精度越高，检查成本通常越高。</a:t>
            </a:r>
          </a:p>
          <a:p>
            <a:pPr lvl="1"/>
            <a:r>
              <a:rPr lang="zh-CN" altLang="en-US" dirty="0"/>
              <a:t>对于 </a:t>
            </a:r>
            <a:r>
              <a:rPr lang="en" altLang="zh-CN" dirty="0" err="1"/>
              <a:t>SJTUClaw</a:t>
            </a:r>
            <a:r>
              <a:rPr lang="zh-CN" altLang="en" dirty="0"/>
              <a:t>，</a:t>
            </a:r>
            <a:r>
              <a:rPr lang="zh-CN" altLang="en-US" dirty="0"/>
              <a:t>大家可以根据自己的设计思路来选择合适的轮询间隔</a:t>
            </a:r>
          </a:p>
          <a:p>
            <a:pPr lvl="1"/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FE3EFD-7F4C-0F04-9F21-19D203E25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296004"/>
              </p:ext>
            </p:extLst>
          </p:nvPr>
        </p:nvGraphicFramePr>
        <p:xfrm>
          <a:off x="1314699" y="4001988"/>
          <a:ext cx="9562602" cy="1828800"/>
        </p:xfrm>
        <a:graphic>
          <a:graphicData uri="http://schemas.openxmlformats.org/drawingml/2006/table">
            <a:tbl>
              <a:tblPr/>
              <a:tblGrid>
                <a:gridCol w="3187534">
                  <a:extLst>
                    <a:ext uri="{9D8B030D-6E8A-4147-A177-3AD203B41FA5}">
                      <a16:colId xmlns:a16="http://schemas.microsoft.com/office/drawing/2014/main" val="3099069961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782796527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1569203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800" b="1"/>
                        <a:t>轮询间隔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/>
                        <a:t>优点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缺点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694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0.1 </a:t>
                      </a:r>
                      <a:r>
                        <a:rPr lang="zh-CN" altLang="en-US" sz="1800"/>
                        <a:t>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响应快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检查频繁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4911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 </a:t>
                      </a:r>
                      <a:r>
                        <a:rPr lang="zh-CN" altLang="en-US" sz="1800"/>
                        <a:t>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适合课堂 </a:t>
                      </a:r>
                      <a:r>
                        <a:rPr lang="en" sz="1800"/>
                        <a:t>Demo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有少量延迟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6320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 </a:t>
                      </a:r>
                      <a:r>
                        <a:rPr lang="zh-CN" altLang="en-US" sz="1800"/>
                        <a:t>分钟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资源消耗低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不适合秒级任务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0237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10 </a:t>
                      </a:r>
                      <a:r>
                        <a:rPr lang="zh-CN" altLang="en-US" sz="1800"/>
                        <a:t>分钟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适合低频批处理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延迟明显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0235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7028F5A9-4D16-415E-870E-514F31F72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699" y="3137496"/>
            <a:ext cx="2798434" cy="58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53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CDA-72D4-1071-675D-8F92B6AAB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9023-8B52-FC1F-A30F-45CBCD903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#3</a:t>
            </a:r>
            <a:r>
              <a:rPr lang="zh-CN" altLang="en-US" dirty="0"/>
              <a:t>：任务表</a:t>
            </a:r>
            <a:r>
              <a:rPr lang="en-US" altLang="zh-CN" dirty="0"/>
              <a:t>+</a:t>
            </a:r>
            <a:r>
              <a:rPr lang="zh-CN" altLang="en-US" dirty="0"/>
              <a:t>轮询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A355B-343F-FA00-FD95-D6029EF9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867F754-5079-5A35-D9D1-735222197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轮询间隔的</a:t>
            </a:r>
            <a:r>
              <a:rPr lang="en-US" altLang="zh-CN" dirty="0"/>
              <a:t> Trade-Off</a:t>
            </a:r>
          </a:p>
          <a:p>
            <a:pPr lvl="1"/>
            <a:r>
              <a:rPr lang="zh-CN" altLang="en-US" dirty="0"/>
              <a:t>调度精度越高，检查成本通常越高。</a:t>
            </a:r>
          </a:p>
          <a:p>
            <a:pPr lvl="1"/>
            <a:r>
              <a:rPr lang="zh-CN" altLang="en-US" dirty="0"/>
              <a:t>对于 </a:t>
            </a:r>
            <a:r>
              <a:rPr lang="en" altLang="zh-CN" dirty="0" err="1"/>
              <a:t>SJTUClaw</a:t>
            </a:r>
            <a:r>
              <a:rPr lang="zh-CN" altLang="en" dirty="0"/>
              <a:t>，</a:t>
            </a:r>
            <a:r>
              <a:rPr lang="zh-CN" altLang="en-US" dirty="0"/>
              <a:t>大家可以根据自己的设计思路来选择合适的轮询间隔</a:t>
            </a:r>
          </a:p>
          <a:p>
            <a:pPr lvl="1"/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F8C7394-D4B8-F87E-DE65-6F448EF8B43A}"/>
              </a:ext>
            </a:extLst>
          </p:cNvPr>
          <p:cNvGraphicFramePr>
            <a:graphicFrameLocks noGrp="1"/>
          </p:cNvGraphicFramePr>
          <p:nvPr/>
        </p:nvGraphicFramePr>
        <p:xfrm>
          <a:off x="1314699" y="4001988"/>
          <a:ext cx="9562602" cy="1828800"/>
        </p:xfrm>
        <a:graphic>
          <a:graphicData uri="http://schemas.openxmlformats.org/drawingml/2006/table">
            <a:tbl>
              <a:tblPr/>
              <a:tblGrid>
                <a:gridCol w="3187534">
                  <a:extLst>
                    <a:ext uri="{9D8B030D-6E8A-4147-A177-3AD203B41FA5}">
                      <a16:colId xmlns:a16="http://schemas.microsoft.com/office/drawing/2014/main" val="3099069961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2782796527"/>
                    </a:ext>
                  </a:extLst>
                </a:gridCol>
                <a:gridCol w="3187534">
                  <a:extLst>
                    <a:ext uri="{9D8B030D-6E8A-4147-A177-3AD203B41FA5}">
                      <a16:colId xmlns:a16="http://schemas.microsoft.com/office/drawing/2014/main" val="15692038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sz="1800" b="1"/>
                        <a:t>轮询间隔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/>
                        <a:t>优点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/>
                        <a:t>缺点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7E79">
                        <a:alpha val="4444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6943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0.1 </a:t>
                      </a:r>
                      <a:r>
                        <a:rPr lang="zh-CN" altLang="en-US" sz="1800"/>
                        <a:t>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响应快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检查频繁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4911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 </a:t>
                      </a:r>
                      <a:r>
                        <a:rPr lang="zh-CN" altLang="en-US" sz="1800"/>
                        <a:t>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适合课堂 </a:t>
                      </a:r>
                      <a:r>
                        <a:rPr lang="en" sz="1800"/>
                        <a:t>Demo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有少量延迟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63204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 </a:t>
                      </a:r>
                      <a:r>
                        <a:rPr lang="zh-CN" altLang="en-US" sz="1800"/>
                        <a:t>分钟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资源消耗低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不适合秒级任务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0237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altLang="zh-CN" sz="1800"/>
                        <a:t>10 </a:t>
                      </a:r>
                      <a:r>
                        <a:rPr lang="zh-CN" altLang="en-US" sz="1800"/>
                        <a:t>分钟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/>
                        <a:t>适合低频批处理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延迟明显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302350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5B5CFC1B-D839-C8B6-8276-B1C0BCFE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699" y="3137496"/>
            <a:ext cx="2798434" cy="58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59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DEFBC-5670-8525-F09F-E1DA102A7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5231-C5F3-0801-3E9D-21DD9BE6E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#4</a:t>
            </a:r>
            <a:r>
              <a:rPr lang="zh-CN" altLang="en-US" dirty="0"/>
              <a:t>：增加</a:t>
            </a:r>
            <a:r>
              <a:rPr lang="en-US" dirty="0" err="1"/>
              <a:t>任务管理与持久化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69AAA-8477-7389-E3D2-5BA8C35C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CD71573-75F9-885E-1144-2096CB729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4968552"/>
          </a:xfrm>
        </p:spPr>
        <p:txBody>
          <a:bodyPr/>
          <a:lstStyle/>
          <a:p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中，需要在调度器这一层做好定时任务的管理</a:t>
            </a:r>
            <a:endParaRPr lang="en-US" altLang="zh-CN" dirty="0"/>
          </a:p>
          <a:p>
            <a:r>
              <a:rPr lang="zh-CN" altLang="en-US" dirty="0"/>
              <a:t>一个定时任务需要包括：</a:t>
            </a:r>
            <a:endParaRPr lang="en-US" altLang="zh-CN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任务内容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到期后要交给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agent loop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的用户指令。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触发计划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任务应该在什么时候开始执行，以及是否需要重复执行。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下一次触发时间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: </a:t>
            </a:r>
            <a:r>
              <a:rPr lang="en" altLang="zh-CN" b="0" i="0" dirty="0">
                <a:solidFill>
                  <a:srgbClr val="333333"/>
                </a:solidFill>
                <a:effectLst/>
                <a:latin typeface="-apple-system"/>
              </a:rPr>
              <a:t>Scheduler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下次应该检查并执行这个任务的时间。</a:t>
            </a:r>
          </a:p>
          <a:p>
            <a:pPr lvl="1"/>
            <a:r>
              <a:rPr lang="zh-CN" altLang="en-US" dirty="0"/>
              <a:t>等等（具体见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项目文档）</a:t>
            </a:r>
            <a:endParaRPr lang="en-US" altLang="zh-CN" dirty="0"/>
          </a:p>
          <a:p>
            <a:r>
              <a:rPr lang="zh-CN" altLang="en-US" dirty="0"/>
              <a:t>并且需要支持：</a:t>
            </a:r>
            <a:endParaRPr lang="en-US" altLang="zh-CN" dirty="0"/>
          </a:p>
          <a:p>
            <a:pPr lvl="1"/>
            <a:r>
              <a:rPr lang="zh-CN" altLang="en-US" dirty="0"/>
              <a:t>任务管理（创建、列表）、持久化等能力，具体要求见项目文档</a:t>
            </a:r>
          </a:p>
        </p:txBody>
      </p:sp>
    </p:spTree>
    <p:extLst>
      <p:ext uri="{BB962C8B-B14F-4D97-AF65-F5344CB8AC3E}">
        <p14:creationId xmlns:p14="http://schemas.microsoft.com/office/powerpoint/2010/main" val="2383046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328D-1800-9D1F-C531-56D18590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1893-9D3D-8665-6A6E-4F4D4B6E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#5</a:t>
            </a:r>
            <a:r>
              <a:rPr lang="zh-CN" altLang="en-US" dirty="0"/>
              <a:t>：只等待最近的任务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5C0D3-DABE-955F-F986-62A560A7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3EBBF12-1F81-99F2-4C42-946FAA6A6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固定每秒扫描全部任务容易实现，但任务很多时效率不高。</a:t>
            </a:r>
          </a:p>
          <a:p>
            <a:r>
              <a:rPr lang="zh-CN" altLang="en-US" dirty="0"/>
              <a:t>更进一步，可以只关注最近即将执行的任务：</a:t>
            </a:r>
            <a:endParaRPr lang="en-US" altLang="zh-CN" dirty="0"/>
          </a:p>
          <a:p>
            <a:pPr lvl="1"/>
            <a:r>
              <a:rPr lang="zh-CN" altLang="en-US" dirty="0"/>
              <a:t>任务 </a:t>
            </a:r>
            <a:r>
              <a:rPr lang="en" altLang="zh-CN" dirty="0"/>
              <a:t>A</a:t>
            </a:r>
            <a:r>
              <a:rPr lang="zh-CN" altLang="en" dirty="0"/>
              <a:t>：</a:t>
            </a:r>
            <a:r>
              <a:rPr lang="en" altLang="zh-CN" dirty="0"/>
              <a:t>20:00</a:t>
            </a:r>
          </a:p>
          <a:p>
            <a:pPr lvl="1"/>
            <a:r>
              <a:rPr lang="zh-CN" altLang="en-US" dirty="0"/>
              <a:t>任务 </a:t>
            </a:r>
            <a:r>
              <a:rPr lang="en" altLang="zh-CN" dirty="0"/>
              <a:t>B</a:t>
            </a:r>
            <a:r>
              <a:rPr lang="zh-CN" altLang="en" dirty="0"/>
              <a:t>：</a:t>
            </a:r>
            <a:r>
              <a:rPr lang="en" altLang="zh-CN" dirty="0"/>
              <a:t>18:30</a:t>
            </a:r>
          </a:p>
          <a:p>
            <a:pPr lvl="1"/>
            <a:r>
              <a:rPr lang="zh-CN" altLang="en-US" dirty="0"/>
              <a:t>任务 </a:t>
            </a:r>
            <a:r>
              <a:rPr lang="en" altLang="zh-CN" dirty="0"/>
              <a:t>C</a:t>
            </a:r>
            <a:r>
              <a:rPr lang="zh-CN" altLang="en" dirty="0"/>
              <a:t>：</a:t>
            </a:r>
            <a:r>
              <a:rPr lang="zh-CN" altLang="en-US" dirty="0"/>
              <a:t>明天 </a:t>
            </a:r>
            <a:r>
              <a:rPr lang="en-US" altLang="zh-CN" dirty="0"/>
              <a:t>08:00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9A81B452-CD72-FF3E-FF6E-77766CD9A4FB}"/>
              </a:ext>
            </a:extLst>
          </p:cNvPr>
          <p:cNvSpPr/>
          <p:nvPr/>
        </p:nvSpPr>
        <p:spPr>
          <a:xfrm>
            <a:off x="479376" y="2564904"/>
            <a:ext cx="3744416" cy="4320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41B2FD-E4AC-068D-BBC7-5BD3529728C3}"/>
              </a:ext>
            </a:extLst>
          </p:cNvPr>
          <p:cNvSpPr txBox="1"/>
          <p:nvPr/>
        </p:nvSpPr>
        <p:spPr>
          <a:xfrm>
            <a:off x="4249577" y="2596842"/>
            <a:ext cx="65469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b="1" dirty="0">
                <a:solidFill>
                  <a:srgbClr val="C00000"/>
                </a:solidFill>
              </a:rPr>
              <a:t>Scheduler </a:t>
            </a:r>
            <a:r>
              <a:rPr lang="zh-CN" altLang="en-US" sz="2000" b="1" dirty="0">
                <a:solidFill>
                  <a:srgbClr val="C00000"/>
                </a:solidFill>
              </a:rPr>
              <a:t>先等待任务 </a:t>
            </a:r>
            <a:r>
              <a:rPr lang="en" altLang="zh-CN" sz="2000" b="1" dirty="0">
                <a:solidFill>
                  <a:srgbClr val="C00000"/>
                </a:solidFill>
              </a:rPr>
              <a:t>B</a:t>
            </a:r>
            <a:r>
              <a:rPr lang="zh-CN" altLang="en" sz="2000" b="1" dirty="0">
                <a:solidFill>
                  <a:srgbClr val="C00000"/>
                </a:solidFill>
              </a:rPr>
              <a:t>。</a:t>
            </a:r>
            <a:r>
              <a:rPr lang="en" altLang="zh-CN" sz="2000" b="1" dirty="0">
                <a:solidFill>
                  <a:srgbClr val="C00000"/>
                </a:solidFill>
              </a:rPr>
              <a:t>B </a:t>
            </a:r>
            <a:r>
              <a:rPr lang="zh-CN" altLang="en-US" sz="2000" b="1" dirty="0">
                <a:solidFill>
                  <a:srgbClr val="C00000"/>
                </a:solidFill>
              </a:rPr>
              <a:t>执行后，再寻找下一个任务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51FF51-7A23-0BAC-82ED-AE27D70EB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2" y="3568497"/>
            <a:ext cx="5714773" cy="315297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39DECAA-342B-4310-AF10-94BBC846230F}"/>
              </a:ext>
            </a:extLst>
          </p:cNvPr>
          <p:cNvSpPr txBox="1"/>
          <p:nvPr/>
        </p:nvSpPr>
        <p:spPr>
          <a:xfrm>
            <a:off x="4249577" y="369404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伪代码的实现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A180DE-6441-BD28-CB01-6E3899DADB33}"/>
              </a:ext>
            </a:extLst>
          </p:cNvPr>
          <p:cNvSpPr txBox="1"/>
          <p:nvPr/>
        </p:nvSpPr>
        <p:spPr>
          <a:xfrm>
            <a:off x="6271652" y="4325034"/>
            <a:ext cx="51973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怎么保证总能拿到当前最近的一个任务呢？</a:t>
            </a:r>
            <a:endParaRPr kumimoji="1" lang="en-US" altLang="zh-CN" sz="2000" b="1" dirty="0"/>
          </a:p>
          <a:p>
            <a:r>
              <a:rPr kumimoji="1" lang="zh-CN" altLang="en-US" sz="2000" dirty="0"/>
              <a:t>可以结合大家上学期的数据结构课程，使用</a:t>
            </a:r>
            <a:r>
              <a:rPr lang="zh-CN" altLang="en-US" sz="2000" dirty="0"/>
              <a:t>优先队列或最小堆等数据结构来管理任务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12424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B3B4-EC63-7D49-8878-DFEF9043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1440-8189-23FF-009F-8D886D2B2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#6</a:t>
            </a:r>
            <a:r>
              <a:rPr lang="zh-CN" altLang="en-US" dirty="0"/>
              <a:t>：从单次定时到周期性任务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CB43A-9CD1-866C-14E4-BB38F90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1A19B0D5-971B-4076-7DC9-BC66B65C8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周期性任务的下一次执行，可以被简单理解为是一次单次定时任务</a:t>
            </a:r>
            <a:endParaRPr lang="en-US" altLang="zh-CN" dirty="0"/>
          </a:p>
          <a:p>
            <a:r>
              <a:rPr lang="zh-CN" altLang="en-US" dirty="0"/>
              <a:t>特殊的点在于：在这次单次任务的执行中，不仅要执行任务，还要重新</a:t>
            </a:r>
            <a:r>
              <a:rPr lang="zh-CN" altLang="en-US" b="1" dirty="0">
                <a:solidFill>
                  <a:srgbClr val="C00000"/>
                </a:solidFill>
              </a:rPr>
              <a:t>设置同一个任务下一次执行的时间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固定间隔</a:t>
            </a:r>
            <a:endParaRPr lang="en-US" altLang="zh-CN" dirty="0"/>
          </a:p>
          <a:p>
            <a:pPr lvl="1"/>
            <a:r>
              <a:rPr lang="zh-CN" altLang="en-US" dirty="0"/>
              <a:t>比如，考虑一个：每 </a:t>
            </a:r>
            <a:r>
              <a:rPr lang="en-US" altLang="zh-CN" dirty="0"/>
              <a:t>30 </a:t>
            </a:r>
            <a:r>
              <a:rPr lang="zh-CN" altLang="en-US" dirty="0"/>
              <a:t>分钟执行一次的任务</a:t>
            </a:r>
            <a:endParaRPr lang="en-US" altLang="zh-CN" dirty="0"/>
          </a:p>
          <a:p>
            <a:pPr lvl="1"/>
            <a:r>
              <a:rPr lang="zh-CN" altLang="en-US" dirty="0"/>
              <a:t>两种时间设置方法：以</a:t>
            </a:r>
            <a:r>
              <a:rPr lang="zh-CN" altLang="en-US" b="1" dirty="0">
                <a:solidFill>
                  <a:srgbClr val="C00000"/>
                </a:solidFill>
              </a:rPr>
              <a:t>上一次的开始时间</a:t>
            </a:r>
            <a:r>
              <a:rPr lang="zh-CN" altLang="en-US" dirty="0"/>
              <a:t>为基准、以</a:t>
            </a:r>
            <a:r>
              <a:rPr lang="zh-CN" altLang="en-US" b="1" dirty="0">
                <a:solidFill>
                  <a:srgbClr val="C00000"/>
                </a:solidFill>
              </a:rPr>
              <a:t>当前时间为基准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CADBA7-D650-1BDC-E759-8815E267A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4304206"/>
            <a:ext cx="5666873" cy="226397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E1154DD-6073-0262-60D7-67928BC32A7D}"/>
              </a:ext>
            </a:extLst>
          </p:cNvPr>
          <p:cNvSpPr txBox="1"/>
          <p:nvPr/>
        </p:nvSpPr>
        <p:spPr>
          <a:xfrm>
            <a:off x="7013776" y="4737115"/>
            <a:ext cx="4220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如果由于各种原因，本来该 </a:t>
            </a:r>
            <a:r>
              <a:rPr kumimoji="1" lang="en-US" altLang="zh-CN" sz="2000" dirty="0"/>
              <a:t>10:30 </a:t>
            </a:r>
            <a:r>
              <a:rPr kumimoji="1" lang="zh-CN" altLang="en-US" sz="2000" dirty="0"/>
              <a:t>执行的一个任务，在执行结束后已经是 </a:t>
            </a:r>
            <a:r>
              <a:rPr kumimoji="1" lang="en-US" altLang="zh-CN" sz="2000" dirty="0"/>
              <a:t>10:35 </a:t>
            </a:r>
            <a:r>
              <a:rPr kumimoji="1" lang="zh-CN" altLang="en-US" sz="2000" dirty="0"/>
              <a:t>了，那么两个方案在下一次的执行时间分别是？</a:t>
            </a:r>
          </a:p>
        </p:txBody>
      </p:sp>
    </p:spTree>
    <p:extLst>
      <p:ext uri="{BB962C8B-B14F-4D97-AF65-F5344CB8AC3E}">
        <p14:creationId xmlns:p14="http://schemas.microsoft.com/office/powerpoint/2010/main" val="1546987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DF25-577C-0BB0-5150-F82ECB96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0E2-2A51-610F-0820-E2EFD737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Scheduler</a:t>
            </a:r>
            <a:r>
              <a:rPr lang="zh-CN" altLang="en-US" dirty="0"/>
              <a:t>的实现方法</a:t>
            </a:r>
            <a:r>
              <a:rPr lang="en-US" altLang="zh-CN" dirty="0"/>
              <a:t>#6</a:t>
            </a:r>
            <a:r>
              <a:rPr lang="zh-CN" altLang="en-US" dirty="0"/>
              <a:t>：从单次定时到周期性任务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0D-C61D-24AD-1F4D-26A766AC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5DB44B93-18C9-639D-9417-7969DF7E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周期性任务的下一次执行，可以被简单理解为是一次单次定时任务</a:t>
            </a:r>
            <a:endParaRPr lang="en-US" altLang="zh-CN" dirty="0"/>
          </a:p>
          <a:p>
            <a:r>
              <a:rPr lang="zh-CN" altLang="en-US" dirty="0"/>
              <a:t>特殊的点在于：在这次单次任务的执行中，不仅要执行任务，还要重新</a:t>
            </a:r>
            <a:r>
              <a:rPr lang="zh-CN" altLang="en-US" b="1" dirty="0">
                <a:solidFill>
                  <a:srgbClr val="C00000"/>
                </a:solidFill>
              </a:rPr>
              <a:t>设置同一个任务下一次执行的时间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dirty="0"/>
              <a:t>固定时间</a:t>
            </a:r>
            <a:endParaRPr lang="en-US" altLang="zh-CN" dirty="0"/>
          </a:p>
          <a:p>
            <a:pPr lvl="1"/>
            <a:r>
              <a:rPr lang="zh-CN" altLang="en-US" dirty="0"/>
              <a:t>每天 </a:t>
            </a:r>
            <a:r>
              <a:rPr lang="en-US" altLang="zh-CN" dirty="0"/>
              <a:t>08:00 </a:t>
            </a:r>
            <a:r>
              <a:rPr lang="zh-CN" altLang="en-US" dirty="0"/>
              <a:t>执行</a:t>
            </a:r>
            <a:endParaRPr lang="en-US" altLang="zh-CN" dirty="0"/>
          </a:p>
          <a:p>
            <a:pPr lvl="1"/>
            <a:r>
              <a:rPr lang="zh-CN" altLang="en-US" dirty="0"/>
              <a:t>可能不能简单地增加 </a:t>
            </a:r>
            <a:r>
              <a:rPr lang="en-US" altLang="zh-CN" dirty="0"/>
              <a:t>24 </a:t>
            </a:r>
            <a:r>
              <a:rPr lang="zh-CN" altLang="en-US" dirty="0"/>
              <a:t>小时。还涉及：本地时区、夏令时、系统时间调整、某一天任务执行延迟等等情况</a:t>
            </a:r>
            <a:endParaRPr lang="en-US" altLang="zh-CN" dirty="0"/>
          </a:p>
          <a:p>
            <a:pPr lvl="1"/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里大家可以默认使用北京时间</a:t>
            </a:r>
          </a:p>
          <a:p>
            <a:pPr lvl="1"/>
            <a:endParaRPr lang="en-US" altLang="zh-CN" b="1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966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5D11-1E3C-6406-7A59-CD05C52A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0982-0F97-842C-DCCE-5BA8F79C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72" y="289823"/>
            <a:ext cx="11575228" cy="56003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其他扩展方法与要求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13EE8-5B4F-848A-3DB1-6DF7E0F16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B0B093AE-F4E4-7654-6D1B-4BC55E7E5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147501" cy="5589240"/>
          </a:xfrm>
        </p:spPr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 Linux/Unix </a:t>
            </a:r>
            <a:r>
              <a:rPr lang="zh-CN" altLang="en-US" dirty="0"/>
              <a:t>系列的环境中，</a:t>
            </a:r>
            <a:r>
              <a:rPr lang="en-US" altLang="zh-CN" dirty="0"/>
              <a:t>Cron </a:t>
            </a:r>
            <a:r>
              <a:rPr lang="zh-CN" altLang="en-US" dirty="0"/>
              <a:t>是一个经典的支持定时任务的系统能力，大家如果感兴趣可以自行去研究尝试下（比如</a:t>
            </a:r>
            <a:r>
              <a:rPr lang="en-US" altLang="zh-CN" dirty="0"/>
              <a:t> WSL </a:t>
            </a:r>
            <a:r>
              <a:rPr lang="zh-CN" altLang="en-US" dirty="0"/>
              <a:t>中等都可以尝试使用）</a:t>
            </a:r>
            <a:endParaRPr lang="en-US" altLang="zh-CN" dirty="0"/>
          </a:p>
          <a:p>
            <a:pPr lvl="1"/>
            <a:r>
              <a:rPr lang="en-US" altLang="zh-CN" dirty="0"/>
              <a:t>Cron </a:t>
            </a:r>
            <a:r>
              <a:rPr lang="zh-CN" altLang="en-US" dirty="0"/>
              <a:t>有自己的一个简易的定时方法，并且支持系统定时任务等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大作业在本部分还要求扩展</a:t>
            </a:r>
            <a:r>
              <a:rPr lang="en-US" altLang="zh-CN" dirty="0"/>
              <a:t> Agent</a:t>
            </a:r>
            <a:r>
              <a:rPr lang="zh-CN" altLang="en-US" dirty="0"/>
              <a:t> </a:t>
            </a:r>
            <a:r>
              <a:rPr lang="en-US" altLang="zh-CN" dirty="0"/>
              <a:t>Loop</a:t>
            </a:r>
            <a:r>
              <a:rPr lang="zh-CN" altLang="en-US" dirty="0"/>
              <a:t>、图形化前端支持任务管理等内容，大家参考项目文档要求来完成任务</a:t>
            </a:r>
          </a:p>
        </p:txBody>
      </p:sp>
    </p:spTree>
    <p:extLst>
      <p:ext uri="{BB962C8B-B14F-4D97-AF65-F5344CB8AC3E}">
        <p14:creationId xmlns:p14="http://schemas.microsoft.com/office/powerpoint/2010/main" val="249823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01C383-3B41-624F-AD07-01DA3D24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请大家按照今天的课程内容，开始阅读</a:t>
            </a:r>
            <a:r>
              <a:rPr lang="en-US" altLang="zh-CN" dirty="0"/>
              <a:t> </a:t>
            </a:r>
            <a:r>
              <a:rPr lang="en-US" altLang="zh-CN" dirty="0" err="1"/>
              <a:t>SJTUClaw</a:t>
            </a:r>
            <a:r>
              <a:rPr lang="en-US" altLang="zh-CN" dirty="0"/>
              <a:t> </a:t>
            </a:r>
            <a:r>
              <a:rPr lang="zh-CN" altLang="en-US" dirty="0"/>
              <a:t>要求文档，并且进行开发和实践～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AF9D6A-A624-4F4F-9787-9444E1E9BF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如果提前完成了课上的内容，可以根据文档继续往后面提前进行开发任务</a:t>
            </a:r>
            <a:endParaRPr lang="en-CN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2C26-BDAF-D24E-B930-53C5D993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6961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7079</TotalTime>
  <Words>1578</Words>
  <Application>Microsoft Macintosh PowerPoint</Application>
  <PresentationFormat>宽屏</PresentationFormat>
  <Paragraphs>181</Paragraphs>
  <Slides>19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-apple-system</vt:lpstr>
      <vt:lpstr>Microsoft YaHei</vt:lpstr>
      <vt:lpstr>Arial</vt:lpstr>
      <vt:lpstr>Calibri</vt:lpstr>
      <vt:lpstr>Office Theme</vt:lpstr>
      <vt:lpstr>计算机编程实践#7 Scheduler与定时任务</vt:lpstr>
      <vt:lpstr>技巧篇：Trae 已经支持 Goal 模式</vt:lpstr>
      <vt:lpstr>SJTUClaw 篇：Scheduler 与定时任务</vt:lpstr>
      <vt:lpstr>Claw Agent：主动提供服务</vt:lpstr>
      <vt:lpstr>定时任务与调度器</vt:lpstr>
      <vt:lpstr>Scheduler的实现方法#1：直接sleep()</vt:lpstr>
      <vt:lpstr>Scheduler的实现方法#1：直接sleep()</vt:lpstr>
      <vt:lpstr>Scheduler的实现方法#2：每个任务一个线程或 Timer</vt:lpstr>
      <vt:lpstr>Scheduler的实现方法#2：每个任务一个线程或 Timer</vt:lpstr>
      <vt:lpstr>Scheduler的实现方法#3：任务表+轮询</vt:lpstr>
      <vt:lpstr>Scheduler的实现方法#3：任务表+轮询</vt:lpstr>
      <vt:lpstr>Scheduler的实现方法#3：任务表+轮询</vt:lpstr>
      <vt:lpstr>Scheduler的实现方法#3：任务表+轮询</vt:lpstr>
      <vt:lpstr>Scheduler的实现方法#4：增加任务管理与持久化</vt:lpstr>
      <vt:lpstr>Scheduler的实现方法#5：只等待最近的任务</vt:lpstr>
      <vt:lpstr>Scheduler的实现方法#6：从单次定时到周期性任务</vt:lpstr>
      <vt:lpstr>Scheduler的实现方法#6：从单次定时到周期性任务</vt:lpstr>
      <vt:lpstr>其他扩展方法与要求</vt:lpstr>
      <vt:lpstr>请大家按照今天的课程内容，开始阅读 SJTUClaw 要求文档，并且进行开发和实践～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316</cp:revision>
  <dcterms:created xsi:type="dcterms:W3CDTF">2021-02-24T11:14:01Z</dcterms:created>
  <dcterms:modified xsi:type="dcterms:W3CDTF">2026-07-20T05:36:00Z</dcterms:modified>
</cp:coreProperties>
</file>