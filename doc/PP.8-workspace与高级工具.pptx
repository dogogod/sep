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903" r:id="rId26"/>
    <p:sldId id="2882" r:id="rId27"/>
    <p:sldId id="1846" r:id="rId28"/>
    <p:sldId id="1849" r:id="rId29"/>
    <p:sldId id="1847" r:id="rId30"/>
    <p:sldId id="1852" r:id="rId31"/>
    <p:sldId id="2881" r:id="rId32"/>
    <p:sldId id="2902" r:id="rId33"/>
    <p:sldId id="273" r:id="rId3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48"/>
  </p:normalViewPr>
  <p:slideViewPr>
    <p:cSldViewPr snapToObjects="1">
      <p:cViewPr varScale="1">
        <p:scale>
          <a:sx n="112" d="100"/>
          <a:sy n="112" d="100"/>
        </p:scale>
        <p:origin x="6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C1125-5505-D7E1-C68C-79E3CDDA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4ECC82-2659-A1A0-F6D0-841068038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D41D88-3F54-27E4-4146-E0D8E325A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86D3C-EC6C-8616-EE44-5B548205B50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81214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6F6DE-708F-EF8B-6AFB-C31DE6C0A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B7F112-DF4E-F495-4CF5-0749D8FB0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C99172-5065-4C06-F7F9-72F9CC8B7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1180D-918D-DC47-6209-A5000FEBF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2299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C3C16-BE2F-2CFB-A160-5A23727E2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2A10F-A59B-CF4D-0B67-858A720DB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8C1BE-B4F2-6220-8E38-5FF5D1866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47985-05CB-63DA-AFF1-49879EE89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6480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16C0E-AB7D-DE00-84BF-75C1ABD5D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3B8D58-8BDF-A292-9F60-1A306B748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BF046A-C389-469C-E651-9B565963D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2A596-1E4E-2DE8-8E79-3CB320C1D3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893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6A7C-F64E-21D3-80D5-B641CFA59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4BA70-3524-4287-5948-F28E5704E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7DF584-C23A-F6A6-7E79-1C6400DBA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05780-50D0-DEF0-DAE8-7251220A0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001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9EA4A-7A37-B0E9-DCA3-2718CC05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B6376C-37A0-CA08-4BD7-7AB299955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99D1AB-594D-D61C-7B21-DC65CC67A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1314C-F561-1D76-31D9-284386E0DC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8581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FE2A3-571F-9D8E-0D13-00D4D9F64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AD1A61-2483-C702-5CB6-2FB6EF4D1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CC2F02-B647-C612-BA04-A3286118E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C5145-7A0F-E064-244F-EB259787E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1764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E976D-684B-DBA8-2E50-E7EFA89F3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837B9D-1659-A295-D332-827646FDC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BD3B19-CC1F-B9ED-2DD1-0B0CD69D7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ECCB3-3C2D-6B86-E140-0DA359DE0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407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9E8F3-BABA-DA4B-98F4-B69497EC1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1122363"/>
            <a:ext cx="10945216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926C3-432C-544D-B73E-7686141AE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3933056"/>
            <a:ext cx="10945216" cy="132474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2211E-626E-E649-BCEC-0C3443778DD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CE2BFE9-E284-B34B-9DD9-9734E072A10D}" type="datetime1">
              <a:t>2026/7/21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CD07C-E71B-EE4E-A04D-513B4FDC547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89468-3554-7E45-9EC0-72A9DA9D19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FE1A1A-A846-1244-B210-CC29CD60D5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C705-C275-294F-88E4-9FB87207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buNone/>
              <a:defRPr sz="36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265A9-208F-B747-8249-EF637072F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637818" cy="4968552"/>
          </a:xfrm>
        </p:spPr>
        <p:txBody>
          <a:bodyPr>
            <a:normAutofit/>
          </a:bodyPr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3A073-1A46-2C48-AA4B-6B0CC61968E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9A5C36-DE89-754B-AADC-BE098732BA55}" type="datetime1">
              <a:t>2026/7/21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9E507-59F5-8A41-B56B-0E2687B02A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8107E-D461-1C49-AF2F-D9273FD12F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FE1A1A-A846-1244-B210-CC29CD60D5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513C-7AC8-7541-BCC2-5C66F995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597B0-B86C-984E-9652-A57A69708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BD942-5636-774E-9AE5-8136B8B4C43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C92F05-C132-444E-8CB1-83285020EE6B}" type="datetime1">
              <a:t>2026/7/21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AB1F5-1745-B641-8A3E-8C77C9972F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1740-E141-994F-960E-30E141D381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FE1A1A-A846-1244-B210-CC29CD60D5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2C74-6A75-C345-8D45-8399B42E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84567-0E36-8C49-9950-371CE9271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5742709" cy="4908203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E884A-AA9A-BE49-9BD4-6BBBB45F0C0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268760"/>
            <a:ext cx="5742708" cy="4908203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B4A51-01A4-3C48-9EF1-CAD204407F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71EA035-3CCE-DA49-8248-4DECF1480FAD}" type="datetime1">
              <a:t>2026/7/21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CDCA8-4C0B-2B4F-9CDC-ACA218BDBF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0FABC-1CE5-A841-95A8-DC4B76383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FE1A1A-A846-1244-B210-CC29CD60D5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DA5A-7B1C-D842-8A6E-984ADE32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7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3FD6F-1409-9F43-BEE8-8F9EFC917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C4E4F-B343-6443-A79A-CB96201DE36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277092" y="2505075"/>
            <a:ext cx="5720484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01090-F89E-AA4B-9D16-F48FB5E0671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6B3EB-D7F0-C44F-89A3-064941260E1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720484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273A94-E684-2649-A535-833C9909AA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4738968-DCED-034C-A9F9-63C7B612155B}" type="datetime1">
              <a:t>2026/7/21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0C9F79-6BC1-C54D-BBE7-D3713DCC02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490904-0654-2849-9A8C-F33DBEE4D3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FE1A1A-A846-1244-B210-CC29CD60D5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7F1A-C959-D645-9CB7-7339FD8B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8F0EF2-B047-1843-9607-4AF6018BEB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274FFC6-ADAB-5E41-86AC-7F6081FE7CAC}" type="datetime1">
              <a:t>2026/7/21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D6C8D-169C-E24E-B2DA-7E28FB0B6B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FC934-724A-D84B-9F74-7DAEAF31E1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FE1A1A-A846-1244-B210-CC29CD60D5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0904D3-4AF6-314E-9FEA-CF71A3D6F5C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FEC856D-977A-F642-9AEB-80D2F107EFF4}" type="datetime1">
              <a:t>2026/7/21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F48081-E7A8-134A-8DE9-3268CD3610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17B03-016A-BB4E-B72A-7FEB25024E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FE1A1A-A846-1244-B210-CC29CD60D5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A4E59-A309-134D-A7DA-234DDB7C4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61448-1A70-954A-B1B3-716EB4063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ACCF5-86A9-6846-80E5-9F5210865E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88A50-D7AF-F540-9B78-27732CB9F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034B7F-BC74-F14F-8BF9-586EC96745A0}" type="datetime1">
              <a:t>2026/7/21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25F00-82C3-474A-BB00-672C82BBCC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8D448-780A-DC49-8C78-27A053B1F4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FE1A1A-A846-1244-B210-CC29CD60D5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A7F5-0229-024C-A91C-660C9220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6B5FD-870A-B046-9BE3-57F89CB1F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FCD14-9FC1-4043-B048-B049BE1EEB7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2996A-2C74-AA45-8AB4-0C7955B52F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92A7302-2114-A74D-8389-8181128E4BC3}" type="datetime1">
              <a:t>2026/7/21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AA01E-2B14-4B4A-A421-3492F2456F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5C4E4-99EA-E14D-AAEA-DCD6ECF50D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FE1A1A-A846-1244-B210-CC29CD60D5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FB2D-E296-704F-8176-9D763DB8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D5061-4135-AD4C-A724-15D16C394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0BFD8-AE5F-F840-911B-311B24DDB6C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528223-6D33-DE4C-9F51-4A38614FD791}" type="datetime1">
              <a:t>2026/7/21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E4ED0-1654-3A4E-AEC7-9A8CAB79076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56FF2-B775-AE48-854B-A8FC4BD5BE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FE1A1A-A846-1244-B210-CC29CD60D5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3990A8-A8D2-3949-8444-FC2A73CED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1292E-E172-D94F-B9FD-164675C7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3F332-4AC7-7541-80F3-77180C552D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F8D0E2A-2758-4248-AC6A-4E927F9F5533}" type="datetime1">
              <a:t>2026/7/21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09EB2-2AD6-404A-B9A9-546937AA40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34627-5052-DD45-806F-F1F199EE0F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FE1A1A-A846-1244-B210-CC29CD60D5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64C47F-F176-F546-BC0D-68EB72279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8" cy="64625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D7DD0-DC4B-B84D-A6B0-3F2FDED38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091" y="1268760"/>
            <a:ext cx="11637818" cy="496855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17A9E-FDF2-F640-9AAD-99296974673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277091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8F2AF-5968-3346-AE5F-9E0849B6F0B3}" type="datetime1">
              <a:t>2026/7/21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0713F-EA27-5D49-950B-4667F409F9B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5151B-CA49-B145-971E-747B5055137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599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E1A1A-A846-1244-B210-CC29CD60D5A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Microsoft YaHei"/>
          <a:ea typeface="Microsoft YaHei"/>
          <a:cs typeface="Microsoft YaHei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B2030-8EE3-BF4F-A363-640032AE4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1484784"/>
            <a:ext cx="10945216" cy="2487938"/>
          </a:xfrm>
        </p:spPr>
        <p:txBody>
          <a:bodyPr>
            <a:normAutofit/>
          </a:bodyPr>
          <a:lstStyle/>
          <a:p>
            <a:r>
              <a:rPr dirty="0"/>
              <a:t>计算机编程实践#8</a:t>
            </a:r>
          </a:p>
          <a:p>
            <a:r>
              <a:rPr dirty="0"/>
              <a:t>Workspace </a:t>
            </a:r>
            <a:r>
              <a:rPr dirty="0" err="1"/>
              <a:t>与高级工具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C9327-07CA-D843-AB2E-801FC5C73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4509120"/>
            <a:ext cx="10945216" cy="1008112"/>
          </a:xfrm>
        </p:spPr>
        <p:txBody>
          <a:bodyPr>
            <a:normAutofit/>
          </a:bodyPr>
          <a:lstStyle/>
          <a:p>
            <a:r>
              <a:t>杜冬冬</a:t>
            </a:r>
          </a:p>
          <a:p>
            <a:r>
              <a:t>2026小学期</a:t>
            </a:r>
          </a:p>
        </p:txBody>
      </p:sp>
    </p:spTree>
    <p:extLst>
      <p:ext uri="{BB962C8B-B14F-4D97-AF65-F5344CB8AC3E}">
        <p14:creationId xmlns:p14="http://schemas.microsoft.com/office/powerpoint/2010/main" val="1830894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dirty="0"/>
              <a:t>Agent </a:t>
            </a:r>
            <a:r>
              <a:rPr dirty="0" err="1"/>
              <a:t>开始产生真实副作用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598689-54C9-18A7-3A19-ED76AA08988F}" type="slidenum">
              <a:rPr/>
              <a:t>2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dirty="0"/>
              <a:t>• </a:t>
            </a:r>
            <a:r>
              <a:rPr dirty="0" err="1"/>
              <a:t>只读</a:t>
            </a:r>
            <a:r>
              <a:rPr dirty="0"/>
              <a:t> </a:t>
            </a:r>
            <a:r>
              <a:rPr dirty="0" err="1"/>
              <a:t>tool：读不到文件，影响通常有限</a:t>
            </a:r>
            <a:endParaRPr dirty="0"/>
          </a:p>
          <a:p>
            <a:r>
              <a:rPr dirty="0"/>
              <a:t>• advanced </a:t>
            </a:r>
            <a:r>
              <a:rPr dirty="0" err="1"/>
              <a:t>tool：开始写文件、运行命令、创建下载入口</a:t>
            </a:r>
            <a:endParaRPr dirty="0"/>
          </a:p>
          <a:p>
            <a:r>
              <a:rPr dirty="0"/>
              <a:t>• </a:t>
            </a:r>
            <a:r>
              <a:rPr dirty="0" err="1"/>
              <a:t>真实副作用出现后，runtime</a:t>
            </a:r>
            <a:r>
              <a:rPr lang="en-US" dirty="0"/>
              <a:t> </a:t>
            </a:r>
            <a:r>
              <a:rPr lang="en-US" dirty="0" err="1"/>
              <a:t>需要确认</a:t>
            </a:r>
            <a:r>
              <a:rPr dirty="0" err="1"/>
              <a:t>：在哪里工作？将要做什么？谁批准</a:t>
            </a:r>
            <a:r>
              <a:rPr dirty="0"/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D5B48A-CBD3-6ECE-1CB7-0C33D94B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SJTUClaw 篇：Workspace 与高级工具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6AD4CE-2802-80E9-E4F9-46F903002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从文件边界，到真实副作用，再到用户审批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253464-7E12-9E53-F72D-CB49282EAA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2359C0-8A7A-196E-DD58-8E6569619F09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9999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t>Workspace：SJTUClaw 被允许工作的地方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D6AB9A-5F9E-5F59-51AB-3C8734130965}" type="slidenum">
              <a:rPr/>
              <a:t>4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dirty="0"/>
              <a:t>• workspace </a:t>
            </a:r>
            <a:r>
              <a:rPr dirty="0" err="1"/>
              <a:t>是当前</a:t>
            </a:r>
            <a:r>
              <a:rPr dirty="0"/>
              <a:t> agent session </a:t>
            </a:r>
            <a:r>
              <a:rPr dirty="0" err="1"/>
              <a:t>的项目根目录</a:t>
            </a:r>
            <a:endParaRPr dirty="0"/>
          </a:p>
          <a:p>
            <a:r>
              <a:rPr dirty="0"/>
              <a:t>• </a:t>
            </a:r>
            <a:r>
              <a:rPr dirty="0" err="1"/>
              <a:t>文件读写、shell、下载入口和</a:t>
            </a:r>
            <a:r>
              <a:rPr dirty="0"/>
              <a:t> approval </a:t>
            </a:r>
            <a:r>
              <a:rPr dirty="0" err="1"/>
              <a:t>判断默认以它为边界</a:t>
            </a:r>
            <a:endParaRPr dirty="0"/>
          </a:p>
          <a:p>
            <a:r>
              <a:rPr dirty="0"/>
              <a:t>• </a:t>
            </a:r>
            <a:r>
              <a:rPr dirty="0" err="1"/>
              <a:t>当前</a:t>
            </a:r>
            <a:r>
              <a:rPr dirty="0"/>
              <a:t> workspace </a:t>
            </a:r>
            <a:r>
              <a:rPr dirty="0" err="1"/>
              <a:t>必须能被用户清楚知道</a:t>
            </a:r>
            <a:endParaRPr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76FD99-3518-2B0A-CADA-94834F644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6" y="3719892"/>
            <a:ext cx="6159500" cy="24384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E63D33F-2565-7CD2-32F9-B93BCDFD5BD9}"/>
              </a:ext>
            </a:extLst>
          </p:cNvPr>
          <p:cNvSpPr txBox="1"/>
          <p:nvPr/>
        </p:nvSpPr>
        <p:spPr>
          <a:xfrm>
            <a:off x="3071664" y="3719892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我的一个项目的工作目录：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t>路径边界必须经过真实解析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E5B3003-2C54-13C6-9832-7637201064DE}" type="slidenum">
              <a:rPr/>
              <a:t>5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t>路径检查要基于解析后的真实路径</a:t>
            </a:r>
          </a:p>
          <a:p>
            <a:endParaRPr/>
          </a:p>
          <a:p>
            <a:r>
              <a:t>root = workspace.resolve()</a:t>
            </a:r>
          </a:p>
          <a:p>
            <a:r>
              <a:t>target = (root / user_path).resolve()</a:t>
            </a:r>
          </a:p>
          <a:p>
            <a:endParaRPr/>
          </a:p>
          <a:p>
            <a:r>
              <a:t>if target != root and root not in target.parents:</a:t>
            </a:r>
          </a:p>
          <a:p>
            <a:pPr>
              <a:buNone/>
            </a:pPr>
            <a:r>
              <a:t>    拒绝：目标路径在 workspace 外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lang="zh-CN" altLang="en-US" dirty="0"/>
              <a:t>本阶段的主要目标：</a:t>
            </a:r>
            <a:r>
              <a:rPr dirty="0" err="1"/>
              <a:t>三个高级工具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630A04-5A25-9E0C-9436-126091DB86B3}" type="slidenum">
              <a:rPr/>
              <a:t>6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t>• Update Tool：创建或修改 workspace 内文件</a:t>
            </a:r>
          </a:p>
          <a:p>
            <a:r>
              <a:t>• Shell Tool：在 workspace 内运行命令或脚本</a:t>
            </a:r>
          </a:p>
          <a:p>
            <a:r>
              <a:t>• Download Tool：为 workspace 文件创建下载入口</a:t>
            </a:r>
          </a:p>
          <a:p>
            <a:r>
              <a:t>• 附件先复制到 workspace，后续工具才能继续处理</a:t>
            </a:r>
          </a:p>
          <a:p>
            <a:endParaRPr/>
          </a:p>
          <a:p>
            <a:r>
              <a:t>三类工具都必须经过 approval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t>Update Tool：把修改意图变成真实文件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D7D1C8-AE23-AA48-DF65-C742588DBE47}" type="slidenum">
              <a:rPr/>
              <a:t>7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t>• create_file(path, content)</a:t>
            </a:r>
          </a:p>
          <a:p>
            <a:r>
              <a:t>• edit_file(path, old, new)</a:t>
            </a:r>
          </a:p>
          <a:p>
            <a:r>
              <a:t>• append_file(path, content)</a:t>
            </a:r>
          </a:p>
          <a:p>
            <a:endParaRPr/>
          </a:p>
          <a:p>
            <a:r>
              <a:t>路径先解析，执行后把结果写回 session：</a:t>
            </a:r>
          </a:p>
          <a:p>
            <a:r>
              <a:t>已创建 reports/course-report.md</a:t>
            </a:r>
          </a:p>
          <a:p>
            <a:pPr>
              <a:buNone/>
            </a:pPr>
            <a:r>
              <a:t>拒绝写入：目标路径在 workspace 外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dirty="0"/>
              <a:t>Shell Tool：</a:t>
            </a:r>
            <a:r>
              <a:rPr lang="zh-CN" altLang="en-US" dirty="0"/>
              <a:t>在约束范围内执行命令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58DA2A-B818-18A9-29C1-B697728D5BCE}" type="slidenum">
              <a:rPr/>
              <a:t>8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dirty="0"/>
              <a:t>• </a:t>
            </a:r>
            <a:r>
              <a:rPr dirty="0" err="1"/>
              <a:t>工作目录</a:t>
            </a:r>
            <a:r>
              <a:rPr lang="zh-CN" altLang="en-US" dirty="0"/>
              <a:t>需要在</a:t>
            </a:r>
            <a:r>
              <a:rPr dirty="0"/>
              <a:t> workspace</a:t>
            </a:r>
            <a:r>
              <a:rPr lang="zh-CN" altLang="en-US" dirty="0"/>
              <a:t> 内</a:t>
            </a:r>
            <a:endParaRPr dirty="0"/>
          </a:p>
          <a:p>
            <a:r>
              <a:rPr dirty="0"/>
              <a:t>• </a:t>
            </a:r>
            <a:r>
              <a:rPr dirty="0" err="1"/>
              <a:t>执行前</a:t>
            </a:r>
            <a:r>
              <a:rPr lang="zh-CN" altLang="en-US" dirty="0"/>
              <a:t>请求</a:t>
            </a:r>
            <a:r>
              <a:rPr dirty="0"/>
              <a:t> approval</a:t>
            </a:r>
          </a:p>
          <a:p>
            <a:r>
              <a:rPr dirty="0"/>
              <a:t>• </a:t>
            </a:r>
            <a:r>
              <a:rPr dirty="0" err="1"/>
              <a:t>设置</a:t>
            </a:r>
            <a:r>
              <a:rPr dirty="0"/>
              <a:t> </a:t>
            </a:r>
            <a:r>
              <a:rPr dirty="0" err="1"/>
              <a:t>timeout，避免命令卡住整个程序</a:t>
            </a:r>
            <a:endParaRPr dirty="0"/>
          </a:p>
          <a:p>
            <a:r>
              <a:rPr dirty="0"/>
              <a:t>• tool result </a:t>
            </a:r>
            <a:r>
              <a:rPr dirty="0" err="1"/>
              <a:t>至少包含</a:t>
            </a:r>
            <a:r>
              <a:rPr dirty="0"/>
              <a:t> </a:t>
            </a:r>
            <a:r>
              <a:rPr dirty="0" err="1"/>
              <a:t>stdout、stderr、exit</a:t>
            </a:r>
            <a:r>
              <a:rPr dirty="0"/>
              <a:t> code</a:t>
            </a:r>
          </a:p>
          <a:p>
            <a:r>
              <a:rPr dirty="0"/>
              <a:t>• </a:t>
            </a:r>
            <a:r>
              <a:rPr dirty="0" err="1"/>
              <a:t>危险命令默认</a:t>
            </a:r>
            <a:r>
              <a:rPr lang="zh-CN" altLang="en-US" dirty="0"/>
              <a:t>不执行（也可以通过</a:t>
            </a:r>
            <a:r>
              <a:rPr lang="en-US" altLang="zh-CN" dirty="0"/>
              <a:t> Warning </a:t>
            </a:r>
            <a:r>
              <a:rPr lang="zh-CN" altLang="en-US" dirty="0"/>
              <a:t>等进行提示），</a:t>
            </a:r>
            <a:r>
              <a:rPr dirty="0" err="1"/>
              <a:t>真实项目</a:t>
            </a:r>
            <a:r>
              <a:rPr lang="zh-CN" altLang="en-US" dirty="0"/>
              <a:t>往往</a:t>
            </a:r>
            <a:r>
              <a:rPr dirty="0" err="1"/>
              <a:t>还要考虑容器和权限隔离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lang="zh-CN" altLang="en-US" dirty="0"/>
              <a:t>处理附件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8657AE-30A1-5A7A-6A7F-315D84436430}" type="slidenum">
              <a:rPr/>
              <a:t>9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dirty="0"/>
              <a:t>• </a:t>
            </a:r>
            <a:r>
              <a:rPr lang="zh-CN" altLang="en-US" dirty="0"/>
              <a:t>我们在前期支持</a:t>
            </a:r>
            <a:r>
              <a:rPr lang="en-US" altLang="zh-CN" dirty="0"/>
              <a:t> UI </a:t>
            </a:r>
            <a:r>
              <a:rPr lang="zh-CN" altLang="en-US" dirty="0"/>
              <a:t>界面时，可以允许上传一个附件</a:t>
            </a:r>
            <a:r>
              <a:rPr lang="en" dirty="0"/>
              <a:t>attachment</a:t>
            </a:r>
            <a:endParaRPr dirty="0"/>
          </a:p>
          <a:p>
            <a:r>
              <a:rPr dirty="0"/>
              <a:t>• </a:t>
            </a:r>
            <a:r>
              <a:rPr dirty="0" err="1"/>
              <a:t>复制入口：copy_attachment_to_workspace</a:t>
            </a:r>
            <a:r>
              <a:rPr dirty="0"/>
              <a:t>(</a:t>
            </a:r>
            <a:r>
              <a:rPr dirty="0" err="1"/>
              <a:t>attachmentId</a:t>
            </a:r>
            <a:r>
              <a:rPr dirty="0"/>
              <a:t>, </a:t>
            </a:r>
            <a:r>
              <a:rPr dirty="0" err="1"/>
              <a:t>targetPath</a:t>
            </a:r>
            <a:r>
              <a:rPr dirty="0"/>
              <a:t>)</a:t>
            </a:r>
          </a:p>
          <a:p>
            <a:r>
              <a:rPr dirty="0"/>
              <a:t>• </a:t>
            </a:r>
            <a:r>
              <a:rPr dirty="0" err="1"/>
              <a:t>只能访问当前</a:t>
            </a:r>
            <a:r>
              <a:rPr dirty="0"/>
              <a:t> session </a:t>
            </a:r>
            <a:r>
              <a:rPr dirty="0" err="1"/>
              <a:t>绑定的附件</a:t>
            </a:r>
            <a:endParaRPr dirty="0"/>
          </a:p>
          <a:p>
            <a:r>
              <a:rPr dirty="0"/>
              <a:t>• </a:t>
            </a:r>
            <a:r>
              <a:rPr dirty="0" err="1"/>
              <a:t>targetPath</a:t>
            </a:r>
            <a:r>
              <a:rPr dirty="0"/>
              <a:t> </a:t>
            </a:r>
            <a:r>
              <a:rPr dirty="0" err="1"/>
              <a:t>必须通过</a:t>
            </a:r>
            <a:r>
              <a:rPr dirty="0"/>
              <a:t> workspace </a:t>
            </a:r>
            <a:r>
              <a:rPr dirty="0" err="1"/>
              <a:t>校验</a:t>
            </a:r>
            <a:endParaRPr dirty="0"/>
          </a:p>
          <a:p>
            <a:r>
              <a:rPr dirty="0"/>
              <a:t>• </a:t>
            </a:r>
            <a:r>
              <a:rPr dirty="0" err="1"/>
              <a:t>复制成功后，update</a:t>
            </a:r>
            <a:r>
              <a:rPr dirty="0"/>
              <a:t> / shell </a:t>
            </a:r>
            <a:r>
              <a:rPr dirty="0" err="1"/>
              <a:t>才能处理</a:t>
            </a:r>
            <a:br>
              <a:rPr lang="en-US" dirty="0"/>
            </a:br>
            <a:r>
              <a:rPr dirty="0" err="1"/>
              <a:t>这个文件</a:t>
            </a:r>
            <a:endParaRPr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DB4CCB-BA5F-C331-B16A-8D0CBE685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088" y="2912522"/>
            <a:ext cx="5319142" cy="3450684"/>
          </a:xfrm>
          <a:prstGeom prst="rect">
            <a:avLst/>
          </a:prstGeom>
        </p:spPr>
      </p:pic>
      <p:sp>
        <p:nvSpPr>
          <p:cNvPr id="4" name="圆角矩形 3">
            <a:extLst>
              <a:ext uri="{FF2B5EF4-FFF2-40B4-BE49-F238E27FC236}">
                <a16:creationId xmlns:a16="http://schemas.microsoft.com/office/drawing/2014/main" id="{DD187D9D-3A4D-8A10-FE51-FF3C7E11D431}"/>
              </a:ext>
            </a:extLst>
          </p:cNvPr>
          <p:cNvSpPr/>
          <p:nvPr/>
        </p:nvSpPr>
        <p:spPr>
          <a:xfrm>
            <a:off x="6888088" y="6021288"/>
            <a:ext cx="504056" cy="34191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2AE7A8F-B712-BAC7-6477-B2A6E5F1EB31}"/>
              </a:ext>
            </a:extLst>
          </p:cNvPr>
          <p:cNvSpPr/>
          <p:nvPr/>
        </p:nvSpPr>
        <p:spPr>
          <a:xfrm>
            <a:off x="6942172" y="2948082"/>
            <a:ext cx="1314068" cy="48091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A3C3D5-FB72-6443-2379-7FF364B31B1B}"/>
              </a:ext>
            </a:extLst>
          </p:cNvPr>
          <p:cNvSpPr txBox="1"/>
          <p:nvPr/>
        </p:nvSpPr>
        <p:spPr>
          <a:xfrm>
            <a:off x="7896200" y="5628749"/>
            <a:ext cx="2893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highlight>
                  <a:srgbClr val="FFFF00"/>
                </a:highlight>
              </a:rPr>
              <a:t>Codex </a:t>
            </a:r>
            <a:r>
              <a:rPr kumimoji="1"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里面的上传附件界面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1CA9E-010D-38CA-358B-02A138F5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dirty="0" err="1"/>
              <a:t>三个</a:t>
            </a:r>
            <a:r>
              <a:rPr lang="zh-CN" altLang="en-US" dirty="0"/>
              <a:t>工具的对比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78145-D92D-9AD4-83DD-806DF4BADD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7BEEEC-A170-5376-2B6E-CB54687B0CB1}" type="slidenum">
              <a:rPr/>
              <a:t>10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0C5BFA70-A3DB-FCE8-7B07-3982B1E2B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5589240"/>
          </a:xfrm>
        </p:spPr>
        <p:txBody>
          <a:bodyPr>
            <a:normAutofit/>
          </a:bodyPr>
          <a:lstStyle/>
          <a:p>
            <a:r>
              <a:rPr dirty="0" err="1"/>
              <a:t>同一个</a:t>
            </a:r>
            <a:r>
              <a:rPr dirty="0"/>
              <a:t> workspace </a:t>
            </a:r>
            <a:r>
              <a:rPr dirty="0" err="1"/>
              <a:t>规则，分别约束文件、命令、下载入口和附件复制</a:t>
            </a:r>
            <a:endParaRPr dirty="0"/>
          </a:p>
        </p:txBody>
      </p:sp>
      <p:graphicFrame>
        <p:nvGraphicFramePr>
          <p:cNvPr id="15" name="表格 3"/>
          <p:cNvGraphicFramePr/>
          <p:nvPr>
            <p:extLst>
              <p:ext uri="{D42A27DB-BD31-4B8C-83A1-F6EECF244321}">
                <p14:modId xmlns:p14="http://schemas.microsoft.com/office/powerpoint/2010/main" val="1780969351"/>
              </p:ext>
            </p:extLst>
          </p:nvPr>
        </p:nvGraphicFramePr>
        <p:xfrm>
          <a:off x="1127448" y="2514600"/>
          <a:ext cx="9562602" cy="1828800"/>
        </p:xfrm>
        <a:graphic>
          <a:graphicData uri="http://schemas.openxmlformats.org/drawingml/2006/table">
            <a:tbl>
              <a:tblPr/>
              <a:tblGrid>
                <a:gridCol w="3187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7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7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1800" b="1"/>
                        <a:t>工具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>
                        <a:alpha val="444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 err="1"/>
                        <a:t>主要作用</a:t>
                      </a:r>
                      <a:endParaRPr sz="18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>
                        <a:alpha val="444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 err="1"/>
                        <a:t>检查</a:t>
                      </a:r>
                      <a:endParaRPr sz="18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>
                        <a:alpha val="4444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Update 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写入文件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路径 + approval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Shell 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运行命令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cwd + timeout + approval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Download 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暴露文件入口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文件必须在 workspace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 dirty="0" err="1"/>
                        <a:t>附件复制</a:t>
                      </a:r>
                      <a:endParaRPr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复制文件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session ownership + target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153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dirty="0"/>
              <a:t>Approval</a:t>
            </a:r>
            <a:r>
              <a:rPr lang="zh-CN" altLang="en-US" dirty="0"/>
              <a:t>如何执行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DB16885-0D3F-A391-B669-3211DB3B26E8}" type="slidenum">
              <a:rPr/>
              <a:t>11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dirty="0"/>
              <a:t>• </a:t>
            </a:r>
            <a:r>
              <a:rPr dirty="0" err="1"/>
              <a:t>pending：runtime</a:t>
            </a:r>
            <a:r>
              <a:rPr dirty="0"/>
              <a:t> </a:t>
            </a:r>
            <a:r>
              <a:rPr dirty="0" err="1"/>
              <a:t>已记录请求，尚未执行</a:t>
            </a:r>
            <a:endParaRPr dirty="0"/>
          </a:p>
          <a:p>
            <a:r>
              <a:rPr dirty="0"/>
              <a:t>• </a:t>
            </a:r>
            <a:r>
              <a:rPr dirty="0" err="1"/>
              <a:t>approved：用户允许执行</a:t>
            </a:r>
            <a:endParaRPr dirty="0"/>
          </a:p>
          <a:p>
            <a:r>
              <a:rPr dirty="0"/>
              <a:t>• </a:t>
            </a:r>
            <a:r>
              <a:rPr dirty="0" err="1"/>
              <a:t>rejected：用户拒绝，runtime</a:t>
            </a:r>
            <a:r>
              <a:rPr dirty="0"/>
              <a:t> </a:t>
            </a:r>
            <a:r>
              <a:rPr dirty="0" err="1"/>
              <a:t>不执行</a:t>
            </a:r>
            <a:endParaRPr dirty="0"/>
          </a:p>
          <a:p>
            <a:r>
              <a:rPr dirty="0"/>
              <a:t>• </a:t>
            </a:r>
            <a:r>
              <a:rPr dirty="0" err="1"/>
              <a:t>executed：批准后工具真实完成</a:t>
            </a:r>
            <a:endParaRPr dirty="0"/>
          </a:p>
          <a:p>
            <a:endParaRPr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E1348CA-42C4-5BCD-F1CD-DD3FF74B0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632" y="3685695"/>
            <a:ext cx="7211913" cy="2551907"/>
          </a:xfrm>
          <a:prstGeom prst="rect">
            <a:avLst/>
          </a:prstGeom>
        </p:spPr>
      </p:pic>
      <p:sp>
        <p:nvSpPr>
          <p:cNvPr id="4" name="圆角矩形 3">
            <a:extLst>
              <a:ext uri="{FF2B5EF4-FFF2-40B4-BE49-F238E27FC236}">
                <a16:creationId xmlns:a16="http://schemas.microsoft.com/office/drawing/2014/main" id="{F0C2D7FA-DC48-6BD0-A348-D95F04E091E1}"/>
              </a:ext>
            </a:extLst>
          </p:cNvPr>
          <p:cNvSpPr/>
          <p:nvPr/>
        </p:nvSpPr>
        <p:spPr>
          <a:xfrm>
            <a:off x="3071664" y="5724580"/>
            <a:ext cx="1152128" cy="3693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72A83B-5288-0637-1D58-CF8B23B8D918}"/>
              </a:ext>
            </a:extLst>
          </p:cNvPr>
          <p:cNvSpPr txBox="1"/>
          <p:nvPr/>
        </p:nvSpPr>
        <p:spPr>
          <a:xfrm>
            <a:off x="4404099" y="5759307"/>
            <a:ext cx="358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highlight>
                  <a:srgbClr val="FFFF00"/>
                </a:highlight>
              </a:rPr>
              <a:t>Codex </a:t>
            </a:r>
            <a:r>
              <a:rPr kumimoji="1"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里面可以配置对审批的要求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t>一次完整流程：创建学习总结文件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D23107-4986-8758-3A93-3D74F35908CC}" type="slidenum">
              <a:rPr/>
              <a:t>12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t>模型请求 create_file</a:t>
            </a:r>
          </a:p>
          <a:p>
            <a:r>
              <a:t>↓</a:t>
            </a:r>
          </a:p>
          <a:p>
            <a:r>
              <a:t>runtime 创建 approval：pending</a:t>
            </a:r>
          </a:p>
          <a:p>
            <a:r>
              <a:t>↓</a:t>
            </a:r>
          </a:p>
          <a:p>
            <a:r>
              <a:t>用户 approve → runtime 执行 → tool result 写回 session</a:t>
            </a:r>
          </a:p>
          <a:p>
            <a:endParaRPr/>
          </a:p>
          <a:p>
            <a:pPr>
              <a:buNone/>
            </a:pPr>
            <a:r>
              <a:t>用户 reject → 不执行 → assistant 明确说明“文件没有创建”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t>CLI 与图形化入口，只是不同的交互面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27921A4-25C4-3DB4-06B1-32693CEE2241}" type="slidenum">
              <a:rPr/>
              <a:t>13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t>CLI 可以展示：</a:t>
            </a:r>
          </a:p>
          <a:p>
            <a:r>
              <a:t>Approval required: create_file</a:t>
            </a:r>
          </a:p>
          <a:p>
            <a:r>
              <a:t>Path: reports/summary.md</a:t>
            </a:r>
          </a:p>
          <a:p>
            <a:r>
              <a:t>Approve? [y/N]</a:t>
            </a:r>
          </a:p>
          <a:p>
            <a:endParaRPr/>
          </a:p>
          <a:p>
            <a:r>
              <a:t>网页或 IM 可以用按钮，但 approval 状态必须由 runtime 管理</a:t>
            </a:r>
          </a:p>
          <a:p>
            <a:pPr>
              <a:buNone/>
            </a:pPr>
            <a:r>
              <a:t>前端不能直接决定是否写文件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t>外部 coding agent 也不能绕过边界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A83FA91-883A-0168-8075-96CEB9DCA3C2}" type="slidenum">
              <a:rPr/>
              <a:t>14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dirty="0"/>
              <a:t>• </a:t>
            </a:r>
            <a:r>
              <a:rPr dirty="0" err="1"/>
              <a:t>SJTUClaw</a:t>
            </a:r>
            <a:r>
              <a:rPr dirty="0"/>
              <a:t> </a:t>
            </a:r>
            <a:r>
              <a:rPr dirty="0" err="1"/>
              <a:t>先生成</a:t>
            </a:r>
            <a:r>
              <a:rPr dirty="0"/>
              <a:t> task </a:t>
            </a:r>
            <a:r>
              <a:rPr dirty="0" err="1"/>
              <a:t>spec，写清</a:t>
            </a:r>
            <a:r>
              <a:rPr dirty="0"/>
              <a:t> workspace </a:t>
            </a:r>
            <a:r>
              <a:rPr dirty="0" err="1"/>
              <a:t>和允许修改的文件</a:t>
            </a:r>
            <a:endParaRPr dirty="0"/>
          </a:p>
          <a:p>
            <a:r>
              <a:rPr dirty="0"/>
              <a:t>• </a:t>
            </a:r>
            <a:r>
              <a:rPr dirty="0" err="1"/>
              <a:t>调用外部</a:t>
            </a:r>
            <a:r>
              <a:rPr dirty="0"/>
              <a:t> coding agent </a:t>
            </a:r>
            <a:r>
              <a:rPr dirty="0" err="1"/>
              <a:t>前仍要创建</a:t>
            </a:r>
            <a:r>
              <a:rPr dirty="0"/>
              <a:t> approval</a:t>
            </a:r>
          </a:p>
          <a:p>
            <a:r>
              <a:rPr dirty="0"/>
              <a:t>• </a:t>
            </a:r>
            <a:r>
              <a:rPr dirty="0" err="1"/>
              <a:t>外部</a:t>
            </a:r>
            <a:r>
              <a:rPr dirty="0"/>
              <a:t> agent </a:t>
            </a:r>
            <a:r>
              <a:rPr dirty="0" err="1"/>
              <a:t>只能在</a:t>
            </a:r>
            <a:r>
              <a:rPr dirty="0"/>
              <a:t> workspace </a:t>
            </a:r>
            <a:r>
              <a:rPr dirty="0" err="1"/>
              <a:t>内工作</a:t>
            </a:r>
            <a:endParaRPr dirty="0"/>
          </a:p>
          <a:p>
            <a:r>
              <a:rPr dirty="0"/>
              <a:t>• </a:t>
            </a:r>
            <a:r>
              <a:rPr dirty="0" err="1"/>
              <a:t>产物路径、错误信息和执行结果写回</a:t>
            </a:r>
            <a:r>
              <a:rPr dirty="0"/>
              <a:t> session</a:t>
            </a:r>
          </a:p>
          <a:p>
            <a:r>
              <a:rPr dirty="0" err="1"/>
              <a:t>接入</a:t>
            </a:r>
            <a:r>
              <a:rPr dirty="0"/>
              <a:t> PI</a:t>
            </a:r>
            <a:r>
              <a:rPr lang="zh-CN" altLang="en-US" dirty="0"/>
              <a:t>*</a:t>
            </a:r>
            <a:r>
              <a:rPr dirty="0"/>
              <a:t> </a:t>
            </a:r>
            <a:r>
              <a:rPr dirty="0" err="1"/>
              <a:t>不能替代</a:t>
            </a:r>
            <a:r>
              <a:rPr dirty="0"/>
              <a:t> update / shell / download / approval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851C49-EFEB-4C2D-E6CD-5919B8CE37B6}"/>
              </a:ext>
            </a:extLst>
          </p:cNvPr>
          <p:cNvSpPr txBox="1"/>
          <p:nvPr/>
        </p:nvSpPr>
        <p:spPr>
          <a:xfrm>
            <a:off x="457200" y="6503670"/>
            <a:ext cx="10126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*</a:t>
            </a:r>
            <a:r>
              <a:rPr kumimoji="1" lang="en-US" altLang="zh-CN" dirty="0"/>
              <a:t>: PI Agent </a:t>
            </a:r>
            <a:r>
              <a:rPr kumimoji="1" lang="zh-CN" altLang="en-US" dirty="0"/>
              <a:t>是一个热度非常高的轻量化的开源</a:t>
            </a:r>
            <a:r>
              <a:rPr kumimoji="1" lang="en-US" altLang="zh-CN" dirty="0"/>
              <a:t> coding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agent</a:t>
            </a:r>
            <a:r>
              <a:rPr kumimoji="1" lang="zh-CN" altLang="en-US" dirty="0"/>
              <a:t>，大家可以学习其代码实现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pi.dev</a:t>
            </a:r>
            <a:r>
              <a:rPr kumimoji="1" lang="en" altLang="zh-CN" dirty="0"/>
              <a:t>/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E0166A3-9CB9-FCEA-93A8-4B1E6F8F1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664" y="3862427"/>
            <a:ext cx="4392488" cy="237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lang="en-US" dirty="0" err="1"/>
              <a:t>MVP</a:t>
            </a:r>
            <a:r>
              <a:rPr dirty="0" err="1"/>
              <a:t>：先拒绝，再批准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C9C7607-4BA3-B4DC-A00F-2E67A9FCFF7E}" type="slidenum">
              <a:rPr/>
              <a:t>15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dirty="0" err="1"/>
              <a:t>请求：在</a:t>
            </a:r>
            <a:r>
              <a:rPr dirty="0"/>
              <a:t> workspace </a:t>
            </a:r>
            <a:r>
              <a:rPr dirty="0" err="1"/>
              <a:t>创建</a:t>
            </a:r>
            <a:r>
              <a:rPr dirty="0"/>
              <a:t> notes/</a:t>
            </a:r>
            <a:r>
              <a:rPr dirty="0" err="1"/>
              <a:t>today.md</a:t>
            </a:r>
            <a:endParaRPr dirty="0"/>
          </a:p>
          <a:p>
            <a:endParaRPr dirty="0"/>
          </a:p>
          <a:p>
            <a:r>
              <a:rPr dirty="0" err="1"/>
              <a:t>第一次：拒绝</a:t>
            </a:r>
            <a:r>
              <a:rPr dirty="0"/>
              <a:t> approval → </a:t>
            </a:r>
            <a:r>
              <a:rPr dirty="0" err="1"/>
              <a:t>文件不存在，history</a:t>
            </a:r>
            <a:r>
              <a:rPr dirty="0"/>
              <a:t> </a:t>
            </a:r>
            <a:r>
              <a:rPr dirty="0" err="1"/>
              <a:t>有</a:t>
            </a:r>
            <a:r>
              <a:rPr dirty="0"/>
              <a:t> rejected</a:t>
            </a:r>
          </a:p>
          <a:p>
            <a:r>
              <a:rPr dirty="0" err="1"/>
              <a:t>第二次：批准</a:t>
            </a:r>
            <a:r>
              <a:rPr dirty="0"/>
              <a:t> approval → </a:t>
            </a:r>
            <a:r>
              <a:rPr dirty="0" err="1"/>
              <a:t>文件真实存在，history</a:t>
            </a:r>
            <a:r>
              <a:rPr dirty="0"/>
              <a:t> </a:t>
            </a:r>
            <a:r>
              <a:rPr dirty="0" err="1"/>
              <a:t>有</a:t>
            </a:r>
            <a:r>
              <a:rPr dirty="0"/>
              <a:t> approved / executed</a:t>
            </a:r>
          </a:p>
          <a:p>
            <a:endParaRPr lang="en-US" dirty="0"/>
          </a:p>
          <a:p>
            <a:r>
              <a:rPr lang="en-US" dirty="0" err="1"/>
              <a:t>大家可以自由发挥</a:t>
            </a:r>
            <a:r>
              <a:rPr lang="zh-CN" altLang="en-US" dirty="0"/>
              <a:t>，通过多种方式来验证和检查自己的</a:t>
            </a:r>
            <a:r>
              <a:rPr lang="en-US" altLang="zh-CN" dirty="0"/>
              <a:t> approve </a:t>
            </a:r>
            <a:r>
              <a:rPr lang="zh-CN" altLang="en-US" dirty="0"/>
              <a:t>等检查机制是否起作用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D5B48A-CBD3-6ECE-1CB7-0C33D94B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扩展</a:t>
            </a:r>
            <a:r>
              <a:rPr dirty="0" err="1"/>
              <a:t>篇：Agent</a:t>
            </a:r>
            <a:r>
              <a:rPr dirty="0"/>
              <a:t> Sandbox </a:t>
            </a:r>
            <a:r>
              <a:rPr dirty="0" err="1"/>
              <a:t>是什么</a:t>
            </a:r>
            <a:endParaRPr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6AD4CE-2802-80E9-E4F9-46F903002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给</a:t>
            </a:r>
            <a:r>
              <a:rPr lang="en-US" altLang="zh-CN" dirty="0"/>
              <a:t> Agent </a:t>
            </a:r>
            <a:r>
              <a:rPr lang="zh-CN" altLang="en-US" dirty="0"/>
              <a:t>一个受控的运行环境</a:t>
            </a:r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253464-7E12-9E53-F72D-CB49282EAA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CF91274-D221-1BB4-3BF9-836E3AD31EBE}" type="slidenum">
              <a:r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9999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t>Agent Sandbox：给 Agent 准备的一间实验室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44E025A-983C-6D44-79C6-4612AACD43FC}" type="slidenum">
              <a:rPr/>
              <a:t>17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6683005" cy="4968552"/>
          </a:xfrm>
        </p:spPr>
        <p:txBody>
          <a:bodyPr>
            <a:normAutofit/>
          </a:bodyPr>
          <a:lstStyle/>
          <a:p>
            <a:r>
              <a:rPr dirty="0"/>
              <a:t>• sandbox</a:t>
            </a:r>
            <a:r>
              <a:rPr lang="zh-CN" altLang="en-US" dirty="0"/>
              <a:t>（沙箱）</a:t>
            </a:r>
            <a:r>
              <a:rPr dirty="0"/>
              <a:t> </a:t>
            </a:r>
            <a:r>
              <a:rPr dirty="0" err="1"/>
              <a:t>是一个隔离的执行环境</a:t>
            </a:r>
            <a:endParaRPr dirty="0"/>
          </a:p>
          <a:p>
            <a:r>
              <a:rPr dirty="0"/>
              <a:t>• </a:t>
            </a:r>
            <a:r>
              <a:rPr dirty="0" err="1"/>
              <a:t>里面可以有自己的文件系统、shell、软件包和输入数据</a:t>
            </a:r>
            <a:endParaRPr dirty="0"/>
          </a:p>
          <a:p>
            <a:r>
              <a:rPr dirty="0"/>
              <a:t>• Agent </a:t>
            </a:r>
            <a:r>
              <a:rPr dirty="0" err="1"/>
              <a:t>的命令和文件操作在这里发生</a:t>
            </a:r>
            <a:endParaRPr dirty="0"/>
          </a:p>
          <a:p>
            <a:r>
              <a:rPr dirty="0"/>
              <a:t>• </a:t>
            </a:r>
            <a:r>
              <a:rPr dirty="0" err="1"/>
              <a:t>未授权的真实文件、进程和网络不应直接可达</a:t>
            </a:r>
            <a:endParaRPr dirty="0"/>
          </a:p>
          <a:p>
            <a:r>
              <a:rPr dirty="0"/>
              <a:t>• </a:t>
            </a:r>
            <a:r>
              <a:rPr dirty="0" err="1"/>
              <a:t>只需要短文本回答时不必引入</a:t>
            </a:r>
            <a:r>
              <a:rPr dirty="0"/>
              <a:t> sandbox</a:t>
            </a:r>
          </a:p>
          <a:p>
            <a:r>
              <a:rPr dirty="0"/>
              <a:t>• </a:t>
            </a:r>
            <a:r>
              <a:rPr dirty="0" err="1"/>
              <a:t>需要读写文件、运行命令、生成</a:t>
            </a:r>
            <a:r>
              <a:rPr dirty="0"/>
              <a:t> artifact </a:t>
            </a:r>
            <a:r>
              <a:rPr dirty="0" err="1"/>
              <a:t>或继续工作时，sandbox</a:t>
            </a:r>
            <a:r>
              <a:rPr dirty="0"/>
              <a:t> </a:t>
            </a:r>
            <a:r>
              <a:rPr dirty="0" err="1"/>
              <a:t>才有价值</a:t>
            </a:r>
            <a:endParaRPr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D341E5-0285-AC5A-00C1-77CD3CB97A2B}"/>
              </a:ext>
            </a:extLst>
          </p:cNvPr>
          <p:cNvSpPr/>
          <p:nvPr/>
        </p:nvSpPr>
        <p:spPr>
          <a:xfrm>
            <a:off x="7729870" y="2193811"/>
            <a:ext cx="723787" cy="108243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50" dirty="0">
                <a:solidFill>
                  <a:schemeClr val="accent1"/>
                </a:solidFill>
              </a:rPr>
              <a:t>Nginx</a:t>
            </a:r>
            <a:endParaRPr kumimoji="1" lang="zh-CN" altLang="en-US" sz="1350" dirty="0">
              <a:solidFill>
                <a:schemeClr val="accent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423802-75F7-988C-5F03-59F0968895E0}"/>
              </a:ext>
            </a:extLst>
          </p:cNvPr>
          <p:cNvSpPr/>
          <p:nvPr/>
        </p:nvSpPr>
        <p:spPr>
          <a:xfrm>
            <a:off x="8579966" y="2193812"/>
            <a:ext cx="723787" cy="48262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accent1"/>
                </a:solidFill>
              </a:rPr>
              <a:t>Function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FA8447-9BB6-BE40-3C33-FA2450362093}"/>
              </a:ext>
            </a:extLst>
          </p:cNvPr>
          <p:cNvSpPr/>
          <p:nvPr/>
        </p:nvSpPr>
        <p:spPr>
          <a:xfrm>
            <a:off x="9578549" y="2193811"/>
            <a:ext cx="723787" cy="108243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50" dirty="0">
                <a:solidFill>
                  <a:schemeClr val="accent1"/>
                </a:solidFill>
              </a:rPr>
              <a:t>SQL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6D3C9E-7942-E278-6E12-F3E0C276821C}"/>
              </a:ext>
            </a:extLst>
          </p:cNvPr>
          <p:cNvSpPr/>
          <p:nvPr/>
        </p:nvSpPr>
        <p:spPr>
          <a:xfrm>
            <a:off x="10428644" y="2189770"/>
            <a:ext cx="723787" cy="108243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50" dirty="0">
                <a:solidFill>
                  <a:schemeClr val="accent1"/>
                </a:solidFill>
              </a:rPr>
              <a:t>Other</a:t>
            </a:r>
          </a:p>
          <a:p>
            <a:pPr algn="ctr"/>
            <a:r>
              <a:rPr kumimoji="1" lang="en-US" altLang="zh-CN" sz="1350" dirty="0">
                <a:solidFill>
                  <a:schemeClr val="accent1"/>
                </a:solidFill>
              </a:rPr>
              <a:t>APPs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659F8F-AD81-A775-D9BB-3A3B3C50CBB3}"/>
              </a:ext>
            </a:extLst>
          </p:cNvPr>
          <p:cNvSpPr/>
          <p:nvPr/>
        </p:nvSpPr>
        <p:spPr>
          <a:xfrm>
            <a:off x="7680176" y="3449461"/>
            <a:ext cx="3535409" cy="43800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50" dirty="0">
                <a:solidFill>
                  <a:schemeClr val="bg1"/>
                </a:solidFill>
              </a:rPr>
              <a:t>Host</a:t>
            </a:r>
            <a:r>
              <a:rPr kumimoji="1" lang="zh-CN" altLang="en-US" sz="1350" dirty="0">
                <a:solidFill>
                  <a:schemeClr val="bg1"/>
                </a:solidFill>
              </a:rPr>
              <a:t> </a:t>
            </a:r>
            <a:r>
              <a:rPr kumimoji="1" lang="en-US" altLang="zh-CN" sz="1350" dirty="0">
                <a:solidFill>
                  <a:schemeClr val="bg1"/>
                </a:solidFill>
              </a:rPr>
              <a:t>Kernel</a:t>
            </a:r>
            <a:endParaRPr kumimoji="1" lang="zh-CN" altLang="en-US" sz="1350" dirty="0">
              <a:solidFill>
                <a:schemeClr val="bg1"/>
              </a:solidFill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9702C59F-7054-BDD3-4B90-5788AB10BA74}"/>
              </a:ext>
            </a:extLst>
          </p:cNvPr>
          <p:cNvCxnSpPr>
            <a:cxnSpLocks/>
          </p:cNvCxnSpPr>
          <p:nvPr/>
        </p:nvCxnSpPr>
        <p:spPr>
          <a:xfrm>
            <a:off x="7680176" y="4054203"/>
            <a:ext cx="353540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1DDF6D7D-838A-1094-4708-6E50A6BDFE5D}"/>
              </a:ext>
            </a:extLst>
          </p:cNvPr>
          <p:cNvSpPr/>
          <p:nvPr/>
        </p:nvSpPr>
        <p:spPr>
          <a:xfrm>
            <a:off x="7680176" y="4221088"/>
            <a:ext cx="3535409" cy="43800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50" dirty="0">
                <a:solidFill>
                  <a:schemeClr val="accent1"/>
                </a:solidFill>
              </a:rPr>
              <a:t>Hardware</a:t>
            </a:r>
            <a:endParaRPr kumimoji="1" lang="zh-CN" altLang="en-US" sz="1350" dirty="0">
              <a:solidFill>
                <a:schemeClr val="accent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C708E2-5EE5-42D6-0350-4849C2C7C32B}"/>
              </a:ext>
            </a:extLst>
          </p:cNvPr>
          <p:cNvSpPr/>
          <p:nvPr/>
        </p:nvSpPr>
        <p:spPr>
          <a:xfrm>
            <a:off x="8579965" y="2793622"/>
            <a:ext cx="723787" cy="48262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accent1"/>
                </a:solidFill>
              </a:rPr>
              <a:t>Runtime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D22BBE-67FF-8FCF-6290-46112D89B18B}"/>
              </a:ext>
            </a:extLst>
          </p:cNvPr>
          <p:cNvSpPr/>
          <p:nvPr/>
        </p:nvSpPr>
        <p:spPr>
          <a:xfrm>
            <a:off x="9528854" y="1849853"/>
            <a:ext cx="1686732" cy="1511801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1350" dirty="0">
              <a:solidFill>
                <a:schemeClr val="accent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58ED4F-A8A8-59A6-6B7D-E8446E773818}"/>
              </a:ext>
            </a:extLst>
          </p:cNvPr>
          <p:cNvSpPr/>
          <p:nvPr/>
        </p:nvSpPr>
        <p:spPr>
          <a:xfrm>
            <a:off x="7680176" y="1845848"/>
            <a:ext cx="1686732" cy="1511801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1350" dirty="0">
              <a:solidFill>
                <a:schemeClr val="accent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8B5EBE3-C2A0-DDDC-8B61-8756FD474548}"/>
              </a:ext>
            </a:extLst>
          </p:cNvPr>
          <p:cNvSpPr/>
          <p:nvPr/>
        </p:nvSpPr>
        <p:spPr>
          <a:xfrm>
            <a:off x="8059326" y="1885215"/>
            <a:ext cx="928432" cy="2538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350" dirty="0">
                <a:solidFill>
                  <a:schemeClr val="accent1"/>
                </a:solidFill>
              </a:rPr>
              <a:t>沙箱</a:t>
            </a:r>
            <a:endParaRPr kumimoji="1" lang="en-US" altLang="zh-CN" sz="1350" dirty="0">
              <a:solidFill>
                <a:schemeClr val="accent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E64E9C1-AC6E-08B8-4274-A2C50345CD81}"/>
              </a:ext>
            </a:extLst>
          </p:cNvPr>
          <p:cNvSpPr/>
          <p:nvPr/>
        </p:nvSpPr>
        <p:spPr>
          <a:xfrm>
            <a:off x="9908004" y="1884657"/>
            <a:ext cx="928432" cy="2538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350" dirty="0">
                <a:solidFill>
                  <a:schemeClr val="accent1"/>
                </a:solidFill>
              </a:rPr>
              <a:t>沙箱</a:t>
            </a:r>
            <a:endParaRPr kumimoji="1" lang="en-US" altLang="zh-CN" sz="135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t>把 Agent 想成：大脑、双手、记录本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DF2BE2-2DFA-1C03-677D-BDC2260D6D92}" type="slidenum">
              <a:rPr/>
              <a:t>18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dirty="0"/>
              <a:t>• </a:t>
            </a:r>
            <a:r>
              <a:rPr dirty="0" err="1"/>
              <a:t>大脑：LLM</a:t>
            </a:r>
            <a:r>
              <a:rPr dirty="0"/>
              <a:t> + agent </a:t>
            </a:r>
            <a:r>
              <a:rPr dirty="0" err="1"/>
              <a:t>loop，决定下一步想做什么</a:t>
            </a:r>
            <a:endParaRPr dirty="0"/>
          </a:p>
          <a:p>
            <a:r>
              <a:rPr dirty="0"/>
              <a:t>• </a:t>
            </a:r>
            <a:r>
              <a:rPr dirty="0" err="1"/>
              <a:t>双手：shell、update、浏览器、MCP</a:t>
            </a:r>
            <a:r>
              <a:rPr dirty="0"/>
              <a:t> </a:t>
            </a:r>
            <a:r>
              <a:rPr dirty="0" err="1"/>
              <a:t>tool，真正改变外部世界</a:t>
            </a:r>
            <a:endParaRPr dirty="0"/>
          </a:p>
          <a:p>
            <a:r>
              <a:rPr dirty="0"/>
              <a:t>• </a:t>
            </a:r>
            <a:r>
              <a:rPr dirty="0" err="1"/>
              <a:t>记录本：session</a:t>
            </a:r>
            <a:r>
              <a:rPr dirty="0"/>
              <a:t> </a:t>
            </a:r>
            <a:r>
              <a:rPr dirty="0" err="1"/>
              <a:t>history、approval、trace，记录发生过什么</a:t>
            </a:r>
            <a:endParaRPr dirty="0"/>
          </a:p>
          <a:p>
            <a:endParaRPr dirty="0"/>
          </a:p>
          <a:p>
            <a:r>
              <a:rPr dirty="0"/>
              <a:t>sandbox 主要管住“</a:t>
            </a:r>
            <a:r>
              <a:rPr dirty="0" err="1"/>
              <a:t>双手</a:t>
            </a:r>
            <a:r>
              <a:rPr dirty="0"/>
              <a:t>”；runtime </a:t>
            </a:r>
            <a:r>
              <a:rPr dirty="0" err="1"/>
              <a:t>继续管住“大脑和记录本</a:t>
            </a:r>
            <a:r>
              <a:rPr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1CA9E-010D-38CA-358B-02A138F5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t>workspace、approval、sandbox 解决不同问题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78145-D92D-9AD4-83DD-806DF4BADD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BB18BA8-60F4-C50D-CD9B-1BB87D3E8506}" type="slidenum">
              <a:rPr/>
              <a:t>19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0C5BFA70-A3DB-FCE8-7B07-3982B1E2B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5589240"/>
          </a:xfrm>
        </p:spPr>
        <p:txBody>
          <a:bodyPr>
            <a:normAutofit/>
          </a:bodyPr>
          <a:lstStyle/>
          <a:p>
            <a:r>
              <a:t>三个边界一起工作：能改哪里？这次要不要改？动作在哪里执行？</a:t>
            </a:r>
          </a:p>
        </p:txBody>
      </p:sp>
      <p:graphicFrame>
        <p:nvGraphicFramePr>
          <p:cNvPr id="15" name="表格 3"/>
          <p:cNvGraphicFramePr/>
          <p:nvPr>
            <p:extLst>
              <p:ext uri="{D42A27DB-BD31-4B8C-83A1-F6EECF244321}">
                <p14:modId xmlns:p14="http://schemas.microsoft.com/office/powerpoint/2010/main" val="2775250913"/>
              </p:ext>
            </p:extLst>
          </p:nvPr>
        </p:nvGraphicFramePr>
        <p:xfrm>
          <a:off x="1199456" y="2925579"/>
          <a:ext cx="9562602" cy="1828800"/>
        </p:xfrm>
        <a:graphic>
          <a:graphicData uri="http://schemas.openxmlformats.org/drawingml/2006/table">
            <a:tbl>
              <a:tblPr/>
              <a:tblGrid>
                <a:gridCol w="3187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7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7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1800" b="1"/>
                        <a:t>边界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>
                        <a:alpha val="444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/>
                        <a:t>回答的问题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>
                        <a:alpha val="444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/>
                        <a:t>例子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>
                        <a:alpha val="4444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workspace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能改哪里？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只操作 workspace 内相对路径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approval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这次要不要改？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create_file 前先 pending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sandbox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动作在哪里执行？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命令在隔离环境内运行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 err="1"/>
                        <a:t>发生后怎么查</a:t>
                      </a:r>
                      <a:r>
                        <a:rPr sz="1800" dirty="0"/>
                        <a:t>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 err="1"/>
                        <a:t>记录参数、结果、拒绝原因</a:t>
                      </a:r>
                      <a:endParaRPr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153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t>为什么可写工具尤其需要 sandbox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4E99CEF-AF55-BA3C-ADF8-4E52E186DD8F}" type="slidenum">
              <a:rPr/>
              <a:t>20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t>• update 可能覆盖、删除或写入不该修改的文件</a:t>
            </a:r>
          </a:p>
          <a:p>
            <a:r>
              <a:t>• shell 可能读取更多文件、启动进程、安装依赖或访问网络</a:t>
            </a:r>
          </a:p>
          <a:p>
            <a:r>
              <a:t>• 模型可能误判，也可能遇到 prompt injection</a:t>
            </a:r>
          </a:p>
          <a:p>
            <a:r>
              <a:t>• sandbox 的价值：把错误或恶意动作的影响限制在受控环境里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dirty="0"/>
              <a:t>sandbox </a:t>
            </a:r>
            <a:r>
              <a:rPr lang="zh-CN" altLang="en-US" dirty="0"/>
              <a:t>主要的任务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A59AF09-D197-0193-A7DE-FAAF0B691058}" type="slidenum">
              <a:rPr/>
              <a:t>21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dirty="0"/>
              <a:t>• </a:t>
            </a:r>
            <a:r>
              <a:rPr dirty="0" err="1"/>
              <a:t>文件系统：只给</a:t>
            </a:r>
            <a:r>
              <a:rPr dirty="0"/>
              <a:t> allowlist </a:t>
            </a:r>
            <a:r>
              <a:rPr dirty="0" err="1"/>
              <a:t>的目录和文件</a:t>
            </a:r>
            <a:endParaRPr dirty="0"/>
          </a:p>
          <a:p>
            <a:r>
              <a:rPr dirty="0"/>
              <a:t>• </a:t>
            </a:r>
            <a:r>
              <a:rPr dirty="0" err="1"/>
              <a:t>网络：限制可以访问的域名、端口和出口</a:t>
            </a:r>
            <a:endParaRPr dirty="0"/>
          </a:p>
          <a:p>
            <a:r>
              <a:rPr dirty="0"/>
              <a:t>• </a:t>
            </a:r>
            <a:r>
              <a:rPr dirty="0" err="1"/>
              <a:t>进程：timeout、资源限制，必要时禁止危险命令</a:t>
            </a:r>
            <a:endParaRPr dirty="0"/>
          </a:p>
          <a:p>
            <a:r>
              <a:rPr dirty="0"/>
              <a:t>• </a:t>
            </a:r>
            <a:r>
              <a:rPr dirty="0" err="1"/>
              <a:t>审计：记录每次</a:t>
            </a:r>
            <a:r>
              <a:rPr dirty="0"/>
              <a:t> tool </a:t>
            </a:r>
            <a:r>
              <a:rPr dirty="0" err="1"/>
              <a:t>call、审批、结果和被拒绝的动作</a:t>
            </a:r>
            <a:endParaRPr dirty="0"/>
          </a:p>
          <a:p>
            <a:endParaRPr dirty="0"/>
          </a:p>
          <a:p>
            <a:r>
              <a:rPr dirty="0" err="1"/>
              <a:t>隔离、边界和追踪要一起设计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dirty="0" err="1"/>
              <a:t>权限</a:t>
            </a:r>
            <a:r>
              <a:rPr lang="zh-CN" altLang="en-US" dirty="0"/>
              <a:t>和</a:t>
            </a:r>
            <a:r>
              <a:rPr dirty="0"/>
              <a:t>sandbox</a:t>
            </a:r>
            <a:r>
              <a:rPr lang="zh-CN" altLang="en-US" dirty="0"/>
              <a:t>之间的关系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AE1AE4-D79E-94D6-E825-3FC6C21A77D2}" type="slidenum">
              <a:rPr/>
              <a:t>22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t>• approval / permission：决定这一次请求是否放行</a:t>
            </a:r>
          </a:p>
          <a:p>
            <a:r>
              <a:t>• sandbox：即使动作被放行，也限制它能够触碰的范围</a:t>
            </a:r>
          </a:p>
          <a:p>
            <a:r>
              <a:t>• 只有 permission：模型一旦判断错，可能已经触碰真实系统</a:t>
            </a:r>
          </a:p>
          <a:p>
            <a:r>
              <a:t>• 只有 sandbox：模型仍可在盒子里随意破坏，体验和数据也会受影响</a:t>
            </a:r>
          </a:p>
          <a:p>
            <a:endParaRPr/>
          </a:p>
          <a:p>
            <a:r>
              <a:t>最小组合：least privilege + sandbox + approval + audit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t>一次执行：模型提出动作，sandbox 负责执行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AB55966-FA28-BC73-EA9E-53DF014DF033}" type="slidenum">
              <a:rPr/>
              <a:t>23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t>模型请求 run_shell("...")</a:t>
            </a:r>
          </a:p>
          <a:p>
            <a:r>
              <a:t>↓</a:t>
            </a:r>
          </a:p>
          <a:p>
            <a:r>
              <a:t>runtime 检查 tool 参数和 approval</a:t>
            </a:r>
          </a:p>
          <a:p>
            <a:r>
              <a:t>↓</a:t>
            </a:r>
          </a:p>
          <a:p>
            <a:r>
              <a:t>sandbox 检查 cwd、文件、网络和 timeout</a:t>
            </a:r>
          </a:p>
          <a:p>
            <a:r>
              <a:t>↓</a:t>
            </a:r>
          </a:p>
          <a:p>
            <a:r>
              <a:t>在 sandbox 内执行，结果写回 session</a:t>
            </a:r>
          </a:p>
          <a:p>
            <a:r>
              <a:t>↓</a:t>
            </a:r>
          </a:p>
          <a:p>
            <a:r>
              <a:t>只把经过检查的 artifact 提供给用户下载或继续使用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lang="zh-CN" altLang="en-US" dirty="0"/>
              <a:t>回到</a:t>
            </a:r>
            <a:r>
              <a:rPr dirty="0" err="1"/>
              <a:t>SJTUClaw：高级工具的完整位置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F15020-66A7-620A-7B7A-C05C4312DEAE}" type="slidenum">
              <a:rPr/>
              <a:t>24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dirty="0"/>
              <a:t>• </a:t>
            </a:r>
            <a:r>
              <a:rPr dirty="0" err="1"/>
              <a:t>workspace：项目文件的逻辑边界</a:t>
            </a:r>
            <a:endParaRPr dirty="0"/>
          </a:p>
          <a:p>
            <a:r>
              <a:rPr dirty="0"/>
              <a:t>• </a:t>
            </a:r>
            <a:r>
              <a:rPr dirty="0" err="1"/>
              <a:t>approval：写文件、运行命令的用户授权</a:t>
            </a:r>
            <a:endParaRPr dirty="0"/>
          </a:p>
          <a:p>
            <a:r>
              <a:rPr dirty="0"/>
              <a:t>• </a:t>
            </a:r>
            <a:r>
              <a:rPr dirty="0" err="1"/>
              <a:t>sandbox：shell、update</a:t>
            </a:r>
            <a:r>
              <a:rPr dirty="0"/>
              <a:t> </a:t>
            </a:r>
            <a:r>
              <a:rPr dirty="0" err="1"/>
              <a:t>等动作的执行隔离</a:t>
            </a:r>
            <a:endParaRPr dirty="0"/>
          </a:p>
          <a:p>
            <a:r>
              <a:rPr dirty="0"/>
              <a:t>• session </a:t>
            </a:r>
            <a:r>
              <a:rPr dirty="0" err="1"/>
              <a:t>history：保存请求、决定和结果</a:t>
            </a:r>
            <a:endParaRPr dirty="0"/>
          </a:p>
          <a:p>
            <a:endParaRPr lang="en-US" dirty="0"/>
          </a:p>
          <a:p>
            <a:r>
              <a:rPr lang="zh-CN" altLang="en-US" dirty="0"/>
              <a:t>注意：</a:t>
            </a:r>
            <a:r>
              <a:rPr lang="en-US" altLang="zh-CN" dirty="0"/>
              <a:t>sandbox </a:t>
            </a:r>
            <a:r>
              <a:rPr lang="zh-CN" altLang="en-US" dirty="0"/>
              <a:t>并不是</a:t>
            </a:r>
            <a:r>
              <a:rPr lang="en-US" altLang="zh-CN" dirty="0"/>
              <a:t> </a:t>
            </a:r>
            <a:r>
              <a:rPr lang="en-US" altLang="zh-CN" dirty="0" err="1"/>
              <a:t>SJTUClaw</a:t>
            </a:r>
            <a:r>
              <a:rPr lang="en-US" altLang="zh-CN" dirty="0"/>
              <a:t> </a:t>
            </a:r>
            <a:r>
              <a:rPr lang="zh-CN" altLang="en-US" dirty="0"/>
              <a:t>中要求的必备能力，但是大家仍然可以在有余力的情况下，考虑引入沙箱的能力</a:t>
            </a:r>
            <a:endParaRPr lang="en-US" altLang="zh-CN" dirty="0"/>
          </a:p>
          <a:p>
            <a:r>
              <a:rPr lang="zh-CN" altLang="en-US" dirty="0"/>
              <a:t>不需要重头实现</a:t>
            </a:r>
            <a:r>
              <a:rPr lang="en-US" altLang="zh-CN" dirty="0"/>
              <a:t> sandbox</a:t>
            </a:r>
            <a:r>
              <a:rPr lang="zh-CN" altLang="en-US" dirty="0"/>
              <a:t>，但是可以使用开源的沙箱系统，如</a:t>
            </a:r>
            <a:r>
              <a:rPr lang="en-US" altLang="zh-CN" dirty="0"/>
              <a:t> docker</a:t>
            </a:r>
            <a:r>
              <a:rPr lang="zh-CN" altLang="en-US" dirty="0"/>
              <a:t>（</a:t>
            </a:r>
            <a:r>
              <a:rPr lang="en-US" altLang="zh-CN" dirty="0" err="1"/>
              <a:t>runc</a:t>
            </a:r>
            <a:r>
              <a:rPr lang="zh-CN" altLang="en-US" dirty="0"/>
              <a:t>）、</a:t>
            </a:r>
            <a:r>
              <a:rPr lang="en-US" altLang="zh-CN" dirty="0" err="1"/>
              <a:t>gVisor</a:t>
            </a:r>
            <a:r>
              <a:rPr lang="zh-CN" altLang="en-US" dirty="0"/>
              <a:t>、</a:t>
            </a:r>
            <a:r>
              <a:rPr lang="en-US" altLang="zh-CN" dirty="0"/>
              <a:t>Firecracker</a:t>
            </a:r>
            <a:r>
              <a:rPr lang="zh-CN" altLang="en-US" dirty="0"/>
              <a:t>（</a:t>
            </a:r>
            <a:r>
              <a:rPr lang="en-US" altLang="zh-CN" dirty="0" err="1"/>
              <a:t>microVM</a:t>
            </a:r>
            <a:r>
              <a:rPr lang="zh-CN" altLang="en-US" dirty="0"/>
              <a:t>）等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D84DC-DF54-3116-18A0-69476122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35149F-E428-267C-BB14-CBC1E73AF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扩展</a:t>
            </a:r>
            <a:r>
              <a:rPr dirty="0" err="1"/>
              <a:t>篇：Agent</a:t>
            </a:r>
            <a:r>
              <a:rPr dirty="0"/>
              <a:t> Sandbox</a:t>
            </a:r>
            <a:r>
              <a:rPr lang="en-US" altLang="zh-CN" dirty="0"/>
              <a:t> </a:t>
            </a:r>
            <a:r>
              <a:rPr lang="zh-CN" altLang="en-US" dirty="0"/>
              <a:t>当前的行业现状（大家自行了解）</a:t>
            </a:r>
            <a:endParaRPr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3144C6-7A07-B0A6-373C-49B8238C5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9EFCCF-F68A-45F7-5689-70D0ADCE04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CF91274-D221-1BB4-3BF9-836E3AD31EBE}" type="slidenum">
              <a:rPr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18039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C1CFD-1DD8-8835-D838-1A0E7C994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2003B-1EBF-466F-96C7-D06635AC9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智能体面临</a:t>
            </a:r>
            <a:r>
              <a:rPr lang="zh-CN" altLang="en-US" u="sng" dirty="0"/>
              <a:t>安全隔离</a:t>
            </a:r>
            <a:r>
              <a:rPr lang="zh-CN" altLang="en-US" dirty="0"/>
              <a:t>与</a:t>
            </a:r>
            <a:r>
              <a:rPr lang="zh-CN" altLang="en-US" u="sng" dirty="0"/>
              <a:t>可控执行</a:t>
            </a:r>
            <a:r>
              <a:rPr lang="zh-CN" altLang="en-US" dirty="0"/>
              <a:t>的双重要求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AF4CA-2B71-3DAD-9024-9969AB63A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0" y="1268760"/>
            <a:ext cx="10035926" cy="5087592"/>
          </a:xfrm>
        </p:spPr>
        <p:txBody>
          <a:bodyPr>
            <a:normAutofit/>
          </a:bodyPr>
          <a:lstStyle/>
          <a:p>
            <a:r>
              <a:rPr lang="zh-CN" altLang="en-US" sz="1680" dirty="0"/>
              <a:t>最小权限原则：只授予 </a:t>
            </a:r>
            <a:r>
              <a:rPr lang="en-US" altLang="zh-CN" sz="1680" dirty="0"/>
              <a:t>agent </a:t>
            </a:r>
            <a:r>
              <a:rPr lang="zh-CN" altLang="en-US" sz="1680" dirty="0"/>
              <a:t>完成当前任务所需的最小资源访问权限。</a:t>
            </a:r>
            <a:endParaRPr lang="en-US" altLang="zh-CN" sz="1680" dirty="0"/>
          </a:p>
          <a:p>
            <a:r>
              <a:rPr lang="zh-CN" altLang="en-US" sz="1680" dirty="0"/>
              <a:t>攻击面收敛：屏蔽潜在危险的系统调用、限制网络访问、避免提权</a:t>
            </a:r>
            <a:endParaRPr lang="en-US" altLang="zh-CN" sz="1680" dirty="0"/>
          </a:p>
          <a:p>
            <a:r>
              <a:rPr lang="zh-CN" altLang="en-US" sz="1680" dirty="0"/>
              <a:t>技术实现</a:t>
            </a:r>
            <a:endParaRPr lang="en-US" altLang="zh-CN" sz="1680" dirty="0"/>
          </a:p>
          <a:p>
            <a:pPr lvl="1"/>
            <a:r>
              <a:rPr lang="zh-CN" altLang="en-US" sz="1680" b="1" dirty="0"/>
              <a:t>容器（</a:t>
            </a:r>
            <a:r>
              <a:rPr lang="en-US" altLang="zh-CN" sz="1680" b="1" dirty="0"/>
              <a:t>Docker, Kubernetes</a:t>
            </a:r>
            <a:r>
              <a:rPr lang="zh-CN" altLang="en-US" sz="1680" b="1" dirty="0"/>
              <a:t>）：</a:t>
            </a:r>
            <a:r>
              <a:rPr lang="zh-CN" altLang="en-US" sz="1680" dirty="0"/>
              <a:t>轻量隔离，适合快速启动和大规模并发</a:t>
            </a:r>
            <a:endParaRPr lang="en-US" altLang="zh-CN" sz="1680" dirty="0"/>
          </a:p>
          <a:p>
            <a:pPr lvl="1"/>
            <a:r>
              <a:rPr lang="zh-CN" altLang="en-US" sz="1680" b="1" dirty="0"/>
              <a:t>微虚拟机（</a:t>
            </a:r>
            <a:r>
              <a:rPr lang="en-US" altLang="zh-CN" sz="1680" b="1" dirty="0"/>
              <a:t>Firecracker, Kata</a:t>
            </a:r>
            <a:r>
              <a:rPr lang="zh-CN" altLang="en-US" sz="1680" b="1" dirty="0"/>
              <a:t>）：</a:t>
            </a:r>
            <a:r>
              <a:rPr lang="zh-CN" altLang="en-US" sz="1680" dirty="0"/>
              <a:t>更强隔离，适合运行不受信任的 </a:t>
            </a:r>
            <a:r>
              <a:rPr lang="en-US" altLang="zh-CN" sz="1680" dirty="0"/>
              <a:t>agent </a:t>
            </a:r>
            <a:r>
              <a:rPr lang="zh-CN" altLang="en-US" sz="1680" dirty="0"/>
              <a:t>代码</a:t>
            </a:r>
            <a:endParaRPr lang="en-US" altLang="zh-CN" sz="1680" dirty="0"/>
          </a:p>
          <a:p>
            <a:pPr lvl="1"/>
            <a:r>
              <a:rPr lang="en-US" altLang="zh-CN" sz="1680" b="1" dirty="0" err="1"/>
              <a:t>WebAssembly</a:t>
            </a:r>
            <a:r>
              <a:rPr lang="en-US" altLang="zh-CN" sz="1680" b="1" dirty="0"/>
              <a:t> </a:t>
            </a:r>
            <a:r>
              <a:rPr lang="zh-CN" altLang="en-US" sz="1680" b="1" dirty="0"/>
              <a:t>沙箱：</a:t>
            </a:r>
            <a:r>
              <a:rPr lang="zh-CN" altLang="en-US" sz="1680" dirty="0"/>
              <a:t>指令级别安全、内存安全，性能接近原生，适合运行动态生成的代码片段</a:t>
            </a:r>
            <a:endParaRPr lang="en-US" altLang="zh-CN" sz="168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6DAD0-DEF2-A81A-DDDC-5153D3EF6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673A34-C8F5-6114-42F4-36C43DE87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542" y="3774639"/>
            <a:ext cx="4819560" cy="291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739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B78B3-B68B-7417-A797-96ED91FE3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9119B-ED2E-4BC9-3FC7-46B375804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智能体面临</a:t>
            </a:r>
            <a:r>
              <a:rPr lang="zh-CN" altLang="en-US" u="sng" dirty="0"/>
              <a:t>安全隔离</a:t>
            </a:r>
            <a:r>
              <a:rPr lang="zh-CN" altLang="en-US" dirty="0"/>
              <a:t>与</a:t>
            </a:r>
            <a:r>
              <a:rPr lang="zh-CN" altLang="en-US" u="sng" dirty="0"/>
              <a:t>可控执行</a:t>
            </a:r>
            <a:r>
              <a:rPr lang="zh-CN" altLang="en-US" dirty="0"/>
              <a:t>的双重要求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28AC-A982-2D70-ED88-1E69280E9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0" y="1268760"/>
            <a:ext cx="9875520" cy="5087592"/>
          </a:xfrm>
        </p:spPr>
        <p:txBody>
          <a:bodyPr>
            <a:normAutofit/>
          </a:bodyPr>
          <a:lstStyle/>
          <a:p>
            <a:r>
              <a:rPr lang="zh-CN" altLang="en-US" sz="2160" dirty="0"/>
              <a:t>可控执行：约束</a:t>
            </a:r>
            <a:r>
              <a:rPr lang="en-US" altLang="zh-CN" sz="2160" dirty="0"/>
              <a:t>Agent</a:t>
            </a:r>
            <a:r>
              <a:rPr lang="zh-CN" altLang="en-US" sz="2160" dirty="0"/>
              <a:t>行为</a:t>
            </a:r>
            <a:endParaRPr lang="en-US" altLang="zh-CN" sz="2160" dirty="0"/>
          </a:p>
          <a:p>
            <a:pPr lvl="1"/>
            <a:r>
              <a:rPr lang="zh-CN" altLang="en-US" sz="1920" b="1" dirty="0"/>
              <a:t>可观测性：</a:t>
            </a:r>
            <a:r>
              <a:rPr lang="zh-CN" altLang="en-US" sz="1920" dirty="0"/>
              <a:t>捕捉系统调用、文件访问、网络请求，记录审计日志</a:t>
            </a:r>
            <a:endParaRPr lang="en-US" altLang="zh-CN" sz="1920" dirty="0"/>
          </a:p>
          <a:p>
            <a:pPr lvl="1"/>
            <a:r>
              <a:rPr lang="zh-CN" altLang="en-US" sz="1920" b="1" dirty="0"/>
              <a:t>可调试性：能重放 </a:t>
            </a:r>
            <a:r>
              <a:rPr lang="en-US" altLang="zh-CN" sz="1920" b="1" dirty="0"/>
              <a:t>agent </a:t>
            </a:r>
            <a:r>
              <a:rPr lang="zh-CN" altLang="en-US" sz="1920" b="1" dirty="0"/>
              <a:t>执行过程、断点调试、回溯错误</a:t>
            </a:r>
            <a:endParaRPr lang="en-US" altLang="zh-CN" sz="1920" b="1" dirty="0"/>
          </a:p>
          <a:p>
            <a:pPr lvl="1"/>
            <a:r>
              <a:rPr lang="zh-CN" altLang="en-US" sz="1920" b="1" dirty="0"/>
              <a:t>动态干预：</a:t>
            </a:r>
            <a:r>
              <a:rPr lang="zh-CN" altLang="en-US" sz="1920" dirty="0"/>
              <a:t>运行中可暂停、注入输入、修改上下文或直接终止</a:t>
            </a:r>
            <a:endParaRPr lang="en-US" altLang="zh-CN" sz="1920" dirty="0"/>
          </a:p>
          <a:p>
            <a:pPr lvl="1"/>
            <a:r>
              <a:rPr lang="zh-CN" altLang="en-US" sz="1920" b="1" dirty="0"/>
              <a:t>策略执行</a:t>
            </a:r>
            <a:r>
              <a:rPr lang="zh-CN" altLang="en-US" sz="1920" dirty="0"/>
              <a:t>：定义行为白名单</a:t>
            </a:r>
            <a:r>
              <a:rPr lang="en-US" altLang="zh-CN" sz="1920" dirty="0"/>
              <a:t>/</a:t>
            </a:r>
            <a:r>
              <a:rPr lang="zh-CN" altLang="en-US" sz="1920" dirty="0"/>
              <a:t>黑名单、速率限制、超时终止</a:t>
            </a:r>
            <a:endParaRPr lang="en-US" altLang="zh-CN" sz="1920" dirty="0"/>
          </a:p>
          <a:p>
            <a:r>
              <a:rPr lang="zh-CN" altLang="en-US" sz="2160" dirty="0"/>
              <a:t>技术实现</a:t>
            </a:r>
            <a:endParaRPr lang="en-US" altLang="zh-CN" sz="2160" dirty="0"/>
          </a:p>
          <a:p>
            <a:pPr lvl="1"/>
            <a:r>
              <a:rPr lang="zh-CN" altLang="en-US" sz="1920" b="1" dirty="0"/>
              <a:t>系统调用拦截：</a:t>
            </a:r>
            <a:r>
              <a:rPr lang="en-US" altLang="zh-CN" sz="1920" dirty="0"/>
              <a:t>seccomp</a:t>
            </a:r>
            <a:r>
              <a:rPr lang="zh-CN" altLang="en-US" sz="1920" dirty="0"/>
              <a:t>、</a:t>
            </a:r>
            <a:r>
              <a:rPr lang="en-US" altLang="zh-CN" sz="1920" dirty="0" err="1"/>
              <a:t>eBPF</a:t>
            </a:r>
            <a:r>
              <a:rPr lang="en-US" altLang="zh-CN" sz="1920" dirty="0"/>
              <a:t> </a:t>
            </a:r>
            <a:r>
              <a:rPr lang="zh-CN" altLang="en-US" sz="1920" dirty="0"/>
              <a:t>等捕捉</a:t>
            </a:r>
            <a:r>
              <a:rPr lang="en-US" altLang="zh-CN" sz="1920" dirty="0"/>
              <a:t>/</a:t>
            </a:r>
            <a:r>
              <a:rPr lang="zh-CN" altLang="en-US" sz="1920" dirty="0"/>
              <a:t>过滤 </a:t>
            </a:r>
            <a:r>
              <a:rPr lang="en-US" altLang="zh-CN" sz="1920" dirty="0"/>
              <a:t>agent </a:t>
            </a:r>
            <a:r>
              <a:rPr lang="zh-CN" altLang="en-US" sz="1920" dirty="0"/>
              <a:t>系统调用</a:t>
            </a:r>
            <a:endParaRPr lang="en-US" altLang="zh-CN" sz="1920" dirty="0"/>
          </a:p>
          <a:p>
            <a:pPr lvl="1"/>
            <a:r>
              <a:rPr lang="zh-CN" altLang="en-US" sz="1920" b="1" dirty="0"/>
              <a:t>执行跟踪</a:t>
            </a:r>
            <a:r>
              <a:rPr lang="zh-CN" altLang="en-US" sz="1920" dirty="0"/>
              <a:t>：</a:t>
            </a:r>
            <a:r>
              <a:rPr lang="en-US" altLang="zh-CN" sz="1920" dirty="0" err="1"/>
              <a:t>strace</a:t>
            </a:r>
            <a:r>
              <a:rPr lang="zh-CN" altLang="en-US" sz="1920" dirty="0"/>
              <a:t>、动态插桩、沙箱内日志收集</a:t>
            </a:r>
            <a:endParaRPr lang="en-US" altLang="zh-CN" sz="1920" dirty="0"/>
          </a:p>
          <a:p>
            <a:pPr lvl="1"/>
            <a:r>
              <a:rPr lang="zh-CN" altLang="en-US" sz="1920" b="1" dirty="0"/>
              <a:t>行为策略引擎：</a:t>
            </a:r>
            <a:r>
              <a:rPr lang="zh-CN" altLang="en-US" sz="1920" dirty="0"/>
              <a:t>结合规则或大模型做实时策略决策（如阻止越权访问，动态授予联网权限）</a:t>
            </a:r>
            <a:endParaRPr lang="en-US" altLang="zh-CN" sz="192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FB814-47EA-BD36-E0BE-E482F30DE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318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99319-1A3B-FE7F-308A-F00887263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7C8E-1C21-7E7C-9CD8-7C2FE8EDC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40" dirty="0"/>
              <a:t>智能体沙箱如何构建安全、强大且协作的智能体生态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29B61-5678-C9D2-2F4E-9B8E30FAE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0" y="1268760"/>
            <a:ext cx="9875520" cy="5314601"/>
          </a:xfrm>
        </p:spPr>
        <p:txBody>
          <a:bodyPr>
            <a:normAutofit/>
          </a:bodyPr>
          <a:lstStyle/>
          <a:p>
            <a:r>
              <a:rPr lang="en-US" altLang="zh-CN" sz="1920" dirty="0"/>
              <a:t>#1 </a:t>
            </a:r>
            <a:r>
              <a:rPr lang="zh-CN" altLang="en-US" sz="1920" dirty="0"/>
              <a:t>从暗藏风险到</a:t>
            </a:r>
            <a:r>
              <a:rPr lang="zh-CN" altLang="en-US" sz="1920" u="sng" dirty="0"/>
              <a:t>安全执行</a:t>
            </a:r>
            <a:endParaRPr lang="en-US" sz="1920" u="sng" dirty="0"/>
          </a:p>
          <a:p>
            <a:pPr lvl="1"/>
            <a:r>
              <a:rPr lang="zh-CN" altLang="en-US" sz="1680" dirty="0"/>
              <a:t>大模型与环境交互容易受到注入攻击和幻觉影响，需要隔离环境</a:t>
            </a:r>
            <a:endParaRPr lang="en-US" altLang="zh-CN" sz="1680" dirty="0"/>
          </a:p>
          <a:p>
            <a:pPr lvl="1"/>
            <a:r>
              <a:rPr lang="zh-CN" altLang="en-US" sz="1680" b="1" dirty="0"/>
              <a:t>沙箱带来的价值</a:t>
            </a:r>
            <a:r>
              <a:rPr lang="en-US" altLang="zh-CN" sz="1680" b="1" dirty="0"/>
              <a:t>:</a:t>
            </a:r>
            <a:r>
              <a:rPr lang="zh-CN" altLang="en-US" sz="1680" dirty="0"/>
              <a:t> 从</a:t>
            </a:r>
            <a:r>
              <a:rPr lang="zh-CN" altLang="en-US" sz="1680" b="1" dirty="0"/>
              <a:t>“执行前检查”</a:t>
            </a:r>
            <a:r>
              <a:rPr lang="zh-CN" altLang="en-US" sz="1680" dirty="0"/>
              <a:t>升级为</a:t>
            </a:r>
            <a:r>
              <a:rPr lang="zh-CN" altLang="en-US" sz="1680" b="1" dirty="0"/>
              <a:t>“执行中控制”与“执行后审计”</a:t>
            </a:r>
            <a:endParaRPr lang="zh-CN" altLang="en-US" sz="1680" dirty="0"/>
          </a:p>
          <a:p>
            <a:pPr lvl="1"/>
            <a:r>
              <a:rPr lang="en-US" altLang="zh-CN" sz="1680" dirty="0"/>
              <a:t>E.g., </a:t>
            </a:r>
            <a:r>
              <a:rPr lang="zh-CN" altLang="en-US" sz="1680" dirty="0"/>
              <a:t>某个 </a:t>
            </a:r>
            <a:r>
              <a:rPr lang="en-US" altLang="zh-CN" sz="1680" dirty="0"/>
              <a:t>Agent </a:t>
            </a:r>
            <a:r>
              <a:rPr lang="zh-CN" altLang="en-US" sz="1680" dirty="0"/>
              <a:t>被恶意诱导或出现异常行为，其影响被严格限制在自己的沙箱内，无法危及宿主机或其他 </a:t>
            </a:r>
            <a:r>
              <a:rPr lang="en-US" altLang="zh-CN" sz="1680" dirty="0"/>
              <a:t>Agent</a:t>
            </a:r>
            <a:r>
              <a:rPr lang="zh-CN" altLang="en-US" sz="1680" dirty="0"/>
              <a:t>，从根本上防止了代码逃逸和数据泄露 </a:t>
            </a:r>
          </a:p>
          <a:p>
            <a:r>
              <a:rPr lang="en-US" altLang="zh-CN" sz="1920" dirty="0"/>
              <a:t>#2</a:t>
            </a:r>
            <a:r>
              <a:rPr lang="zh-CN" altLang="en-US" sz="1920" dirty="0"/>
              <a:t> 从窗口对话到</a:t>
            </a:r>
            <a:r>
              <a:rPr lang="zh-CN" altLang="en-US" sz="1920" u="sng" dirty="0"/>
              <a:t>工具集成</a:t>
            </a:r>
            <a:endParaRPr lang="en-US" sz="1920" u="sng" dirty="0"/>
          </a:p>
          <a:p>
            <a:pPr lvl="1"/>
            <a:r>
              <a:rPr lang="zh-CN" altLang="en-US" sz="1680" dirty="0"/>
              <a:t>沙箱是 </a:t>
            </a:r>
            <a:r>
              <a:rPr lang="en-US" altLang="zh-CN" sz="1680" dirty="0"/>
              <a:t>Agent </a:t>
            </a:r>
            <a:r>
              <a:rPr lang="zh-CN" altLang="en-US" sz="1680" dirty="0"/>
              <a:t>调用工具、执行代码、操作外部资源的​​统一执行平台​​</a:t>
            </a:r>
            <a:endParaRPr lang="en-US" altLang="zh-CN" sz="1680" dirty="0"/>
          </a:p>
          <a:p>
            <a:pPr lvl="1"/>
            <a:r>
              <a:rPr lang="zh-CN" altLang="en-US" sz="1680" b="1" dirty="0"/>
              <a:t>沙箱带来的价值</a:t>
            </a:r>
            <a:r>
              <a:rPr lang="en-US" altLang="zh-CN" sz="1680" b="1" dirty="0"/>
              <a:t>:</a:t>
            </a:r>
            <a:r>
              <a:rPr lang="zh-CN" altLang="en-US" sz="1680" dirty="0"/>
              <a:t> 交互模式从</a:t>
            </a:r>
            <a:r>
              <a:rPr lang="zh-CN" altLang="en-US" sz="1680" b="1" dirty="0"/>
              <a:t>“一问一答”</a:t>
            </a:r>
            <a:r>
              <a:rPr lang="zh-CN" altLang="en-US" sz="1680" dirty="0"/>
              <a:t>进化为</a:t>
            </a:r>
            <a:r>
              <a:rPr lang="zh-CN" altLang="en-US" sz="1680" b="1" dirty="0"/>
              <a:t>“全面执行”</a:t>
            </a:r>
            <a:endParaRPr lang="zh-CN" altLang="en-US" sz="1680" dirty="0"/>
          </a:p>
          <a:p>
            <a:pPr lvl="1"/>
            <a:r>
              <a:rPr lang="en-US" altLang="zh-CN" sz="1680" dirty="0"/>
              <a:t>E.g., </a:t>
            </a:r>
            <a:r>
              <a:rPr lang="zh-CN" altLang="en-US" sz="1680" dirty="0"/>
              <a:t>可以直接修改代码并测试执行，提高编程任务的正确率，进一步降低人的工作量</a:t>
            </a:r>
          </a:p>
          <a:p>
            <a:r>
              <a:rPr lang="en-US" altLang="zh-CN" sz="1920" dirty="0"/>
              <a:t>#3 </a:t>
            </a:r>
            <a:r>
              <a:rPr lang="zh-CN" altLang="en-US" sz="1920" dirty="0"/>
              <a:t>从单一模型到</a:t>
            </a:r>
            <a:r>
              <a:rPr lang="zh-CN" altLang="en-US" sz="1920" u="sng" dirty="0"/>
              <a:t>协同并发</a:t>
            </a:r>
            <a:endParaRPr lang="en-US" sz="1920" u="sng" dirty="0"/>
          </a:p>
          <a:p>
            <a:pPr lvl="1"/>
            <a:r>
              <a:rPr lang="zh-CN" altLang="en-US" sz="1680" dirty="0"/>
              <a:t>从单一的</a:t>
            </a:r>
            <a:r>
              <a:rPr lang="en-US" altLang="zh-CN" sz="1680" dirty="0"/>
              <a:t>Agent</a:t>
            </a:r>
            <a:r>
              <a:rPr lang="zh-CN" altLang="en-US" sz="1680" dirty="0"/>
              <a:t>到多模态多种能力的不同</a:t>
            </a:r>
            <a:r>
              <a:rPr lang="en-US" altLang="zh-CN" sz="1680" dirty="0"/>
              <a:t>Agent</a:t>
            </a:r>
            <a:r>
              <a:rPr lang="zh-CN" altLang="en-US" sz="1680" dirty="0"/>
              <a:t>经由沙箱进行隔离和</a:t>
            </a:r>
            <a:r>
              <a:rPr lang="en-US" altLang="zh-CN" sz="1680" dirty="0"/>
              <a:t>workflow</a:t>
            </a:r>
            <a:r>
              <a:rPr lang="zh-CN" altLang="en-US" sz="1680" dirty="0"/>
              <a:t>信息共享</a:t>
            </a:r>
            <a:endParaRPr lang="en-US" altLang="zh-CN" sz="1680" dirty="0"/>
          </a:p>
          <a:p>
            <a:pPr lvl="1"/>
            <a:r>
              <a:rPr lang="zh-CN" altLang="en-US" sz="1680" b="1" dirty="0"/>
              <a:t>沙箱带来的价值</a:t>
            </a:r>
            <a:r>
              <a:rPr lang="en-US" altLang="zh-CN" sz="1680" b="1" dirty="0"/>
              <a:t>:</a:t>
            </a:r>
            <a:r>
              <a:rPr lang="zh-CN" altLang="en-US" sz="1680" dirty="0"/>
              <a:t> 智能体从</a:t>
            </a:r>
            <a:r>
              <a:rPr lang="zh-CN" altLang="en-US" sz="1680" b="1" dirty="0"/>
              <a:t>“单打独斗”</a:t>
            </a:r>
            <a:r>
              <a:rPr lang="zh-CN" altLang="en-US" sz="1680" dirty="0"/>
              <a:t>执行完整</a:t>
            </a:r>
            <a:r>
              <a:rPr lang="en-US" altLang="zh-CN" sz="1680" dirty="0"/>
              <a:t>workflow</a:t>
            </a:r>
            <a:r>
              <a:rPr lang="zh-CN" altLang="en-US" sz="1680" dirty="0"/>
              <a:t>，转变为</a:t>
            </a:r>
            <a:r>
              <a:rPr lang="zh-CN" altLang="en-US" sz="1680" b="1" dirty="0"/>
              <a:t>“专精专用”</a:t>
            </a:r>
            <a:r>
              <a:rPr lang="zh-CN" altLang="en-US" sz="1680" dirty="0"/>
              <a:t>的流程节点</a:t>
            </a:r>
          </a:p>
          <a:p>
            <a:pPr lvl="1"/>
            <a:r>
              <a:rPr lang="en-US" altLang="zh-CN" sz="1680" dirty="0"/>
              <a:t>E.g., </a:t>
            </a:r>
            <a:r>
              <a:rPr lang="zh-CN" altLang="en-US" sz="1680" dirty="0"/>
              <a:t>具备</a:t>
            </a:r>
            <a:r>
              <a:rPr lang="en-US" altLang="zh-CN" sz="1680" dirty="0"/>
              <a:t>research</a:t>
            </a:r>
            <a:r>
              <a:rPr lang="zh-CN" altLang="en-US" sz="1680" dirty="0"/>
              <a:t>，图片生成，代码编写等不同能力的智能体在同一个宿主机上执行同一个</a:t>
            </a:r>
            <a:r>
              <a:rPr lang="en-US" altLang="zh-CN" sz="1680" dirty="0"/>
              <a:t>workflow</a:t>
            </a:r>
            <a:r>
              <a:rPr lang="zh-CN" altLang="en-US" sz="1680" dirty="0"/>
              <a:t>，并且彼此隔离和有限共享上下文信息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B1557-933B-1B0E-565A-1CF4508B8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2811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40A76-5987-E699-4267-B6770B29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CD1BF-7248-1836-3E80-FB00298A9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行业趋势与标杆情况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AD4EC-C3F4-D3EE-A75E-0F6CC6E7C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424" y="1268760"/>
            <a:ext cx="5184576" cy="5087592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160" dirty="0"/>
              <a:t>阿里云：</a:t>
            </a:r>
            <a:r>
              <a:rPr lang="en-US" altLang="zh-CN" sz="2160" dirty="0"/>
              <a:t>Agent</a:t>
            </a:r>
            <a:r>
              <a:rPr lang="zh-CN" altLang="en-US" sz="2160" dirty="0"/>
              <a:t>多场景沙箱</a:t>
            </a:r>
          </a:p>
          <a:p>
            <a:pPr lvl="1">
              <a:lnSpc>
                <a:spcPct val="130000"/>
              </a:lnSpc>
            </a:pPr>
            <a:r>
              <a:rPr lang="en-US" altLang="zh-CN" sz="1920" dirty="0" err="1"/>
              <a:t>AgentBay</a:t>
            </a:r>
            <a:r>
              <a:rPr lang="zh-CN" altLang="en-US" sz="1920" dirty="0"/>
              <a:t>云平台为</a:t>
            </a:r>
            <a:r>
              <a:rPr lang="en-US" altLang="zh-CN" sz="1920" dirty="0"/>
              <a:t>AI</a:t>
            </a:r>
            <a:r>
              <a:rPr lang="zh-CN" altLang="en-US" sz="1920" dirty="0"/>
              <a:t>智能体提供浏览器、桌面、代码空间、云手机等</a:t>
            </a:r>
            <a:r>
              <a:rPr lang="zh-CN" altLang="en-US" sz="1920" b="1" dirty="0"/>
              <a:t>多场景沙箱环境</a:t>
            </a:r>
            <a:endParaRPr lang="en-US" altLang="zh-CN" sz="1920" dirty="0"/>
          </a:p>
          <a:p>
            <a:pPr lvl="1">
              <a:lnSpc>
                <a:spcPct val="130000"/>
              </a:lnSpc>
            </a:pPr>
            <a:r>
              <a:rPr lang="zh-CN" altLang="en-US" sz="1920" dirty="0"/>
              <a:t>云端基于</a:t>
            </a:r>
            <a:r>
              <a:rPr lang="en-US" altLang="zh-CN" sz="1920" dirty="0" err="1"/>
              <a:t>MicroVM</a:t>
            </a:r>
            <a:r>
              <a:rPr lang="zh-CN" altLang="en-US" sz="1920" dirty="0"/>
              <a:t>，本地提供容器镜像部署，支持快速扩容和</a:t>
            </a:r>
            <a:r>
              <a:rPr lang="en-US" altLang="zh-CN" sz="1920" dirty="0"/>
              <a:t>SDK/MCP</a:t>
            </a:r>
            <a:r>
              <a:rPr lang="zh-CN" altLang="en-US" sz="1920" dirty="0"/>
              <a:t>接入</a:t>
            </a:r>
          </a:p>
          <a:p>
            <a:pPr>
              <a:lnSpc>
                <a:spcPct val="130000"/>
              </a:lnSpc>
            </a:pPr>
            <a:r>
              <a:rPr lang="en-US" sz="2160" dirty="0"/>
              <a:t>Anthropic </a:t>
            </a:r>
            <a:r>
              <a:rPr lang="zh-CN" altLang="en-US" sz="2160" dirty="0"/>
              <a:t>：</a:t>
            </a:r>
            <a:r>
              <a:rPr lang="en-US" sz="2160" dirty="0"/>
              <a:t> </a:t>
            </a:r>
            <a:r>
              <a:rPr lang="zh-CN" altLang="en-US" sz="2160" dirty="0"/>
              <a:t>强调隔离保护的重要性</a:t>
            </a:r>
            <a:endParaRPr lang="en-US" altLang="zh-CN" sz="2160" dirty="0"/>
          </a:p>
          <a:p>
            <a:pPr lvl="1">
              <a:lnSpc>
                <a:spcPct val="130000"/>
              </a:lnSpc>
            </a:pPr>
            <a:r>
              <a:rPr lang="zh-CN" altLang="en-US" sz="1920" dirty="0"/>
              <a:t>代理开发指南建议在沙箱环境中进行广泛测试，并配合相应的安全防护</a:t>
            </a:r>
          </a:p>
          <a:p>
            <a:pPr lvl="1"/>
            <a:r>
              <a:rPr lang="en-US" altLang="zh-CN" sz="1920" dirty="0"/>
              <a:t>Claude AI</a:t>
            </a:r>
            <a:r>
              <a:rPr lang="zh-CN" altLang="en-US" sz="1920" dirty="0"/>
              <a:t>发布含</a:t>
            </a:r>
            <a:r>
              <a:rPr lang="en-US" altLang="zh-CN" sz="1920" dirty="0"/>
              <a:t>VNC</a:t>
            </a:r>
            <a:r>
              <a:rPr lang="zh-CN" altLang="en-US" sz="1920" dirty="0"/>
              <a:t>远程</a:t>
            </a:r>
            <a:r>
              <a:rPr lang="en-US" altLang="zh-CN" sz="1920" dirty="0"/>
              <a:t>GUI</a:t>
            </a:r>
            <a:r>
              <a:rPr lang="zh-CN" altLang="en-US" sz="1920" dirty="0"/>
              <a:t>和工具链的</a:t>
            </a:r>
            <a:r>
              <a:rPr lang="en-US" altLang="zh-CN" sz="1920" dirty="0"/>
              <a:t>Docker</a:t>
            </a:r>
            <a:r>
              <a:rPr lang="zh-CN" altLang="en-US" sz="1920" dirty="0"/>
              <a:t>容器参考实现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45671-D147-9F2C-51F0-E31F2F592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15D5187-EC1B-5D41-FF1D-A8E91DBA8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409" y="3891206"/>
            <a:ext cx="4204482" cy="272231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2EDF427-AA83-908F-06B8-122C6A549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7011" y="244481"/>
            <a:ext cx="3148037" cy="33373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033336D-CCEC-EFA7-CC32-5E2C96D403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3687" y="1016861"/>
            <a:ext cx="3629203" cy="7369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5BADDDC3-1E24-BA2A-0AC1-BF5809AE215B}"/>
              </a:ext>
            </a:extLst>
          </p:cNvPr>
          <p:cNvSpPr/>
          <p:nvPr/>
        </p:nvSpPr>
        <p:spPr>
          <a:xfrm>
            <a:off x="7997012" y="663893"/>
            <a:ext cx="3287879" cy="35296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</p:spTree>
    <p:extLst>
      <p:ext uri="{BB962C8B-B14F-4D97-AF65-F5344CB8AC3E}">
        <p14:creationId xmlns:p14="http://schemas.microsoft.com/office/powerpoint/2010/main" val="30358701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B29AB-F336-27F8-A6B1-760726EED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332FE-AD12-542B-0571-B8ECB0FB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行业趋势与标杆情况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F9D34-914C-C99F-04C7-DC9638F6C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819" y="1355170"/>
            <a:ext cx="5409410" cy="5087592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en-US" sz="1800" dirty="0"/>
              <a:t>OpenAI </a:t>
            </a:r>
            <a:r>
              <a:rPr lang="zh-CN" altLang="en-US" sz="1800" dirty="0"/>
              <a:t>：代码自动执行的可追溯性与安全性</a:t>
            </a:r>
            <a:endParaRPr lang="en-US" altLang="zh-CN" sz="1800" dirty="0"/>
          </a:p>
          <a:p>
            <a:pPr lvl="1">
              <a:lnSpc>
                <a:spcPct val="130000"/>
              </a:lnSpc>
            </a:pPr>
            <a:r>
              <a:rPr lang="en-US" altLang="zh-CN" sz="1800" dirty="0"/>
              <a:t>Code Interpreter</a:t>
            </a:r>
            <a:r>
              <a:rPr lang="zh-CN" altLang="en-US" sz="1800" dirty="0"/>
              <a:t>在云端多层</a:t>
            </a:r>
            <a:r>
              <a:rPr lang="zh-CN" altLang="en-US" sz="1800" b="1" dirty="0"/>
              <a:t>隔离容器</a:t>
            </a:r>
            <a:r>
              <a:rPr lang="zh-CN" altLang="en-US" sz="1800" dirty="0"/>
              <a:t>中运行，禁用网络连接，每个任务独立沙箱启动</a:t>
            </a:r>
            <a:endParaRPr lang="en-US" altLang="zh-CN" sz="1800" dirty="0"/>
          </a:p>
          <a:p>
            <a:pPr lvl="1">
              <a:lnSpc>
                <a:spcPct val="130000"/>
              </a:lnSpc>
            </a:pPr>
            <a:r>
              <a:rPr lang="zh-CN" altLang="en-US" sz="1800" dirty="0"/>
              <a:t>使用</a:t>
            </a:r>
            <a:r>
              <a:rPr lang="en-US" altLang="zh-CN" sz="1800" b="1" dirty="0" err="1"/>
              <a:t>gVisor</a:t>
            </a:r>
            <a:r>
              <a:rPr lang="zh-CN" altLang="en-US" sz="1800" dirty="0"/>
              <a:t>来避免容器共享宿主机内核</a:t>
            </a:r>
          </a:p>
          <a:p>
            <a:pPr>
              <a:lnSpc>
                <a:spcPct val="130000"/>
              </a:lnSpc>
            </a:pPr>
            <a:r>
              <a:rPr lang="en-US" altLang="zh-CN" sz="1800" dirty="0"/>
              <a:t>Microsoft </a:t>
            </a:r>
            <a:r>
              <a:rPr lang="zh-CN" altLang="en-US" sz="1800" dirty="0"/>
              <a:t>：</a:t>
            </a:r>
            <a:r>
              <a:rPr lang="en-US" altLang="zh-CN" sz="1800" dirty="0"/>
              <a:t>Agent Sandbox Runtime</a:t>
            </a:r>
          </a:p>
          <a:p>
            <a:pPr lvl="1">
              <a:lnSpc>
                <a:spcPct val="130000"/>
              </a:lnSpc>
            </a:pPr>
            <a:r>
              <a:rPr lang="zh-CN" altLang="en-US" sz="1800" dirty="0"/>
              <a:t>开源</a:t>
            </a:r>
            <a:r>
              <a:rPr lang="en-US" altLang="zh-CN" sz="1800" dirty="0" err="1"/>
              <a:t>Wassette</a:t>
            </a:r>
            <a:r>
              <a:rPr lang="zh-CN" altLang="en-US" sz="1800" dirty="0"/>
              <a:t>运行时，用于在</a:t>
            </a:r>
            <a:r>
              <a:rPr lang="en-US" altLang="zh-CN" sz="1800" dirty="0"/>
              <a:t>MCP</a:t>
            </a:r>
            <a:r>
              <a:rPr lang="zh-CN" altLang="en-US" sz="1800" dirty="0"/>
              <a:t>中加载</a:t>
            </a:r>
            <a:r>
              <a:rPr lang="en-US" altLang="zh-CN" sz="1800" dirty="0" err="1"/>
              <a:t>WebAssembly</a:t>
            </a:r>
            <a:r>
              <a:rPr lang="zh-CN" altLang="en-US" sz="1800" dirty="0"/>
              <a:t>工具。提供与现代浏览器同等级别的安全沙箱，并内置细粒度的权限控制</a:t>
            </a:r>
            <a:endParaRPr lang="en-US" altLang="zh-CN" sz="1800" dirty="0"/>
          </a:p>
          <a:p>
            <a:pPr lvl="1">
              <a:lnSpc>
                <a:spcPct val="130000"/>
              </a:lnSpc>
            </a:pPr>
            <a:r>
              <a:rPr lang="zh-CN" altLang="en-US" sz="1800" dirty="0"/>
              <a:t>允许</a:t>
            </a:r>
            <a:r>
              <a:rPr lang="en-US" altLang="zh-CN" sz="1800" dirty="0"/>
              <a:t>Copilot</a:t>
            </a:r>
            <a:r>
              <a:rPr lang="zh-CN" altLang="en-US" sz="1800" dirty="0"/>
              <a:t>自主下载</a:t>
            </a:r>
            <a:r>
              <a:rPr lang="en-US" altLang="zh-CN" sz="1800" dirty="0" err="1"/>
              <a:t>Wasm</a:t>
            </a:r>
            <a:r>
              <a:rPr lang="zh-CN" altLang="en-US" sz="1800" dirty="0"/>
              <a:t>组件并在本地隔离执行，确保第三方工具在受限环境运行的安全性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14E79-F49B-7299-733F-040966917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7402119-440D-5C13-9595-507F3010B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830" y="4725776"/>
            <a:ext cx="3757441" cy="21135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0451ED2-C01B-B6BB-2376-D2A8C961E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036" y="432141"/>
            <a:ext cx="4719667" cy="264170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FFEFC35-911C-2089-5A05-7EC733C7C6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806" y="3017720"/>
            <a:ext cx="4276954" cy="1708057"/>
          </a:xfrm>
          <a:prstGeom prst="rect">
            <a:avLst/>
          </a:prstGeom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C774B29F-01D8-6862-96A4-0083072458A4}"/>
              </a:ext>
            </a:extLst>
          </p:cNvPr>
          <p:cNvSpPr/>
          <p:nvPr/>
        </p:nvSpPr>
        <p:spPr>
          <a:xfrm>
            <a:off x="7997011" y="3871747"/>
            <a:ext cx="2246650" cy="33493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</p:spTree>
    <p:extLst>
      <p:ext uri="{BB962C8B-B14F-4D97-AF65-F5344CB8AC3E}">
        <p14:creationId xmlns:p14="http://schemas.microsoft.com/office/powerpoint/2010/main" val="8907457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3BD2B-4BD5-190B-B249-42DB9209D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DFD1E-EEE7-82E4-1CFB-1B683A0E1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行业趋势与标杆情况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54F8B-BBEC-5258-1F7A-675DB3665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0" y="1268761"/>
            <a:ext cx="9690288" cy="5087592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800" dirty="0"/>
              <a:t>PPIO </a:t>
            </a:r>
            <a:r>
              <a:rPr lang="zh-CN" altLang="en-US" sz="1800" dirty="0"/>
              <a:t>：</a:t>
            </a:r>
            <a:r>
              <a:rPr lang="zh-CN" altLang="sv-SE" sz="1800" dirty="0"/>
              <a:t>提供面向智能体的</a:t>
            </a:r>
            <a:r>
              <a:rPr lang="sv-SE" altLang="zh-CN" sz="1800" dirty="0"/>
              <a:t>Agent Sandbox </a:t>
            </a:r>
          </a:p>
          <a:p>
            <a:pPr lvl="1">
              <a:lnSpc>
                <a:spcPct val="130000"/>
              </a:lnSpc>
            </a:pPr>
            <a:r>
              <a:rPr lang="zh-CN" altLang="en-US" sz="1800" dirty="0"/>
              <a:t>云端</a:t>
            </a:r>
            <a:r>
              <a:rPr lang="en-US" altLang="zh-CN" sz="1800" dirty="0"/>
              <a:t>Firecracker </a:t>
            </a:r>
            <a:r>
              <a:rPr lang="en-US" altLang="zh-CN" sz="1800" dirty="0" err="1"/>
              <a:t>MicroVM</a:t>
            </a:r>
            <a:r>
              <a:rPr lang="zh-CN" altLang="en-US" sz="1800" dirty="0"/>
              <a:t>沙箱中运行，可快速启动，提供安全监控策略</a:t>
            </a:r>
            <a:endParaRPr lang="en-US" altLang="zh-CN" sz="1800" dirty="0"/>
          </a:p>
          <a:p>
            <a:pPr lvl="1">
              <a:lnSpc>
                <a:spcPct val="130000"/>
              </a:lnSpc>
            </a:pPr>
            <a:r>
              <a:rPr lang="zh-CN" altLang="en-US" sz="1800" dirty="0"/>
              <a:t>沙箱内置</a:t>
            </a:r>
            <a:r>
              <a:rPr lang="en-US" altLang="zh-CN" sz="1800" dirty="0"/>
              <a:t>Browser use</a:t>
            </a:r>
            <a:r>
              <a:rPr lang="zh-CN" altLang="en-US" sz="1800" dirty="0"/>
              <a:t>，</a:t>
            </a:r>
            <a:r>
              <a:rPr lang="en-US" altLang="zh-CN" sz="1800" dirty="0"/>
              <a:t> Computer use</a:t>
            </a:r>
            <a:r>
              <a:rPr lang="zh-CN" altLang="en-US" sz="1800" dirty="0"/>
              <a:t>，</a:t>
            </a:r>
            <a:r>
              <a:rPr lang="en-US" altLang="zh-CN" sz="1800" dirty="0"/>
              <a:t>MCP</a:t>
            </a:r>
            <a:r>
              <a:rPr lang="zh-CN" altLang="en-US" sz="1800" dirty="0"/>
              <a:t>，</a:t>
            </a:r>
            <a:r>
              <a:rPr lang="en-US" altLang="zh-CN" sz="1800" dirty="0"/>
              <a:t>RAG</a:t>
            </a:r>
            <a:r>
              <a:rPr lang="zh-CN" altLang="en-US" sz="1800" dirty="0"/>
              <a:t>，</a:t>
            </a:r>
            <a:r>
              <a:rPr lang="en-US" altLang="zh-CN" sz="1800" dirty="0"/>
              <a:t> Search</a:t>
            </a:r>
            <a:r>
              <a:rPr lang="zh-CN" altLang="en-US" sz="1800" dirty="0"/>
              <a:t>等工具</a:t>
            </a:r>
            <a:endParaRPr lang="en-US" altLang="zh-CN" sz="1800" dirty="0"/>
          </a:p>
          <a:p>
            <a:pPr>
              <a:lnSpc>
                <a:spcPct val="130000"/>
              </a:lnSpc>
            </a:pPr>
            <a:r>
              <a:rPr lang="en-US" altLang="zh-CN" sz="1800" dirty="0"/>
              <a:t>E2B </a:t>
            </a:r>
            <a:r>
              <a:rPr lang="zh-CN" altLang="en-US" sz="1800" dirty="0"/>
              <a:t>：提供云托管的商用产品</a:t>
            </a:r>
            <a:endParaRPr lang="sv-SE" altLang="zh-CN" sz="1800" dirty="0"/>
          </a:p>
          <a:p>
            <a:pPr lvl="1">
              <a:lnSpc>
                <a:spcPct val="130000"/>
              </a:lnSpc>
            </a:pPr>
            <a:r>
              <a:rPr lang="zh-CN" altLang="en-US" sz="1800" dirty="0"/>
              <a:t>通过 </a:t>
            </a:r>
            <a:r>
              <a:rPr lang="en-US" altLang="zh-CN" sz="1800" dirty="0"/>
              <a:t>seccomp</a:t>
            </a:r>
            <a:r>
              <a:rPr lang="zh-CN" altLang="en-US" sz="1800" dirty="0"/>
              <a:t>、</a:t>
            </a:r>
            <a:r>
              <a:rPr lang="en-US" altLang="zh-CN" sz="1800" dirty="0" err="1"/>
              <a:t>cgroup</a:t>
            </a:r>
            <a:r>
              <a:rPr lang="zh-CN" altLang="en-US" sz="1800" dirty="0"/>
              <a:t>、</a:t>
            </a:r>
            <a:endParaRPr lang="en-US" altLang="zh-CN" sz="1800" dirty="0"/>
          </a:p>
          <a:p>
            <a:pPr marL="548640" lvl="1" indent="0">
              <a:lnSpc>
                <a:spcPct val="130000"/>
              </a:lnSpc>
            </a:pPr>
            <a:r>
              <a:rPr lang="en-US" altLang="zh-CN" sz="1800" dirty="0" err="1"/>
              <a:t>AppArmor</a:t>
            </a:r>
            <a:r>
              <a:rPr lang="en-US" altLang="zh-CN" sz="1800" dirty="0"/>
              <a:t> </a:t>
            </a:r>
            <a:r>
              <a:rPr lang="zh-CN" altLang="en-US" sz="1800" dirty="0"/>
              <a:t>做系统调用限制</a:t>
            </a:r>
            <a:endParaRPr lang="en-US" altLang="zh-CN" sz="1800" dirty="0"/>
          </a:p>
          <a:p>
            <a:pPr lvl="1">
              <a:lnSpc>
                <a:spcPct val="130000"/>
              </a:lnSpc>
            </a:pPr>
            <a:r>
              <a:rPr lang="zh-CN" altLang="en-US" sz="1800" dirty="0"/>
              <a:t>多工具支持，</a:t>
            </a:r>
            <a:endParaRPr lang="en-US" altLang="zh-CN" sz="1800" dirty="0"/>
          </a:p>
          <a:p>
            <a:pPr marL="548640" lvl="1" indent="0">
              <a:lnSpc>
                <a:spcPct val="130000"/>
              </a:lnSpc>
            </a:pPr>
            <a:r>
              <a:rPr lang="zh-CN" altLang="en-US" sz="1800" dirty="0"/>
              <a:t>沙箱可持久化状态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498F7-FEEA-D499-5CE8-16CE49BCE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B322D7F-8C9E-9989-1B15-5E7CCFB95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266" y="2564904"/>
            <a:ext cx="6485641" cy="316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8156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986BD-F8E8-E6E9-80FA-4232D22CD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950C3-6352-68D8-A5F1-720A809E5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行业趋势与标杆情况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8A9C5-E6C8-9DE9-0F2D-C7179281E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0" y="1268761"/>
            <a:ext cx="9690288" cy="5087592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800" dirty="0"/>
              <a:t>E2B </a:t>
            </a:r>
            <a:r>
              <a:rPr lang="zh-CN" altLang="en-US" sz="1800" dirty="0"/>
              <a:t>沙箱面临</a:t>
            </a:r>
            <a:r>
              <a:rPr lang="zh-CN" altLang="en-US" sz="1800" dirty="0">
                <a:solidFill>
                  <a:schemeClr val="accent1"/>
                </a:solidFill>
              </a:rPr>
              <a:t>数秒</a:t>
            </a:r>
            <a:r>
              <a:rPr lang="zh-CN" altLang="en-US" sz="1800" dirty="0"/>
              <a:t>的状态保存开销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265D9-82AF-C1D6-0C26-D4C2AD623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EC79C56-EC53-3E0B-B2BA-D863F9352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944" y="2442473"/>
            <a:ext cx="4663440" cy="325993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04F666B-0AFD-F023-976D-6CAEA304C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457" y="3287237"/>
            <a:ext cx="4708714" cy="120834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D5BA636-0C2E-66CE-4500-32287A7F8928}"/>
              </a:ext>
            </a:extLst>
          </p:cNvPr>
          <p:cNvSpPr txBox="1"/>
          <p:nvPr/>
        </p:nvSpPr>
        <p:spPr>
          <a:xfrm>
            <a:off x="683598" y="6361762"/>
            <a:ext cx="3291927" cy="295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320" dirty="0"/>
              <a:t>*</a:t>
            </a:r>
            <a:r>
              <a:rPr kumimoji="1" lang="en-US" altLang="zh-CN" sz="1320" dirty="0"/>
              <a:t>: https://e2b.dev/docs/sandbox/persistence</a:t>
            </a:r>
            <a:endParaRPr kumimoji="1" lang="zh-CN" altLang="en-US" sz="1320" dirty="0"/>
          </a:p>
        </p:txBody>
      </p:sp>
    </p:spTree>
    <p:extLst>
      <p:ext uri="{BB962C8B-B14F-4D97-AF65-F5344CB8AC3E}">
        <p14:creationId xmlns:p14="http://schemas.microsoft.com/office/powerpoint/2010/main" val="35036856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01C383-3B41-624F-AD07-01DA3D24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请大家按照今天的课程内容，开始阅读</a:t>
            </a:r>
            <a:r>
              <a:rPr lang="en-US" altLang="zh-CN" dirty="0"/>
              <a:t> </a:t>
            </a:r>
            <a:r>
              <a:rPr lang="en-US" altLang="zh-CN" dirty="0" err="1"/>
              <a:t>SJTUClaw</a:t>
            </a:r>
            <a:r>
              <a:rPr lang="en-US" altLang="zh-CN" dirty="0"/>
              <a:t> </a:t>
            </a:r>
            <a:r>
              <a:rPr lang="zh-CN" altLang="en-US" dirty="0"/>
              <a:t>要求文档，并且进行开发和实践～</a:t>
            </a:r>
            <a:endParaRPr lang="en-C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AF9D6A-A624-4F4F-9787-9444E1E9B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如果提前完成了课上的内容，可以根据文档继续往后面提前进行开发任务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52C26-BDAF-D24E-B930-53C5D993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33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69611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1877</Words>
  <Application>Microsoft Macintosh PowerPoint</Application>
  <DocSecurity>0</DocSecurity>
  <PresentationFormat>宽屏</PresentationFormat>
  <Paragraphs>281</Paragraphs>
  <Slides>33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7" baseType="lpstr">
      <vt:lpstr>Microsoft YaHei</vt:lpstr>
      <vt:lpstr>Arial</vt:lpstr>
      <vt:lpstr>Calibri</vt:lpstr>
      <vt:lpstr>Office Theme</vt:lpstr>
      <vt:lpstr>计算机编程实践#8 Workspace 与高级工具</vt:lpstr>
      <vt:lpstr>Agent 开始产生真实副作用</vt:lpstr>
      <vt:lpstr>SJTUClaw 篇：Workspace 与高级工具</vt:lpstr>
      <vt:lpstr>Workspace：SJTUClaw 被允许工作的地方</vt:lpstr>
      <vt:lpstr>路径边界必须经过真实解析</vt:lpstr>
      <vt:lpstr>本阶段的主要目标：三个高级工具</vt:lpstr>
      <vt:lpstr>Update Tool：把修改意图变成真实文件</vt:lpstr>
      <vt:lpstr>Shell Tool：在约束范围内执行命令</vt:lpstr>
      <vt:lpstr>处理附件</vt:lpstr>
      <vt:lpstr>三个工具的对比</vt:lpstr>
      <vt:lpstr>Approval如何执行</vt:lpstr>
      <vt:lpstr>一次完整流程：创建学习总结文件</vt:lpstr>
      <vt:lpstr>CLI 与图形化入口，只是不同的交互面</vt:lpstr>
      <vt:lpstr>外部 coding agent 也不能绕过边界</vt:lpstr>
      <vt:lpstr>MVP：先拒绝，再批准</vt:lpstr>
      <vt:lpstr>扩展篇：Agent Sandbox 是什么</vt:lpstr>
      <vt:lpstr>Agent Sandbox：给 Agent 准备的一间实验室</vt:lpstr>
      <vt:lpstr>把 Agent 想成：大脑、双手、记录本</vt:lpstr>
      <vt:lpstr>workspace、approval、sandbox 解决不同问题</vt:lpstr>
      <vt:lpstr>为什么可写工具尤其需要 sandbox</vt:lpstr>
      <vt:lpstr>sandbox 主要的任务</vt:lpstr>
      <vt:lpstr>权限和sandbox之间的关系</vt:lpstr>
      <vt:lpstr>一次执行：模型提出动作，sandbox 负责执行</vt:lpstr>
      <vt:lpstr>回到SJTUClaw：高级工具的完整位置</vt:lpstr>
      <vt:lpstr>扩展篇：Agent Sandbox 当前的行业现状（大家自行了解）</vt:lpstr>
      <vt:lpstr>智能体面临安全隔离与可控执行的双重要求</vt:lpstr>
      <vt:lpstr>智能体面临安全隔离与可控执行的双重要求</vt:lpstr>
      <vt:lpstr>智能体沙箱如何构建安全、强大且协作的智能体生态</vt:lpstr>
      <vt:lpstr>行业趋势与标杆情况</vt:lpstr>
      <vt:lpstr>行业趋势与标杆情况</vt:lpstr>
      <vt:lpstr>行业趋势与标杆情况</vt:lpstr>
      <vt:lpstr>行业趋势与标杆情况</vt:lpstr>
      <vt:lpstr>请大家按照今天的课程内容，开始阅读 SJTUClaw 要求文档，并且进行开发和实践～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Dong Du</cp:lastModifiedBy>
  <cp:revision>16</cp:revision>
  <dcterms:created xsi:type="dcterms:W3CDTF">2026-07-21T12:18:56Z</dcterms:created>
  <dcterms:modified xsi:type="dcterms:W3CDTF">2026-07-22T02:19:46Z</dcterms:modified>
</cp:coreProperties>
</file>